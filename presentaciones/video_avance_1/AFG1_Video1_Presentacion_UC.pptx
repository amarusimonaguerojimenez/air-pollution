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1" r:id="rId3"/>
  </p:sldMasterIdLst>
  <p:notesMasterIdLst>
    <p:notesMasterId r:id="rId13"/>
  </p:notesMasterIdLst>
  <p:sldIdLst>
    <p:sldId id="262" r:id="rId4"/>
    <p:sldId id="259" r:id="rId5"/>
    <p:sldId id="263" r:id="rId6"/>
    <p:sldId id="264" r:id="rId7"/>
    <p:sldId id="265" r:id="rId8"/>
    <p:sldId id="266" r:id="rId9"/>
    <p:sldId id="267" r:id="rId10"/>
    <p:sldId id="268" r:id="rId11"/>
    <p:sldId id="260" r:id="rId12"/>
  </p:sldIdLst>
  <p:sldSz cx="9144000" cy="5143500" type="screen16x9"/>
  <p:notesSz cx="6858000" cy="9144000"/>
  <p:defaultTextStyle>
    <a:defPPr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697">
          <p15:clr>
            <a:srgbClr val="A4A3A4"/>
          </p15:clr>
        </p15:guide>
        <p15:guide id="2" pos="416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66CC"/>
    <a:srgbClr val="FFE200"/>
    <a:srgbClr val="FFF0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88"/>
    <p:restoredTop sz="50000"/>
  </p:normalViewPr>
  <p:slideViewPr>
    <p:cSldViewPr snapToGrid="0" snapToObjects="1" showGuides="1">
      <p:cViewPr varScale="1">
        <p:scale>
          <a:sx n="80" d="100"/>
          <a:sy n="80" d="100"/>
        </p:scale>
        <p:origin x="2808" y="176"/>
      </p:cViewPr>
      <p:guideLst>
        <p:guide orient="horz" pos="2697"/>
        <p:guide pos="416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viewProps" Target="view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07875-FBB4-E24A-BDDE-B8BBEBD8D5C9}" type="datetimeFigureOut">
              <a:rPr lang="es-ES" smtClean="0"/>
              <a:t>13/8/26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0FB505-4C2B-1B4C-9533-CA0B69CD73D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56898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0FB505-4C2B-1B4C-9533-CA0B69CD73D7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575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 userDrawn="1"/>
        </p:nvSpPr>
        <p:spPr>
          <a:xfrm>
            <a:off x="169334" y="1007195"/>
            <a:ext cx="8974667" cy="238578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1755587"/>
            <a:ext cx="8229600" cy="857250"/>
          </a:xfrm>
        </p:spPr>
        <p:txBody>
          <a:bodyPr/>
          <a:lstStyle/>
          <a:p>
            <a:r>
              <a:rPr lang="es-ES_tradnl" dirty="0"/>
              <a:t>Clic para editar nombre de capítulo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16728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sarrollo de t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081338"/>
          </a:xfrm>
        </p:spPr>
        <p:txBody>
          <a:bodyPr/>
          <a:lstStyle>
            <a:lvl1pPr>
              <a:defRPr sz="2600"/>
            </a:lvl1pPr>
            <a:lvl2pPr>
              <a:defRPr sz="2600"/>
            </a:lvl2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 dirty="0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t>13/8/26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6443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0872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08729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 dirty="0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t>13/8/26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90623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y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97742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57200" y="2176006"/>
            <a:ext cx="4040188" cy="211143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 dirty="0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t>13/8/26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t>‹Nº›</a:t>
            </a:fld>
            <a:endParaRPr lang="es-ES"/>
          </a:p>
        </p:txBody>
      </p:sp>
      <p:sp>
        <p:nvSpPr>
          <p:cNvPr id="11" name="Marcador de SmartArt 10"/>
          <p:cNvSpPr>
            <a:spLocks noGrp="1"/>
          </p:cNvSpPr>
          <p:nvPr>
            <p:ph type="dgm" sz="quarter" idx="13"/>
          </p:nvPr>
        </p:nvSpPr>
        <p:spPr>
          <a:xfrm>
            <a:off x="4559300" y="1151335"/>
            <a:ext cx="4127500" cy="3136106"/>
          </a:xfrm>
        </p:spPr>
        <p:txBody>
          <a:bodyPr/>
          <a:lstStyle/>
          <a:p>
            <a:r>
              <a:rPr lang="es-ES_tradnl"/>
              <a:t>Haga clic en el icono para agregar un gráfico SmartArt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1438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con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pPr/>
              <a:t>13/8/26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7" name="Marcador de gráfico 6"/>
          <p:cNvSpPr>
            <a:spLocks noGrp="1"/>
          </p:cNvSpPr>
          <p:nvPr>
            <p:ph type="chart" sz="quarter" idx="13"/>
          </p:nvPr>
        </p:nvSpPr>
        <p:spPr>
          <a:xfrm>
            <a:off x="457200" y="1316811"/>
            <a:ext cx="8229600" cy="2970631"/>
          </a:xfrm>
        </p:spPr>
        <p:txBody>
          <a:bodyPr/>
          <a:lstStyle/>
          <a:p>
            <a:r>
              <a:rPr lang="es-ES_tradnl"/>
              <a:t>Haga clic en el icono para agregar un gráfico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4820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t>13/8/26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t>‹Nº›</a:t>
            </a:fld>
            <a:endParaRPr lang="es-ES"/>
          </a:p>
        </p:txBody>
      </p:sp>
      <p:sp>
        <p:nvSpPr>
          <p:cNvPr id="6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457200" y="1214080"/>
            <a:ext cx="8229600" cy="268965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_tradnl"/>
              <a:t>Arrastre la imagen al marcador de posición o haga clic en el icono para agregar</a:t>
            </a:r>
            <a:endParaRPr lang="es-ES" dirty="0"/>
          </a:p>
        </p:txBody>
      </p:sp>
      <p:sp>
        <p:nvSpPr>
          <p:cNvPr id="7" name="Marcador de texto 3"/>
          <p:cNvSpPr>
            <a:spLocks noGrp="1"/>
          </p:cNvSpPr>
          <p:nvPr>
            <p:ph type="body" sz="half" idx="2"/>
          </p:nvPr>
        </p:nvSpPr>
        <p:spPr>
          <a:xfrm>
            <a:off x="457200" y="4025504"/>
            <a:ext cx="8229600" cy="26193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484501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>
          <a:xfrm>
            <a:off x="170818" y="4767263"/>
            <a:ext cx="800392" cy="273844"/>
          </a:xfrm>
          <a:prstGeom prst="rect">
            <a:avLst/>
          </a:prstGeom>
        </p:spPr>
        <p:txBody>
          <a:bodyPr/>
          <a:lstStyle/>
          <a:p>
            <a:fld id="{64248F72-65B5-4A4E-B82F-2E1A76141EF9}" type="datetimeFigureOut">
              <a:rPr lang="es-ES" smtClean="0"/>
              <a:pPr/>
              <a:t>13/8/26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>
          <a:xfrm>
            <a:off x="1627373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s-ES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971211" y="4767263"/>
            <a:ext cx="656163" cy="273844"/>
          </a:xfrm>
          <a:prstGeom prst="rect">
            <a:avLst/>
          </a:prstGeom>
        </p:spPr>
        <p:txBody>
          <a:bodyPr/>
          <a:lstStyle/>
          <a:p>
            <a:fld id="{4637D2F8-05A4-FD4C-AF87-1FA0BA229BE2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12244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fondo 2727.ai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84483"/>
            <a:ext cx="9144000" cy="3492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879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3471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/>
          <a:p>
            <a:fld id="{CC73C310-44D8-D44E-9500-41BAE48D6C1F}" type="datetimeFigureOut">
              <a:rPr lang="es-ES" smtClean="0"/>
              <a:t>13/8/26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/>
          <a:p>
            <a:fld id="{F152EED2-0F54-FF4E-878C-CD5E3782BC0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8586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fondo 2727.ai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42" y="0"/>
            <a:ext cx="8985258" cy="1007195"/>
          </a:xfrm>
          <a:prstGeom prst="rect">
            <a:avLst/>
          </a:prstGeom>
        </p:spPr>
      </p:pic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457200" y="14994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 dirty="0"/>
              <a:t>Clic para editar título</a:t>
            </a:r>
            <a:endParaRPr lang="es-ES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08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dirty="0"/>
              <a:t>Haga clic para modificar el estilo de texto del patrón</a:t>
            </a:r>
          </a:p>
          <a:p>
            <a:pPr lvl="1"/>
            <a:r>
              <a:rPr lang="es-ES_tradnl" dirty="0"/>
              <a:t>Segundo nivel</a:t>
            </a:r>
          </a:p>
          <a:p>
            <a:pPr lvl="2"/>
            <a:r>
              <a:rPr lang="es-ES_tradnl" dirty="0"/>
              <a:t>Tercer nivel</a:t>
            </a:r>
          </a:p>
          <a:p>
            <a:pPr lvl="3"/>
            <a:r>
              <a:rPr lang="es-ES_tradnl" dirty="0"/>
              <a:t>Cuarto nivel</a:t>
            </a:r>
          </a:p>
          <a:p>
            <a:pPr lvl="4"/>
            <a:r>
              <a:rPr lang="es-ES_tradnl" dirty="0"/>
              <a:t>Quinto nivel</a:t>
            </a:r>
            <a:endParaRPr lang="es-ES" dirty="0"/>
          </a:p>
        </p:txBody>
      </p:sp>
      <p:sp>
        <p:nvSpPr>
          <p:cNvPr id="10" name="Rectángulo 9"/>
          <p:cNvSpPr/>
          <p:nvPr/>
        </p:nvSpPr>
        <p:spPr>
          <a:xfrm>
            <a:off x="0" y="149945"/>
            <a:ext cx="158742" cy="857250"/>
          </a:xfrm>
          <a:prstGeom prst="rect">
            <a:avLst/>
          </a:prstGeom>
          <a:solidFill>
            <a:srgbClr val="FFE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Rectángulo 7"/>
          <p:cNvSpPr/>
          <p:nvPr userDrawn="1"/>
        </p:nvSpPr>
        <p:spPr>
          <a:xfrm flipV="1">
            <a:off x="169334" y="4871120"/>
            <a:ext cx="8815911" cy="1773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 </a:t>
            </a:r>
          </a:p>
        </p:txBody>
      </p:sp>
      <p:sp>
        <p:nvSpPr>
          <p:cNvPr id="11" name="Rectángulo 10"/>
          <p:cNvSpPr/>
          <p:nvPr userDrawn="1"/>
        </p:nvSpPr>
        <p:spPr>
          <a:xfrm flipV="1">
            <a:off x="7200957" y="4871118"/>
            <a:ext cx="1119038" cy="177313"/>
          </a:xfrm>
          <a:prstGeom prst="rect">
            <a:avLst/>
          </a:prstGeom>
          <a:solidFill>
            <a:srgbClr val="3366C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64562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0" r:id="rId2"/>
    <p:sldLayoutId id="2147483652" r:id="rId3"/>
    <p:sldLayoutId id="2147483653" r:id="rId4"/>
    <p:sldLayoutId id="2147483658" r:id="rId5"/>
    <p:sldLayoutId id="2147483654" r:id="rId6"/>
    <p:sldLayoutId id="2147483659" r:id="rId7"/>
    <p:sldLayoutId id="2147483655" r:id="rId8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>
          <a:solidFill>
            <a:schemeClr val="bg1"/>
          </a:solidFill>
          <a:latin typeface="Arial"/>
          <a:ea typeface="+mj-ea"/>
          <a:cs typeface="Arial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b="0" kern="1200">
          <a:solidFill>
            <a:schemeClr val="tx1"/>
          </a:solidFill>
          <a:latin typeface="Arial"/>
          <a:ea typeface="+mn-ea"/>
          <a:cs typeface="Arial"/>
        </a:defRPr>
      </a:lvl1pPr>
      <a:lvl2pPr marL="365125" indent="0" algn="l" defTabSz="457200" rtl="0" eaLnBrk="1" latinLnBrk="0" hangingPunct="1">
        <a:spcBef>
          <a:spcPct val="20000"/>
        </a:spcBef>
        <a:buFontTx/>
        <a:buNone/>
        <a:defRPr sz="2800" kern="1200">
          <a:solidFill>
            <a:schemeClr val="tx1"/>
          </a:solidFill>
          <a:latin typeface="Arial"/>
          <a:ea typeface="+mn-ea"/>
          <a:cs typeface="Arial"/>
        </a:defRPr>
      </a:lvl2pPr>
      <a:lvl3pPr marL="630238" indent="-2413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Arial"/>
        </a:defRPr>
      </a:lvl3pPr>
      <a:lvl4pPr marL="982663" indent="-268288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Arial"/>
        </a:defRPr>
      </a:lvl4pPr>
      <a:lvl5pPr marL="982662" indent="0" algn="l" defTabSz="457200" rtl="0" eaLnBrk="1" latinLnBrk="0" hangingPunct="1">
        <a:spcBef>
          <a:spcPct val="20000"/>
        </a:spcBef>
        <a:buFontTx/>
        <a:buNone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UC color TR-01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0800" y="698500"/>
            <a:ext cx="6480264" cy="37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90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457200" y="1437737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 dirty="0"/>
              <a:t>Clic para editar título</a:t>
            </a:r>
            <a:endParaRPr lang="es-ES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2770565"/>
            <a:ext cx="8229600" cy="15109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dirty="0"/>
              <a:t>Integrantes</a:t>
            </a:r>
            <a:endParaRPr lang="es-ES" dirty="0"/>
          </a:p>
        </p:txBody>
      </p:sp>
      <p:pic>
        <p:nvPicPr>
          <p:cNvPr id="7" name="Imagen 6" descr="fondo 2727.ai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137" y="1"/>
            <a:ext cx="6043863" cy="1123125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 flipV="1">
            <a:off x="-1" y="-4"/>
            <a:ext cx="177417" cy="1123126"/>
          </a:xfrm>
          <a:prstGeom prst="rect">
            <a:avLst/>
          </a:prstGeom>
          <a:solidFill>
            <a:srgbClr val="FFE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9" name="Imagen 8" descr="UC color TR-01.png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784" y="70795"/>
            <a:ext cx="1907624" cy="1099172"/>
          </a:xfrm>
          <a:prstGeom prst="rect">
            <a:avLst/>
          </a:prstGeom>
        </p:spPr>
      </p:pic>
      <p:sp>
        <p:nvSpPr>
          <p:cNvPr id="10" name="Rectángulo 9"/>
          <p:cNvSpPr/>
          <p:nvPr userDrawn="1"/>
        </p:nvSpPr>
        <p:spPr>
          <a:xfrm flipV="1">
            <a:off x="169334" y="4871120"/>
            <a:ext cx="8815911" cy="1773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 </a:t>
            </a:r>
          </a:p>
        </p:txBody>
      </p:sp>
      <p:sp>
        <p:nvSpPr>
          <p:cNvPr id="11" name="Rectángulo 10"/>
          <p:cNvSpPr/>
          <p:nvPr userDrawn="1"/>
        </p:nvSpPr>
        <p:spPr>
          <a:xfrm flipV="1">
            <a:off x="7200957" y="4871118"/>
            <a:ext cx="1119038" cy="177313"/>
          </a:xfrm>
          <a:prstGeom prst="rect">
            <a:avLst/>
          </a:prstGeom>
          <a:solidFill>
            <a:srgbClr val="3366C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99033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</p:sldLayoutIdLst>
  <p:txStyles>
    <p:titleStyle>
      <a:lvl1pPr algn="r" defTabSz="457200" rtl="0" eaLnBrk="1" latinLnBrk="0" hangingPunct="1">
        <a:spcBef>
          <a:spcPct val="0"/>
        </a:spcBef>
        <a:buNone/>
        <a:defRPr sz="4400" b="1" i="0" kern="1200">
          <a:solidFill>
            <a:schemeClr val="tx1"/>
          </a:solidFill>
          <a:latin typeface="Arial"/>
          <a:ea typeface="+mj-ea"/>
          <a:cs typeface="Arial"/>
        </a:defRPr>
      </a:lvl1pPr>
    </p:titleStyle>
    <p:bodyStyle>
      <a:lvl1pPr marL="342900" indent="-342900" algn="r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rgbClr val="595959"/>
          </a:solidFill>
          <a:latin typeface="Arial"/>
          <a:ea typeface="+mn-ea"/>
          <a:cs typeface="Arial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12648" y="2761488"/>
            <a:ext cx="7772400" cy="1097280"/>
          </a:xfrm>
        </p:spPr>
        <p:txBody>
          <a:bodyPr wrap="square">
            <a:noAutofit/>
          </a:bodyPr>
          <a:lstStyle/>
          <a:p>
            <a:pPr algn="l">
              <a:spcBef>
                <a:spcPts val="200"/>
              </a:spcBef>
            </a:pPr>
            <a:r>
              <a:rPr sz="1300">
                <a:solidFill>
                  <a:srgbClr val="52514E"/>
                </a:solidFill>
                <a:latin typeface="Calibri"/>
              </a:rPr>
              <a:t>Superficies de exposición comuna × hora para PM₂.₅ · PM₁₀ · NO₂ · O₃ · SO₂ · CO, para todo el territorio nacional y por macrozona, validadas contra la red SINCA</a:t>
            </a:r>
            <a:endParaRPr lang="es-ES" sz="1800" dirty="0"/>
          </a:p>
        </p:txBody>
      </p:sp>
      <p:sp>
        <p:nvSpPr>
          <p:cNvPr id="4" name="Título 1"/>
          <p:cNvSpPr>
            <a:spLocks noGrp="1"/>
          </p:cNvSpPr>
          <p:nvPr>
            <p:ph type="ctrTitle"/>
          </p:nvPr>
        </p:nvSpPr>
        <p:spPr>
          <a:xfrm>
            <a:off x="614967" y="1538445"/>
            <a:ext cx="7772400" cy="1101725"/>
          </a:xfrm>
        </p:spPr>
        <p:txBody>
          <a:bodyPr wrap="square">
            <a:normAutofit/>
          </a:bodyPr>
          <a:lstStyle/>
          <a:p>
            <a:pPr algn="l"/>
            <a:r>
              <a:rPr sz="2600" b="1">
                <a:solidFill>
                  <a:srgbClr val="17375D"/>
                </a:solidFill>
                <a:latin typeface="Calibri"/>
              </a:rPr>
              <a:t>Estimación multi-contaminante de la calidad del aire en Chile</a:t>
            </a:r>
            <a:endParaRPr lang="es-CL" sz="4000" dirty="0">
              <a:solidFill>
                <a:srgbClr val="3366CC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2648" y="118872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366CC"/>
                </a:solidFill>
                <a:latin typeface="Calibri"/>
              </a:rPr>
              <a:t>ACTIVIDAD FINAL DE GRADUACIÓN 1  ·  MDS3050  ·  VIDEO DE AVANCE N.º 1: DEFINICIÓN DEL PROBLEMA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3950208"/>
            <a:ext cx="2542032" cy="402336"/>
          </a:xfrm>
          <a:prstGeom prst="roundRect">
            <a:avLst>
              <a:gd name="adj" fmla="val 18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2376" y="3950208"/>
            <a:ext cx="23774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17375D"/>
                </a:solidFill>
                <a:latin typeface="Calibri"/>
              </a:rPr>
              <a:t>José Jesús Romero Fuenmayor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82696" y="3950208"/>
            <a:ext cx="2542032" cy="402336"/>
          </a:xfrm>
          <a:prstGeom prst="roundRect">
            <a:avLst>
              <a:gd name="adj" fmla="val 18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92424" y="3950208"/>
            <a:ext cx="23774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17375D"/>
                </a:solidFill>
                <a:latin typeface="Calibri"/>
              </a:rPr>
              <a:t>Roberto Ignacio Ávila Escobar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52744" y="3950208"/>
            <a:ext cx="2542032" cy="402336"/>
          </a:xfrm>
          <a:prstGeom prst="roundRect">
            <a:avLst>
              <a:gd name="adj" fmla="val 18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62472" y="3950208"/>
            <a:ext cx="23774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17375D"/>
                </a:solidFill>
                <a:latin typeface="Calibri"/>
              </a:rPr>
              <a:t>Amaru Simón Agüero Jiménez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462272"/>
            <a:ext cx="7772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898781"/>
                </a:solidFill>
                <a:latin typeface="Calibri"/>
              </a:rPr>
              <a:t>Equipo 2 (Team2)  · 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4120695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¿Por qué importa? El aire que se respira mata y casi no se mide</a:t>
            </a:r>
            <a:endParaRPr lang="es-ES" dirty="0"/>
          </a:p>
        </p:txBody>
      </p:sp>
      <p:sp>
        <p:nvSpPr>
          <p:cNvPr id="3" name="Rounded Rectangle 2"/>
          <p:cNvSpPr/>
          <p:nvPr/>
        </p:nvSpPr>
        <p:spPr>
          <a:xfrm>
            <a:off x="457200" y="1115568"/>
            <a:ext cx="2679192" cy="1444752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03504" y="1243584"/>
            <a:ext cx="402336" cy="402336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ealth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" y="1340144"/>
            <a:ext cx="209214" cy="2092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18872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F497D"/>
                </a:solidFill>
                <a:latin typeface="Calibri"/>
              </a:rPr>
              <a:t>≈ 8 millones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755648"/>
            <a:ext cx="23774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30" b="0" i="0">
                <a:solidFill>
                  <a:srgbClr val="52514E"/>
                </a:solidFill>
                <a:latin typeface="Calibri"/>
              </a:rPr>
              <a:t>de muertes al año se atribuyen a la contaminación del aire en el mundo (GBD 2021)¹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4408" y="1115568"/>
            <a:ext cx="2679192" cy="1444752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410712" y="1243584"/>
            <a:ext cx="402336" cy="402336"/>
          </a:xfrm>
          <a:prstGeom prst="ellipse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warnin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272" y="1340144"/>
            <a:ext cx="209214" cy="2092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04487" y="118872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366CC"/>
                </a:solidFill>
                <a:latin typeface="Calibri"/>
              </a:rPr>
              <a:t>4 de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755648"/>
            <a:ext cx="23774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30" b="0" i="0">
                <a:solidFill>
                  <a:srgbClr val="52514E"/>
                </a:solidFill>
                <a:latin typeface="Calibri"/>
              </a:rPr>
              <a:t>contaminantes normados endurecieron su guía OMS 2021²; el NO₂ anual pasó de 40 a 10 µg/m³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1115568"/>
            <a:ext cx="2679192" cy="1444752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217920" y="1243584"/>
            <a:ext cx="402336" cy="402336"/>
          </a:xfrm>
          <a:prstGeom prst="ellipse">
            <a:avLst/>
          </a:prstGeom>
          <a:solidFill>
            <a:srgbClr val="0F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ma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4480" y="1340144"/>
            <a:ext cx="209214" cy="2092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11696" y="118872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F7D57"/>
                </a:solidFill>
                <a:latin typeface="Calibri"/>
              </a:rPr>
              <a:t>4 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7" y="1755648"/>
            <a:ext cx="23774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30" b="0" i="0">
                <a:solidFill>
                  <a:srgbClr val="52514E"/>
                </a:solidFill>
                <a:latin typeface="Calibri"/>
              </a:rPr>
              <a:t>la norma anual chilena de PM₂.₅ cuadruplica la guía OMS vigente² ³ (20 frente a 5 µg/m³)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688336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F497D"/>
                </a:solidFill>
                <a:latin typeface="Calibri"/>
              </a:rPr>
              <a:t>En Chile el problema tiene dos caras bien documentadas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980944"/>
            <a:ext cx="4005072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3504" y="3072384"/>
            <a:ext cx="371246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B24E1C"/>
                </a:solidFill>
                <a:latin typeface="Calibri"/>
              </a:rPr>
              <a:t>Centro-sur: leña residencial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3310128"/>
            <a:ext cx="3712463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19" b="0" i="0">
                <a:solidFill>
                  <a:srgbClr val="52514E"/>
                </a:solidFill>
                <a:latin typeface="Calibri"/>
              </a:rPr>
              <a:t>La quema de leña domina el PM₂.₅ invernal en ciudades como Temuco; el problema es de partículas y de los gases que las acompañan.⁴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81728" y="2980944"/>
            <a:ext cx="4005072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8032" y="3072384"/>
            <a:ext cx="371246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366CC"/>
                </a:solidFill>
                <a:latin typeface="Calibri"/>
              </a:rPr>
              <a:t>Santiago y zonas industriales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3310128"/>
            <a:ext cx="3712463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19" b="0" i="0">
                <a:solidFill>
                  <a:srgbClr val="52514E"/>
                </a:solidFill>
                <a:latin typeface="Calibri"/>
              </a:rPr>
              <a:t>Fuentes vehiculares e industriales sostienen episodios de PM₂.₅, NO₂ y SO₂; su composición cambió durante 15 años de gestión.⁵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078224"/>
            <a:ext cx="6446520" cy="585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¹ GBD 2021 Risk Factors Collaborators (Brauer M. et al.). Global burden and strength of evidence for 88 risk factors. The Lancet 403 (2024). doi:10.1016/S0140-6736(24)00933-4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² Organización Mundial de la Salud. WHO global air quality guidelines: PM, O3, NO2, SO2 y CO. Ginebra (2021). ISBN 978-92-4-003422-8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³ Ministerio del Medio Ambiente, Chile. D.S. N.º 12/2011, norma primaria de calidad ambiental para MP2,5.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⁴ Villalobos A.M. et al. Wood burning pollution in southern Chile: PM2.5 source apportionment using CMB and molecular markers. Environmental Pollution 225 (2017). doi:10.1016/j.envpol.2017.02.069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⁵ Barraza F. et al. Temporal evolution of main ambient PM2.5 sources in Santiago, Chile, 1998–2012. Atmos. Chem. Phys. 17 (2017). doi:10.5194/acp-17-10093-2017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El problema: los gases casi no se vigilan fuera de las grandes ciudades</a:t>
            </a:r>
            <a:endParaRPr lang="es-ES" dirty="0"/>
          </a:p>
        </p:txBody>
      </p:sp>
      <p:sp>
        <p:nvSpPr>
          <p:cNvPr id="3" name="Rounded Rectangle 2"/>
          <p:cNvSpPr/>
          <p:nvPr/>
        </p:nvSpPr>
        <p:spPr>
          <a:xfrm>
            <a:off x="457200" y="1115568"/>
            <a:ext cx="5074920" cy="2139696"/>
          </a:xfrm>
          <a:prstGeom prst="roundRect">
            <a:avLst>
              <a:gd name="adj" fmla="val 10000"/>
            </a:avLst>
          </a:prstGeom>
          <a:solidFill>
            <a:srgbClr val="EAF2FD"/>
          </a:solidFill>
          <a:ln w="12700">
            <a:solidFill>
              <a:srgbClr val="33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4663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FORMULACIÓN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99616"/>
            <a:ext cx="47000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60" b="0" i="0">
                <a:solidFill>
                  <a:srgbClr val="1A1A1A"/>
                </a:solidFill>
                <a:latin typeface="Calibri"/>
              </a:rPr>
              <a:t>La vigilancia de calidad del aire en Chile descansa en ~109 estaciones SINCA concentradas en centros urbanos; para los gases (NO₂, O₃, SO₂, CO) la cobertura es aún menor que para el material particulado. No existe una superficie pública, continua y validada de estos contaminantes para todo el territorio. Proponemos estimarla a resolución comuna × hora / día combinando satélites, reanálisis y predictores locales, con la red SINCA como única verdad-terreno, y reportarla a escala nacional y por macrozona.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87568" y="1115568"/>
            <a:ext cx="2999232" cy="73152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797296" y="1261872"/>
            <a:ext cx="420624" cy="420624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ap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245" y="1362821"/>
            <a:ext cx="218724" cy="2187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45936" y="1188720"/>
            <a:ext cx="22677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Unidad de análisis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389888"/>
            <a:ext cx="226771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40" b="0" i="0">
                <a:solidFill>
                  <a:srgbClr val="52514E"/>
                </a:solidFill>
                <a:latin typeface="Calibri"/>
              </a:rPr>
              <a:t>comuna × hora (y día), 345 comunas; agregación por macrozona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87568" y="1956816"/>
            <a:ext cx="2999232" cy="73152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797296" y="2103120"/>
            <a:ext cx="420624" cy="420624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calend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245" y="2204069"/>
            <a:ext cx="218724" cy="2187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45936" y="2029968"/>
            <a:ext cx="22677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Horizonte temporal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2231136"/>
            <a:ext cx="226771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40" b="0" i="0">
                <a:solidFill>
                  <a:srgbClr val="52514E"/>
                </a:solidFill>
                <a:latin typeface="Calibri"/>
              </a:rPr>
              <a:t>según fuente: MOPITT 2000+ · OMI 2004+ · CAMS 2003+ · TROPOMI / GEOS-CF 2018+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87568" y="2798064"/>
            <a:ext cx="2999232" cy="73152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97296" y="2944368"/>
            <a:ext cx="420624" cy="420624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targ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8245" y="3045317"/>
            <a:ext cx="218724" cy="2187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5936" y="2871216"/>
            <a:ext cx="22677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Alcance acotado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072384"/>
            <a:ext cx="226771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40" b="0" i="0">
                <a:solidFill>
                  <a:srgbClr val="52514E"/>
                </a:solidFill>
                <a:latin typeface="Calibri"/>
              </a:rPr>
              <a:t>estimar bien y validar contra SINCA; sin validación epidemiológica (recomendación docente)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21024"/>
            <a:ext cx="647395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21792" y="3831336"/>
            <a:ext cx="475488" cy="475488"/>
          </a:xfrm>
          <a:prstGeom prst="ellipse">
            <a:avLst/>
          </a:prstGeom>
          <a:solidFill>
            <a:srgbClr val="0F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downloa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09" y="3945453"/>
            <a:ext cx="247253" cy="24725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61872" y="3712463"/>
            <a:ext cx="5504688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1" i="0">
                <a:solidFill>
                  <a:srgbClr val="1A1A1A"/>
                </a:solidFill>
                <a:latin typeface="Calibri"/>
              </a:rPr>
              <a:t>Punto de partida operativo. </a:t>
            </a:r>
            <a:r>
              <a:rPr sz="930" b="0" i="0">
                <a:solidFill>
                  <a:srgbClr val="52514E"/>
                </a:solidFill>
                <a:latin typeface="Calibri"/>
              </a:rPr>
              <a:t>El repositorio del proyecto ya integra descargadores verificados para 10 productos satelitales / de reanálisis y la red SINCA, con recorte automático a Chile, estructura reproducible y bibliografía en formato APA.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La evidencia dice que se puede: precedentes internacionales</a:t>
            </a:r>
            <a:endParaRPr lang="es-ES" dirty="0"/>
          </a:p>
        </p:txBody>
      </p:sp>
      <p:sp>
        <p:nvSpPr>
          <p:cNvPr id="3" name="Rounded Rectangle 2"/>
          <p:cNvSpPr/>
          <p:nvPr/>
        </p:nvSpPr>
        <p:spPr>
          <a:xfrm>
            <a:off x="457200" y="1115568"/>
            <a:ext cx="4005072" cy="113385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1207008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Calibri"/>
              </a:rPr>
              <a:t>PM₂.₅ global mensual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52928" y="120700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52928" y="1207008"/>
            <a:ext cx="148132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60" b="1" i="0">
                <a:solidFill>
                  <a:srgbClr val="1F497D"/>
                </a:solidFill>
                <a:latin typeface="Calibri"/>
              </a:rPr>
              <a:t>van Donkelaar 2021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481328"/>
            <a:ext cx="3712463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819" b="0" i="0">
                <a:solidFill>
                  <a:srgbClr val="52514E"/>
                </a:solidFill>
                <a:latin typeface="Calibri"/>
              </a:rPr>
              <a:t>Estimaciones globales de PM₂.₅ con incertidumbre, combinando satélite + modelo + estaciones (base del producto ACAG que usamos).¹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81728" y="1115568"/>
            <a:ext cx="4005072" cy="113385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28032" y="1207008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Calibri"/>
              </a:rPr>
              <a:t>NO₂ global (LUR)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77456" y="120700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77456" y="1207008"/>
            <a:ext cx="148132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60" b="1" i="0">
                <a:solidFill>
                  <a:srgbClr val="1F497D"/>
                </a:solidFill>
                <a:latin typeface="Calibri"/>
              </a:rPr>
              <a:t>Larkin 2017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8032" y="1481328"/>
            <a:ext cx="3712463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819" b="0" i="0">
                <a:solidFill>
                  <a:srgbClr val="52514E"/>
                </a:solidFill>
                <a:latin typeface="Calibri"/>
              </a:rPr>
              <a:t>Modelo global de regresión de uso de suelo para NO₂ anual: el precedente de escalar gases a territorio completo.²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77439"/>
            <a:ext cx="4005072" cy="113385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3504" y="2468879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Calibri"/>
              </a:rPr>
              <a:t>NO₂ diario con 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52928" y="2468879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52928" y="2468879"/>
            <a:ext cx="148132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60" b="1" i="0">
                <a:solidFill>
                  <a:srgbClr val="1F497D"/>
                </a:solidFill>
                <a:latin typeface="Calibri"/>
              </a:rPr>
              <a:t>Wei 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2743199"/>
            <a:ext cx="3712463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819" b="0" i="0">
                <a:solidFill>
                  <a:srgbClr val="52514E"/>
                </a:solidFill>
                <a:latin typeface="Calibri"/>
              </a:rPr>
              <a:t>NO₂ de superficie sin huecos para toda China con IA espaciotemporal interpretable; el estándar técnico al que apuntamos.³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81728" y="2377439"/>
            <a:ext cx="4005072" cy="1133856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28032" y="2468879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Calibri"/>
              </a:rPr>
              <a:t>Gases → decisiones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77456" y="2468879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A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77456" y="2468879"/>
            <a:ext cx="148132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60" b="1" i="0">
                <a:solidFill>
                  <a:srgbClr val="1F497D"/>
                </a:solidFill>
                <a:latin typeface="Calibri"/>
              </a:rPr>
              <a:t>Anenberg 2022 · Turner 2016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8032" y="2743199"/>
            <a:ext cx="3712463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819" b="0" i="0">
                <a:solidFill>
                  <a:srgbClr val="52514E"/>
                </a:solidFill>
                <a:latin typeface="Calibri"/>
              </a:rPr>
              <a:t>Con esas superficies se estiman impactos: tendencias urbanas de NO₂ y asma pediátrica⁴; el O₃ de largo plazo se asocia a mortalidad.⁵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712463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30" b="1" i="0">
                <a:solidFill>
                  <a:srgbClr val="1F497D"/>
                </a:solidFill>
                <a:latin typeface="Calibri"/>
              </a:rPr>
              <a:t>Brecha que abordamos: </a:t>
            </a:r>
            <a:r>
              <a:rPr sz="930" b="0" i="0">
                <a:solidFill>
                  <a:srgbClr val="52514E"/>
                </a:solidFill>
                <a:latin typeface="Calibri"/>
              </a:rPr>
              <a:t>para Chile no existe un producto multi-gas continuo, público y validado por estación; los precedentes existen para PM₂.₅ global y para gases en el hemisferio norte.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169663"/>
            <a:ext cx="64465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¹ van Donkelaar A. et al. Monthly global estimates of fine particulate matter and their uncertainty. Environ. Sci. Technol. 55 (2021). doi:10.1021/acs.est.1c05309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² Larkin A. et al. Global land use regression model for nitrogen dioxide air pollution. Environ. Sci. Technol. 51 (2017). doi:10.1021/acs.est.7b01148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³ Wei J. et al. Ground-level NO2 surveillance from space across China using interpretable spatiotemporally weighted artificial intelligence. Environ. Sci. Technol. 56 (2022). doi:10.1021/acs.est.2c03834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⁴ Anenberg S.C. et al. Long-term trends in urban NO2 concentrations and associated paediatric asthma incidence. The Lancet Planetary Health 6 (2022). doi:10.1016/S2542-5196(21)00255-2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⁵ Turner M.C. et al. Long-term ozone exposure and mortality in a large prospective study. Am. J. Respir. Crit. Care Med. 193 (2016). doi:10.1164/rccm.201508-1633OC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Objetivo general y objetivos específicos</a:t>
            </a:r>
            <a:endParaRPr lang="es-ES" dirty="0"/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17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40080" y="1298448"/>
            <a:ext cx="530352" cy="530352"/>
          </a:xfrm>
          <a:prstGeom prst="ellipse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arg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64" y="1425732"/>
            <a:ext cx="275783" cy="2757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53312" y="1188720"/>
            <a:ext cx="7178040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60" b="1" i="0">
                <a:solidFill>
                  <a:srgbClr val="FFE200"/>
                </a:solidFill>
                <a:latin typeface="Calibri"/>
              </a:rPr>
              <a:t>OBJETIVO GENERAL: </a:t>
            </a:r>
            <a:r>
              <a:rPr sz="960" b="0" i="0">
                <a:solidFill>
                  <a:srgbClr val="FFFFFF"/>
                </a:solidFill>
                <a:latin typeface="Calibri"/>
              </a:rPr>
              <a:t>Generar y validar superficies de exposición de PM₂.₅, PM₁₀, NO₂, O₃, SO₂ y CO a resolución comuna × hora / día para todo Chile, agregadas por macrozona, mediante un pipeline reproducible que integra satélites, reanálisis y predictores locales, evaluado contra la red SINCA.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76272"/>
            <a:ext cx="4005072" cy="804672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6928" y="2359152"/>
            <a:ext cx="420624" cy="420624"/>
          </a:xfrm>
          <a:prstGeom prst="ellipse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downloa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77" y="2460101"/>
            <a:ext cx="218724" cy="218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2240279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Calibri"/>
              </a:rPr>
              <a:t>OE1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432304"/>
            <a:ext cx="3273552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60" b="0" i="0" dirty="0" err="1">
                <a:solidFill>
                  <a:srgbClr val="52514E"/>
                </a:solidFill>
                <a:latin typeface="Calibri"/>
              </a:rPr>
              <a:t>Consolidar</a:t>
            </a:r>
            <a:r>
              <a:rPr sz="760" b="0" i="0" dirty="0">
                <a:solidFill>
                  <a:srgbClr val="52514E"/>
                </a:solidFill>
                <a:latin typeface="Calibri"/>
              </a:rPr>
              <a:t> </a:t>
            </a:r>
            <a:r>
              <a:rPr sz="760" b="0" i="0" dirty="0" err="1">
                <a:solidFill>
                  <a:srgbClr val="52514E"/>
                </a:solidFill>
                <a:latin typeface="Calibri"/>
              </a:rPr>
              <a:t>el</a:t>
            </a:r>
            <a:r>
              <a:rPr sz="760" b="0" i="0" dirty="0">
                <a:solidFill>
                  <a:srgbClr val="52514E"/>
                </a:solidFill>
                <a:latin typeface="Calibri"/>
              </a:rPr>
              <a:t> pipeline de </a:t>
            </a:r>
            <a:r>
              <a:rPr sz="760" b="0" i="0" dirty="0" err="1">
                <a:solidFill>
                  <a:srgbClr val="52514E"/>
                </a:solidFill>
                <a:latin typeface="Calibri"/>
              </a:rPr>
              <a:t>descarga</a:t>
            </a:r>
            <a:r>
              <a:rPr sz="760" b="0" i="0" dirty="0">
                <a:solidFill>
                  <a:srgbClr val="52514E"/>
                </a:solidFill>
                <a:latin typeface="Calibri"/>
              </a:rPr>
              <a:t> y </a:t>
            </a:r>
            <a:r>
              <a:rPr sz="760" b="0" i="0" dirty="0" err="1">
                <a:solidFill>
                  <a:srgbClr val="52514E"/>
                </a:solidFill>
                <a:latin typeface="Calibri"/>
              </a:rPr>
              <a:t>procesamiento</a:t>
            </a:r>
            <a:r>
              <a:rPr sz="760" b="0" i="0" dirty="0">
                <a:solidFill>
                  <a:srgbClr val="52514E"/>
                </a:solidFill>
                <a:latin typeface="Calibri"/>
              </a:rPr>
              <a:t> multi-</a:t>
            </a:r>
            <a:r>
              <a:rPr sz="760" b="0" i="0" dirty="0" err="1">
                <a:solidFill>
                  <a:srgbClr val="52514E"/>
                </a:solidFill>
                <a:latin typeface="Calibri"/>
              </a:rPr>
              <a:t>fuente</a:t>
            </a:r>
            <a:r>
              <a:rPr sz="760" b="0" i="0" dirty="0">
                <a:solidFill>
                  <a:srgbClr val="52514E"/>
                </a:solidFill>
                <a:latin typeface="Calibri"/>
              </a:rPr>
              <a:t> (10 </a:t>
            </a:r>
            <a:r>
              <a:rPr sz="760" b="0" i="0" dirty="0" err="1">
                <a:solidFill>
                  <a:srgbClr val="52514E"/>
                </a:solidFill>
                <a:latin typeface="Calibri"/>
              </a:rPr>
              <a:t>productos</a:t>
            </a:r>
            <a:r>
              <a:rPr sz="760" b="0" i="0" dirty="0">
                <a:solidFill>
                  <a:srgbClr val="52514E"/>
                </a:solidFill>
                <a:latin typeface="Calibri"/>
              </a:rPr>
              <a:t> + SINCA), con </a:t>
            </a:r>
            <a:r>
              <a:rPr sz="760" b="0" i="0" dirty="0" err="1">
                <a:solidFill>
                  <a:srgbClr val="52514E"/>
                </a:solidFill>
                <a:latin typeface="Calibri"/>
              </a:rPr>
              <a:t>recorte</a:t>
            </a:r>
            <a:r>
              <a:rPr sz="760" b="0" i="0" dirty="0">
                <a:solidFill>
                  <a:srgbClr val="52514E"/>
                </a:solidFill>
                <a:latin typeface="Calibri"/>
              </a:rPr>
              <a:t> a Chile y </a:t>
            </a:r>
            <a:r>
              <a:rPr sz="760" b="0" i="0" dirty="0" err="1">
                <a:solidFill>
                  <a:srgbClr val="52514E"/>
                </a:solidFill>
                <a:latin typeface="Calibri"/>
              </a:rPr>
              <a:t>agregación</a:t>
            </a:r>
            <a:r>
              <a:rPr sz="760" b="0" i="0" dirty="0">
                <a:solidFill>
                  <a:srgbClr val="52514E"/>
                </a:solidFill>
                <a:latin typeface="Calibri"/>
              </a:rPr>
              <a:t> </a:t>
            </a:r>
            <a:r>
              <a:rPr sz="760" b="0" i="0" dirty="0" err="1">
                <a:solidFill>
                  <a:srgbClr val="52514E"/>
                </a:solidFill>
                <a:latin typeface="Calibri"/>
              </a:rPr>
              <a:t>comunal</a:t>
            </a:r>
            <a:r>
              <a:rPr sz="760" b="0" i="0" dirty="0">
                <a:solidFill>
                  <a:srgbClr val="52514E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1728" y="2176272"/>
            <a:ext cx="4005072" cy="804672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791456" y="2359152"/>
            <a:ext cx="420624" cy="420624"/>
          </a:xfrm>
          <a:prstGeom prst="ellipse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torag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405" y="2460101"/>
            <a:ext cx="218724" cy="218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21808" y="2240279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Calibri"/>
              </a:rPr>
              <a:t>OE2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808" y="2432304"/>
            <a:ext cx="3273552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60" b="0" i="0">
                <a:solidFill>
                  <a:srgbClr val="52514E"/>
                </a:solidFill>
                <a:latin typeface="Calibri"/>
              </a:rPr>
              <a:t>Construir paneles de modelamiento por contaminante uniendo predictores satelitales, meteorológicos y estáticos con SINCA.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072384"/>
            <a:ext cx="4005072" cy="804672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66928" y="3255264"/>
            <a:ext cx="420624" cy="420624"/>
          </a:xfrm>
          <a:prstGeom prst="ellipse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cienc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877" y="3356213"/>
            <a:ext cx="218724" cy="218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3136391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Calibri"/>
              </a:rPr>
              <a:t>OE3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328415"/>
            <a:ext cx="3273552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60" b="0" i="0">
                <a:solidFill>
                  <a:srgbClr val="52514E"/>
                </a:solidFill>
                <a:latin typeface="Calibri"/>
              </a:rPr>
              <a:t>Entrenar y comparar motores de estimación (GWR, gradient boosting, kriging) con validación cruzada LOSO.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81728" y="3072384"/>
            <a:ext cx="4005072" cy="804672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791456" y="3255264"/>
            <a:ext cx="420624" cy="420624"/>
          </a:xfrm>
          <a:prstGeom prst="ellipse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ma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405" y="3356213"/>
            <a:ext cx="218724" cy="218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21808" y="3136391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Calibri"/>
              </a:rPr>
              <a:t>OE4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808" y="3328415"/>
            <a:ext cx="3273552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60" b="0" i="0">
                <a:solidFill>
                  <a:srgbClr val="52514E"/>
                </a:solidFill>
                <a:latin typeface="Calibri"/>
              </a:rPr>
              <a:t>Producir las superficies comuna × hora / día y reportar métricas (R², RMSE, sesgo) por contaminante, estación y macrozona.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68496"/>
            <a:ext cx="4005072" cy="804672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6928" y="4151376"/>
            <a:ext cx="420624" cy="420624"/>
          </a:xfrm>
          <a:prstGeom prst="ellipse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checklis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877" y="4252325"/>
            <a:ext cx="218724" cy="218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97280" y="4032504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Calibri"/>
              </a:rPr>
              <a:t>OE5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224528"/>
            <a:ext cx="3273552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60" b="0" i="0">
                <a:solidFill>
                  <a:srgbClr val="52514E"/>
                </a:solidFill>
                <a:latin typeface="Calibri"/>
              </a:rPr>
              <a:t>Publicar el proyecto como repositorio abierto y reproducible (scripts, credenciales de ejemplo, documentación).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4023360"/>
            <a:ext cx="4005072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40" b="1" i="1">
                <a:solidFill>
                  <a:srgbClr val="1F497D"/>
                </a:solidFill>
                <a:latin typeface="Calibri"/>
              </a:rPr>
              <a:t>Hipótesis de trabajo: </a:t>
            </a:r>
            <a:r>
              <a:rPr sz="840" b="0" i="1">
                <a:solidFill>
                  <a:srgbClr val="52514E"/>
                </a:solidFill>
                <a:latin typeface="Calibri"/>
              </a:rPr>
              <a:t>los predictores satelitales y de reanálisis permiten estimar los gases de superficie con desempeño comparable al reportado internacionalmente, incluso en macrozonas con pocas estaciones.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Flujograma: de dónde salen los datos y cómo se transforman</a:t>
            </a:r>
            <a:endParaRPr lang="es-ES" dirty="0"/>
          </a:p>
        </p:txBody>
      </p:sp>
      <p:pic>
        <p:nvPicPr>
          <p:cNvPr id="3" name="Picture 2" descr="flujograma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78992"/>
            <a:ext cx="7955279" cy="3417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1900" b="1">
                <a:solidFill>
                  <a:srgbClr val="FFFFFF"/>
                </a:solidFill>
                <a:latin typeface="Calibri"/>
              </a:rPr>
              <a:t>Fuentes de datos por contaminante</a:t>
            </a:r>
            <a:endParaRPr lang="es-ES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15568"/>
          <a:ext cx="82296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Contaminante</a:t>
                      </a:r>
                    </a:p>
                  </a:txBody>
                  <a:tcPr marL="54864" marR="36576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Satélite (columna / L2–L3)</a:t>
                      </a:r>
                    </a:p>
                  </a:txBody>
                  <a:tcPr marL="54864" marR="36576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Reanálisis / superficie</a:t>
                      </a:r>
                    </a:p>
                  </a:txBody>
                  <a:tcPr marL="54864" marR="36576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54864" marR="36576" marT="18288" marB="18288" anchor="ctr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1A1A"/>
                          </a:solidFill>
                          <a:latin typeface="Calibri"/>
                        </a:rPr>
                        <a:t>PM₂.₅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MAIAC AOD¹ · MODIS AOD 3K (predictores)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ACAG² · MERRA-2³ · CAMS⁴ · GEOS-CF⁵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2000+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1A1A"/>
                          </a:solidFill>
                          <a:latin typeface="Calibri"/>
                        </a:rPr>
                        <a:t>PM₁₀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MODIS AOD (predictor)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CAMS⁴ · MERRA-2 (polvo)³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2003+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1A1A"/>
                          </a:solidFill>
                          <a:latin typeface="Calibri"/>
                        </a:rPr>
                        <a:t>NO₂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TROPOMI⁶ · OMI⁷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CAMS⁴ · GEOS-CF⁵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2004+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1A1A"/>
                          </a:solidFill>
                          <a:latin typeface="Calibri"/>
                        </a:rPr>
                        <a:t>O₃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TROPOMI⁶ · OMI⁷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MERRA-2³ · CAMS⁴ · GEOS-CF⁵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2004+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1A1A"/>
                          </a:solidFill>
                          <a:latin typeface="Calibri"/>
                        </a:rPr>
                        <a:t>SO₂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TROPOMI⁶ · OMI⁷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CAMS⁴ · GEOS-CF⁵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2004+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1A1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TROPOMI⁶ · MOPITT⁸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CAMS⁴ · GEOS-CF⁵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2000+</a:t>
                      </a:r>
                    </a:p>
                  </a:txBody>
                  <a:tcPr marL="54864" marR="36576" marT="18288" marB="18288" anchor="ctr">
                    <a:solidFill>
                      <a:srgbClr val="F2F6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40156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" b="1" i="0">
                <a:solidFill>
                  <a:srgbClr val="1F497D"/>
                </a:solidFill>
                <a:latin typeface="Calibri"/>
              </a:rPr>
              <a:t>Predictores comunes a los 6: </a:t>
            </a:r>
            <a:r>
              <a:rPr sz="880" b="0" i="0">
                <a:solidFill>
                  <a:srgbClr val="52514E"/>
                </a:solidFill>
                <a:latin typeface="Calibri"/>
              </a:rPr>
              <a:t>meteorología ERA5 / ERA5-Land⁹ y MERRA-2³, uso de suelo ESA CCI, red vial OSM, altitud NASADEM, luces nocturnas VIIRS y censo (población, leña).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13632"/>
            <a:ext cx="4069080" cy="749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¹ Lyapustin A. et al. MODIS Collection 6 MAIAC algorithm. Atmos. Meas. Tech. 11 (2018). doi:10.5194/amt-11-5741-2018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² van Donkelaar A. et al. Monthly global estimates of fine particulate matter and their uncertainty. Environ. Sci. Technol. 55 (2021). doi:10.1021/acs.est.1c05309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³ Gelaro R. et al. MERRA-2. J. Climate 30 (2017). doi:10.1175/JCLI-D-16-0758.1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⁴ Inness A. et al. The CAMS reanalysis of atmospheric composition. Atmos. Chem. Phys. 19 (2019). doi:10.5194/acp-19-3515-2019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⁵ Keller C.A. et al. Description of the NASA GEOS-CF v1.0. J. Adv. Model. Earth Syst. 13 (2021). doi:10.1029/2020MS002413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3913632"/>
            <a:ext cx="4023360" cy="749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⁶ Veefkind J.P. et al. TROPOMI on the ESA Sentinel-5 Precursor. Remote Sensing of Environment 120 (2012). doi:10.1016/j.rse.2011.09.027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⁷ Levelt P.F. et al. The Ozone Monitoring Instrument. IEEE Trans. Geosci. Remote Sens. 44 (2006). doi:10.1109/TGRS.2006.872333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⁸ Deeter M.N. et al. The MOPITT Version 9 CO product. Atmos. Meas. Tech. 15 (2022). doi:10.5194/amt-15-2325-2022</a:t>
            </a:r>
          </a:p>
          <a:p>
            <a:pPr algn="l">
              <a:spcAft>
                <a:spcPts val="100"/>
              </a:spcAft>
            </a:pPr>
            <a:r>
              <a:rPr sz="620" b="0" i="0">
                <a:solidFill>
                  <a:srgbClr val="898781"/>
                </a:solidFill>
                <a:latin typeface="Calibri"/>
              </a:rPr>
              <a:t>⁹ Hersbach H. et al. The ERA5 global reanalysis. Q. J. R. Meteorol. Soc. 146 (2020). doi:10.1002/qj.3803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Semanas 1 y 2: qué hicimos, qué costó y qué viene</a:t>
            </a:r>
            <a:endParaRPr lang="es-ES" dirty="0"/>
          </a:p>
        </p:txBody>
      </p:sp>
      <p:sp>
        <p:nvSpPr>
          <p:cNvPr id="3" name="Rounded Rectangle 2"/>
          <p:cNvSpPr/>
          <p:nvPr/>
        </p:nvSpPr>
        <p:spPr>
          <a:xfrm>
            <a:off x="457200" y="1115568"/>
            <a:ext cx="2011680" cy="257860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85216" y="1243584"/>
            <a:ext cx="384048" cy="384048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hecklis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87" y="1335755"/>
            <a:ext cx="199704" cy="199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" y="1225296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1F497D"/>
                </a:solidFill>
                <a:latin typeface="Calibri"/>
              </a:rPr>
              <a:t>Objetivos de la semana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810512"/>
            <a:ext cx="17373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Plantear la problemática real como proyecto de ciencia de datos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Delimitar objetivo general y específicos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Dejar operativa la obtención de datos multi-fuente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78608" y="1115568"/>
            <a:ext cx="2011680" cy="257860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706624" y="1243584"/>
            <a:ext cx="384048" cy="384048"/>
          </a:xfrm>
          <a:prstGeom prst="ellipse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ownloa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795" y="1335755"/>
            <a:ext cx="199704" cy="19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63824" y="1225296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3366CC"/>
                </a:solidFill>
                <a:latin typeface="Calibri"/>
              </a:rPr>
              <a:t>Tareas realizadas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1810512"/>
            <a:ext cx="17373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Repositorio público con estructura reproducible y bibliografía APA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Descargadores con IDs verificados en CMR / ADS / S3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Recorte a Chile (~5 % del volumen) y agregación comunal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Config SINCA: 109 estaciones, 6 contaminantes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0016" y="1115568"/>
            <a:ext cx="2011680" cy="257860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828031" y="1243584"/>
            <a:ext cx="384048" cy="384048"/>
          </a:xfrm>
          <a:prstGeom prst="ellipse">
            <a:avLst/>
          </a:prstGeom>
          <a:solidFill>
            <a:srgbClr val="B24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warnin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203" y="1335755"/>
            <a:ext cx="199704" cy="1997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85231" y="1225296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B24E1C"/>
                </a:solidFill>
                <a:latin typeface="Calibri"/>
              </a:rPr>
              <a:t>Desafíos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810512"/>
            <a:ext cx="17373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Volumen: TROPOMI sin recorte ≈ 13 TB; MERRA-2 ≈ 1 TB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Credenciales y cuotas (Earthdata, ADS) y reintentos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Cobertura temporal heterogénea (2000+ / 2004+ / 2018+)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21423" y="1115568"/>
            <a:ext cx="2011680" cy="257860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949439" y="1243584"/>
            <a:ext cx="384048" cy="384048"/>
          </a:xfrm>
          <a:prstGeom prst="ellipse">
            <a:avLst/>
          </a:prstGeom>
          <a:solidFill>
            <a:srgbClr val="0F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alenda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1611" y="1335755"/>
            <a:ext cx="199704" cy="1997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06640" y="1225296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F7D57"/>
                </a:solidFill>
                <a:latin typeface="Calibri"/>
              </a:rPr>
              <a:t>Próxima semana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7" y="1810512"/>
            <a:ext cx="17373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Revisión de literatura por contaminante (video N.º 2)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Métricas objetivo y líneas base por macrozona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760">
                <a:solidFill>
                  <a:srgbClr val="52514E"/>
                </a:solidFill>
                <a:latin typeface="Calibri"/>
              </a:rPr>
              <a:t>• Preparar la defensa de tema (semana 4)</a:t>
            </a:r>
          </a:p>
        </p:txBody>
      </p:sp>
    </p:spTree>
    <p:extLst>
      <p:ext uri="{BB962C8B-B14F-4D97-AF65-F5344CB8AC3E}">
        <p14:creationId xmlns:p14="http://schemas.microsoft.com/office/powerpoint/2010/main" val="3227572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932688"/>
            <a:ext cx="5394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Todo el proyecto vive aquí,
abierto y reproducible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8308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DE2FB"/>
                </a:solidFill>
                <a:latin typeface="Calibri"/>
              </a:rPr>
              <a:t>• scripts_pipeline/: descarga y procesamiento por contaminante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DE2FB"/>
                </a:solidFill>
                <a:latin typeface="Calibri"/>
              </a:rPr>
              <a:t>• scripts_superficie/: modelos, validación LOSO y figuras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DE2FB"/>
                </a:solidFill>
                <a:latin typeface="Calibri"/>
              </a:rPr>
              <a:t>• docs/: sitio con bibliografía APA consolidada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DE2FB"/>
                </a:solidFill>
                <a:latin typeface="Calibri"/>
              </a:rPr>
              <a:t>• Datos pesados regenerables con credenciales propias (Earthdata / ADS)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456432"/>
            <a:ext cx="5394960" cy="512064"/>
          </a:xfrm>
          <a:prstGeom prst="roundRect">
            <a:avLst>
              <a:gd name="adj" fmla="val 10000"/>
            </a:avLst>
          </a:prstGeom>
          <a:solidFill>
            <a:srgbClr val="113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github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584448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3456432"/>
            <a:ext cx="48463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github.com/AmaruSimonAgueroJimenez/Air-Pollution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932688"/>
            <a:ext cx="2331720" cy="3035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qr_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1133856"/>
            <a:ext cx="1929384" cy="1929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3127248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17375D"/>
                </a:solidFill>
                <a:latin typeface="Calibri"/>
              </a:rPr>
              <a:t>Escanea para ver el repositorio, el pipeline y la documentación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89120"/>
            <a:ext cx="8138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DE2FB"/>
                </a:solidFill>
                <a:latin typeface="Calibri"/>
              </a:rPr>
              <a:t>Equipo 2: José J. Romero · Roberto I. Ávila · Amaru S. Agüero          ¡Gracias!</a:t>
            </a:r>
          </a:p>
        </p:txBody>
      </p:sp>
    </p:spTree>
    <p:extLst>
      <p:ext uri="{BB962C8B-B14F-4D97-AF65-F5344CB8AC3E}">
        <p14:creationId xmlns:p14="http://schemas.microsoft.com/office/powerpoint/2010/main" val="785384284"/>
      </p:ext>
    </p:extLst>
  </p:cSld>
  <p:clrMapOvr>
    <a:masterClrMapping/>
  </p:clrMapOvr>
</p:sld>
</file>

<file path=ppt/theme/theme1.xml><?xml version="1.0" encoding="utf-8"?>
<a:theme xmlns:a="http://schemas.openxmlformats.org/drawingml/2006/main" name="Plantilla UC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Plantilla UC.potx</Template>
  <TotalTime>280</TotalTime>
  <Words>1876</Words>
  <Application>Microsoft Macintosh PowerPoint</Application>
  <PresentationFormat>Presentación en pantalla (16:9)</PresentationFormat>
  <Paragraphs>133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Calibri</vt:lpstr>
      <vt:lpstr>Plantilla UC</vt:lpstr>
      <vt:lpstr>Diseño personalizado</vt:lpstr>
      <vt:lpstr>2_Diseño personalizado</vt:lpstr>
      <vt:lpstr>Estimación multi-contaminante de la calidad del aire en Chile</vt:lpstr>
      <vt:lpstr>¿Por qué importa? El aire que se respira mata y casi no se mide</vt:lpstr>
      <vt:lpstr>El problema: los gases casi no se vigilan fuera de las grandes ciudades</vt:lpstr>
      <vt:lpstr>La evidencia dice que se puede: precedentes internacionales</vt:lpstr>
      <vt:lpstr>Objetivo general y objetivos específicos</vt:lpstr>
      <vt:lpstr>Flujograma: de dónde salen los datos y cómo se transforman</vt:lpstr>
      <vt:lpstr>Fuentes de datos por contaminante</vt:lpstr>
      <vt:lpstr>Semanas 1 y 2: qué hicimos, qué costó y qué viene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XX</dc:creator>
  <cp:lastModifiedBy>Amaru Aguero</cp:lastModifiedBy>
  <cp:revision>33</cp:revision>
  <dcterms:created xsi:type="dcterms:W3CDTF">2013-12-19T15:07:33Z</dcterms:created>
  <dcterms:modified xsi:type="dcterms:W3CDTF">2026-08-13T19:17:33Z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0x0101002A30D13EB03CFA46896655FA61226709</vt:lpwstr>
  </property>
</Properties>
</file>