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1" r:id="rId3"/>
  </p:sldMasterIdLst>
  <p:notesMasterIdLst>
    <p:notesMasterId r:id="rId13"/>
  </p:notesMasterIdLst>
  <p:sldIdLst>
    <p:sldId id="262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0" r:id="rId12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97">
          <p15:clr>
            <a:srgbClr val="A4A3A4"/>
          </p15:clr>
        </p15:guide>
        <p15:guide id="2" pos="41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03"/>
    <p:restoredTop sz="50000"/>
  </p:normalViewPr>
  <p:slideViewPr>
    <p:cSldViewPr snapToGrid="0" snapToObjects="1" showGuides="1">
      <p:cViewPr varScale="1">
        <p:scale>
          <a:sx n="145" d="100"/>
          <a:sy n="145" d="100"/>
        </p:scale>
        <p:origin x="4768" y="184"/>
      </p:cViewPr>
      <p:guideLst>
        <p:guide orient="horz" pos="2697"/>
        <p:guide pos="41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7875-FBB4-E24A-BDDE-B8BBEBD8D5C9}" type="datetimeFigureOut">
              <a:rPr lang="es-ES" smtClean="0"/>
              <a:t>15/8/26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FB505-4C2B-1B4C-9533-CA0B69CD73D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89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0FB505-4C2B-1B4C-9533-CA0B69CD73D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575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FB505-4C2B-1B4C-9533-CA0B69CD73D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522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FB505-4C2B-1B4C-9533-CA0B69CD73D7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333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169334" y="1007195"/>
            <a:ext cx="8974667" cy="238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1755587"/>
            <a:ext cx="8229600" cy="857250"/>
          </a:xfrm>
        </p:spPr>
        <p:txBody>
          <a:bodyPr/>
          <a:lstStyle/>
          <a:p>
            <a:r>
              <a:rPr lang="es-ES_tradnl" dirty="0"/>
              <a:t>Clic para editar nombre de capítulo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672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08133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15/8/26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087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087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15/8/26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97742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6006"/>
            <a:ext cx="4040188" cy="211143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15/8/26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Marcador de SmartArt 10"/>
          <p:cNvSpPr>
            <a:spLocks noGrp="1"/>
          </p:cNvSpPr>
          <p:nvPr>
            <p:ph type="dgm" sz="quarter" idx="13"/>
          </p:nvPr>
        </p:nvSpPr>
        <p:spPr>
          <a:xfrm>
            <a:off x="4559300" y="1151335"/>
            <a:ext cx="4127500" cy="3136106"/>
          </a:xfrm>
        </p:spPr>
        <p:txBody>
          <a:bodyPr/>
          <a:lstStyle/>
          <a:p>
            <a:r>
              <a:rPr lang="es-ES_tradnl"/>
              <a:t>Haga clic en el icono para agregar un gráfico SmartArt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143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pPr/>
              <a:t>15/8/26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316811"/>
            <a:ext cx="8229600" cy="2970631"/>
          </a:xfrm>
        </p:spPr>
        <p:txBody>
          <a:bodyPr/>
          <a:lstStyle/>
          <a:p>
            <a:r>
              <a:rPr lang="es-ES_tradnl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t>15/8/26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t>‹Nº›</a:t>
            </a:fld>
            <a:endParaRPr lang="es-ES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214080"/>
            <a:ext cx="8229600" cy="268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025504"/>
            <a:ext cx="8229600" cy="2619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170818" y="4767263"/>
            <a:ext cx="800392" cy="273844"/>
          </a:xfrm>
          <a:prstGeom prst="rect">
            <a:avLst/>
          </a:prstGeom>
        </p:spPr>
        <p:txBody>
          <a:bodyPr/>
          <a:lstStyle/>
          <a:p>
            <a:fld id="{64248F72-65B5-4A4E-B82F-2E1A76141EF9}" type="datetimeFigureOut">
              <a:rPr lang="es-ES" smtClean="0"/>
              <a:pPr/>
              <a:t>15/8/26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1627373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971211" y="4767263"/>
            <a:ext cx="656163" cy="273844"/>
          </a:xfrm>
          <a:prstGeom prst="rect">
            <a:avLst/>
          </a:prstGeom>
        </p:spPr>
        <p:txBody>
          <a:bodyPr/>
          <a:lstStyle/>
          <a:p>
            <a:fld id="{4637D2F8-05A4-FD4C-AF87-1FA0BA229BE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483"/>
            <a:ext cx="9144000" cy="349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CC73C310-44D8-D44E-9500-41BAE48D6C1F}" type="datetimeFigureOut">
              <a:rPr lang="es-ES" smtClean="0"/>
              <a:t>15/8/26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F152EED2-0F54-FF4E-878C-CD5E3782BC0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8586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00719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4994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08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49945"/>
            <a:ext cx="158742" cy="85725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/>
          <p:cNvSpPr/>
          <p:nvPr userDrawn="1"/>
        </p:nvSpPr>
        <p:spPr>
          <a:xfrm flipV="1">
            <a:off x="169334" y="4871120"/>
            <a:ext cx="8815911" cy="1773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1" name="Rectángulo 10"/>
          <p:cNvSpPr/>
          <p:nvPr userDrawn="1"/>
        </p:nvSpPr>
        <p:spPr>
          <a:xfrm flipV="1">
            <a:off x="7200957" y="4871118"/>
            <a:ext cx="1119038" cy="177313"/>
          </a:xfrm>
          <a:prstGeom prst="rect">
            <a:avLst/>
          </a:prstGeom>
          <a:solidFill>
            <a:srgbClr val="3366C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3" r:id="rId4"/>
    <p:sldLayoutId id="2147483658" r:id="rId5"/>
    <p:sldLayoutId id="2147483654" r:id="rId6"/>
    <p:sldLayoutId id="2147483659" r:id="rId7"/>
    <p:sldLayoutId id="2147483655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UC color 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698500"/>
            <a:ext cx="6480264" cy="3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437737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2770565"/>
            <a:ext cx="8229600" cy="151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Integrantes</a:t>
            </a:r>
            <a:endParaRPr lang="es-ES" dirty="0"/>
          </a:p>
        </p:txBody>
      </p:sp>
      <p:pic>
        <p:nvPicPr>
          <p:cNvPr id="7" name="Imagen 6" descr="fondo 2727.ai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137" y="1"/>
            <a:ext cx="6043863" cy="1123125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 flipV="1">
            <a:off x="-1" y="-4"/>
            <a:ext cx="177417" cy="1123126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UC color TR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84" y="70795"/>
            <a:ext cx="1907624" cy="1099172"/>
          </a:xfrm>
          <a:prstGeom prst="rect">
            <a:avLst/>
          </a:prstGeom>
        </p:spPr>
      </p:pic>
      <p:sp>
        <p:nvSpPr>
          <p:cNvPr id="10" name="Rectángulo 9"/>
          <p:cNvSpPr/>
          <p:nvPr userDrawn="1"/>
        </p:nvSpPr>
        <p:spPr>
          <a:xfrm flipV="1">
            <a:off x="169334" y="4871120"/>
            <a:ext cx="8815911" cy="1773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1" name="Rectángulo 10"/>
          <p:cNvSpPr/>
          <p:nvPr userDrawn="1"/>
        </p:nvSpPr>
        <p:spPr>
          <a:xfrm flipV="1">
            <a:off x="7200957" y="4871118"/>
            <a:ext cx="1119038" cy="177313"/>
          </a:xfrm>
          <a:prstGeom prst="rect">
            <a:avLst/>
          </a:prstGeom>
          <a:solidFill>
            <a:srgbClr val="3366CC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903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r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r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95959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12648" y="2761488"/>
            <a:ext cx="7772400" cy="1097280"/>
          </a:xfrm>
        </p:spPr>
        <p:txBody>
          <a:bodyPr wrap="square">
            <a:noAutofit/>
          </a:bodyPr>
          <a:lstStyle/>
          <a:p>
            <a:pPr algn="l">
              <a:spcBef>
                <a:spcPts val="200"/>
              </a:spcBef>
            </a:pPr>
            <a:r>
              <a:rPr sz="1300">
                <a:solidFill>
                  <a:srgbClr val="52514E"/>
                </a:solidFill>
                <a:latin typeface="Calibri"/>
              </a:rPr>
              <a:t>Superficies de exposición comuna × hora para PM₂.₅ · PM₁₀ · NO₂ · O₃ · SO₂ · CO, para todo el territorio nacional y por macrozona, validadas contra la red SINCA</a:t>
            </a:r>
            <a:endParaRPr lang="es-ES" sz="1800" dirty="0"/>
          </a:p>
        </p:txBody>
      </p:sp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614967" y="1538445"/>
            <a:ext cx="7772400" cy="1101725"/>
          </a:xfrm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17375D"/>
                </a:solidFill>
                <a:latin typeface="Calibri"/>
              </a:rPr>
              <a:t>Estimación multi-contaminante de la calidad del aire en Chile</a:t>
            </a:r>
            <a:endParaRPr lang="es-CL" sz="4000" dirty="0">
              <a:solidFill>
                <a:srgbClr val="3366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366CC"/>
                </a:solidFill>
                <a:latin typeface="Calibri"/>
              </a:rPr>
              <a:t>ACTIVIDAD FINAL DE GRADUACIÓN 1  ·  MDS3050  ·  VIDEO DE AVANCE N.º 1: DEFINICIÓN DEL PROBLEMA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95020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José Jesús Romero Fuenmayor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432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395020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Roberto Ignacio Ávila Escobar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395020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Amaru Simón Agüero Jiménez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3950208"/>
            <a:ext cx="1883664" cy="402336"/>
          </a:xfrm>
          <a:prstGeom prst="roundRect">
            <a:avLst>
              <a:gd name="adj" fmla="val 18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950208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19" b="1" i="0">
                <a:solidFill>
                  <a:srgbClr val="17375D"/>
                </a:solidFill>
                <a:latin typeface="Calibri"/>
              </a:rPr>
              <a:t>Esteban Adolfo González Rodríguez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4462272"/>
            <a:ext cx="7772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898781"/>
                </a:solidFill>
                <a:latin typeface="Calibri"/>
              </a:rPr>
              <a:t>Equipo 2 (Team2)  · 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4120695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¿Por qué importa? El aire que se respira mata y casi no se mide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2679192" cy="144475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3504" y="1243584"/>
            <a:ext cx="402336" cy="402336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ealth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" y="1340144"/>
            <a:ext cx="209214" cy="2092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11887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497D"/>
                </a:solidFill>
                <a:latin typeface="Calibri"/>
              </a:rPr>
              <a:t>≈ 8 millones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55648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0" i="0">
                <a:solidFill>
                  <a:srgbClr val="52514E"/>
                </a:solidFill>
                <a:latin typeface="Calibri"/>
              </a:rPr>
              <a:t>de muertes al año se atribuyen a la contaminación del aire en el mundo (GBD 2021)¹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4408" y="1115568"/>
            <a:ext cx="2679192" cy="144475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10712" y="1243584"/>
            <a:ext cx="402336" cy="402336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arn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72" y="1340144"/>
            <a:ext cx="209214" cy="2092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04487" y="11887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3366CC"/>
                </a:solidFill>
                <a:latin typeface="Calibri"/>
              </a:rPr>
              <a:t>4 de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55648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0" i="0">
                <a:solidFill>
                  <a:srgbClr val="52514E"/>
                </a:solidFill>
                <a:latin typeface="Calibri"/>
              </a:rPr>
              <a:t>contaminantes normados endurecieron su guía OMS 2021²; el NO₂ anual pasó de 40 a 10 µg/m³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115568"/>
            <a:ext cx="2679192" cy="144475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17920" y="1243584"/>
            <a:ext cx="402336" cy="402336"/>
          </a:xfrm>
          <a:prstGeom prst="ellipse">
            <a:avLst/>
          </a:prstGeom>
          <a:solidFill>
            <a:srgbClr val="0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480" y="1340144"/>
            <a:ext cx="209214" cy="2092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11696" y="11887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0F7D57"/>
                </a:solidFill>
                <a:latin typeface="Calibri"/>
              </a:rPr>
              <a:t>4 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1755648"/>
            <a:ext cx="237744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30" b="0" i="0">
                <a:solidFill>
                  <a:srgbClr val="52514E"/>
                </a:solidFill>
                <a:latin typeface="Calibri"/>
              </a:rPr>
              <a:t>la norma anual chilena de PM₂.₅ cuadruplica la guía OMS vigente² ³ (20 frente a 5 µg/m³)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F497D"/>
                </a:solidFill>
                <a:latin typeface="Calibri"/>
              </a:rPr>
              <a:t>En Chile el problema tiene dos caras bien documentadas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80944"/>
            <a:ext cx="400507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" y="3072384"/>
            <a:ext cx="37124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B24E1C"/>
                </a:solidFill>
                <a:latin typeface="Calibri"/>
              </a:rPr>
              <a:t>Centro-sur: leña residencial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3310128"/>
            <a:ext cx="37124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La quema de leña domina el PM₂.₅ invernal en ciudades como Temuco; el problema es de partículas y de los gases que las acompañan.⁴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2980944"/>
            <a:ext cx="400507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3072384"/>
            <a:ext cx="371246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3366CC"/>
                </a:solidFill>
                <a:latin typeface="Calibri"/>
              </a:rPr>
              <a:t>Santiago y zonas industriales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3310128"/>
            <a:ext cx="3712463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Fuentes vehiculares e industriales sostienen episodios de PM₂.₅, NO₂ y SO₂; su composición cambió durante 15 años de gestión.⁵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78224"/>
            <a:ext cx="6446520" cy="585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¹ GBD 2021 Risk Factors Collaborators (Brauer M. et al.). Global burden and strength of evidence for 88 risk factors. The Lancet 403 (2024). doi:10.1016/S0140-6736(24)00933-4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² Organización Mundial de la Salud. WHO global air quality guidelines: PM, O3, NO2, SO2 y CO. Ginebra (2021). ISBN 978-92-4-003422-8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³ Ministerio del Medio Ambiente, Chile. D.S. N.º 12/2011, norma primaria de calidad ambiental para MP2,5.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⁴ Villalobos A.M. et al. Wood burning pollution in southern Chile: PM2.5 source apportionment using CMB and molecular markers. Environmental Pollution 225 (2017). doi:10.1016/j.envpol.2017.02.069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⁵ Barraza F. et al. Temporal evolution of main ambient PM2.5 sources in Santiago, Chile, 1998–2012. Atmos. Chem. Phys. 17 (2017). doi:10.5194/acp-17-10093-2017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El problema: los gases casi no se vigilan fuera de las grandes ciudades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5074920" cy="2139696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 w="12700">
            <a:solidFill>
              <a:srgbClr val="33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FORMULACIÓN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4700016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60" b="0" i="0">
                <a:solidFill>
                  <a:srgbClr val="1A1A1A"/>
                </a:solidFill>
                <a:latin typeface="Calibri"/>
              </a:rPr>
              <a:t>La vigilancia de calidad del aire en Chile descansa en ~109 estaciones SINCA concentradas en centros urbanos; para los gases (NO₂, O₃, SO₂, CO) la cobertura es aún menor que para el material particulado. No existe una superficie pública, continua y validada de estos contaminantes para todo el territorio. Proponemos estimarla a resolución comuna × hora / día combinando satélites, reanálisis y predictores locales, con la red SINCA como única verdad-terreno, y reportarla a escala nacional y por macrozona.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1115568"/>
            <a:ext cx="2999232" cy="73152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97296" y="1261872"/>
            <a:ext cx="420624" cy="42062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245" y="1362821"/>
            <a:ext cx="218724" cy="2187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5936" y="118872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Unidad de análisis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389888"/>
            <a:ext cx="22677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40" b="0" i="0">
                <a:solidFill>
                  <a:srgbClr val="52514E"/>
                </a:solidFill>
                <a:latin typeface="Calibri"/>
              </a:rPr>
              <a:t>comuna × hora (y día), 345 comunas; agregación por macrozona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87568" y="1956816"/>
            <a:ext cx="2999232" cy="73152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97296" y="2103120"/>
            <a:ext cx="420624" cy="42062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lend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245" y="2204069"/>
            <a:ext cx="218724" cy="21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45936" y="2029968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Horizonte temporal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231136"/>
            <a:ext cx="22677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40" b="0" i="0">
                <a:solidFill>
                  <a:srgbClr val="52514E"/>
                </a:solidFill>
                <a:latin typeface="Calibri"/>
              </a:rPr>
              <a:t>según fuente: MOPITT 2000+ · OMI 2004+ · CAMS 2003+ · TROPOMI / GEOS-CF 2018+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2798064"/>
            <a:ext cx="2999232" cy="731520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97296" y="2944368"/>
            <a:ext cx="420624" cy="42062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targ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245" y="3045317"/>
            <a:ext cx="218724" cy="2187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45936" y="2871216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Alcance acotado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072384"/>
            <a:ext cx="22677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40" b="0" i="0">
                <a:solidFill>
                  <a:srgbClr val="52514E"/>
                </a:solidFill>
                <a:latin typeface="Calibri"/>
              </a:rPr>
              <a:t>estimar bien y validar contra SINCA; sin validación epidemiológica (recomendación docente)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21024"/>
            <a:ext cx="6473952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1792" y="3831336"/>
            <a:ext cx="475488" cy="475488"/>
          </a:xfrm>
          <a:prstGeom prst="ellipse">
            <a:avLst/>
          </a:prstGeom>
          <a:solidFill>
            <a:srgbClr val="0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ownloa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09" y="3945453"/>
            <a:ext cx="247253" cy="2472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1872" y="3944251"/>
            <a:ext cx="5504688" cy="286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30" b="1" i="0" dirty="0">
                <a:solidFill>
                  <a:srgbClr val="1A1A1A"/>
                </a:solidFill>
                <a:latin typeface="Calibri"/>
              </a:rPr>
              <a:t>Punto de </a:t>
            </a:r>
            <a:r>
              <a:rPr sz="930" b="1" i="0" dirty="0" err="1">
                <a:solidFill>
                  <a:srgbClr val="1A1A1A"/>
                </a:solidFill>
                <a:latin typeface="Calibri"/>
              </a:rPr>
              <a:t>partida</a:t>
            </a:r>
            <a:r>
              <a:rPr sz="93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930" b="1" i="0" dirty="0" err="1">
                <a:solidFill>
                  <a:srgbClr val="1A1A1A"/>
                </a:solidFill>
                <a:latin typeface="Calibri"/>
              </a:rPr>
              <a:t>operativo</a:t>
            </a:r>
            <a:r>
              <a:rPr sz="930" b="1" i="0" dirty="0">
                <a:solidFill>
                  <a:srgbClr val="1A1A1A"/>
                </a:solidFill>
                <a:latin typeface="Calibri"/>
              </a:rPr>
              <a:t>. 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El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repositorio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del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proyecto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ya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integra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descargadores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verificados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para 10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productos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satelitales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/ de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reanálisis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y la red SINCA, con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recorte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automático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a Chile, </a:t>
            </a:r>
            <a:r>
              <a:rPr sz="930" b="0" i="0" dirty="0" err="1">
                <a:solidFill>
                  <a:srgbClr val="52514E"/>
                </a:solidFill>
                <a:latin typeface="Calibri"/>
              </a:rPr>
              <a:t>estructura</a:t>
            </a:r>
            <a:r>
              <a:rPr sz="930" b="0" i="0" dirty="0">
                <a:solidFill>
                  <a:srgbClr val="52514E"/>
                </a:solidFill>
                <a:latin typeface="Calibri"/>
              </a:rPr>
              <a:t> reproducible</a:t>
            </a:r>
            <a:r>
              <a:rPr lang="es-419" sz="930" b="0" i="0" dirty="0">
                <a:solidFill>
                  <a:srgbClr val="52514E"/>
                </a:solidFill>
                <a:latin typeface="Calibri"/>
              </a:rPr>
              <a:t>.</a:t>
            </a:r>
            <a:endParaRPr sz="930" b="0" i="0" dirty="0">
              <a:solidFill>
                <a:srgbClr val="52514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La evidencia dice que se puede: precedentes internacionales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4005072" cy="1133856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120700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PM₂.₅ global mensual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2928" y="1207008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1207008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" b="1" i="0">
                <a:solidFill>
                  <a:srgbClr val="1F497D"/>
                </a:solidFill>
                <a:latin typeface="Calibri"/>
              </a:rPr>
              <a:t>van Donkelaar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481328"/>
            <a:ext cx="37124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Estimaciones globales de PM₂.₅ con incertidumbre, combinando satélite + modelo + estaciones (base del producto ACAG que usamos).¹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115568"/>
            <a:ext cx="4005072" cy="1133856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28032" y="120700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NO₂ global (LUR)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1207008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77456" y="1207008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" b="1" i="0">
                <a:solidFill>
                  <a:srgbClr val="1F497D"/>
                </a:solidFill>
                <a:latin typeface="Calibri"/>
              </a:rPr>
              <a:t>Larkin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481328"/>
            <a:ext cx="37124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Modelo global de regresión de uso de suelo para NO₂ anual: el precedente de escalar gases a territorio completo.²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77439"/>
            <a:ext cx="4005072" cy="1133856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2468879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NO₂ diario con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2468879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52928" y="2468879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" b="1" i="0">
                <a:solidFill>
                  <a:srgbClr val="1F497D"/>
                </a:solidFill>
                <a:latin typeface="Calibri"/>
              </a:rPr>
              <a:t>Wei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2743199"/>
            <a:ext cx="37124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NO₂ de superficie sin huecos para toda China con IA espaciotemporal interpretable; el estándar técnico al que apuntamos.³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1728" y="2377439"/>
            <a:ext cx="4005072" cy="1133856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28032" y="2468879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497D"/>
                </a:solidFill>
                <a:latin typeface="Calibri"/>
              </a:rPr>
              <a:t>Gases → decisiones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2468879"/>
            <a:ext cx="1481328" cy="219456"/>
          </a:xfrm>
          <a:prstGeom prst="roundRect">
            <a:avLst>
              <a:gd name="adj" fmla="val 30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6" y="2468879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60" b="1" i="0">
                <a:solidFill>
                  <a:srgbClr val="1F497D"/>
                </a:solidFill>
                <a:latin typeface="Calibri"/>
              </a:rPr>
              <a:t>Anenberg 2022 · Turner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2743199"/>
            <a:ext cx="371246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819" b="0" i="0">
                <a:solidFill>
                  <a:srgbClr val="52514E"/>
                </a:solidFill>
                <a:latin typeface="Calibri"/>
              </a:rPr>
              <a:t>Con esas superficies se estiman impactos: tendencias urbanas de NO₂ y asma pediátrica⁴; el O₃ de largo plazo se asocia a mortalidad.⁵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12463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>
                <a:solidFill>
                  <a:srgbClr val="1F497D"/>
                </a:solidFill>
                <a:latin typeface="Calibri"/>
              </a:rPr>
              <a:t>Brecha que abordamos: </a:t>
            </a:r>
            <a:r>
              <a:rPr sz="930" b="0" i="0">
                <a:solidFill>
                  <a:srgbClr val="52514E"/>
                </a:solidFill>
                <a:latin typeface="Calibri"/>
              </a:rPr>
              <a:t>para Chile no existe un producto multi-gas continuo, público y validado por estación; los precedentes existen para PM₂.₅ global y para gases en el hemisferio norte.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9663"/>
            <a:ext cx="64465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¹ van Donkelaar A. et al. Monthly global estimates of fine particulate matter and their uncertainty. Environ. Sci. Technol. 55 (2021). doi:10.1021/acs.est.1c05309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² Larkin A. et al. Global land use regression model for nitrogen dioxide air pollution. Environ. Sci. Technol. 51 (2017). doi:10.1021/acs.est.7b01148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³ Wei J. et al. Ground-level NO2 surveillance from space across China using interpretable spatiotemporally weighted artificial intelligence. Environ. Sci. Technol. 56 (2022). doi:10.1021/acs.est.2c03834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⁴ Anenberg S.C. et al. Long-term trends in urban NO2 concentrations and associated paediatric asthma incidence. The Lancet Planetary Health 6 (2022). doi:10.1016/S2542-5196(21)00255-2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⁵ Turner M.C. et al. Long-term ozone exposure and mortality in a large prospective study. Am. J. Respir. Crit. Care Med. 193 (2016). doi:10.1164/rccm.201508-1633OC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Objetivo general y objetivos específicos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932688"/>
          </a:xfrm>
          <a:prstGeom prst="roundRect">
            <a:avLst>
              <a:gd name="adj" fmla="val 10000"/>
            </a:avLst>
          </a:prstGeom>
          <a:solidFill>
            <a:srgbClr val="17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80" y="1298448"/>
            <a:ext cx="530352" cy="530352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1425732"/>
            <a:ext cx="275783" cy="275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1188720"/>
            <a:ext cx="717804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60" b="1" i="0">
                <a:solidFill>
                  <a:srgbClr val="FFE200"/>
                </a:solidFill>
                <a:latin typeface="Calibri"/>
              </a:rPr>
              <a:t>OBJETIVO GENERAL: </a:t>
            </a:r>
            <a:r>
              <a:rPr sz="960" b="0" i="0">
                <a:solidFill>
                  <a:srgbClr val="FFFFFF"/>
                </a:solidFill>
                <a:latin typeface="Calibri"/>
              </a:rPr>
              <a:t>Generar y validar superficies de exposición de PM₂.₅, PM₁₀, NO₂, O₃, SO₂ y CO a resolución comuna × hora / día para todo Chile, agregadas por macrozona, mediante un pipeline reproducible que integra satélites, reanálisis y predictores locales, evaluado contra la red SINCA.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76272"/>
            <a:ext cx="4005072" cy="80467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2359152"/>
            <a:ext cx="420624" cy="420624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ownloa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" y="2460101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240279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OE1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32304"/>
            <a:ext cx="32735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60" b="0" i="0">
                <a:solidFill>
                  <a:srgbClr val="52514E"/>
                </a:solidFill>
                <a:latin typeface="Calibri"/>
              </a:rPr>
              <a:t>Consolidar el pipeline de descarga y procesamiento multi-fuente (10 productos + SINCA), con recorte a Chile y agregación comunal.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2176272"/>
            <a:ext cx="4005072" cy="80467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91456" y="2359152"/>
            <a:ext cx="420624" cy="420624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tora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405" y="2460101"/>
            <a:ext cx="218724" cy="2187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21808" y="2240279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OE2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432304"/>
            <a:ext cx="32735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60" b="0" i="0">
                <a:solidFill>
                  <a:srgbClr val="52514E"/>
                </a:solidFill>
                <a:latin typeface="Calibri"/>
              </a:rPr>
              <a:t>Construir paneles de modelamiento por contaminante uniendo predictores satelitales, meteorológicos y estáticos con SINCA.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72384"/>
            <a:ext cx="4005072" cy="80467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6928" y="3255264"/>
            <a:ext cx="420624" cy="420624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cienc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" y="3356213"/>
            <a:ext cx="218724" cy="2187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3136391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28415"/>
            <a:ext cx="32735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60" b="0" i="0">
                <a:solidFill>
                  <a:srgbClr val="52514E"/>
                </a:solidFill>
                <a:latin typeface="Calibri"/>
              </a:rPr>
              <a:t>Entrenar y comparar motores de estimación (GWR, gradient boosting, kriging) con validación cruzada LOSO.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3072384"/>
            <a:ext cx="4005072" cy="80467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791456" y="3255264"/>
            <a:ext cx="420624" cy="420624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m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405" y="3356213"/>
            <a:ext cx="218724" cy="2187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21808" y="3136391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3328415"/>
            <a:ext cx="32735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60" b="0" i="0">
                <a:solidFill>
                  <a:srgbClr val="52514E"/>
                </a:solidFill>
                <a:latin typeface="Calibri"/>
              </a:rPr>
              <a:t>Producir las superficies comuna × hora / día y reportar métricas (R², RMSE, sesgo) por contaminante, estación y macrozona.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68496"/>
            <a:ext cx="4005072" cy="804672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66928" y="4151376"/>
            <a:ext cx="420624" cy="420624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hecklis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77" y="4252325"/>
            <a:ext cx="218724" cy="2187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97280" y="403250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OE5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224528"/>
            <a:ext cx="327355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760" b="0" i="0">
                <a:solidFill>
                  <a:srgbClr val="52514E"/>
                </a:solidFill>
                <a:latin typeface="Calibri"/>
              </a:rPr>
              <a:t>Publicar el proyecto como repositorio abierto y reproducible (scripts, credenciales de ejemplo, documentación).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023360"/>
            <a:ext cx="4005072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 i="1">
                <a:solidFill>
                  <a:srgbClr val="1F497D"/>
                </a:solidFill>
                <a:latin typeface="Calibri"/>
              </a:rPr>
              <a:t>Hipótesis de trabajo: </a:t>
            </a:r>
            <a:r>
              <a:rPr sz="840" b="0" i="1">
                <a:solidFill>
                  <a:srgbClr val="52514E"/>
                </a:solidFill>
                <a:latin typeface="Calibri"/>
              </a:rPr>
              <a:t>los predictores satelitales y de reanálisis permiten estimar los gases de superficie con desempeño comparable al reportado internacionalmente, incluso en macrozonas con pocas estaciones.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Flujograma: de dónde salen los datos y cómo se transforman</a:t>
            </a:r>
            <a:endParaRPr lang="es-ES" dirty="0"/>
          </a:p>
        </p:txBody>
      </p:sp>
      <p:pic>
        <p:nvPicPr>
          <p:cNvPr id="3" name="Picture 2" descr="flujograma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955279" cy="341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900" b="1">
                <a:solidFill>
                  <a:srgbClr val="FFFFFF"/>
                </a:solidFill>
                <a:latin typeface="Calibri"/>
              </a:rPr>
              <a:t>Fuentes de datos por contaminante</a:t>
            </a:r>
            <a:endParaRPr lang="es-E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15568"/>
          <a:ext cx="822960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Contaminante</a:t>
                      </a:r>
                    </a:p>
                  </a:txBody>
                  <a:tcPr marL="54864" marR="36576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Satélite (columna / L2–L3)</a:t>
                      </a:r>
                    </a:p>
                  </a:txBody>
                  <a:tcPr marL="54864" marR="36576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Reanálisis / superficie</a:t>
                      </a:r>
                    </a:p>
                  </a:txBody>
                  <a:tcPr marL="54864" marR="36576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54864" marR="36576" marT="18288" marB="18288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PM₂.₅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MAIAC AOD¹ · MODIS AOD 3K (predictores)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ACAG² · MERRA-2³ · CAMS⁴ · GEOS-CF⁵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2000+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PM₁₀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MODIS AOD (predictor)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CAMS⁴ · MERRA-2 (polvo)³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2003+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NO₂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TROPOMI⁶ · OMI⁷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CAMS⁴ · GEOS-CF⁵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2004+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O₃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TROPOMI⁶ · OMI⁷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MERRA-2³ · CAMS⁴ · GEOS-CF⁵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2004+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SO₂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TROPOMI⁶ · OMI⁷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CAMS⁴ · GEOS-CF⁵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2004+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1A"/>
                          </a:solidFill>
                          <a:latin typeface="Calibri"/>
                        </a:rPr>
                        <a:t>CO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TROPOMI⁶ · MOPITT⁸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CAMS⁴ · GEOS-CF⁵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1A"/>
                          </a:solidFill>
                          <a:latin typeface="Calibri"/>
                        </a:rPr>
                        <a:t>2000+</a:t>
                      </a:r>
                    </a:p>
                  </a:txBody>
                  <a:tcPr marL="54864" marR="36576" marT="18288" marB="18288"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015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1F497D"/>
                </a:solidFill>
                <a:latin typeface="Calibri"/>
              </a:rPr>
              <a:t>Predictores comunes a los 6: </a:t>
            </a:r>
            <a:r>
              <a:rPr sz="880" b="0" i="0">
                <a:solidFill>
                  <a:srgbClr val="52514E"/>
                </a:solidFill>
                <a:latin typeface="Calibri"/>
              </a:rPr>
              <a:t>meteorología ERA5 / ERA5-Land⁹ y MERRA-2³, uso de suelo ESA CCI, red vial OSM, altitud NASADEM, luces nocturnas VIIRS y censo (población, leña).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13632"/>
            <a:ext cx="4069080" cy="749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¹ Lyapustin A. et al. MODIS Collection 6 MAIAC algorithm. Atmos. Meas. Tech. 11 (2018). doi:10.5194/amt-11-5741-2018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² van Donkelaar A. et al. Monthly global estimates of fine particulate matter and their uncertainty. Environ. Sci. Technol. 55 (2021). doi:10.1021/acs.est.1c05309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³ Gelaro R. et al. MERRA-2. J. Climate 30 (2017). doi:10.1175/JCLI-D-16-0758.1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⁴ Inness A. et al. The CAMS reanalysis of atmospheric composition. Atmos. Chem. Phys. 19 (2019). doi:10.5194/acp-19-3515-2019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⁵ Keller C.A. et al. Description of the NASA GEOS-CF v1.0. J. Adv. Model. Earth Syst. 13 (2021). doi:10.1029/2020MS002413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913632"/>
            <a:ext cx="4023360" cy="749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⁶ Veefkind J.P. et al. TROPOMI on the ESA Sentinel-5 Precursor. Remote Sensing of Environment 120 (2012). doi:10.1016/j.rse.2011.09.027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⁷ Levelt P.F. et al. The Ozone Monitoring Instrument. IEEE Trans. Geosci. Remote Sens. 44 (2006). doi:10.1109/TGRS.2006.872333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⁸ Deeter M.N. et al. The MOPITT Version 9 CO product. Atmos. Meas. Tech. 15 (2022). doi:10.5194/amt-15-2325-2022</a:t>
            </a:r>
          </a:p>
          <a:p>
            <a:pPr algn="l">
              <a:spcAft>
                <a:spcPts val="100"/>
              </a:spcAft>
            </a:pPr>
            <a:r>
              <a:rPr sz="620" b="0" i="0">
                <a:solidFill>
                  <a:srgbClr val="898781"/>
                </a:solidFill>
                <a:latin typeface="Calibri"/>
              </a:rPr>
              <a:t>⁹ Hersbach H. et al. The ERA5 global reanalysis. Q. J. R. Meteorol. Soc. 146 (2020). doi:10.1002/qj.3803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Semanas 1 y 2: qué hicimos, qué costó y qué viene</a:t>
            </a:r>
            <a:endParaRPr lang="es-ES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15568"/>
            <a:ext cx="2011680" cy="2578608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85216" y="1243584"/>
            <a:ext cx="384048" cy="38404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ecklis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" y="1335755"/>
            <a:ext cx="199704" cy="199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2416" y="122529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1F497D"/>
                </a:solidFill>
                <a:latin typeface="Calibri"/>
              </a:rPr>
              <a:t>Objetivos de la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810512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Plantear la problemática real como proyecto de ciencia de datos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Delimitar objetivo general y específicos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Dejar operativa la obtención de datos multi-fuente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1115568"/>
            <a:ext cx="2011680" cy="2578608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06624" y="1243584"/>
            <a:ext cx="384048" cy="384048"/>
          </a:xfrm>
          <a:prstGeom prst="ellipse">
            <a:avLst/>
          </a:prstGeom>
          <a:solidFill>
            <a:srgbClr val="33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ownlo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795" y="1335755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63824" y="122529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3366CC"/>
                </a:solidFill>
                <a:latin typeface="Calibri"/>
              </a:rPr>
              <a:t>Tareas realizadas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10512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Repositorio público con estructura reproducible y bibliografía APA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Descargadores con IDs verificados en CMR / ADS / S3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Recorte a Chile (~5 % del volumen) y agregación comunal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Config SINCA: 109 estaciones, 6 contaminantes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16" y="1115568"/>
            <a:ext cx="2011680" cy="2578608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28031" y="1243584"/>
            <a:ext cx="384048" cy="384048"/>
          </a:xfrm>
          <a:prstGeom prst="ellipse">
            <a:avLst/>
          </a:prstGeom>
          <a:solidFill>
            <a:srgbClr val="B24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arn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203" y="1335755"/>
            <a:ext cx="199704" cy="1997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85231" y="122529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B24E1C"/>
                </a:solidFill>
                <a:latin typeface="Calibri"/>
              </a:rPr>
              <a:t>Desafíos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810512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Volumen: TROPOMI sin recorte ≈ 13 TB; MERRA-2 ≈ 1 TB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Credenciales y cuotas (Earthdata, ADS) y reintentos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Cobertura temporal heterogénea (2000+ / 2004+ / 2018+)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21423" y="1115568"/>
            <a:ext cx="2011680" cy="2578608"/>
          </a:xfrm>
          <a:prstGeom prst="roundRect">
            <a:avLst>
              <a:gd name="adj" fmla="val 10000"/>
            </a:avLst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49439" y="1243584"/>
            <a:ext cx="384048" cy="384048"/>
          </a:xfrm>
          <a:prstGeom prst="ellipse">
            <a:avLst/>
          </a:prstGeom>
          <a:solidFill>
            <a:srgbClr val="0F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alend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11" y="1335755"/>
            <a:ext cx="199704" cy="1997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06640" y="122529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950" b="1" i="0">
                <a:solidFill>
                  <a:srgbClr val="0F7D57"/>
                </a:solidFill>
                <a:latin typeface="Calibri"/>
              </a:rPr>
              <a:t>Próxima semana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7" y="1810512"/>
            <a:ext cx="1737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Revisión de literatura por contaminante (video N.º 2)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Métricas objetivo y líneas base por macrozona</a:t>
            </a: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sz="760">
                <a:solidFill>
                  <a:srgbClr val="52514E"/>
                </a:solidFill>
                <a:latin typeface="Calibri"/>
              </a:rPr>
              <a:t>• Preparar la defensa de tema (semana 4)</a:t>
            </a:r>
          </a:p>
        </p:txBody>
      </p:sp>
    </p:spTree>
    <p:extLst>
      <p:ext uri="{BB962C8B-B14F-4D97-AF65-F5344CB8AC3E}">
        <p14:creationId xmlns:p14="http://schemas.microsoft.com/office/powerpoint/2010/main" val="3227572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932688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Todo el proyecto vive aquí,
abierto y reproducible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83080"/>
            <a:ext cx="53949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scripts_pipeline/: descarga y procesamiento por contaminante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scripts_superficie/: modelos, validación LOSO y figuras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docs/: sitio con bibliografía APA consolidada</a:t>
            </a:r>
          </a:p>
          <a:p>
            <a:pPr>
              <a:spcAft>
                <a:spcPts val="500"/>
              </a:spcAft>
            </a:pPr>
            <a:r>
              <a:rPr sz="950">
                <a:solidFill>
                  <a:srgbClr val="CDE2FB"/>
                </a:solidFill>
                <a:latin typeface="Calibri"/>
              </a:rPr>
              <a:t>• Datos pesados regenerables con credenciales propias (Earthdata / ADS)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456432"/>
            <a:ext cx="5394960" cy="512064"/>
          </a:xfrm>
          <a:prstGeom prst="roundRect">
            <a:avLst>
              <a:gd name="adj" fmla="val 10000"/>
            </a:avLst>
          </a:prstGeom>
          <a:solidFill>
            <a:srgbClr val="113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it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584448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345643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github.com/AmaruSimonAgueroJimenez/Air-Pollution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32688"/>
            <a:ext cx="2331720" cy="3035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133856"/>
            <a:ext cx="1929384" cy="1929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3127248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17375D"/>
                </a:solidFill>
                <a:latin typeface="Calibri"/>
              </a:rPr>
              <a:t>Escanea para ver el repositorio, el pipeline y la documentación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DE2FB"/>
                </a:solidFill>
                <a:latin typeface="Calibri"/>
              </a:rPr>
              <a:t>Equipo 2: José J. Romero · Roberto I. Ávila · Amaru S. Agüero · Esteban A. González          ¡Gracias!</a:t>
            </a:r>
          </a:p>
        </p:txBody>
      </p:sp>
    </p:spTree>
    <p:extLst>
      <p:ext uri="{BB962C8B-B14F-4D97-AF65-F5344CB8AC3E}">
        <p14:creationId xmlns:p14="http://schemas.microsoft.com/office/powerpoint/2010/main" val="785384284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U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UC.potx</Template>
  <TotalTime>283</TotalTime>
  <Words>1882</Words>
  <Application>Microsoft Macintosh PowerPoint</Application>
  <PresentationFormat>Presentación en pantalla (16:9)</PresentationFormat>
  <Paragraphs>136</Paragraphs>
  <Slides>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Plantilla UC</vt:lpstr>
      <vt:lpstr>Diseño personalizado</vt:lpstr>
      <vt:lpstr>2_Diseño personalizado</vt:lpstr>
      <vt:lpstr>Estimación multi-contaminante de la calidad del aire en Chile</vt:lpstr>
      <vt:lpstr>¿Por qué importa? El aire que se respira mata y casi no se mide</vt:lpstr>
      <vt:lpstr>El problema: los gases casi no se vigilan fuera de las grandes ciudades</vt:lpstr>
      <vt:lpstr>La evidencia dice que se puede: precedentes internacionales</vt:lpstr>
      <vt:lpstr>Objetivo general y objetivos específicos</vt:lpstr>
      <vt:lpstr>Flujograma: de dónde salen los datos y cómo se transforman</vt:lpstr>
      <vt:lpstr>Fuentes de datos por contaminante</vt:lpstr>
      <vt:lpstr>Semanas 1 y 2: qué hicimos, qué costó y qué viene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Amaru Aguero</cp:lastModifiedBy>
  <cp:revision>35</cp:revision>
  <dcterms:created xsi:type="dcterms:W3CDTF">2013-12-19T15:07:33Z</dcterms:created>
  <dcterms:modified xsi:type="dcterms:W3CDTF">2026-08-15T19:21:40Z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0x0101002A30D13EB03CFA46896655FA61226709</vt:lpwstr>
  </property>
</Properties>
</file>