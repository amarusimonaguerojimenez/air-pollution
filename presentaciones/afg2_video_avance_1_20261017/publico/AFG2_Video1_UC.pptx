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1" r:id="rId3"/>
  </p:sldMasterIdLst>
  <p:notesMasterIdLst>
    <p:notesMasterId r:id="rId9"/>
  </p:notesMasterIdLst>
  <p:sldIdLst>
    <p:sldId id="257" r:id="rIdVisual1"/>
    <p:sldId id="258" r:id="rIdVisual2"/>
    <p:sldId id="259" r:id="rIdVisual3"/>
    <p:sldId id="260" r:id="rIdVisual4"/>
    <p:sldId id="261" r:id="rIdVisual5"/>
    <p:sldId id="262" r:id="rIdVisual6"/>
    <p:sldId id="263" r:id="rIdVisual7"/>
    <p:sldId id="264" r:id="rIdVisual8"/>
    <p:sldId id="265" r:id="rIdVisual9"/>
    <p:sldId id="266" r:id="rIdVisual10"/>
    <p:sldId id="267" r:id="rIdVisual11"/>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97">
          <p15:clr>
            <a:srgbClr val="A4A3A4"/>
          </p15:clr>
        </p15:guide>
        <p15:guide id="2" pos="41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CC"/>
    <a:srgbClr val="FFE200"/>
    <a:srgbClr val="FFF0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88"/>
    <p:restoredTop sz="50067"/>
  </p:normalViewPr>
  <p:slideViewPr>
    <p:cSldViewPr snapToGrid="0" snapToObjects="1" showGuides="1">
      <p:cViewPr>
        <p:scale>
          <a:sx n="99" d="100"/>
          <a:sy n="99" d="100"/>
        </p:scale>
        <p:origin x="2248" y="-328"/>
      </p:cViewPr>
      <p:guideLst>
        <p:guide orient="horz" pos="2697"/>
        <p:guide pos="416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Visual1" Type="http://schemas.openxmlformats.org/officeDocument/2006/relationships/slide" Target="slides/slide1.xml"/><Relationship Id="rIdVisual2" Type="http://schemas.openxmlformats.org/officeDocument/2006/relationships/slide" Target="slides/slide2.xml"/><Relationship Id="rIdVisual3" Type="http://schemas.openxmlformats.org/officeDocument/2006/relationships/slide" Target="slides/slide3.xml"/><Relationship Id="rIdVisual4" Type="http://schemas.openxmlformats.org/officeDocument/2006/relationships/slide" Target="slides/slide4.xml"/><Relationship Id="rIdVisual5" Type="http://schemas.openxmlformats.org/officeDocument/2006/relationships/slide" Target="slides/slide5.xml"/><Relationship Id="rIdVisual6" Type="http://schemas.openxmlformats.org/officeDocument/2006/relationships/slide" Target="slides/slide6.xml"/><Relationship Id="rIdVisual7" Type="http://schemas.openxmlformats.org/officeDocument/2006/relationships/slide" Target="slides/slide7.xml"/><Relationship Id="rIdVisual8" Type="http://schemas.openxmlformats.org/officeDocument/2006/relationships/slide" Target="slides/slide8.xml"/><Relationship Id="rIdVisual9" Type="http://schemas.openxmlformats.org/officeDocument/2006/relationships/slide" Target="slides/slide9.xml"/><Relationship Id="rIdVisual10" Type="http://schemas.openxmlformats.org/officeDocument/2006/relationships/slide" Target="slides/slide10.xml"/><Relationship Id="rIdVisual1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7875-FBB4-E24A-BDDE-B8BBEBD8D5C9}" type="datetimeFigureOut">
              <a:rPr lang="es-ES" smtClean="0"/>
              <a:t>23/5/19</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FB505-4C2B-1B4C-9533-CA0B69CD73D7}" type="slidenum">
              <a:rPr lang="es-ES" smtClean="0"/>
              <a:t>‹Nr.›</a:t>
            </a:fld>
            <a:endParaRPr lang="es-E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1 · Estimación multicontaminante de la calidad del aire en Chile</a:t>
            </a:r>
            <a:endParaRPr lang="es-CL" sz="1100"/>
          </a:p>
          <a:p>
            <a:pPr>
              <a:spcAft>
                <a:spcPts val="400"/>
              </a:spcAft>
              <a:buNone/>
            </a:pPr>
            <a:r>
              <a:rPr lang="es-CL" sz="1100" b="0">
                <a:solidFill>
                  <a:srgbClr val="000000"/>
                </a:solidFill>
                <a:latin typeface="Calibri"/>
                <a:ea typeface="Calibri"/>
                <a:cs typeface="Calibri"/>
              </a:rPr>
              <a:t>TIEMPO ORIENTATIVO: 00:00–00:20 (20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Somos el equipo dos. Este avance presenta el primer análisis exploratorio de los datos para estimar la calidad del aire en Chile. Revisaremos qué aportan nuestras fuentes, dónde existen observaciones, cómo las preparamos y qué dificultades deben orientar el modelamiento posterior.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IDEA CENTRAL</a:t>
            </a:r>
            <a:endParaRPr lang="es-CL" sz="1100"/>
          </a:p>
          <a:p>
            <a:pPr>
              <a:spcAft>
                <a:spcPts val="400"/>
              </a:spcAft>
              <a:buNone/>
            </a:pPr>
            <a:r>
              <a:rPr lang="es-CL" sz="1100" b="0">
                <a:solidFill>
                  <a:srgbClr val="000000"/>
                </a:solidFill>
                <a:latin typeface="Calibri"/>
                <a:ea typeface="Calibri"/>
                <a:cs typeface="Calibri"/>
              </a:rPr>
              <a:t>Queremos estimar la calidad del aire en Chile combinando fuentes ambientales que aportan información distinta. El alcance de la tesis de magíster llega al modelo ambiental: preparar los datos, construir la estimación y evaluar después cómo funciona. Los análisis hospitalarios pertenecen al trabajo de la UDD y quedan fuera de este proyecto del magíster. Conviene que todos tengamos claro este límite cuando expliquemos el objetivo.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SIGNIFICA MULTICONTAMINANTE</a:t>
            </a:r>
            <a:endParaRPr lang="es-CL" sz="1100"/>
          </a:p>
          <a:p>
            <a:pPr>
              <a:spcAft>
                <a:spcPts val="400"/>
              </a:spcAft>
              <a:buNone/>
            </a:pPr>
            <a:r>
              <a:rPr lang="es-CL" sz="1100" b="0">
                <a:solidFill>
                  <a:srgbClr val="000000"/>
                </a:solidFill>
                <a:latin typeface="Calibri"/>
                <a:ea typeface="Calibri"/>
                <a:cs typeface="Calibri"/>
              </a:rPr>
              <a:t>El objetivo general considera seis contaminantes: PM₂.₅ y PM₁₀, que son partículas en suspensión; NO₂, dióxido de nitrógeno; O₃, ozono; SO₂, dióxido de azufre; y CO, monóxido de carbono. Los números 2,5 y 10 se refieren al tamaño de las partículas, expresado en micrómetros. Un micrómetro es una milésima de milímetro. Las partículas finas PM₂.₅ corresponden a la fracción de menor tamaño de estas dos categorías.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PRESENTAMOS AHORA</a:t>
            </a:r>
            <a:endParaRPr lang="es-CL" sz="1100"/>
          </a:p>
          <a:p>
            <a:pPr>
              <a:spcAft>
                <a:spcPts val="400"/>
              </a:spcAft>
              <a:buNone/>
            </a:pPr>
            <a:r>
              <a:rPr lang="es-CL" sz="1100" b="0">
                <a:solidFill>
                  <a:srgbClr val="000000"/>
                </a:solidFill>
                <a:latin typeface="Calibri"/>
                <a:ea typeface="Calibri"/>
                <a:cs typeface="Calibri"/>
              </a:rPr>
              <a:t>Este avance se concentra en el análisis exploratorio de PM₂.₅ y NO₂. Explorar significa revisar qué datos existen, cómo están organizados, qué representan sus variables y qué patrones o dificultades aparecen antes de interpretar el modelamiento. A veces se usa la sigla EDA, del inglés exploratory data analysis; en español es análisis exploratorio de datos. Mostrar estos dos contaminantes no cambia el objetivo general de seis.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TENEMOS PARA CONVERSAR</a:t>
            </a:r>
            <a:endParaRPr lang="es-CL" sz="1100"/>
          </a:p>
          <a:p>
            <a:pPr>
              <a:spcAft>
                <a:spcPts val="400"/>
              </a:spcAft>
              <a:buNone/>
            </a:pPr>
            <a:r>
              <a:rPr lang="es-CL" sz="1100" b="0">
                <a:solidFill>
                  <a:srgbClr val="000000"/>
                </a:solidFill>
                <a:latin typeface="Calibri"/>
                <a:ea typeface="Calibri"/>
                <a:cs typeface="Calibri"/>
              </a:rPr>
              <a:t>El material reúne mapas de fuentes ambientales, un inventario de observaciones de estaciones, controles aplicados al registro y resúmenes de disponibilidad y comportamiento horario. Con estas piezas podemos discutir si las fuentes se pueden comparar, dónde hay observaciones y qué decisiones de preparación quedan por fijar. La cantidad de datos, por sí sola, no responde esas preguntas.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SE CONECTA EL RECORRIDO</a:t>
            </a:r>
            <a:endParaRPr lang="es-CL" sz="1100"/>
          </a:p>
          <a:p>
            <a:pPr>
              <a:spcAft>
                <a:spcPts val="400"/>
              </a:spcAft>
              <a:buNone/>
            </a:pPr>
            <a:r>
              <a:rPr lang="es-CL" sz="1100" b="0">
                <a:solidFill>
                  <a:srgbClr val="000000"/>
                </a:solidFill>
                <a:latin typeface="Calibri"/>
                <a:ea typeface="Calibri"/>
                <a:cs typeface="Calibri"/>
              </a:rPr>
              <a:t>Primero miramos las fuentes y sus diferencias. Después ubicamos las estaciones y explicamos cómo se prepara cada registro. Luego examinamos la historia disponible, los estados de validación y algunos perfiles horarios. El cierre convierte esas observaciones en decisiones para la siguiente etapa. Cada figura responde una pregunta concreta; no hace falta memorizar todos los números para entender el hilo.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LA PORTADA</a:t>
            </a:r>
            <a:endParaRPr lang="es-CL" sz="1100"/>
          </a:p>
          <a:p>
            <a:pPr>
              <a:spcAft>
                <a:spcPts val="400"/>
              </a:spcAft>
              <a:buNone/>
            </a:pPr>
            <a:r>
              <a:rPr lang="es-CL" sz="1100" b="0">
                <a:solidFill>
                  <a:srgbClr val="000000"/>
                </a:solidFill>
                <a:latin typeface="Calibri"/>
                <a:ea typeface="Calibri"/>
                <a:cs typeface="Calibri"/>
              </a:rPr>
              <a:t>El título describe la meta del proyecto, no anuncia que ya exista una estimación final demostrada en este avance. La pregunta que guía la exposición es: ¿con qué información contamos y qué debemos resolver para usarla de manera coherente? Si alguien pide resultados del modelo, corresponde explicar que esta entrega comunica el diagnóstico de los datos y no presenta una comparación de desempeño.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SIGUE</a:t>
            </a:r>
            <a:endParaRPr lang="es-CL" sz="1100"/>
          </a:p>
          <a:p>
            <a:pPr>
              <a:spcAft>
                <a:spcPts val="400"/>
              </a:spcAft>
              <a:buNone/>
            </a:pPr>
            <a:r>
              <a:rPr lang="es-CL" sz="1100" b="0">
                <a:solidFill>
                  <a:srgbClr val="000000"/>
                </a:solidFill>
                <a:latin typeface="Calibri"/>
                <a:ea typeface="Calibri"/>
                <a:cs typeface="Calibri"/>
              </a:rPr>
              <a:t>Las decisiones incluyen definir una ventana temporal útil para cada fuente, documentar el tratamiento de faltantes y banderas de calidad, y preparar una evaluación que separe lugares y periodos. Son próximos pasos del relato; no debemos presentarlos como etapas nuevas ya completadas. El equipo está formado por José Jesús Romero Fuenmayor, Roberto Ignacio Ávila Escobar, Amaru Simón Agüero Jiménez y Esteban Adolfo González Rodríguez.</a:t>
            </a:r>
            <a:endParaRPr lang="es-CL" sz="1100"/>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2 · Las fuentes tienen escalas y unidades diferentes</a:t>
            </a:r>
            <a:endParaRPr lang="es-CL" sz="1100"/>
          </a:p>
          <a:p>
            <a:pPr>
              <a:spcAft>
                <a:spcPts val="400"/>
              </a:spcAft>
              <a:buNone/>
            </a:pPr>
            <a:r>
              <a:rPr lang="es-CL" sz="1100" b="0">
                <a:solidFill>
                  <a:srgbClr val="000000"/>
                </a:solidFill>
                <a:latin typeface="Calibri"/>
                <a:ea typeface="Calibri"/>
                <a:cs typeface="Calibri"/>
              </a:rPr>
              <a:t>TIEMPO ORIENTATIVO: 00:20–01:10 (50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Estos mapas muestran seis insumos ambientales disponibles para dos mil veinte. Son datos de entrada, no resultados ajustados del proyecto. MAIAC describe la profundidad óptica de aerosoles y TROPOMI una columna atmosférica de dióxido de nitrógeno. CAMS, GEOS-CF, MERRA-dos y ACAG aportan productos con resoluciones y unidades diferentes. La comparación visual permite reconocer que una misma zona aparece con distinto detalle según la fuente. Llevarlas a una grilla común no crea información espacial que antes no existía. El trabajo inicial consiste en documentar qué representa cada variable, su soporte espacial y su disponibilidad temporal antes de combinarlas con las mediciones de superficie.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MUESTRA LA FIGURA</a:t>
            </a:r>
            <a:endParaRPr lang="es-CL" sz="1100"/>
          </a:p>
          <a:p>
            <a:pPr>
              <a:spcAft>
                <a:spcPts val="400"/>
              </a:spcAft>
              <a:buNone/>
            </a:pPr>
            <a:r>
              <a:rPr lang="es-CL" sz="1100" b="0">
                <a:solidFill>
                  <a:srgbClr val="000000"/>
                </a:solidFill>
                <a:latin typeface="Calibri"/>
                <a:ea typeface="Calibri"/>
                <a:cs typeface="Calibri"/>
              </a:rPr>
              <a:t>Los seis mapas corresponden a insumos ambientales disponibles para 2020. Sirven para entender qué aporta cada fuente antes de reunirla con observaciones de superficie. Son entradas para el proyecto, no mapas ajustados por nuestro modelo. Algunas entradas ya son productos externos de modelamiento; por eso llamarlas datos de entrada no equivale a decir que todas sean mediciones directas.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LEERLA</a:t>
            </a:r>
            <a:endParaRPr lang="es-CL" sz="1100"/>
          </a:p>
          <a:p>
            <a:pPr>
              <a:spcAft>
                <a:spcPts val="400"/>
              </a:spcAft>
              <a:buNone/>
            </a:pPr>
            <a:r>
              <a:rPr lang="es-CL" sz="1100" b="0">
                <a:solidFill>
                  <a:srgbClr val="000000"/>
                </a:solidFill>
                <a:latin typeface="Calibri"/>
                <a:ea typeface="Calibri"/>
                <a:cs typeface="Calibri"/>
              </a:rPr>
              <a:t>Cada columna tiene un nombre, una resolución y una barra de color propia. Primero se identifica qué variable representa el mapa; después se lee su unidad y su escala. Un color intenso significa un valor alto dentro de esa barra. El mismo color en otra columna no representa necesariamente la misma magnitud. Tampoco corresponde decidir qué fuente es mejor sólo porque su mapa tiene más detalle visual.</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MAIAC Y AOD</a:t>
            </a:r>
            <a:endParaRPr lang="es-CL" sz="1100"/>
          </a:p>
          <a:p>
            <a:pPr>
              <a:spcAft>
                <a:spcPts val="400"/>
              </a:spcAft>
              <a:buNone/>
            </a:pPr>
            <a:r>
              <a:rPr lang="es-CL" sz="1100" b="0">
                <a:solidFill>
                  <a:srgbClr val="000000"/>
                </a:solidFill>
                <a:latin typeface="Calibri"/>
                <a:ea typeface="Calibri"/>
                <a:cs typeface="Calibri"/>
              </a:rPr>
              <a:t>MAIAC significa Multi-Angle Implementation of Atmospheric Correction y aquí aporta un producto satelital de aerosoles. AOD es profundidad óptica de aerosoles: resume cuánto atenúan la luz las partículas presentes en la columna atmosférica. Es adimensional, es decir, no se expresa como masa por volumen. Aunque puede aportar información al modelo, AOD no es una medición directa de PM₂.₅ junto al suelo.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TROPOMI Y NO₂</a:t>
            </a:r>
            <a:endParaRPr lang="es-CL" sz="1100"/>
          </a:p>
          <a:p>
            <a:pPr>
              <a:spcAft>
                <a:spcPts val="400"/>
              </a:spcAft>
              <a:buNone/>
            </a:pPr>
            <a:r>
              <a:rPr lang="es-CL" sz="1100" b="0">
                <a:solidFill>
                  <a:srgbClr val="000000"/>
                </a:solidFill>
                <a:latin typeface="Calibri"/>
                <a:ea typeface="Calibri"/>
                <a:cs typeface="Calibri"/>
              </a:rPr>
              <a:t>TROPOMI significa TROPOspheric Monitoring Instrument. Este mapa representa una columna troposférica de dióxido de nitrógeno: una cantidad integrada a través de una parte de la atmósfera. Su barra usa 10¹⁵ moléculas por centímetro cuadrado, una cantidad por área. No es la misma variable que la concentración horaria de NO₂ medida por una estación en superficie.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LOS OTROS CUATRO PRODUCTOS</a:t>
            </a:r>
            <a:endParaRPr lang="es-CL" sz="1100"/>
          </a:p>
          <a:p>
            <a:pPr>
              <a:spcAft>
                <a:spcPts val="400"/>
              </a:spcAft>
              <a:buNone/>
            </a:pPr>
            <a:r>
              <a:rPr lang="es-CL" sz="1100" b="0">
                <a:solidFill>
                  <a:srgbClr val="000000"/>
                </a:solidFill>
                <a:latin typeface="Calibri"/>
                <a:ea typeface="Calibri"/>
                <a:cs typeface="Calibri"/>
              </a:rPr>
              <a:t>CAMS es Copernicus Atmosphere Monitoring Service; GEOS-CF, GEOS Composition Forecasting; MERRA-2, Modern-Era Retrospective Analysis for Research and Applications, versión 2; y ACAG, Atmospheric Composition Analysis Group. En la figura, CAMS EAC4, MERRA-2 y ACAG muestran PM₂.₅; GEOS-CF muestra NO₂. Son fuentes con características propias que debemos describir antes de usarlas juntas.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UNIDADES DE CONCENTRACIÓN</a:t>
            </a:r>
            <a:endParaRPr lang="es-CL" sz="1100"/>
          </a:p>
          <a:p>
            <a:pPr>
              <a:spcAft>
                <a:spcPts val="400"/>
              </a:spcAft>
              <a:buNone/>
            </a:pPr>
            <a:r>
              <a:rPr lang="es-CL" sz="1100" b="0">
                <a:solidFill>
                  <a:srgbClr val="000000"/>
                </a:solidFill>
                <a:latin typeface="Calibri"/>
                <a:ea typeface="Calibri"/>
                <a:cs typeface="Calibri"/>
              </a:rPr>
              <a:t>Los mapas de PM₂.₅ usan µg/m³: microgramos de partículas por metro cúbico de aire. El mapa de GEOS-CF usa ppb, partes por mil millones, una forma de expresar la proporción del gas. Ninguna de estas unidades se puede leer como si fuera AOD o columna de NO₂. Comparar las barras numéricamente sin distinguir la variable llevaría a una interpretación equivocada.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SIGNIFICA RESOLUCIÓN</a:t>
            </a:r>
            <a:endParaRPr lang="es-CL" sz="1100"/>
          </a:p>
          <a:p>
            <a:pPr>
              <a:spcAft>
                <a:spcPts val="400"/>
              </a:spcAft>
              <a:buNone/>
            </a:pPr>
            <a:r>
              <a:rPr lang="es-CL" sz="1100" b="0">
                <a:solidFill>
                  <a:srgbClr val="000000"/>
                </a:solidFill>
                <a:latin typeface="Calibri"/>
                <a:ea typeface="Calibri"/>
                <a:cs typeface="Calibri"/>
              </a:rPr>
              <a:t>Los rótulos indican tamaños nativos o nominales: MAIAC, 1 km; TROPOMI, 3,5 × 5,5 km; CAMS, 0,75°; GEOS-CF, 0,25°; MERRA-2, 0,5° × 0,625°; y ACAG, 0,01°. El símbolo ° expresa grados de una grilla geográfica, no temperatura. Llevar un producto de celdas grandes a una grilla más fina no crea observaciones ni detalle nuevo.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ESTADO Y SIGUIENTE DECISIÓN</a:t>
            </a:r>
            <a:endParaRPr lang="es-CL" sz="1100"/>
          </a:p>
          <a:p>
            <a:pPr>
              <a:spcAft>
                <a:spcPts val="400"/>
              </a:spcAft>
              <a:buNone/>
            </a:pPr>
            <a:r>
              <a:rPr lang="es-CL" sz="1100" b="0">
                <a:solidFill>
                  <a:srgbClr val="000000"/>
                </a:solidFill>
                <a:latin typeface="Calibri"/>
                <a:ea typeface="Calibri"/>
                <a:cs typeface="Calibri"/>
              </a:rPr>
              <a:t>Esta comparación identifica diferencias que deben conservarse en la documentación: variable, unidad, tamaño de celda y periodo disponible. Que las seis fuentes tengan un mapa en 2020 no demuestra que todas cubran la historia completa del registro de estaciones. La siguiente tarea es definir qué parte de cada fuente puede combinarse y qué información se pierde al hacer ese cruce.</a:t>
            </a:r>
            <a:endParaRPr lang="es-CL" sz="1100"/>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3 · Las observaciones provienen de una red desigual</a:t>
            </a:r>
            <a:endParaRPr lang="es-CL" sz="1100"/>
          </a:p>
          <a:p>
            <a:pPr>
              <a:spcAft>
                <a:spcPts val="400"/>
              </a:spcAft>
              <a:buNone/>
            </a:pPr>
            <a:r>
              <a:rPr lang="es-CL" sz="1100" b="0">
                <a:solidFill>
                  <a:srgbClr val="000000"/>
                </a:solidFill>
                <a:latin typeface="Calibri"/>
                <a:ea typeface="Calibri"/>
                <a:cs typeface="Calibri"/>
              </a:rPr>
              <a:t>TIEMPO ORIENTATIVO: 01:10–02:00 (50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Las observaciones de superficie provienen de estaciones distribuidas de manera desigual en el territorio. El conjunto descriptivo va desde dos mil hasta el trece de septiembre de dos mil veintiséis. Después del control de rachas, contiene nueve coma setenta y cuatro millones de registros horarios de partículas finas, en ciento siete estaciones, y cinco coma setenta y un millones de dióxido de nitrógeno, en cincuenta y siete. En este último se agregan tres sitios de SNIFA. Cada registro identifica una estación, una hora y un contaminante. La extensión del periodo y el volumen total no significan que cada lugar tenga una historia completa o representativa de su entorno.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MUESTRA EL MAPA</a:t>
            </a:r>
            <a:endParaRPr lang="es-CL" sz="1100"/>
          </a:p>
          <a:p>
            <a:pPr>
              <a:spcAft>
                <a:spcPts val="400"/>
              </a:spcAft>
              <a:buNone/>
            </a:pPr>
            <a:r>
              <a:rPr lang="es-CL" sz="1100" b="0">
                <a:solidFill>
                  <a:srgbClr val="000000"/>
                </a:solidFill>
                <a:latin typeface="Calibri"/>
                <a:ea typeface="Calibri"/>
                <a:cs typeface="Calibri"/>
              </a:rPr>
              <a:t>Aquí pasamos de fuentes que representan áreas a observaciones realizadas en lugares concretos. Cada estación identifica un punto de medición. La distribución de esos puntos permite reconocer que la red es desigual: algunas zonas tienen más estaciones cercanas y otras disponen de menos observaciones. La figura describe dónde tenemos registros; no es un mapa de concentraciones estimadas para todo Chile.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LOS SÍMBOLOS Y LAS AMPLIACIONES</a:t>
            </a:r>
            <a:endParaRPr lang="es-CL" sz="1100"/>
          </a:p>
          <a:p>
            <a:pPr>
              <a:spcAft>
                <a:spcPts val="400"/>
              </a:spcAft>
              <a:buNone/>
            </a:pPr>
            <a:r>
              <a:rPr lang="es-CL" sz="1100" b="0">
                <a:solidFill>
                  <a:srgbClr val="000000"/>
                </a:solidFill>
                <a:latin typeface="Calibri"/>
                <a:ea typeface="Calibri"/>
                <a:cs typeface="Calibri"/>
              </a:rPr>
              <a:t>La vista de Chile continental ubica la red en el país. Los otros dos paneles amplían la zona central y el centro-sur para distinguir puntos que a escala nacional quedan muy juntos. Los círculos azules identifican estaciones de PM₂.₅ y los rombos dorados, estaciones de NO₂. Los puntos pueden superponerse cuando una ubicación aporta ambos contaminantes. Las ampliaciones ayudan a ver la distribución; no agregan estaciones nuevas al inventario.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CUÁL ES EL UNIVERSO</a:t>
            </a:r>
            <a:endParaRPr lang="es-CL" sz="1100"/>
          </a:p>
          <a:p>
            <a:pPr>
              <a:spcAft>
                <a:spcPts val="400"/>
              </a:spcAft>
              <a:buNone/>
            </a:pPr>
            <a:r>
              <a:rPr lang="es-CL" sz="1100" b="0">
                <a:solidFill>
                  <a:srgbClr val="000000"/>
                </a:solidFill>
                <a:latin typeface="Calibri"/>
                <a:ea typeface="Calibri"/>
                <a:cs typeface="Calibri"/>
              </a:rPr>
              <a:t>El inventario descriptivo abarca desde 2000 hasta el 13 de septiembre de 2026. Después del control de rachas reúne 9.740.634 registros horarios de PM₂.₅ en 107 estaciones, y 5.711.491 de NO₂ en 57 estaciones. Son los conteos que acompañan este diagnóstico. El corte sigue siendo el 13 de septiembre; preparar o presentar el avance en octubre no agrega días al conjunto.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ES UN REGISTRO</a:t>
            </a:r>
            <a:endParaRPr lang="es-CL" sz="1100"/>
          </a:p>
          <a:p>
            <a:pPr>
              <a:spcAft>
                <a:spcPts val="400"/>
              </a:spcAft>
              <a:buNone/>
            </a:pPr>
            <a:r>
              <a:rPr lang="es-CL" sz="1100" b="0">
                <a:solidFill>
                  <a:srgbClr val="000000"/>
                </a:solidFill>
                <a:latin typeface="Calibri"/>
                <a:ea typeface="Calibri"/>
                <a:cs typeface="Calibri"/>
              </a:rPr>
              <a:t>Una observación se entiende como un dato de un contaminante, en una estación y en una hora determinada. Nueve millones de registros no significan nueve millones de lugares distintos ni nueve millones de personas observadas. Una misma estación aporta muchas horas. Tampoco debemos sumar 107 y 57 para anunciar un total de sitios diferentes: los conteos corresponden a redes por contaminante y puede haber estaciones presentes en ambas.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DE DÓNDE VIENEN</a:t>
            </a:r>
            <a:endParaRPr lang="es-CL" sz="1100"/>
          </a:p>
          <a:p>
            <a:pPr>
              <a:spcAft>
                <a:spcPts val="400"/>
              </a:spcAft>
              <a:buNone/>
            </a:pPr>
            <a:r>
              <a:rPr lang="es-CL" sz="1100" b="0">
                <a:solidFill>
                  <a:srgbClr val="000000"/>
                </a:solidFill>
                <a:latin typeface="Calibri"/>
                <a:ea typeface="Calibri"/>
                <a:cs typeface="Calibri"/>
              </a:rPr>
              <a:t>SINCA significa Sistema de Información Nacional de Calidad del Aire. En NO₂ se incorporan además tres sitios de SNIFA, el Sistema Nacional de Información de Fiscalización Ambiental: Charrúa, Progreso y El Peñón. Estos tres sitios forman parte del total de 57 estaciones y sus registros están incluidos en los 5.711.491; no se agregan nuevamente a esas cifras. Sus estados de calidad se revisan por separado.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LAS UNIDADES</a:t>
            </a:r>
            <a:endParaRPr lang="es-CL" sz="1100"/>
          </a:p>
          <a:p>
            <a:pPr>
              <a:spcAft>
                <a:spcPts val="400"/>
              </a:spcAft>
              <a:buNone/>
            </a:pPr>
            <a:r>
              <a:rPr lang="es-CL" sz="1100" b="0">
                <a:solidFill>
                  <a:srgbClr val="000000"/>
                </a:solidFill>
                <a:latin typeface="Calibri"/>
                <a:ea typeface="Calibri"/>
                <a:cs typeface="Calibri"/>
              </a:rPr>
              <a:t>PM₂.₅ se expresa en µg/m³, microgramos de partículas por metro cúbico de aire. NO₂ se expresa en ppb, partes por mil millones. Ambos describen calidad del aire, pero representan sustancias y unidades distintas. El conteo de registros sólo indica cuántas observaciones integran el inventario; no informa por sí mismo si la concentración fue alta o baja.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NO GARANTIZA EL MAPA</a:t>
            </a:r>
            <a:endParaRPr lang="es-CL" sz="1100"/>
          </a:p>
          <a:p>
            <a:pPr>
              <a:spcAft>
                <a:spcPts val="400"/>
              </a:spcAft>
              <a:buNone/>
            </a:pPr>
            <a:r>
              <a:rPr lang="es-CL" sz="1100" b="0">
                <a:solidFill>
                  <a:srgbClr val="000000"/>
                </a:solidFill>
                <a:latin typeface="Calibri"/>
                <a:ea typeface="Calibri"/>
                <a:cs typeface="Calibri"/>
              </a:rPr>
              <a:t>Tener muchos datos en total no significa que cada estación mida durante los 26 años, que todos los años estén completos o que las horas disponibles coincidan entre estaciones. Una estación mide en su ubicación; no basta contar puntos para calcular qué porcentaje del territorio o de la población queda representado. Tampoco atribuimos aquí una causa a la distribución de la red.</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SABEMOS Y QUÉ FALTA REVISAR</a:t>
            </a:r>
            <a:endParaRPr lang="es-CL" sz="1100"/>
          </a:p>
          <a:p>
            <a:pPr>
              <a:spcAft>
                <a:spcPts val="400"/>
              </a:spcAft>
              <a:buNone/>
            </a:pPr>
            <a:r>
              <a:rPr lang="es-CL" sz="1100" b="0">
                <a:solidFill>
                  <a:srgbClr val="000000"/>
                </a:solidFill>
                <a:latin typeface="Calibri"/>
                <a:ea typeface="Calibri"/>
                <a:cs typeface="Calibri"/>
              </a:rPr>
              <a:t>Contamos con la identificación y las coordenadas de las estaciones y con los resúmenes de sus registros. Eso permite ubicar la información y describir su volumen. No demuestra que todos esos registros ya tengan simultáneamente todas las variables ambientales que usará el modelo. El cruce entre fuentes puede reducir el conjunto utilizable y debe documentarse.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CONTINÚA LA EXPLICACIÓN</a:t>
            </a:r>
            <a:endParaRPr lang="es-CL" sz="1100"/>
          </a:p>
          <a:p>
            <a:pPr>
              <a:spcAft>
                <a:spcPts val="400"/>
              </a:spcAft>
              <a:buNone/>
            </a:pPr>
            <a:r>
              <a:rPr lang="es-CL" sz="1100" b="0">
                <a:solidFill>
                  <a:srgbClr val="000000"/>
                </a:solidFill>
                <a:latin typeface="Calibri"/>
                <a:ea typeface="Calibri"/>
                <a:cs typeface="Calibri"/>
              </a:rPr>
              <a:t>La pregunta siguiente es cuánto tiempo aporta cada estación y dónde aparecen interrupciones. Por eso más adelante miramos disponibilidad por estación y año. Para el modelamiento posterior también habrá que considerar cómo separar lugares y periodos al evaluar. En este avance el mapa permite plantear esas decisiones; no mide aún capacidad predictiva ni representatividad nacional del modelo.</a:t>
            </a:r>
            <a:endParaRPr lang="es-CL" sz="1100"/>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4 · Cada registro conserva su origen y sus controles</a:t>
            </a:r>
            <a:endParaRPr lang="es-CL" sz="1100"/>
          </a:p>
          <a:p>
            <a:pPr>
              <a:spcAft>
                <a:spcPts val="400"/>
              </a:spcAft>
              <a:buNone/>
            </a:pPr>
            <a:r>
              <a:rPr lang="es-CL" sz="1100" b="0">
                <a:solidFill>
                  <a:srgbClr val="000000"/>
                </a:solidFill>
                <a:latin typeface="Calibri"/>
                <a:ea typeface="Calibri"/>
                <a:cs typeface="Calibri"/>
              </a:rPr>
              <a:t>TIEMPO ORIENTATIVO: 02:00–02:50 (50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La preparación conserva los archivos originales y separa sus derivados. La llave estación y hora permite reunir los registros sin perder su procedencia. También se documentan las unidades y el reloj: el descriptivo usa UTC menos cuatro fijo, con la hora al final del intervalo. Uno de los controles identifica secuencias de al menos veinticuatro registros idénticos de una estación. La regla existente excluyó el cero coma cincuenta por ciento de las observaciones de partículas finas anteriores a ese filtro y el cero coma sesenta y ocho por ciento de dióxido de nitrógeno. Después se generan las tablas de exploración. Las ausencias siguen identificadas; no se convierten en concentraciones iguales a cero.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IDEA DEL RECORRIDO</a:t>
            </a:r>
            <a:endParaRPr lang="es-CL" sz="1100"/>
          </a:p>
          <a:p>
            <a:pPr>
              <a:spcAft>
                <a:spcPts val="400"/>
              </a:spcAft>
              <a:buNone/>
            </a:pPr>
            <a:r>
              <a:rPr lang="es-CL" sz="1100" b="0">
                <a:solidFill>
                  <a:srgbClr val="000000"/>
                </a:solidFill>
                <a:latin typeface="Calibri"/>
                <a:ea typeface="Calibri"/>
                <a:cs typeface="Calibri"/>
              </a:rPr>
              <a:t>La preparación permite entender de dónde sale cada dato y qué le ocurrió antes de aparecer en un resumen. La figura se sigue desde los archivos originales, pasando por la organización de los registros y sus controles, hasta las tablas de exploración. Mantener ese recorrido documentado ayuda a explicar por qué un número está incluido, excluido o ausente.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ORIGINALES Y DERIVADOS</a:t>
            </a:r>
            <a:endParaRPr lang="es-CL" sz="1100"/>
          </a:p>
          <a:p>
            <a:pPr>
              <a:spcAft>
                <a:spcPts val="400"/>
              </a:spcAft>
              <a:buNone/>
            </a:pPr>
            <a:r>
              <a:rPr lang="es-CL" sz="1100" b="0">
                <a:solidFill>
                  <a:srgbClr val="000000"/>
                </a:solidFill>
                <a:latin typeface="Calibri"/>
                <a:ea typeface="Calibri"/>
                <a:cs typeface="Calibri"/>
              </a:rPr>
              <a:t>Conservar el original significa poder volver a consultar lo que entregó la fuente. Un derivado es una tabla o resumen producido a partir de esos archivos. Ambos cumplen funciones distintas: el original preserva la procedencia; el derivado facilita comparar y explorar. Separarlos evita confundir una transformación del proyecto con una característica que ya venía en los datos.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SE IDENTIFICA UNA OBSERVACIÓN</a:t>
            </a:r>
            <a:endParaRPr lang="es-CL" sz="1100"/>
          </a:p>
          <a:p>
            <a:pPr>
              <a:spcAft>
                <a:spcPts val="400"/>
              </a:spcAft>
              <a:buNone/>
            </a:pPr>
            <a:r>
              <a:rPr lang="es-CL" sz="1100" b="0">
                <a:solidFill>
                  <a:srgbClr val="000000"/>
                </a:solidFill>
                <a:latin typeface="Calibri"/>
                <a:ea typeface="Calibri"/>
                <a:cs typeface="Calibri"/>
              </a:rPr>
              <a:t>Para reunir información necesitamos identificar la estación y la hora; cuando se consideran varios contaminantes, también debe quedar claro a cuál corresponde el valor. Esa combinación funciona como una dirección del registro. No basta con que dos filas tengan la misma fecha: deben referirse al mismo lugar, al mismo intervalo y a una variable compatible para poder compararlas.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UNIDADES Y RELOJ</a:t>
            </a:r>
            <a:endParaRPr lang="es-CL" sz="1100"/>
          </a:p>
          <a:p>
            <a:pPr>
              <a:spcAft>
                <a:spcPts val="400"/>
              </a:spcAft>
              <a:buNone/>
            </a:pPr>
            <a:r>
              <a:rPr lang="es-CL" sz="1100" b="0">
                <a:solidFill>
                  <a:srgbClr val="000000"/>
                </a:solidFill>
                <a:latin typeface="Calibri"/>
                <a:ea typeface="Calibri"/>
                <a:cs typeface="Calibri"/>
              </a:rPr>
              <a:t>Documentamos qué mide cada valor y cómo se expresa: PM₂.₅ en µg/m³ y NO₂ en ppb. También fijamos el reloj. UTC es una referencia internacional de tiempo; UTC−4 fijo significa usar un desplazamiento constante de cuatro horas respecto de ella. No equivale a seguir todos los cambios de la hora civil de Chile. En este descriptivo, la etiqueta corresponde al final del intervalo horario.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CONTROLA LA REGLA DE RACHAS</a:t>
            </a:r>
            <a:endParaRPr lang="es-CL" sz="1100"/>
          </a:p>
          <a:p>
            <a:pPr>
              <a:spcAft>
                <a:spcPts val="400"/>
              </a:spcAft>
              <a:buNone/>
            </a:pPr>
            <a:r>
              <a:rPr lang="es-CL" sz="1100" b="0">
                <a:solidFill>
                  <a:srgbClr val="000000"/>
                </a:solidFill>
                <a:latin typeface="Calibri"/>
                <a:ea typeface="Calibri"/>
                <a:cs typeface="Calibri"/>
              </a:rPr>
              <a:t>Uno de los controles identifica secuencias de al menos 24 registros consecutivos con el mismo valor en una estación. Una repetición prolongada puede ser una señal que merece revisión, pero la regla no demuestra por sí sola qué ocurrió en el instrumento. Es un criterio operativo aplicado al registro; no un diagnóstico confirmado de falla para cada secuencia.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EL DETALLE DE LAS 24 OBSERVACIONES</a:t>
            </a:r>
            <a:endParaRPr lang="es-CL" sz="1100"/>
          </a:p>
          <a:p>
            <a:pPr>
              <a:spcAft>
                <a:spcPts val="400"/>
              </a:spcAft>
              <a:buNone/>
            </a:pPr>
            <a:r>
              <a:rPr lang="es-CL" sz="1100" b="0">
                <a:solidFill>
                  <a:srgbClr val="000000"/>
                </a:solidFill>
                <a:latin typeface="Calibri"/>
                <a:ea typeface="Calibri"/>
                <a:cs typeface="Calibri"/>
              </a:rPr>
              <a:t>Aquí consecutivo se refiere al orden de los registros disponibles. En la implementación existente, un hueco temporal no corta automáticamente la secuencia. Por eso debemos decir al menos 24 registros idénticos y no exactamente 24 horas continuas. Esta diferencia importa para explicar con precisión qué detectó el control, sin atribuirle una condición que no comprobó.</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CUÁNTO SE EXCLUYÓ</a:t>
            </a:r>
            <a:endParaRPr lang="es-CL" sz="1100"/>
          </a:p>
          <a:p>
            <a:pPr>
              <a:spcAft>
                <a:spcPts val="400"/>
              </a:spcAft>
              <a:buNone/>
            </a:pPr>
            <a:r>
              <a:rPr lang="es-CL" sz="1100" b="0">
                <a:solidFill>
                  <a:srgbClr val="000000"/>
                </a:solidFill>
                <a:latin typeface="Calibri"/>
                <a:ea typeface="Calibri"/>
                <a:cs typeface="Calibri"/>
              </a:rPr>
              <a:t>En PM₂.₅ se retiraron 49.022 de 9.789.656 registros previos a este filtro: aproximadamente 0,50 %. Quedaron 9.740.634. En NO₂ se retiraron 39.071 de 5.750.562: aproximadamente 0,68 %. Quedaron 5.711.491, incluyendo SINCA y SNIFA. Estos porcentajes corresponden sólo a la exclusión por rachas entre observaciones con dato antes de ese control; no representan todos los faltantes del proyecto.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AUSENCIA NO ES CERO</a:t>
            </a:r>
            <a:endParaRPr lang="es-CL" sz="1100"/>
          </a:p>
          <a:p>
            <a:pPr>
              <a:spcAft>
                <a:spcPts val="400"/>
              </a:spcAft>
              <a:buNone/>
            </a:pPr>
            <a:r>
              <a:rPr lang="es-CL" sz="1100" b="0">
                <a:solidFill>
                  <a:srgbClr val="000000"/>
                </a:solidFill>
                <a:latin typeface="Calibri"/>
                <a:ea typeface="Calibri"/>
                <a:cs typeface="Calibri"/>
              </a:rPr>
              <a:t>Si una estación no aporta una observación, no sabemos por eso que la concentración sea cero. El cero es un valor; la ausencia significa que no contamos con ese dato. Mantener esa diferencia permite que los gráficos de disponibilidad y los resúmenes de concentraciones respondan preguntas distintas.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ESTADO Y DECISIONES</a:t>
            </a:r>
            <a:endParaRPr lang="es-CL" sz="1100"/>
          </a:p>
          <a:p>
            <a:pPr>
              <a:spcAft>
                <a:spcPts val="400"/>
              </a:spcAft>
              <a:buNone/>
            </a:pPr>
            <a:r>
              <a:rPr lang="es-CL" sz="1100" b="0">
                <a:solidFill>
                  <a:srgbClr val="000000"/>
                </a:solidFill>
                <a:latin typeface="Calibri"/>
                <a:ea typeface="Calibri"/>
                <a:cs typeface="Calibri"/>
              </a:rPr>
              <a:t>Los conteos describen controles y resúmenes existentes. No significan que toda la preparación esté resuelta. Queda documentar el tratamiento de banderas de validación, faltantes y extremos y comprobar la compatibilidad al cruzar las fuentes. Cada decisión debe conservar su motivo y su efecto para que el conjunto final pueda entenderse y revisarse.</a:t>
            </a:r>
            <a:endParaRPr lang="es-CL" sz="1100"/>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5 · La historia disponible cambia entre estaciones</a:t>
            </a:r>
            <a:endParaRPr lang="es-CL" sz="1100"/>
          </a:p>
          <a:p>
            <a:pPr>
              <a:spcAft>
                <a:spcPts val="400"/>
              </a:spcAft>
              <a:buNone/>
            </a:pPr>
            <a:r>
              <a:rPr lang="es-CL" sz="1100" b="0">
                <a:solidFill>
                  <a:srgbClr val="000000"/>
                </a:solidFill>
                <a:latin typeface="Calibri"/>
                <a:ea typeface="Calibri"/>
                <a:cs typeface="Calibri"/>
              </a:rPr>
              <a:t>TIEMPO ORIENTATIVO: 02:50–03:50 (60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El mapa de calor permite mirar esa historia con más detalle. Cada fila representa una estación y cada columna un año. El color indica la fracción de horas calendario que tiene observación después de los controles. Las áreas grises señalan que no hay registros para esa combinación de estación y año. Se ven incorporaciones progresivas, historias más largas en algunos lugares e interrupciones en otros. Mostramos años completos, de dos mil a dos mil veinticinco, para evitar que el año parcial distorsione la lectura. La figura describe disponibilidad temporal, no concentraciones ni cobertura espacial. Para comparar periodos necesitaremos considerar qué estaciones contribuyen y durante cuánto tiempo. La misma cantidad total de registros puede esconder distribuciones temporales muy diferentes.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PARA QUÉ SIRVE</a:t>
            </a:r>
            <a:endParaRPr lang="es-CL" sz="1100"/>
          </a:p>
          <a:p>
            <a:pPr>
              <a:spcAft>
                <a:spcPts val="400"/>
              </a:spcAft>
              <a:buNone/>
            </a:pPr>
            <a:r>
              <a:rPr lang="es-CL" sz="1100" b="0">
                <a:solidFill>
                  <a:srgbClr val="000000"/>
                </a:solidFill>
                <a:latin typeface="Calibri"/>
                <a:ea typeface="Calibri"/>
                <a:cs typeface="Calibri"/>
              </a:rPr>
              <a:t>Esta lámina describe cuánto de la historia de cada estación está disponible para trabajar. Una estación es un lugar donde se mide un contaminante. Tener una estación en el inventario no significa que existan datos de ella para todas las horas o todos los años. El mapa de calor permite ver esa diferencia sin resumir toda la red en un solo número.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LEERLA</a:t>
            </a:r>
            <a:endParaRPr lang="es-CL" sz="1100"/>
          </a:p>
          <a:p>
            <a:pPr>
              <a:spcAft>
                <a:spcPts val="400"/>
              </a:spcAft>
              <a:buNone/>
            </a:pPr>
            <a:r>
              <a:rPr lang="es-CL" sz="1100" b="0">
                <a:solidFill>
                  <a:srgbClr val="000000"/>
                </a:solidFill>
                <a:latin typeface="Calibri"/>
                <a:ea typeface="Calibri"/>
                <a:cs typeface="Calibri"/>
              </a:rPr>
              <a:t>Hay un panel para PM₂.₅, las partículas finas, y otro para NO₂, el dióxido de nitrógeno. Cada fila corresponde a una estación y cada columna a un año. Las estaciones están ordenadas de norte a sur y agrupadas en macrozonas, que son conjuntos de regiones utilizados por el proyecto para facilitar la lectura. Una fila se sigue horizontalmente para revisar su historia; una columna se mira verticalmente para comparar la disponibilidad entre estaciones en un año.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EXPRESA EL COLOR</a:t>
            </a:r>
            <a:endParaRPr lang="es-CL" sz="1100"/>
          </a:p>
          <a:p>
            <a:pPr>
              <a:spcAft>
                <a:spcPts val="400"/>
              </a:spcAft>
              <a:buNone/>
            </a:pPr>
            <a:r>
              <a:rPr lang="es-CL" sz="1100" b="0">
                <a:solidFill>
                  <a:srgbClr val="000000"/>
                </a:solidFill>
                <a:latin typeface="Calibri"/>
                <a:ea typeface="Calibri"/>
                <a:cs typeface="Calibri"/>
              </a:rPr>
              <a:t>Se divide el número de horas que tienen observación después de los controles por todas las horas calendario del año. El denominador, es decir, la cantidad con la que comparamos, considera también los años bisiestos. Un azul más oscuro representa una proporción mayor de horas con dato. El gris indica que no hay registros para esa combinación de estación y año en el descriptivo. No significa una concentración igual a cero. Tampoco los azules representan concentraciones altas o bajas.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PERIODO ESTAMOS VIENDO</a:t>
            </a:r>
            <a:endParaRPr lang="es-CL" sz="1100"/>
          </a:p>
          <a:p>
            <a:pPr>
              <a:spcAft>
                <a:spcPts val="400"/>
              </a:spcAft>
              <a:buNone/>
            </a:pPr>
            <a:r>
              <a:rPr lang="es-CL" sz="1100" b="0">
                <a:solidFill>
                  <a:srgbClr val="000000"/>
                </a:solidFill>
                <a:latin typeface="Calibri"/>
                <a:ea typeface="Calibri"/>
                <a:cs typeface="Calibri"/>
              </a:rPr>
              <a:t>La figura muestra años completos, desde 2000 hasta 2025. Se deja fuera 2026 porque el corte de los datos es el 13 de septiembre y ese año está incompleto. El inventario del periodo total contiene 107 estaciones para PM₂.₅ y 57 para NO₂. Esos conteos no garantizan que todas las filas aporten datos en todos los años dibujados. Las observaciones de 2026 sí participan en los volúmenes totales presentados antes.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VEMOS Y QUÉ NO SABEMOS TODAVÍA</a:t>
            </a:r>
            <a:endParaRPr lang="es-CL" sz="1100"/>
          </a:p>
          <a:p>
            <a:pPr>
              <a:spcAft>
                <a:spcPts val="400"/>
              </a:spcAft>
              <a:buNone/>
            </a:pPr>
            <a:r>
              <a:rPr lang="es-CL" sz="1100" b="0">
                <a:solidFill>
                  <a:srgbClr val="000000"/>
                </a:solidFill>
                <a:latin typeface="Calibri"/>
                <a:ea typeface="Calibri"/>
                <a:cs typeface="Calibri"/>
              </a:rPr>
              <a:t>Las historias disponibles son desiguales: algunas filas tienen muchos años con datos y otras presentan registros más recientes o interrupciones. La figura no explica por qué ocurre cada ausencia ni establece la fecha de inicio de operación de una estación. Tampoco mide cuánto territorio o cuánta población está cubierta. Una fila con mucha información sigue siendo una medición puntual en una ubicación.</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RELACIÓN CON LOS CONTROLES</a:t>
            </a:r>
            <a:endParaRPr lang="es-CL" sz="1100"/>
          </a:p>
          <a:p>
            <a:pPr>
              <a:spcAft>
                <a:spcPts val="400"/>
              </a:spcAft>
              <a:buNone/>
            </a:pPr>
            <a:r>
              <a:rPr lang="es-CL" sz="1100" b="0">
                <a:solidFill>
                  <a:srgbClr val="000000"/>
                </a:solidFill>
                <a:latin typeface="Calibri"/>
                <a:ea typeface="Calibri"/>
                <a:cs typeface="Calibri"/>
              </a:rPr>
              <a:t>El filtro de rachas retira secuencias de al menos 24 registros idénticos consecutivos. Consecutivos se refiere a los registros ordenados; no debemos describirlos automáticamente como 24 horas continuas sin huecos. La figura muestra la disponibilidad que queda después de los controles documentados.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SIGUE</a:t>
            </a:r>
            <a:endParaRPr lang="es-CL" sz="1100"/>
          </a:p>
          <a:p>
            <a:pPr>
              <a:spcAft>
                <a:spcPts val="400"/>
              </a:spcAft>
              <a:buNone/>
            </a:pPr>
            <a:r>
              <a:rPr lang="es-CL" sz="1100" b="0">
                <a:solidFill>
                  <a:srgbClr val="000000"/>
                </a:solidFill>
                <a:latin typeface="Calibri"/>
                <a:ea typeface="Calibri"/>
                <a:cs typeface="Calibri"/>
              </a:rPr>
              <a:t>Antes de comparar periodos o reunir fuentes, debemos precisar qué estaciones y qué horas aportan información. Aquí no estamos fijando una regla anual definitiva para aceptar o excluir estaciones. El próximo paso es justificar ventanas comparables y registrar cómo cambia la composición de la base. Así evitamos atribuir a un cambio ambiental lo que podría deberse, al menos en parte, a que estamos comparando lugares y periodos distintos.</a:t>
            </a:r>
            <a:endParaRPr lang="es-CL" sz="1100"/>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6 · El estado de validación también cambia</a:t>
            </a:r>
            <a:endParaRPr lang="es-CL" sz="1100"/>
          </a:p>
          <a:p>
            <a:pPr>
              <a:spcAft>
                <a:spcPts val="400"/>
              </a:spcAft>
              <a:buNone/>
            </a:pPr>
            <a:r>
              <a:rPr lang="es-CL" sz="1100" b="0">
                <a:solidFill>
                  <a:srgbClr val="000000"/>
                </a:solidFill>
                <a:latin typeface="Calibri"/>
                <a:ea typeface="Calibri"/>
                <a:cs typeface="Calibri"/>
              </a:rPr>
              <a:t>TIEMPO ORIENTATIVO: 03:50–04:50 (60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Además de saber si existe un valor, necesitamos conocer su estado de validación. Estas barras muestran las banderas de SINCA en los registros posteriores al control de rachas. En partículas finas, aproximadamente el sesenta y dos por ciento figura como validado. En dióxido de nitrógeno es cerca del treinta y dos por ciento. El resto se reparte entre preliminar y no validado. Es una diferencia relevante para decidir cómo entrenar y evaluar después. No validado no significa error confirmado, por lo que no proponemos rechazarlo automáticamente. Los ciento cincuenta y cuatro mil cuatrocientos cincuenta y nueve registros adicionales de NO₂ provenientes de SNIFA se auditan aparte: sus estados de calidad no son equivalentes a las tres banderas de SINCA.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SIGNIFICA UNA BANDERA</a:t>
            </a:r>
            <a:endParaRPr lang="es-CL" sz="1100"/>
          </a:p>
          <a:p>
            <a:pPr>
              <a:spcAft>
                <a:spcPts val="400"/>
              </a:spcAft>
              <a:buNone/>
            </a:pPr>
            <a:r>
              <a:rPr lang="es-CL" sz="1100" b="0">
                <a:solidFill>
                  <a:srgbClr val="000000"/>
                </a:solidFill>
                <a:latin typeface="Calibri"/>
                <a:ea typeface="Calibri"/>
                <a:cs typeface="Calibri"/>
              </a:rPr>
              <a:t>Una bandera de calidad es una etiqueta que acompaña a la medición y describe su estado declarado por la fuente. No es la concentración ni una medida del error del modelo. SINCA, el Sistema de Información Nacional de Calidad del Aire, distingue aquí tres etiquetas: validado, preliminar y no validado. La etiqueta conserva si el valor se tomó de la columna validada, preliminar o no validada del registro original. No la convertimos en una clasificación de valores verdaderos y falsos.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LAS BARRAS</a:t>
            </a:r>
            <a:endParaRPr lang="es-CL" sz="1100"/>
          </a:p>
          <a:p>
            <a:pPr>
              <a:spcAft>
                <a:spcPts val="400"/>
              </a:spcAft>
              <a:buNone/>
            </a:pPr>
            <a:r>
              <a:rPr lang="es-CL" sz="1100" b="0">
                <a:solidFill>
                  <a:srgbClr val="000000"/>
                </a:solidFill>
                <a:latin typeface="Calibri"/>
                <a:ea typeface="Calibri"/>
                <a:cs typeface="Calibri"/>
              </a:rPr>
              <a:t>Cada barra reúne únicamente registros SINCA posteriores al control de rachas. La barra completa representa el 100 % de ese conjunto. Sus segmentos muestran qué proporción tiene cada bandera. Por eso, antes de leer un porcentaje, hay que mirar el total escrito encima: es su denominador. Las dos barras comparan contaminantes, pero sus cantidades totales de registros son diferentes.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PARTÍCULAS FINAS</a:t>
            </a:r>
            <a:endParaRPr lang="es-CL" sz="1100"/>
          </a:p>
          <a:p>
            <a:pPr>
              <a:spcAft>
                <a:spcPts val="400"/>
              </a:spcAft>
              <a:buNone/>
            </a:pPr>
            <a:r>
              <a:rPr lang="es-CL" sz="1100" b="0">
                <a:solidFill>
                  <a:srgbClr val="000000"/>
                </a:solidFill>
                <a:latin typeface="Calibri"/>
                <a:ea typeface="Calibri"/>
                <a:cs typeface="Calibri"/>
              </a:rPr>
              <a:t>Para PM₂.₅ el total es 9.740.634 registros. Hay 6.082.771 validados, equivalentes al 62,45 %; 846.366 preliminares, el 8,69 %; y 2.811.497 no validados, el 28,86 %. La figura muestra una decimal para que se lea mejor. Las diferencias pequeñas al sumar porcentajes visibles proceden del redondeo, no de registros que falten en la barra.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DIÓXIDO DE NITRÓGENO</a:t>
            </a:r>
            <a:endParaRPr lang="es-CL" sz="1100"/>
          </a:p>
          <a:p>
            <a:pPr>
              <a:spcAft>
                <a:spcPts val="400"/>
              </a:spcAft>
              <a:buNone/>
            </a:pPr>
            <a:r>
              <a:rPr lang="es-CL" sz="1100" b="0">
                <a:solidFill>
                  <a:srgbClr val="000000"/>
                </a:solidFill>
                <a:latin typeface="Calibri"/>
                <a:ea typeface="Calibri"/>
                <a:cs typeface="Calibri"/>
              </a:rPr>
              <a:t>La barra de NO₂ tiene como denominador 5.557.032 registros SINCA. De ellos, 1.799.555 están validados, el 32,38 %; 1.455.111 son preliminares, el 26,19 %; y 2.302.366 son no validados, el 41,43 %. El conjunto tiene una composición de banderas distinta al de PM₂.₅. Esto describe la base utilizada, no demuestra una diferencia en la precisión de los instrumentos.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POR QUÉ SNIFA VA SEPARADO</a:t>
            </a:r>
            <a:endParaRPr lang="es-CL" sz="1100"/>
          </a:p>
          <a:p>
            <a:pPr>
              <a:spcAft>
                <a:spcPts val="400"/>
              </a:spcAft>
              <a:buNone/>
            </a:pPr>
            <a:r>
              <a:rPr lang="es-CL" sz="1100" b="0">
                <a:solidFill>
                  <a:srgbClr val="000000"/>
                </a:solidFill>
                <a:latin typeface="Calibri"/>
                <a:ea typeface="Calibri"/>
                <a:cs typeface="Calibri"/>
              </a:rPr>
              <a:t>SNIFA es el Sistema Nacional de Información de Fiscalización Ambiental y aporta 154.459 registros adicionales de NO₂. Su auditoría distingue 145.532 registros utilizables con los controles nativos de esa fuente y 8.927 utilizables sólo numéricamente. El control numérico exige valor no negativo, unidad conocida y ausencia de código de invalidación. El nativo exige además ausencia de conflictos entre publicaciones. Son categorías propias de esa revisión; no equivalen a validado, preliminar y no validado de SINCA. Por eso no se incorporan a estos segmentos. Al sumar 5.557.032 registros SINCA y 154.459 SNIFA recuperamos los 5.711.491 registros NO₂ del descriptivo general.</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PODEMOS CONCLUIR</a:t>
            </a:r>
            <a:endParaRPr lang="es-CL" sz="1100"/>
          </a:p>
          <a:p>
            <a:pPr>
              <a:spcAft>
                <a:spcPts val="400"/>
              </a:spcAft>
              <a:buNone/>
            </a:pPr>
            <a:r>
              <a:rPr lang="es-CL" sz="1100" b="0">
                <a:solidFill>
                  <a:srgbClr val="000000"/>
                </a:solidFill>
                <a:latin typeface="Calibri"/>
                <a:ea typeface="Calibri"/>
                <a:cs typeface="Calibri"/>
              </a:rPr>
              <a:t>La disponibilidad de un valor y su estado de validación son preguntas diferentes. No validado no confirma por sí solo un error de medición, y validado tampoco garantiza que un dato sea adecuado para cualquier análisis. Estas banderas no justifican rechazar o aceptar automáticamente todos los registros de una categoría. Además, el porcentaje de cada bandera no es un porcentaje de datos faltantes ni el porcentaje retirado por rachas.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EN QUÉ ETAPA ESTAMOS</a:t>
            </a:r>
            <a:endParaRPr lang="es-CL" sz="1100"/>
          </a:p>
          <a:p>
            <a:pPr>
              <a:spcAft>
                <a:spcPts val="400"/>
              </a:spcAft>
              <a:buNone/>
            </a:pPr>
            <a:r>
              <a:rPr lang="es-CL" sz="1100" b="0">
                <a:solidFill>
                  <a:srgbClr val="000000"/>
                </a:solidFill>
                <a:latin typeface="Calibri"/>
                <a:ea typeface="Calibri"/>
                <a:cs typeface="Calibri"/>
              </a:rPr>
              <a:t>La revisión de banderas fue generada el 12 de octubre de 2026, pero sus conteos corresponden al conjunto descriptivo con corte al 13 de septiembre; la fecha de revisión no amplía el periodo observado. Lo pendiente es documentar el tratamiento de cada estado y sus consecuencias para la base que se usará después. Esa decisión debe quedar clara antes de interpretar una evaluación final del modelo.</a:t>
            </a:r>
            <a:endParaRPr lang="es-CL" sz="1100"/>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7 · El patrón horario depende de la temporada</a:t>
            </a:r>
            <a:endParaRPr lang="es-CL" sz="1100"/>
          </a:p>
          <a:p>
            <a:pPr>
              <a:spcAft>
                <a:spcPts val="400"/>
              </a:spcAft>
              <a:buNone/>
            </a:pPr>
            <a:r>
              <a:rPr lang="es-CL" sz="1100" b="0">
                <a:solidFill>
                  <a:srgbClr val="000000"/>
                </a:solidFill>
                <a:latin typeface="Calibri"/>
                <a:ea typeface="Calibri"/>
                <a:cs typeface="Calibri"/>
              </a:rPr>
              <a:t>TIEMPO ORIENTATIVO: 04:50–06:05 (75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Estas curvas muestran un primer patrón de los datos observados. Comparamos invierno y verano en las macrozonas Centro y Sur, para partículas finas y dióxido de nitrógeno. No son curvas ajustadas por el modelo. Primero se obtiene el perfil de cada estación y se conservan las combinaciones de hora y temporada que reúnen al menos treinta observaciones. Después se promedian esos perfiles entre estaciones. En partículas finas, los perfiles de invierno son más altos y muestran un aumento hacia las últimas horas del día en estas macrozonas. El dióxido de nitrógeno tiene una forma y una escala propias, que deben leerse en su eje. Las diferencias ayudan a reconocer qué variabilidad temporal deberá representar el modelo. No explican por sí solas sus causas. También cambia qué estaciones aportan a cada perfil; por eso conservamos la unidad de observación, la temporada y el reloj explícitos cuando interpretamos la figura.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ES UN PERFIL HORARIO</a:t>
            </a:r>
            <a:endParaRPr lang="es-CL" sz="1100"/>
          </a:p>
          <a:p>
            <a:pPr>
              <a:spcAft>
                <a:spcPts val="400"/>
              </a:spcAft>
              <a:buNone/>
            </a:pPr>
            <a:r>
              <a:rPr lang="es-CL" sz="1100" b="0">
                <a:solidFill>
                  <a:srgbClr val="000000"/>
                </a:solidFill>
                <a:latin typeface="Calibri"/>
                <a:ea typeface="Calibri"/>
                <a:cs typeface="Calibri"/>
              </a:rPr>
              <a:t>Es un resumen de cómo cambia la concentración observada según la hora del día. Se reúnen registros de la misma hora y temporada para describir un patrón habitual. No estamos siguiendo un día específico ni mostrando una predicción. La figura agrupa el periodo completo del descriptivo, desde 2000 hasta el corte de septiembre de 2026; no corresponde solamente a 2020, el año ilustrativo de los mapas de fuentes.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LOS CUATRO PANELES</a:t>
            </a:r>
            <a:endParaRPr lang="es-CL" sz="1100"/>
          </a:p>
          <a:p>
            <a:pPr>
              <a:spcAft>
                <a:spcPts val="400"/>
              </a:spcAft>
              <a:buNone/>
            </a:pPr>
            <a:r>
              <a:rPr lang="es-CL" sz="1100" b="0">
                <a:solidFill>
                  <a:srgbClr val="000000"/>
                </a:solidFill>
                <a:latin typeface="Calibri"/>
                <a:ea typeface="Calibri"/>
                <a:cs typeface="Calibri"/>
              </a:rPr>
              <a:t>Las columnas separan Centro y Sur, dos macrozonas del proyecto. Centro reúne Valparaíso, Metropolitana, O’Higgins y Maule. Sur reúne Biobío, Ñuble, La Araucanía, Los Ríos y Los Lagos. La fila superior muestra PM₂.₅ en microgramos por metro cúbico y la inferior NO₂ en partes por mil millones. Son unidades distintas y cada contaminante debe leerse con su propio eje vertical. Las líneas distinguen verano e invierno mediante color, símbolos y trazos.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SIGNIFICA TEMPORADA</a:t>
            </a:r>
            <a:endParaRPr lang="es-CL" sz="1100"/>
          </a:p>
          <a:p>
            <a:pPr>
              <a:spcAft>
                <a:spcPts val="400"/>
              </a:spcAft>
              <a:buNone/>
            </a:pPr>
            <a:r>
              <a:rPr lang="es-CL" sz="1100" b="0">
                <a:solidFill>
                  <a:srgbClr val="000000"/>
                </a:solidFill>
                <a:latin typeface="Calibri"/>
                <a:ea typeface="Calibri"/>
                <a:cs typeface="Calibri"/>
              </a:rPr>
              <a:t>En esta comparación, verano reúne diciembre, enero y febrero; invierno reúne junio, julio y agosto. Se muestran estas dos temporadas para facilitar la lectura. Eso no significa que las otras temporadas no existan en los datos o que este contraste resuma toda la variabilidad anual.</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SE OBTIENE CADA PUNTO</a:t>
            </a:r>
            <a:endParaRPr lang="es-CL" sz="1100"/>
          </a:p>
          <a:p>
            <a:pPr>
              <a:spcAft>
                <a:spcPts val="400"/>
              </a:spcAft>
              <a:buNone/>
            </a:pPr>
            <a:r>
              <a:rPr lang="es-CL" sz="1100" b="0">
                <a:solidFill>
                  <a:srgbClr val="000000"/>
                </a:solidFill>
                <a:latin typeface="Calibri"/>
                <a:ea typeface="Calibri"/>
                <a:cs typeface="Calibri"/>
              </a:rPr>
              <a:t>Primero se calcula el perfil de cada estación. Para una combinación concreta de estación, temporada y hora se exigen al menos 30 observaciones. Luego se promedian los perfiles de las estaciones que cumplen esa condición en la combinación correspondiente. Cada estación elegible tiene el mismo peso en ese promedio: una estación no pesa más sólo porque acumule más registros. El número 30 es un requisito del resumen horario y no es la regla de al menos 75 % de horas del mes utilizada por otros descriptivos.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INDICAN LOS NÚMEROS N</a:t>
            </a:r>
            <a:endParaRPr lang="es-CL" sz="1100"/>
          </a:p>
          <a:p>
            <a:pPr>
              <a:spcAft>
                <a:spcPts val="400"/>
              </a:spcAft>
              <a:buNone/>
            </a:pPr>
            <a:r>
              <a:rPr lang="es-CL" sz="1100" b="0">
                <a:solidFill>
                  <a:srgbClr val="000000"/>
                </a:solidFill>
                <a:latin typeface="Calibri"/>
                <a:ea typeface="Calibri"/>
                <a:cs typeface="Calibri"/>
              </a:rPr>
              <a:t>La letra n identifica la cantidad de estaciones que contribuyen a los perfiles de verano e invierno, en ese orden. No es la cantidad de mediciones horarias ni el número de personas representadas. La composición puede cambiar entre horas y temporadas. Por tanto, no debemos describir las curvas como si siguieran siempre al mismo grupo fijo de estaciones.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INTERPRETAR LA HORA</a:t>
            </a:r>
            <a:endParaRPr lang="es-CL" sz="1100"/>
          </a:p>
          <a:p>
            <a:pPr>
              <a:spcAft>
                <a:spcPts val="400"/>
              </a:spcAft>
              <a:buNone/>
            </a:pPr>
            <a:r>
              <a:rPr lang="es-CL" sz="1100" b="0">
                <a:solidFill>
                  <a:srgbClr val="000000"/>
                </a:solidFill>
                <a:latin typeface="Calibri"/>
                <a:ea typeface="Calibri"/>
                <a:cs typeface="Calibri"/>
              </a:rPr>
              <a:t>El reloj es UTC−4 fijo y la etiqueta corresponde al final del intervalo. Es una referencia temporal mantenida de forma consistente en este descriptivo. No debe confundirse automáticamente con la hora civil chilena en todas las fechas, porque esta última puede cambiar según la época del año.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SE OBSERVA Y QUÉ QUEDA ABIERTO</a:t>
            </a:r>
            <a:endParaRPr lang="es-CL" sz="1100"/>
          </a:p>
          <a:p>
            <a:pPr>
              <a:spcAft>
                <a:spcPts val="400"/>
              </a:spcAft>
              <a:buNone/>
            </a:pPr>
            <a:r>
              <a:rPr lang="es-CL" sz="1100" b="0">
                <a:solidFill>
                  <a:srgbClr val="000000"/>
                </a:solidFill>
                <a:latin typeface="Calibri"/>
                <a:ea typeface="Calibri"/>
                <a:cs typeface="Calibri"/>
              </a:rPr>
              <a:t>En estas macrozonas, los perfiles de PM₂.₅ de invierno son más altos y aumentan hacia las últimas horas del día. NO₂ tiene otra forma y escala. La figura permite reconocer patrones que el modelo deberá poder representar, pero no identifica sus causas ni mide desempeño predictivo. El siguiente paso es considerar esas diferencias al definir periodos y evaluar después el modelo, cuidando también los cambios en las estaciones que aportan a cada resumen.</a:t>
            </a:r>
            <a:endParaRPr lang="es-CL" sz="1100"/>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0">
                <a:solidFill>
                  <a:srgbClr val="000000"/>
                </a:solidFill>
                <a:latin typeface="Calibri"/>
                <a:ea typeface="Calibri"/>
                <a:cs typeface="Calibri"/>
              </a:rPr>
              <a:t>LÁMINA 8 · El diagnóstico orienta las siguientes decisiones</a:t>
            </a:r>
            <a:endParaRPr lang="es-CL" sz="1100"/>
          </a:p>
          <a:p>
            <a:pPr>
              <a:spcAft>
                <a:spcPts val="400"/>
              </a:spcAft>
              <a:buNone/>
            </a:pPr>
            <a:r>
              <a:rPr lang="es-CL" sz="1100" b="0">
                <a:solidFill>
                  <a:srgbClr val="000000"/>
                </a:solidFill>
                <a:latin typeface="Calibri"/>
                <a:ea typeface="Calibri"/>
                <a:cs typeface="Calibri"/>
              </a:rPr>
              <a:t>TIEMPO ORIENTATIVO: 06:05–07:15 (70 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GUION PARA LEER</a:t>
            </a:r>
            <a:endParaRPr lang="es-CL" sz="1100"/>
          </a:p>
          <a:p>
            <a:pPr>
              <a:spcAft>
                <a:spcPts val="400"/>
              </a:spcAft>
              <a:buNone/>
            </a:pPr>
            <a:r>
              <a:rPr lang="es-CL" sz="1100" b="0">
                <a:solidFill>
                  <a:srgbClr val="000000"/>
                </a:solidFill>
                <a:latin typeface="Calibri"/>
                <a:ea typeface="Calibri"/>
                <a:cs typeface="Calibri"/>
              </a:rPr>
              <a:t>El análisis exploratorio deja tres decisiones concretas para la siguiente etapa. La primera es definir una ventana útil para cada fuente y documentar qué información se pierde al cruzarlas. La segunda es fijar el tratamiento de las banderas de calidad, los faltantes y los extremos, conservando la trazabilidad de cada decisión. La tercera es preparar una evaluación que separe lugares y periodos, para examinar después si el modelo puede generalizar. Estas decisiones nacen de lo que acabamos de ver: escalas distintas, historias incompletas, estados de validación heterogéneos y patrones horarios que cambian por temporada. Cerramos este primer avance con una base descriptiva para discutir esos criterios con el tutor. El siguiente producto verificable será un conjunto de datos comparable y documentado, sobre el cual pueda construirse y evaluarse el modelo ambiental del magíster.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HEMOS LOGRADO EN ESTE AVANCE</a:t>
            </a:r>
            <a:endParaRPr lang="es-CL" sz="1100"/>
          </a:p>
          <a:p>
            <a:pPr>
              <a:spcAft>
                <a:spcPts val="400"/>
              </a:spcAft>
              <a:buNone/>
            </a:pPr>
            <a:r>
              <a:rPr lang="es-CL" sz="1100" b="0">
                <a:solidFill>
                  <a:srgbClr val="000000"/>
                </a:solidFill>
                <a:latin typeface="Calibri"/>
                <a:ea typeface="Calibri"/>
                <a:cs typeface="Calibri"/>
              </a:rPr>
              <a:t>Reunimos una descripción del origen de los datos, su distribución geográfica, sus historias disponibles, sus banderas de calidad y algunos patrones horarios. El objetivo de esta etapa es conocer la base con la que trabajamos y reconocer sus dificultades. Mostrar estos descriptivos no equivale a haber cerrado todas las decisiones de integración ni a presentar una evaluación definitiva del modelo.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PRIMERA DECISIÓN: EL PERIODO ÚTIL</a:t>
            </a:r>
            <a:endParaRPr lang="es-CL" sz="1100"/>
          </a:p>
          <a:p>
            <a:pPr>
              <a:spcAft>
                <a:spcPts val="400"/>
              </a:spcAft>
              <a:buNone/>
            </a:pPr>
            <a:r>
              <a:rPr lang="es-CL" sz="1100" b="0">
                <a:solidFill>
                  <a:srgbClr val="000000"/>
                </a:solidFill>
                <a:latin typeface="Calibri"/>
                <a:ea typeface="Calibri"/>
                <a:cs typeface="Calibri"/>
              </a:rPr>
              <a:t>Una ventana útil es el intervalo de tiempo en que una fuente aporta información que puede utilizarse para el propósito del proyecto. Las distintas fuentes no necesariamente comienzan y terminan en los mismos años ni tienen la misma frecuencia. Los mapas de 2020 ilustran productos disponibles en ese año, pero no prueban que todos existan para cada hora de 2000 a 2026. Lo pendiente es precisar esas ventanas y decidir qué comparaciones son defendibles con la información realmente disponible.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SIGNIFICA PERDER INFORMACIÓN AL CRUZAR FUENTES</a:t>
            </a:r>
            <a:endParaRPr lang="es-CL" sz="1100"/>
          </a:p>
          <a:p>
            <a:pPr>
              <a:spcAft>
                <a:spcPts val="400"/>
              </a:spcAft>
              <a:buNone/>
            </a:pPr>
            <a:r>
              <a:rPr lang="es-CL" sz="1100" b="0">
                <a:solidFill>
                  <a:srgbClr val="000000"/>
                </a:solidFill>
                <a:latin typeface="Calibri"/>
                <a:ea typeface="Calibri"/>
                <a:cs typeface="Calibri"/>
              </a:rPr>
              <a:t>Unir datos requiere relacionar registros que correspondan a una ubicación y un momento compatibles. Puede haber una observación de contaminación que no encuentre información complementaria para esa combinación. Debemos contar y describir esas situaciones. Cuantificarlas no significa descartar automáticamente todo registro incompleto: su tratamiento debe justificarse. Esta pérdida tampoco es lo mismo que la proporción retirada por rachas o la proporción de una bandera SINCA.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SEGUNDA DECISIÓN: EL TRATAMIENTO DE LA CALIDAD</a:t>
            </a:r>
            <a:endParaRPr lang="es-CL" sz="1100"/>
          </a:p>
          <a:p>
            <a:pPr>
              <a:spcAft>
                <a:spcPts val="400"/>
              </a:spcAft>
              <a:buNone/>
            </a:pPr>
            <a:r>
              <a:rPr lang="es-CL" sz="1100" b="0">
                <a:solidFill>
                  <a:srgbClr val="000000"/>
                </a:solidFill>
                <a:latin typeface="Calibri"/>
                <a:ea typeface="Calibri"/>
                <a:cs typeface="Calibri"/>
              </a:rPr>
              <a:t>Tenemos que distinguir una ausencia, una bandera de validación, una secuencia repetida y una concentración extrema. Son situaciones diferentes. Una ausencia no se convierte en cero; una etiqueta no confirma por sí sola un error; y un valor alto puede corresponder a un episodio real. La tarea pendiente es dejar escrito qué tratamiento se dará a cada situación y cómo se conservará la posibilidad de revisar su origen. Si se comparan tratamientos, también habrá que explicar qué cambia en la base y en su interpretación.</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TERCERA DECISIÓN: UNA EVALUACIÓN INDEPENDIENTE</a:t>
            </a:r>
            <a:endParaRPr lang="es-CL" sz="1100"/>
          </a:p>
          <a:p>
            <a:pPr>
              <a:spcAft>
                <a:spcPts val="400"/>
              </a:spcAft>
              <a:buNone/>
            </a:pPr>
            <a:r>
              <a:rPr lang="es-CL" sz="1100" b="0">
                <a:solidFill>
                  <a:srgbClr val="000000"/>
                </a:solidFill>
                <a:latin typeface="Calibri"/>
                <a:ea typeface="Calibri"/>
                <a:cs typeface="Calibri"/>
              </a:rPr>
              <a:t>Ajustar un modelo significa usar datos para aprender cómo se relaciona la información de entrada con las concentraciones observadas. Evaluarlo requiere examinarlo con información reservada que no haya servido para decidir ese ajuste. Separar lugares y periodos busca comprobar después qué ocurre al pasar a ubicaciones o momentos diferentes de los utilizados para aprender. Aquí no decidimos cómo se repartirán esos conjuntos de datos ni elegimos un tipo de modelo por sus resultados. Presentamos una necesidad que surge del diagnóstico.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SE CONECTAN LAS TRES DECISIONES</a:t>
            </a:r>
            <a:endParaRPr lang="es-CL" sz="1100"/>
          </a:p>
          <a:p>
            <a:pPr>
              <a:spcAft>
                <a:spcPts val="400"/>
              </a:spcAft>
              <a:buNone/>
            </a:pPr>
            <a:r>
              <a:rPr lang="es-CL" sz="1100" b="0">
                <a:solidFill>
                  <a:srgbClr val="000000"/>
                </a:solidFill>
                <a:latin typeface="Calibri"/>
                <a:ea typeface="Calibri"/>
                <a:cs typeface="Calibri"/>
              </a:rPr>
              <a:t>Las ventanas temporales determinan qué fuentes pueden encontrarse; el tratamiento de calidad determina qué información se conserva y cómo se interpreta; y la separación de lugares y periodos permite plantear una evaluación con sentido. Por eso no basta con acumular muchos registros. El siguiente producto verificable es una base comparable y documentada, con estas decisiones explícitas para discutirlas con el tutor y sostener el modelamiento posterior.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ALCANCE Y USO DE ESTAS NOTAS</a:t>
            </a:r>
            <a:endParaRPr lang="es-CL" sz="1100"/>
          </a:p>
          <a:p>
            <a:pPr>
              <a:spcAft>
                <a:spcPts val="400"/>
              </a:spcAft>
              <a:buNone/>
            </a:pPr>
            <a:r>
              <a:rPr lang="es-CL" sz="1100" b="0">
                <a:solidFill>
                  <a:srgbClr val="000000"/>
                </a:solidFill>
                <a:latin typeface="Calibri"/>
                <a:ea typeface="Calibri"/>
                <a:cs typeface="Calibri"/>
              </a:rPr>
              <a:t>El producto del magíster es el modelo ambiental de calidad del aire. Los análisis hospitalarios pertenecen al trabajo de la UDD y quedan fuera de esta presentación. Este apoyo sirve para explicar el estado del proyecto a los compañeros y responder preguntas. No forma parte del relato cronometrado del video.</a:t>
            </a:r>
            <a:endParaRPr lang="es-CL" sz="1100"/>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1">
                <a:solidFill>
                  <a:srgbClr val="000000"/>
                </a:solidFill>
                <a:latin typeface="Calibri"/>
                <a:ea typeface="Calibri"/>
                <a:cs typeface="Calibri"/>
              </a:rPr>
              <a:t>LÁMINA 9 · RESPALDO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PARA QUÉ ESTÁ ESTE RESPALDO</a:t>
            </a:r>
            <a:endParaRPr lang="es-CL" sz="1100"/>
          </a:p>
          <a:p>
            <a:pPr>
              <a:spcAft>
                <a:spcPts val="400"/>
              </a:spcAft>
              <a:buNone/>
            </a:pPr>
            <a:r>
              <a:rPr lang="es-CL" sz="1100" b="0">
                <a:solidFill>
                  <a:srgbClr val="000000"/>
                </a:solidFill>
                <a:latin typeface="Calibri"/>
                <a:ea typeface="Calibri"/>
                <a:cs typeface="Calibri"/>
              </a:rPr>
              <a:t>Esta lámina permite ampliar la conversación si alguien pregunta por otras zonas o temporadas. Está oculta y queda fuera del relato de ocho láminas. Reúne perfiles horarios observados de las cinco macrozonas del proyecto: Norte Grande, Norte Chico, Centro, Sur y Austral. Una macrozona agrupa regiones para ordenar la comparación.</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LEER LOS PANELES</a:t>
            </a:r>
            <a:endParaRPr lang="es-CL" sz="1100"/>
          </a:p>
          <a:p>
            <a:pPr>
              <a:spcAft>
                <a:spcPts val="400"/>
              </a:spcAft>
              <a:buNone/>
            </a:pPr>
            <a:r>
              <a:rPr lang="es-CL" sz="1100" b="0">
                <a:solidFill>
                  <a:srgbClr val="000000"/>
                </a:solidFill>
                <a:latin typeface="Calibri"/>
                <a:ea typeface="Calibri"/>
                <a:cs typeface="Calibri"/>
              </a:rPr>
              <a:t>Primero identificar el contaminante y su unidad, después la macrozona y finalmente la temporada indicada en la leyenda. El eje horizontal recorre las horas del día. La altura de una curva resume las concentraciones observadas a esa hora y en esa temporada. PM₂.₅ son partículas finas y se expresa en microgramos por metro cúbico. NO₂ es dióxido de nitrógeno y aquí se expresa en partes por mil millones. Cada contaminante tiene su propia escala.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OBTUVIMOS LAS CURVAS</a:t>
            </a:r>
            <a:endParaRPr lang="es-CL" sz="1100"/>
          </a:p>
          <a:p>
            <a:pPr>
              <a:spcAft>
                <a:spcPts val="400"/>
              </a:spcAft>
              <a:buNone/>
            </a:pPr>
            <a:r>
              <a:rPr lang="es-CL" sz="1100" b="0">
                <a:solidFill>
                  <a:srgbClr val="000000"/>
                </a:solidFill>
                <a:latin typeface="Calibri"/>
                <a:ea typeface="Calibri"/>
                <a:cs typeface="Calibri"/>
              </a:rPr>
              <a:t>El procedimiento es el mismo que en la lámina principal: cada perfil de estación, hora y temporada debe reunir al menos 30 registros. Luego se promedian los perfiles elegibles entre estaciones, dando el mismo peso a cada estación en esa combinación. El reloj es UTC−4 fijo y la hora etiqueta el final del intervalo. Se agrupa el periodo del descriptivo hasta el 13 de septiembre de 2026, no un único año.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PODEMOS EXPLICAR AL EQUIPO</a:t>
            </a:r>
            <a:endParaRPr lang="es-CL" sz="1100"/>
          </a:p>
          <a:p>
            <a:pPr>
              <a:spcAft>
                <a:spcPts val="400"/>
              </a:spcAft>
              <a:buNone/>
            </a:pPr>
            <a:r>
              <a:rPr lang="es-CL" sz="1100" b="0">
                <a:solidFill>
                  <a:srgbClr val="000000"/>
                </a:solidFill>
                <a:latin typeface="Calibri"/>
                <a:ea typeface="Calibri"/>
                <a:cs typeface="Calibri"/>
              </a:rPr>
              <a:t>La forma del día puede cambiar según el contaminante, la zona y la temporada. Esa variación indica que la definición y evaluación del modelo deberán considerar el tiempo y el lugar. Estas curvas describen las observaciones disponibles, sin atribuir una causa a sus diferencias.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LÍMITE QUE DEBEMOS RECORDAR</a:t>
            </a:r>
            <a:endParaRPr lang="es-CL" sz="1100"/>
          </a:p>
          <a:p>
            <a:pPr>
              <a:spcAft>
                <a:spcPts val="400"/>
              </a:spcAft>
              <a:buNone/>
            </a:pPr>
            <a:r>
              <a:rPr lang="es-CL" sz="1100" b="0">
                <a:solidFill>
                  <a:srgbClr val="000000"/>
                </a:solidFill>
                <a:latin typeface="Calibri"/>
                <a:ea typeface="Calibri"/>
                <a:cs typeface="Calibri"/>
              </a:rPr>
              <a:t>NO₂ Austral aporta sólo una estación. Una curva de ese panel no describe por sí sola toda la macrozona. También puede cambiar qué estaciones participan según la hora o la temporada. Por eso, antes de generalizar, debemos revisar cuántos monitores contribuyen y cuánto tiempo tienen observado. La lámina principal muestra Centro y Sur para explicar el procedimiento con mayor claridad.</a:t>
            </a:r>
            <a:endParaRPr lang="es-CL" sz="1100"/>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1">
                <a:solidFill>
                  <a:srgbClr val="000000"/>
                </a:solidFill>
                <a:latin typeface="Calibri"/>
                <a:ea typeface="Calibri"/>
                <a:cs typeface="Calibri"/>
              </a:rPr>
              <a:t>LÁMINA 10 · RESPALDO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PARA QUÉ SIRVE ESTE DICCIONARIO</a:t>
            </a:r>
            <a:endParaRPr lang="es-CL" sz="1100"/>
          </a:p>
          <a:p>
            <a:pPr>
              <a:spcAft>
                <a:spcPts val="400"/>
              </a:spcAft>
              <a:buNone/>
            </a:pPr>
            <a:r>
              <a:rPr lang="es-CL" sz="1100" b="0">
                <a:solidFill>
                  <a:srgbClr val="000000"/>
                </a:solidFill>
                <a:latin typeface="Calibri"/>
                <a:ea typeface="Calibri"/>
                <a:cs typeface="Calibri"/>
              </a:rPr>
              <a:t>Ayuda a responder qué significa cada variable y por qué no podemos comparar todos los números de la misma manera. Está como respaldo para la discusión y queda fuera del relato cronometrado.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PM₂.₅ OBSERVADO</a:t>
            </a:r>
            <a:endParaRPr lang="es-CL" sz="1100"/>
          </a:p>
          <a:p>
            <a:pPr>
              <a:spcAft>
                <a:spcPts val="400"/>
              </a:spcAft>
              <a:buNone/>
            </a:pPr>
            <a:r>
              <a:rPr lang="es-CL" sz="1100" b="0">
                <a:solidFill>
                  <a:srgbClr val="000000"/>
                </a:solidFill>
                <a:latin typeface="Calibri"/>
                <a:ea typeface="Calibri"/>
                <a:cs typeface="Calibri"/>
              </a:rPr>
              <a:t>Es material particulado fino. El nombre se refiere a partículas con diámetro aerodinámico de hasta 2,5 micrómetros. En los descriptivos se expresa en microgramos por metro cúbico, escrito µg/m³: una cantidad de masa de partículas por volumen de aire. Cada registro proviene de una estación y una hora.</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NO₂ OBSERVADO</a:t>
            </a:r>
            <a:endParaRPr lang="es-CL" sz="1100"/>
          </a:p>
          <a:p>
            <a:pPr>
              <a:spcAft>
                <a:spcPts val="400"/>
              </a:spcAft>
              <a:buNone/>
            </a:pPr>
            <a:r>
              <a:rPr lang="es-CL" sz="1100" b="0">
                <a:solidFill>
                  <a:srgbClr val="000000"/>
                </a:solidFill>
                <a:latin typeface="Calibri"/>
                <a:ea typeface="Calibri"/>
                <a:cs typeface="Calibri"/>
              </a:rPr>
              <a:t>Es dióxido de nitrógeno. En estos descriptivos se expresa en ppb, partes por mil millones. Es una proporción de gas en el aire y su número no equivale directamente al mismo número de microgramos por metro cúbico. La conversión entre esas unidades requiere condiciones y supuestos físicos; no se aplica una conversión nueva en este avance.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MAIAC AOD</a:t>
            </a:r>
            <a:endParaRPr lang="es-CL" sz="1100"/>
          </a:p>
          <a:p>
            <a:pPr>
              <a:spcAft>
                <a:spcPts val="400"/>
              </a:spcAft>
              <a:buNone/>
            </a:pPr>
            <a:r>
              <a:rPr lang="es-CL" sz="1100" b="0">
                <a:solidFill>
                  <a:srgbClr val="000000"/>
                </a:solidFill>
                <a:latin typeface="Calibri"/>
                <a:ea typeface="Calibri"/>
                <a:cs typeface="Calibri"/>
              </a:rPr>
              <a:t>MAIAC es un producto satelital y AOD significa profundidad óptica de aerosoles. Resume cuánto atenúan la luz los aerosoles a lo largo de la columna atmosférica. No tiene unidad de masa por volumen. Puede aportar información al modelo, pero no reemplaza directamente una medición superficial de partículas.</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TROPOMI NO₂</a:t>
            </a:r>
            <a:endParaRPr lang="es-CL" sz="1100"/>
          </a:p>
          <a:p>
            <a:pPr>
              <a:spcAft>
                <a:spcPts val="400"/>
              </a:spcAft>
              <a:buNone/>
            </a:pPr>
            <a:r>
              <a:rPr lang="es-CL" sz="1100" b="0">
                <a:solidFill>
                  <a:srgbClr val="000000"/>
                </a:solidFill>
                <a:latin typeface="Calibri"/>
                <a:ea typeface="Calibri"/>
                <a:cs typeface="Calibri"/>
              </a:rPr>
              <a:t>TROPOMI es un instrumento satelital. El producto mostrado representa la cantidad de NO₂ en una columna troposférica y se expresa en moléculas por centímetro cuadrado. En el mapa se usa una escala de 10¹⁵ moléculas/cm². La columna resume la atmósfera situada sobre una superficie; la estación mide el aire en un lugar de superficie. Son formas distintas de observar el contaminante.</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DEBEMOS HACER AL UNIR LOS DATOS</a:t>
            </a:r>
            <a:endParaRPr lang="es-CL" sz="1100"/>
          </a:p>
          <a:p>
            <a:pPr>
              <a:spcAft>
                <a:spcPts val="400"/>
              </a:spcAft>
              <a:buNone/>
            </a:pPr>
            <a:r>
              <a:rPr lang="es-CL" sz="1100" b="0">
                <a:solidFill>
                  <a:srgbClr val="000000"/>
                </a:solidFill>
                <a:latin typeface="Calibri"/>
                <a:ea typeface="Calibri"/>
                <a:cs typeface="Calibri"/>
              </a:rPr>
              <a:t>Conservar la unidad original, identificar qué área y periodo representa cada valor y documentar cómo lo vinculamos con la estación y la hora. Una grilla común ordena la unión, pero no vuelve equivalentes las magnitudes. El siguiente trabajo es comprobar esa correspondencia antes de interpretar relaciones entre variables.</a:t>
            </a:r>
            <a:endParaRPr lang="es-CL" sz="1100"/>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as del presentador"/>
          <p:cNvSpPr/>
          <p:nvPr>
            <p:ph type="body" idx="1"/>
          </p:nvPr>
        </p:nvSpPr>
        <p:spPr/>
        <p:txBody>
          <a:bodyPr/>
          <a:lstStyle/>
          <a:p>
            <a:pPr>
              <a:spcAft>
                <a:spcPts val="400"/>
              </a:spcAft>
              <a:buNone/>
            </a:pPr>
            <a:r>
              <a:rPr lang="es-CL" sz="1100" b="1">
                <a:solidFill>
                  <a:srgbClr val="000000"/>
                </a:solidFill>
                <a:latin typeface="Calibri"/>
                <a:ea typeface="Calibri"/>
                <a:cs typeface="Calibri"/>
              </a:rPr>
              <a:t>LÁMINA 11 · RESPALDO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APOYO (NO LEER)</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DÓNDE CONSULTAR EL DETALLE</a:t>
            </a:r>
            <a:endParaRPr lang="es-CL" sz="1100"/>
          </a:p>
          <a:p>
            <a:pPr>
              <a:spcAft>
                <a:spcPts val="400"/>
              </a:spcAft>
              <a:buNone/>
            </a:pPr>
            <a:r>
              <a:rPr lang="es-CL" sz="1100" b="0">
                <a:solidFill>
                  <a:srgbClr val="000000"/>
                </a:solidFill>
                <a:latin typeface="Calibri"/>
                <a:ea typeface="Calibri"/>
                <a:cs typeface="Calibri"/>
              </a:rPr>
              <a:t>Esta lámina orienta la revisión del equipo. Los materiales del video están juntos en la carpeta presentaciones/afg2_video_avance_1_20261017. Las pautas del ramo están en pautas, el guion está en la carpeta principal y los datos y procedimientos de cada figura están en datos_figuras y codigo.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QUÉ PIDE EL RAMO</a:t>
            </a:r>
            <a:endParaRPr lang="es-CL" sz="1100"/>
          </a:p>
          <a:p>
            <a:pPr>
              <a:spcAft>
                <a:spcPts val="400"/>
              </a:spcAft>
              <a:buNone/>
            </a:pPr>
            <a:r>
              <a:rPr lang="es-CL" sz="1100" b="0">
                <a:solidFill>
                  <a:srgbClr val="000000"/>
                </a:solidFill>
                <a:latin typeface="Calibri"/>
                <a:ea typeface="Calibri"/>
                <a:cs typeface="Calibri"/>
              </a:rPr>
              <a:t>El primer video presenta el acercamiento inicial a los datos: organización, limpieza o exploración, primeras visualizaciones, hallazgos, dificultades y siguientes pasos. El máximo consultado es de ocho minutos. El relato preparado dura aproximadamente siete minutos y quince segundos con pausas y requiere ensayo. Estas láminas de respaldo no forman parte del recorrido principal.</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DE DÓNDE SALE LO QUE MOSTRAMOS</a:t>
            </a:r>
            <a:endParaRPr lang="es-CL" sz="1100"/>
          </a:p>
          <a:p>
            <a:pPr>
              <a:spcAft>
                <a:spcPts val="400"/>
              </a:spcAft>
              <a:buNone/>
            </a:pPr>
            <a:r>
              <a:rPr lang="es-CL" sz="1100" b="0">
                <a:solidFill>
                  <a:srgbClr val="000000"/>
                </a:solidFill>
                <a:latin typeface="Calibri"/>
                <a:ea typeface="Calibri"/>
                <a:cs typeface="Calibri"/>
              </a:rPr>
              <a:t>Los mapas de insumos ambientales corresponden al ejemplo de 2020 conservado en los repositorios. Los conteos, la cobertura y los ciclos horarios provienen de las tablas descriptivas existentes. Las barras de validación provienen de la auditoría de banderas de calidad. Los manifiestos guardan la procedencia de cada figura para poder reconstruirla o revisar un número.</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CÓMO SEPARAR LAS FECHAS</a:t>
            </a:r>
            <a:endParaRPr lang="es-CL" sz="1100"/>
          </a:p>
          <a:p>
            <a:pPr>
              <a:spcAft>
                <a:spcPts val="400"/>
              </a:spcAft>
              <a:buNone/>
            </a:pPr>
            <a:r>
              <a:rPr lang="es-CL" sz="1100" b="0">
                <a:solidFill>
                  <a:srgbClr val="000000"/>
                </a:solidFill>
                <a:latin typeface="Calibri"/>
                <a:ea typeface="Calibri"/>
                <a:cs typeface="Calibri"/>
              </a:rPr>
              <a:t>El corte de observaciones es el 13 de septiembre de 2026. La fecha de preparación de las láminas o de revisión de una tabla no agrega observaciones nuevas. El mapa de cobertura anual muestra sólo años completos hasta 2025. Los mapas de insumos de 2020 son un ejemplo espacial y no acreditan que todos esos productos estén disponibles desde 2000.</a:t>
            </a:r>
            <a:endParaRPr lang="es-CL" sz="1100"/>
          </a:p>
          <a:p>
            <a:pPr>
              <a:spcAft>
                <a:spcPts val="400"/>
              </a:spcAft>
              <a:buNone/>
            </a:pPr>
            <a:r>
              <a:rPr lang="es-CL" sz="1100" b="0">
                <a:solidFill>
                  <a:srgbClr val="000000"/>
                </a:solidFill>
                <a:latin typeface="Calibri"/>
                <a:ea typeface="Calibri"/>
                <a:cs typeface="Calibri"/>
              </a:rPr>
              <a:t/>
            </a:r>
            <a:endParaRPr lang="es-CL" sz="1100"/>
          </a:p>
          <a:p>
            <a:pPr>
              <a:spcAft>
                <a:spcPts val="400"/>
              </a:spcAft>
              <a:buNone/>
            </a:pPr>
            <a:r>
              <a:rPr lang="es-CL" sz="1100" b="1">
                <a:solidFill>
                  <a:srgbClr val="000000"/>
                </a:solidFill>
                <a:latin typeface="Calibri"/>
                <a:ea typeface="Calibri"/>
                <a:cs typeface="Calibri"/>
              </a:rPr>
              <a:t>EN QUÉ PUNTO ESTÁ ESTA EXPOSICIÓN</a:t>
            </a:r>
            <a:endParaRPr lang="es-CL" sz="1100"/>
          </a:p>
          <a:p>
            <a:pPr>
              <a:spcAft>
                <a:spcPts val="400"/>
              </a:spcAft>
              <a:buNone/>
            </a:pPr>
            <a:r>
              <a:rPr lang="es-CL" sz="1100" b="0">
                <a:solidFill>
                  <a:srgbClr val="000000"/>
                </a:solidFill>
                <a:latin typeface="Calibri"/>
                <a:ea typeface="Calibri"/>
                <a:cs typeface="Calibri"/>
              </a:rPr>
              <a:t>El avance organiza evidencia descriptiva y plantea decisiones para preparar una base comparable y diseñar la evaluación del modelo ambiental del magíster. Para explicar una cifra, debemos volver a su denominador, periodo, unidad y origen. El trabajo hospitalario pertenece al proyecto UDD y queda fuera de esta tesis de magíster y de este video.</a:t>
            </a:r>
            <a:endParaRPr lang="es-CL"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Diseño personalizado">
    <p:spTree>
      <p:nvGrpSpPr>
        <p:cNvPr id="1" name=""/>
        <p:cNvGrpSpPr/>
        <p:nvPr/>
      </p:nvGrpSpPr>
      <p:grpSpPr>
        <a:xfrm>
          <a:off x="0" y="0"/>
          <a:ext cx="0" cy="0"/>
          <a:chOff x="0" y="0"/>
          <a:chExt cx="0" cy="0"/>
        </a:xfrm>
      </p:grpSpPr>
      <p:sp>
        <p:nvSpPr>
          <p:cNvPr id="4" name="Rectángulo 3"/>
          <p:cNvSpPr/>
          <p:nvPr userDrawn="1"/>
        </p:nvSpPr>
        <p:spPr>
          <a:xfrm>
            <a:off x="169334" y="1007195"/>
            <a:ext cx="8974667" cy="2385786"/>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title" hasCustomPrompt="1"/>
          </p:nvPr>
        </p:nvSpPr>
        <p:spPr>
          <a:xfrm>
            <a:off x="457200" y="1755587"/>
            <a:ext cx="8229600" cy="857250"/>
          </a:xfrm>
        </p:spPr>
        <p:txBody>
          <a:bodyPr/>
          <a:lstStyle/>
          <a:p>
            <a:r>
              <a:rPr lang="es-ES_tradnl" dirty="0" smtClean="0"/>
              <a:t>Clic para editar nombre de capítulo</a:t>
            </a:r>
            <a:endParaRPr lang="es-ES" dirty="0"/>
          </a:p>
        </p:txBody>
      </p:sp>
    </p:spTree>
    <p:extLst>
      <p:ext uri="{BB962C8B-B14F-4D97-AF65-F5344CB8AC3E}">
        <p14:creationId xmlns:p14="http://schemas.microsoft.com/office/powerpoint/2010/main" val="2116728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esarrollo de tema">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dirty="0"/>
          </a:p>
        </p:txBody>
      </p:sp>
      <p:sp>
        <p:nvSpPr>
          <p:cNvPr id="3" name="Marcador de contenido 2"/>
          <p:cNvSpPr>
            <a:spLocks noGrp="1"/>
          </p:cNvSpPr>
          <p:nvPr>
            <p:ph idx="1"/>
          </p:nvPr>
        </p:nvSpPr>
        <p:spPr>
          <a:xfrm>
            <a:off x="457200" y="1200150"/>
            <a:ext cx="8229600" cy="3081338"/>
          </a:xfrm>
        </p:spPr>
        <p:txBody>
          <a:bodyPr/>
          <a:lstStyle>
            <a:lvl1pPr>
              <a:defRPr sz="2600"/>
            </a:lvl1pPr>
            <a:lvl2pPr>
              <a:defRPr sz="2600"/>
            </a:lvl2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4" name="Marcador de fecha 3"/>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5" name="Marcador de pie de página 4"/>
          <p:cNvSpPr>
            <a:spLocks noGrp="1"/>
          </p:cNvSpPr>
          <p:nvPr>
            <p:ph type="ftr" sz="quarter" idx="11"/>
          </p:nvPr>
        </p:nvSpPr>
        <p:spPr>
          <a:xfrm>
            <a:off x="1627373" y="4767263"/>
            <a:ext cx="2895600" cy="27384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Tree>
    <p:extLst>
      <p:ext uri="{BB962C8B-B14F-4D97-AF65-F5344CB8AC3E}">
        <p14:creationId xmlns:p14="http://schemas.microsoft.com/office/powerpoint/2010/main" val="706443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contenido 2"/>
          <p:cNvSpPr>
            <a:spLocks noGrp="1"/>
          </p:cNvSpPr>
          <p:nvPr>
            <p:ph sz="half" idx="1"/>
          </p:nvPr>
        </p:nvSpPr>
        <p:spPr>
          <a:xfrm>
            <a:off x="457200" y="1200150"/>
            <a:ext cx="4038600" cy="3087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4" name="Marcador de contenido 3"/>
          <p:cNvSpPr>
            <a:spLocks noGrp="1"/>
          </p:cNvSpPr>
          <p:nvPr>
            <p:ph sz="half" idx="2"/>
          </p:nvPr>
        </p:nvSpPr>
        <p:spPr>
          <a:xfrm>
            <a:off x="4648200" y="1200151"/>
            <a:ext cx="4038600" cy="308729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5" name="Marcador de fecha 4"/>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6" name="Marcador de pie de página 5"/>
          <p:cNvSpPr>
            <a:spLocks noGrp="1"/>
          </p:cNvSpPr>
          <p:nvPr>
            <p:ph type="ftr" sz="quarter" idx="11"/>
          </p:nvPr>
        </p:nvSpPr>
        <p:spPr>
          <a:xfrm>
            <a:off x="1627373" y="4767263"/>
            <a:ext cx="2895600" cy="27384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Tree>
    <p:extLst>
      <p:ext uri="{BB962C8B-B14F-4D97-AF65-F5344CB8AC3E}">
        <p14:creationId xmlns:p14="http://schemas.microsoft.com/office/powerpoint/2010/main" val="79062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o y objet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smtClean="0"/>
              <a:t>Clic para editar título</a:t>
            </a:r>
            <a:endParaRPr lang="es-ES"/>
          </a:p>
        </p:txBody>
      </p:sp>
      <p:sp>
        <p:nvSpPr>
          <p:cNvPr id="3" name="Marcador de texto 2"/>
          <p:cNvSpPr>
            <a:spLocks noGrp="1"/>
          </p:cNvSpPr>
          <p:nvPr>
            <p:ph type="body" idx="1"/>
          </p:nvPr>
        </p:nvSpPr>
        <p:spPr>
          <a:xfrm>
            <a:off x="457200" y="1151335"/>
            <a:ext cx="4040188" cy="97742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Marcador de contenido 3"/>
          <p:cNvSpPr>
            <a:spLocks noGrp="1"/>
          </p:cNvSpPr>
          <p:nvPr>
            <p:ph sz="half" idx="2"/>
          </p:nvPr>
        </p:nvSpPr>
        <p:spPr>
          <a:xfrm>
            <a:off x="457200" y="2176006"/>
            <a:ext cx="4040188" cy="211143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7" name="Marcador de fecha 6"/>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8" name="Marcador de pie de página 7"/>
          <p:cNvSpPr>
            <a:spLocks noGrp="1"/>
          </p:cNvSpPr>
          <p:nvPr>
            <p:ph type="ftr" sz="quarter" idx="11"/>
          </p:nvPr>
        </p:nvSpPr>
        <p:spPr>
          <a:xfrm>
            <a:off x="1627373" y="4767263"/>
            <a:ext cx="2895600" cy="273844"/>
          </a:xfrm>
          <a:prstGeom prst="rect">
            <a:avLst/>
          </a:prstGeom>
        </p:spPr>
        <p:txBody>
          <a:bodyPr/>
          <a:lstStyle/>
          <a:p>
            <a:endParaRPr lang="es-ES"/>
          </a:p>
        </p:txBody>
      </p:sp>
      <p:sp>
        <p:nvSpPr>
          <p:cNvPr id="9" name="Marcador de número de diapositiva 8"/>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
        <p:nvSpPr>
          <p:cNvPr id="11" name="Marcador de SmartArt 10"/>
          <p:cNvSpPr>
            <a:spLocks noGrp="1"/>
          </p:cNvSpPr>
          <p:nvPr>
            <p:ph type="dgm" sz="quarter" idx="13"/>
          </p:nvPr>
        </p:nvSpPr>
        <p:spPr>
          <a:xfrm>
            <a:off x="4559300" y="1151335"/>
            <a:ext cx="4127500" cy="3136106"/>
          </a:xfrm>
        </p:spPr>
        <p:txBody>
          <a:bodyPr/>
          <a:lstStyle/>
          <a:p>
            <a:r>
              <a:rPr lang="es-ES_tradnl" smtClean="0"/>
              <a:t>Haga clic en el icono para agregar un gráfico SmartArt</a:t>
            </a:r>
            <a:endParaRPr lang="es-ES" dirty="0"/>
          </a:p>
        </p:txBody>
      </p:sp>
    </p:spTree>
    <p:extLst>
      <p:ext uri="{BB962C8B-B14F-4D97-AF65-F5344CB8AC3E}">
        <p14:creationId xmlns:p14="http://schemas.microsoft.com/office/powerpoint/2010/main" val="1131438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con gráfic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pPr/>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dirty="0"/>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pPr/>
              <a:t>‹Nr.›</a:t>
            </a:fld>
            <a:endParaRPr lang="es-ES"/>
          </a:p>
        </p:txBody>
      </p:sp>
      <p:sp>
        <p:nvSpPr>
          <p:cNvPr id="7" name="Marcador de gráfico 6"/>
          <p:cNvSpPr>
            <a:spLocks noGrp="1"/>
          </p:cNvSpPr>
          <p:nvPr>
            <p:ph type="chart" sz="quarter" idx="13"/>
          </p:nvPr>
        </p:nvSpPr>
        <p:spPr>
          <a:xfrm>
            <a:off x="457200" y="1316811"/>
            <a:ext cx="8229600" cy="2970631"/>
          </a:xfrm>
        </p:spPr>
        <p:txBody>
          <a:bodyPr/>
          <a:lstStyle/>
          <a:p>
            <a:r>
              <a:rPr lang="es-ES_tradnl" smtClean="0"/>
              <a:t>Haga clic en el icono para agregar un gráfico</a:t>
            </a:r>
            <a:endParaRPr lang="es-ES"/>
          </a:p>
        </p:txBody>
      </p:sp>
    </p:spTree>
    <p:extLst>
      <p:ext uri="{BB962C8B-B14F-4D97-AF65-F5344CB8AC3E}">
        <p14:creationId xmlns:p14="http://schemas.microsoft.com/office/powerpoint/2010/main" val="85482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dirty="0"/>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
        <p:nvSpPr>
          <p:cNvPr id="6" name="Marcador de posición de imagen 2"/>
          <p:cNvSpPr>
            <a:spLocks noGrp="1"/>
          </p:cNvSpPr>
          <p:nvPr>
            <p:ph type="pic" idx="1"/>
          </p:nvPr>
        </p:nvSpPr>
        <p:spPr>
          <a:xfrm>
            <a:off x="457200" y="1214080"/>
            <a:ext cx="8229600" cy="268965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lang="es-ES" dirty="0"/>
          </a:p>
        </p:txBody>
      </p:sp>
      <p:sp>
        <p:nvSpPr>
          <p:cNvPr id="7" name="Marcador de texto 3"/>
          <p:cNvSpPr>
            <a:spLocks noGrp="1"/>
          </p:cNvSpPr>
          <p:nvPr>
            <p:ph type="body" sz="half" idx="2"/>
          </p:nvPr>
        </p:nvSpPr>
        <p:spPr>
          <a:xfrm>
            <a:off x="457200" y="4025504"/>
            <a:ext cx="8229600" cy="2619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Tree>
    <p:extLst>
      <p:ext uri="{BB962C8B-B14F-4D97-AF65-F5344CB8AC3E}">
        <p14:creationId xmlns:p14="http://schemas.microsoft.com/office/powerpoint/2010/main" val="348450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pPr/>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dirty="0"/>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pPr/>
              <a:t>‹Nr.›</a:t>
            </a:fld>
            <a:endParaRPr lang="es-ES"/>
          </a:p>
        </p:txBody>
      </p:sp>
    </p:spTree>
    <p:extLst>
      <p:ext uri="{BB962C8B-B14F-4D97-AF65-F5344CB8AC3E}">
        <p14:creationId xmlns:p14="http://schemas.microsoft.com/office/powerpoint/2010/main" val="3512244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p:spTree>
      <p:nvGrpSpPr>
        <p:cNvPr id="1" name=""/>
        <p:cNvGrpSpPr/>
        <p:nvPr/>
      </p:nvGrpSpPr>
      <p:grpSpPr>
        <a:xfrm>
          <a:off x="0" y="0"/>
          <a:ext cx="0" cy="0"/>
          <a:chOff x="0" y="0"/>
          <a:chExt cx="0" cy="0"/>
        </a:xfrm>
      </p:grpSpPr>
      <p:pic>
        <p:nvPicPr>
          <p:cNvPr id="5" name="Imagen 4" descr="fondo 2727.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4483"/>
            <a:ext cx="9144000" cy="3492818"/>
          </a:xfrm>
          <a:prstGeom prst="rect">
            <a:avLst/>
          </a:prstGeom>
        </p:spPr>
      </p:pic>
    </p:spTree>
    <p:extLst>
      <p:ext uri="{BB962C8B-B14F-4D97-AF65-F5344CB8AC3E}">
        <p14:creationId xmlns:p14="http://schemas.microsoft.com/office/powerpoint/2010/main" val="250687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471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8613"/>
            <a:ext cx="7772400" cy="1101725"/>
          </a:xfrm>
        </p:spPr>
        <p:txBody>
          <a:bodyPr/>
          <a:lstStyle/>
          <a:p>
            <a:r>
              <a:rPr lang="es-ES_tradnl" smtClean="0"/>
              <a:t>Clic para editar título</a:t>
            </a:r>
            <a:endParaRPr lang="es-ES"/>
          </a:p>
        </p:txBody>
      </p:sp>
      <p:sp>
        <p:nvSpPr>
          <p:cNvPr id="3" name="Subtítu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lang="es-ES"/>
          </a:p>
        </p:txBody>
      </p:sp>
      <p:sp>
        <p:nvSpPr>
          <p:cNvPr id="4" name="Marcador de fecha 3"/>
          <p:cNvSpPr>
            <a:spLocks noGrp="1"/>
          </p:cNvSpPr>
          <p:nvPr>
            <p:ph type="dt" sz="half" idx="10"/>
          </p:nvPr>
        </p:nvSpPr>
        <p:spPr>
          <a:xfrm>
            <a:off x="457200" y="4767263"/>
            <a:ext cx="2133600" cy="274637"/>
          </a:xfrm>
          <a:prstGeom prst="rect">
            <a:avLst/>
          </a:prstGeom>
        </p:spPr>
        <p:txBody>
          <a:bodyPr/>
          <a:lstStyle/>
          <a:p>
            <a:fld id="{CC73C310-44D8-D44E-9500-41BAE48D6C1F}" type="datetimeFigureOut">
              <a:rPr lang="es-ES" smtClean="0"/>
              <a:t>23/5/19</a:t>
            </a:fld>
            <a:endParaRPr lang="es-ES"/>
          </a:p>
        </p:txBody>
      </p:sp>
      <p:sp>
        <p:nvSpPr>
          <p:cNvPr id="5" name="Marcador de pie de página 4"/>
          <p:cNvSpPr>
            <a:spLocks noGrp="1"/>
          </p:cNvSpPr>
          <p:nvPr>
            <p:ph type="ftr" sz="quarter" idx="11"/>
          </p:nvPr>
        </p:nvSpPr>
        <p:spPr>
          <a:xfrm>
            <a:off x="3124200" y="4767263"/>
            <a:ext cx="2895600" cy="274637"/>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6553200" y="4767263"/>
            <a:ext cx="2133600" cy="274637"/>
          </a:xfrm>
          <a:prstGeom prst="rect">
            <a:avLst/>
          </a:prstGeom>
        </p:spPr>
        <p:txBody>
          <a:bodyPr/>
          <a:lstStyle/>
          <a:p>
            <a:fld id="{F152EED2-0F54-FF4E-878C-CD5E3782BC09}" type="slidenum">
              <a:rPr lang="es-ES" smtClean="0"/>
              <a:t>‹Nr.›</a:t>
            </a:fld>
            <a:endParaRPr lang="es-ES"/>
          </a:p>
        </p:txBody>
      </p:sp>
    </p:spTree>
    <p:extLst>
      <p:ext uri="{BB962C8B-B14F-4D97-AF65-F5344CB8AC3E}">
        <p14:creationId xmlns:p14="http://schemas.microsoft.com/office/powerpoint/2010/main" val="22285863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2.xml"/><Relationship Id="rId3"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 Id="rId3" Type="http://schemas.openxmlformats.org/officeDocument/2006/relationships/image" Target="../media/image1.emf"/><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descr="fondo 2727.ai"/>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742" y="0"/>
            <a:ext cx="8985258" cy="1007195"/>
          </a:xfrm>
          <a:prstGeom prst="rect">
            <a:avLst/>
          </a:prstGeom>
        </p:spPr>
      </p:pic>
      <p:sp>
        <p:nvSpPr>
          <p:cNvPr id="2" name="Marcador de título 1"/>
          <p:cNvSpPr>
            <a:spLocks noGrp="1"/>
          </p:cNvSpPr>
          <p:nvPr>
            <p:ph type="title"/>
          </p:nvPr>
        </p:nvSpPr>
        <p:spPr>
          <a:xfrm>
            <a:off x="457200" y="149945"/>
            <a:ext cx="8229600" cy="857250"/>
          </a:xfrm>
          <a:prstGeom prst="rect">
            <a:avLst/>
          </a:prstGeom>
        </p:spPr>
        <p:txBody>
          <a:bodyPr vert="horz" lIns="91440" tIns="45720" rIns="91440" bIns="45720" rtlCol="0" anchor="ctr">
            <a:normAutofit/>
          </a:bodyPr>
          <a:lstStyle/>
          <a:p>
            <a:r>
              <a:rPr lang="es-ES_tradnl" dirty="0" smtClean="0"/>
              <a:t>Clic para editar título</a:t>
            </a:r>
            <a:endParaRPr lang="es-ES" dirty="0"/>
          </a:p>
        </p:txBody>
      </p:sp>
      <p:sp>
        <p:nvSpPr>
          <p:cNvPr id="3" name="Marcador de texto 2"/>
          <p:cNvSpPr>
            <a:spLocks noGrp="1"/>
          </p:cNvSpPr>
          <p:nvPr>
            <p:ph type="body" idx="1"/>
          </p:nvPr>
        </p:nvSpPr>
        <p:spPr>
          <a:xfrm>
            <a:off x="457200" y="1200151"/>
            <a:ext cx="8229600" cy="3081337"/>
          </a:xfrm>
          <a:prstGeom prst="rect">
            <a:avLst/>
          </a:prstGeom>
        </p:spPr>
        <p:txBody>
          <a:bodyPr vert="horz" lIns="91440" tIns="45720" rIns="91440" bIns="45720" rtlCol="0">
            <a:normAutofit/>
          </a:body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 dirty="0"/>
          </a:p>
        </p:txBody>
      </p:sp>
      <p:sp>
        <p:nvSpPr>
          <p:cNvPr id="10"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
        <p:nvSpPr>
          <p:cNvPr id="11"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Tree>
    <p:extLst>
      <p:ext uri="{BB962C8B-B14F-4D97-AF65-F5344CB8AC3E}">
        <p14:creationId xmlns:p14="http://schemas.microsoft.com/office/powerpoint/2010/main" val="864562874"/>
      </p:ext>
    </p:extLst>
  </p:cSld>
  <p:clrMap bg1="lt1" tx1="dk1" bg2="lt2" tx2="dk2" accent1="accent1" accent2="accent2" accent3="accent3" accent4="accent4" accent5="accent5" accent6="accent6" hlink="hlink" folHlink="folHlink"/>
  <p:sldLayoutIdLst>
    <p:sldLayoutId id="2147483662" r:id="rId1"/>
    <p:sldLayoutId id="2147483650" r:id="rId2"/>
    <p:sldLayoutId id="2147483652" r:id="rId3"/>
    <p:sldLayoutId id="2147483653" r:id="rId4"/>
    <p:sldLayoutId id="2147483658" r:id="rId5"/>
    <p:sldLayoutId id="2147483654" r:id="rId6"/>
    <p:sldLayoutId id="2147483659" r:id="rId7"/>
    <p:sldLayoutId id="2147483655" r:id="rId8"/>
  </p:sldLayoutIdLst>
  <p:txStyles>
    <p:titleStyle>
      <a:lvl1pPr algn="l" defTabSz="457200" rtl="0" eaLnBrk="1" latinLnBrk="0" hangingPunct="1">
        <a:spcBef>
          <a:spcPct val="0"/>
        </a:spcBef>
        <a:buNone/>
        <a:defRPr sz="3200" b="1" kern="1200">
          <a:solidFill>
            <a:schemeClr val="bg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kern="1200">
          <a:solidFill>
            <a:schemeClr val="tx1"/>
          </a:solidFill>
          <a:latin typeface="Arial"/>
          <a:ea typeface="+mn-ea"/>
          <a:cs typeface="Arial"/>
        </a:defRPr>
      </a:lvl1pPr>
      <a:lvl2pPr marL="365125" indent="0" algn="l" defTabSz="457200" rtl="0" eaLnBrk="1" latinLnBrk="0" hangingPunct="1">
        <a:spcBef>
          <a:spcPct val="20000"/>
        </a:spcBef>
        <a:buFontTx/>
        <a:buNone/>
        <a:defRPr sz="2800" kern="1200">
          <a:solidFill>
            <a:schemeClr val="tx1"/>
          </a:solidFill>
          <a:latin typeface="Arial"/>
          <a:ea typeface="+mn-ea"/>
          <a:cs typeface="Arial"/>
        </a:defRPr>
      </a:lvl2pPr>
      <a:lvl3pPr marL="630238" indent="-241300" algn="l" defTabSz="457200" rtl="0" eaLnBrk="1" latinLnBrk="0" hangingPunct="1">
        <a:spcBef>
          <a:spcPct val="20000"/>
        </a:spcBef>
        <a:buFont typeface="Arial"/>
        <a:buChar char="•"/>
        <a:defRPr sz="2400" kern="1200">
          <a:solidFill>
            <a:schemeClr val="tx1"/>
          </a:solidFill>
          <a:latin typeface="Arial"/>
          <a:ea typeface="+mn-ea"/>
          <a:cs typeface="Arial"/>
        </a:defRPr>
      </a:lvl3pPr>
      <a:lvl4pPr marL="982663" indent="-268288"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982662" indent="0" algn="l" defTabSz="457200" rtl="0" eaLnBrk="1" latinLnBrk="0" hangingPunct="1">
        <a:spcBef>
          <a:spcPct val="20000"/>
        </a:spcBef>
        <a:buFontTx/>
        <a:buNone/>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Imagen 2" descr="UC color TR-0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20800" y="698500"/>
            <a:ext cx="6480264" cy="3733925"/>
          </a:xfrm>
          <a:prstGeom prst="rect">
            <a:avLst/>
          </a:prstGeom>
        </p:spPr>
      </p:pic>
    </p:spTree>
    <p:extLst>
      <p:ext uri="{BB962C8B-B14F-4D97-AF65-F5344CB8AC3E}">
        <p14:creationId xmlns:p14="http://schemas.microsoft.com/office/powerpoint/2010/main" val="2234904303"/>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1437737"/>
            <a:ext cx="8229600" cy="857250"/>
          </a:xfrm>
          <a:prstGeom prst="rect">
            <a:avLst/>
          </a:prstGeom>
        </p:spPr>
        <p:txBody>
          <a:bodyPr vert="horz" lIns="91440" tIns="45720" rIns="91440" bIns="45720" rtlCol="0" anchor="ctr">
            <a:normAutofit/>
          </a:bodyPr>
          <a:lstStyle/>
          <a:p>
            <a:r>
              <a:rPr lang="es-ES_tradnl" dirty="0" smtClean="0"/>
              <a:t>Clic para editar título</a:t>
            </a:r>
            <a:endParaRPr lang="es-ES" dirty="0"/>
          </a:p>
        </p:txBody>
      </p:sp>
      <p:sp>
        <p:nvSpPr>
          <p:cNvPr id="3" name="Marcador de texto 2"/>
          <p:cNvSpPr>
            <a:spLocks noGrp="1"/>
          </p:cNvSpPr>
          <p:nvPr>
            <p:ph type="body" idx="1"/>
          </p:nvPr>
        </p:nvSpPr>
        <p:spPr>
          <a:xfrm>
            <a:off x="457200" y="2770565"/>
            <a:ext cx="8229600" cy="1510924"/>
          </a:xfrm>
          <a:prstGeom prst="rect">
            <a:avLst/>
          </a:prstGeom>
        </p:spPr>
        <p:txBody>
          <a:bodyPr vert="horz" lIns="91440" tIns="45720" rIns="91440" bIns="45720" rtlCol="0">
            <a:normAutofit/>
          </a:bodyPr>
          <a:lstStyle/>
          <a:p>
            <a:pPr lvl="0"/>
            <a:r>
              <a:rPr lang="es-ES_tradnl" dirty="0" smtClean="0"/>
              <a:t>Integrantes</a:t>
            </a:r>
            <a:endParaRPr lang="es-ES" dirty="0"/>
          </a:p>
        </p:txBody>
      </p:sp>
      <p:pic>
        <p:nvPicPr>
          <p:cNvPr id="7" name="Imagen 6" descr="fondo 2727.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00137" y="1"/>
            <a:ext cx="6043863" cy="1123125"/>
          </a:xfrm>
          <a:prstGeom prst="rect">
            <a:avLst/>
          </a:prstGeom>
        </p:spPr>
      </p:pic>
      <p:sp>
        <p:nvSpPr>
          <p:cNvPr id="8" name="Rectángulo 7"/>
          <p:cNvSpPr/>
          <p:nvPr userDrawn="1"/>
        </p:nvSpPr>
        <p:spPr>
          <a:xfrm flipV="1">
            <a:off x="-1" y="-4"/>
            <a:ext cx="177417" cy="1123126"/>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9" name="Imagen 8" descr="UC color TR-0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2784" y="70795"/>
            <a:ext cx="1907624" cy="1099172"/>
          </a:xfrm>
          <a:prstGeom prst="rect">
            <a:avLst/>
          </a:prstGeom>
        </p:spPr>
      </p:pic>
      <p:sp>
        <p:nvSpPr>
          <p:cNvPr id="10" name="Rectángulo 9"/>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
        <p:nvSpPr>
          <p:cNvPr id="11"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Tree>
    <p:extLst>
      <p:ext uri="{BB962C8B-B14F-4D97-AF65-F5344CB8AC3E}">
        <p14:creationId xmlns:p14="http://schemas.microsoft.com/office/powerpoint/2010/main" val="799033479"/>
      </p:ext>
    </p:extLst>
  </p:cSld>
  <p:clrMap bg1="lt1" tx1="dk1" bg2="lt2" tx2="dk2" accent1="accent1" accent2="accent2" accent3="accent3" accent4="accent4" accent5="accent5" accent6="accent6" hlink="hlink" folHlink="folHlink"/>
  <p:sldLayoutIdLst>
    <p:sldLayoutId id="2147483672" r:id="rId1"/>
  </p:sldLayoutIdLst>
  <p:txStyles>
    <p:titleStyle>
      <a:lvl1pPr algn="r" defTabSz="457200" rtl="0" eaLnBrk="1" latinLnBrk="0" hangingPunct="1">
        <a:spcBef>
          <a:spcPct val="0"/>
        </a:spcBef>
        <a:buNone/>
        <a:defRPr sz="4400" b="1" i="0" kern="1200">
          <a:solidFill>
            <a:schemeClr val="tx1"/>
          </a:solidFill>
          <a:latin typeface="Arial"/>
          <a:ea typeface="+mj-ea"/>
          <a:cs typeface="Arial"/>
        </a:defRPr>
      </a:lvl1pPr>
    </p:titleStyle>
    <p:bodyStyle>
      <a:lvl1pPr marL="342900" indent="-342900" algn="r" defTabSz="457200" rtl="0" eaLnBrk="1" latinLnBrk="0" hangingPunct="1">
        <a:spcBef>
          <a:spcPct val="20000"/>
        </a:spcBef>
        <a:buFont typeface="Arial"/>
        <a:buChar char="•"/>
        <a:defRPr sz="3200" kern="1200">
          <a:solidFill>
            <a:srgbClr val="595959"/>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UCLogo" Type="http://schemas.openxmlformats.org/officeDocument/2006/relationships/image" Target="../media/image2.png"/><Relationship Id="rIdImage3" Type="http://schemas.openxmlformats.org/officeDocument/2006/relationships/image" Target="../media/redesign_1_2.png"/><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2_1.png"/><Relationship Id="rId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3_1.png"/><Relationship Id="rId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5_1.png"/><Relationship Id="rId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6_1.png"/><Relationship Id="rId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7_1.png"/><Relationship Id="rId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Image2" Type="http://schemas.openxmlformats.org/officeDocument/2006/relationships/image" Target="../media/redesign_9_1.png"/><Relationship Id="rIdNotes"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Panel azul UC"/>
          <p:cNvSpPr txBox="1"/>
          <p:nvPr/>
        </p:nvSpPr>
        <p:spPr>
          <a:xfrm>
            <a:off x="3099816" y="0"/>
            <a:ext cx="6044184" cy="1124712"/>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 name="Amarillo portada UC"/>
          <p:cNvSpPr txBox="1"/>
          <p:nvPr/>
        </p:nvSpPr>
        <p:spPr>
          <a:xfrm>
            <a:off x="0" y="0"/>
            <a:ext cx="173736" cy="112471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6" name="Imagen 8" descr="UC color TR-01.png"/>
          <p:cNvPicPr>
            <a:picLocks noChangeAspect="1"/>
          </p:cNvPicPr>
          <p:nvPr userDrawn="1"/>
        </p:nvPicPr>
        <p:blipFill>
          <a:blip r:embed="rIdUCLogo">
            <a:extLst>
              <a:ext uri="{28A0092B-C50C-407E-A947-70E740481C1C}">
                <a14:useLocalDpi xmlns:a14="http://schemas.microsoft.com/office/drawing/2010/main" val="0"/>
              </a:ext>
            </a:extLst>
          </a:blip>
          <a:stretch>
            <a:fillRect/>
          </a:stretch>
        </p:blipFill>
        <p:spPr>
          <a:xfrm>
            <a:off x="682784" y="70795"/>
            <a:ext cx="1907624" cy="1099172"/>
          </a:xfrm>
          <a:prstGeom prst="rect">
            <a:avLst/>
          </a:prstGeom>
        </p:spPr>
      </p:pic>
      <p:sp>
        <p:nvSpPr>
          <p:cNvPr id="7" name="Curso"/>
          <p:cNvSpPr txBox="1"/>
          <p:nvPr/>
        </p:nvSpPr>
        <p:spPr>
          <a:xfrm>
            <a:off x="594360" y="1353312"/>
            <a:ext cx="5897880" cy="201168"/>
          </a:xfrm>
          <a:prstGeom prst="rect">
            <a:avLst/>
          </a:prstGeom>
          <a:noFill/>
          <a:ln>
            <a:noFill/>
          </a:ln>
        </p:spPr>
        <p:txBody>
          <a:bodyPr wrap="square" lIns="0" rIns="0" tIns="0" bIns="0" anchor="t">
            <a:noAutofit/>
          </a:bodyPr>
          <a:lstStyle/>
          <a:p>
            <a:pPr algn="l">
              <a:spcAft>
                <a:spcPts val="0"/>
              </a:spcAft>
              <a:buNone/>
            </a:pPr>
            <a:r>
              <a:rPr lang="es-CL" sz="1030" b="1">
                <a:solidFill>
                  <a:srgbClr val="017EDF"/>
                </a:solidFill>
                <a:latin typeface="Calibri"/>
                <a:ea typeface="Calibri"/>
                <a:cs typeface="Calibri"/>
              </a:rPr>
              <a:t>ACTIVIDAD FINAL DE GRADUACIÓN II  /  AVANCE 1</a:t>
            </a:r>
            <a:endParaRPr lang="es-CL" sz="1030"/>
          </a:p>
        </p:txBody>
      </p:sp>
      <p:sp>
        <p:nvSpPr>
          <p:cNvPr id="8" name="Proyecto"/>
          <p:cNvSpPr txBox="1"/>
          <p:nvPr/>
        </p:nvSpPr>
        <p:spPr>
          <a:xfrm>
            <a:off x="594360" y="1773936"/>
            <a:ext cx="6035040" cy="1481328"/>
          </a:xfrm>
          <a:prstGeom prst="rect">
            <a:avLst/>
          </a:prstGeom>
          <a:noFill/>
          <a:ln>
            <a:noFill/>
          </a:ln>
        </p:spPr>
        <p:txBody>
          <a:bodyPr wrap="square" lIns="0" rIns="0" tIns="0" bIns="0" anchor="t">
            <a:noAutofit/>
          </a:bodyPr>
          <a:lstStyle/>
          <a:p>
            <a:pPr algn="l">
              <a:spcAft>
                <a:spcPts val="0"/>
              </a:spcAft>
              <a:buNone/>
            </a:pPr>
            <a:r>
              <a:rPr lang="es-CL" sz="2650" b="1">
                <a:solidFill>
                  <a:srgbClr val="17375D"/>
                </a:solidFill>
                <a:latin typeface="Calibri"/>
                <a:ea typeface="Calibri"/>
                <a:cs typeface="Calibri"/>
              </a:rPr>
              <a:t>Estimación multicontaminante</a:t>
            </a:r>
            <a:endParaRPr lang="es-CL" sz="2650"/>
          </a:p>
          <a:p>
            <a:pPr algn="l">
              <a:spcAft>
                <a:spcPts val="0"/>
              </a:spcAft>
              <a:buNone/>
            </a:pPr>
            <a:r>
              <a:rPr lang="es-CL" sz="2650" b="1">
                <a:solidFill>
                  <a:srgbClr val="17375D"/>
                </a:solidFill>
                <a:latin typeface="Calibri"/>
                <a:ea typeface="Calibri"/>
                <a:cs typeface="Calibri"/>
              </a:rPr>
              <a:t>de la calidad del aire</a:t>
            </a:r>
            <a:endParaRPr lang="es-CL" sz="2650"/>
          </a:p>
          <a:p>
            <a:pPr algn="l">
              <a:spcAft>
                <a:spcPts val="0"/>
              </a:spcAft>
              <a:buNone/>
            </a:pPr>
            <a:r>
              <a:rPr lang="es-CL" sz="2650" b="1">
                <a:solidFill>
                  <a:srgbClr val="17375D"/>
                </a:solidFill>
                <a:latin typeface="Calibri"/>
                <a:ea typeface="Calibri"/>
                <a:cs typeface="Calibri"/>
              </a:rPr>
              <a:t>en Chile</a:t>
            </a:r>
            <a:endParaRPr lang="es-CL" sz="2650"/>
          </a:p>
        </p:txBody>
      </p:sp>
      <p:sp>
        <p:nvSpPr>
          <p:cNvPr id="9" name="Entrega"/>
          <p:cNvSpPr txBox="1"/>
          <p:nvPr/>
        </p:nvSpPr>
        <p:spPr>
          <a:xfrm>
            <a:off x="594360" y="3429000"/>
            <a:ext cx="5897880" cy="320040"/>
          </a:xfrm>
          <a:prstGeom prst="rect">
            <a:avLst/>
          </a:prstGeom>
          <a:noFill/>
          <a:ln>
            <a:noFill/>
          </a:ln>
        </p:spPr>
        <p:txBody>
          <a:bodyPr wrap="square" lIns="0" rIns="0" tIns="0" bIns="0" anchor="t">
            <a:noAutofit/>
          </a:bodyPr>
          <a:lstStyle/>
          <a:p>
            <a:pPr algn="l">
              <a:spcAft>
                <a:spcPts val="0"/>
              </a:spcAft>
              <a:buNone/>
            </a:pPr>
            <a:r>
              <a:rPr lang="es-CL" sz="1900" b="1">
                <a:solidFill>
                  <a:srgbClr val="017EDF"/>
                </a:solidFill>
                <a:latin typeface="Calibri"/>
                <a:ea typeface="Calibri"/>
                <a:cs typeface="Calibri"/>
              </a:rPr>
              <a:t>Exploración de datos</a:t>
            </a:r>
            <a:endParaRPr lang="es-CL" sz="1900"/>
          </a:p>
        </p:txBody>
      </p:sp>
      <p:sp>
        <p:nvSpPr>
          <p:cNvPr id="10" name="Pregunta"/>
          <p:cNvSpPr txBox="1"/>
          <p:nvPr/>
        </p:nvSpPr>
        <p:spPr>
          <a:xfrm>
            <a:off x="594360" y="3840480"/>
            <a:ext cx="5806440" cy="384048"/>
          </a:xfrm>
          <a:prstGeom prst="rect">
            <a:avLst/>
          </a:prstGeom>
          <a:noFill/>
          <a:ln>
            <a:noFill/>
          </a:ln>
        </p:spPr>
        <p:txBody>
          <a:bodyPr wrap="square" lIns="0" rIns="0" tIns="0" bIns="0" anchor="t">
            <a:noAutofit/>
          </a:bodyPr>
          <a:lstStyle/>
          <a:p>
            <a:pPr algn="l">
              <a:spcAft>
                <a:spcPts val="0"/>
              </a:spcAft>
              <a:buNone/>
            </a:pPr>
            <a:r>
              <a:rPr lang="es-CL" sz="1360" b="0">
                <a:solidFill>
                  <a:srgbClr val="64748B"/>
                </a:solidFill>
                <a:latin typeface="Calibri"/>
                <a:ea typeface="Calibri"/>
                <a:cs typeface="Calibri"/>
              </a:rPr>
              <a:t>Cobertura, calidad y patrones observados</a:t>
            </a:r>
            <a:endParaRPr lang="es-CL" sz="1360"/>
          </a:p>
        </p:txBody>
      </p:sp>
      <p:sp>
        <p:nvSpPr>
          <p:cNvPr id="11" name="Integrante 0"/>
          <p:cNvSpPr txBox="1"/>
          <p:nvPr/>
        </p:nvSpPr>
        <p:spPr>
          <a:xfrm>
            <a:off x="594360" y="4434840"/>
            <a:ext cx="3017520" cy="155448"/>
          </a:xfrm>
          <a:prstGeom prst="rect">
            <a:avLst/>
          </a:prstGeom>
          <a:noFill/>
          <a:ln>
            <a:noFill/>
          </a:ln>
        </p:spPr>
        <p:txBody>
          <a:bodyPr wrap="square" lIns="0" rIns="0" tIns="0" bIns="0" anchor="t">
            <a:noAutofit/>
          </a:bodyPr>
          <a:lstStyle/>
          <a:p>
            <a:pPr algn="l">
              <a:spcAft>
                <a:spcPts val="0"/>
              </a:spcAft>
              <a:buNone/>
            </a:pPr>
            <a:r>
              <a:rPr lang="es-CL" sz="860" b="0">
                <a:solidFill>
                  <a:srgbClr val="17375D"/>
                </a:solidFill>
                <a:latin typeface="Calibri"/>
                <a:ea typeface="Calibri"/>
                <a:cs typeface="Calibri"/>
              </a:rPr>
              <a:t>José Jesús Romero Fuenmayor</a:t>
            </a:r>
            <a:endParaRPr lang="es-CL" sz="860"/>
          </a:p>
        </p:txBody>
      </p:sp>
      <p:sp>
        <p:nvSpPr>
          <p:cNvPr id="12" name="Integrante 1"/>
          <p:cNvSpPr txBox="1"/>
          <p:nvPr/>
        </p:nvSpPr>
        <p:spPr>
          <a:xfrm>
            <a:off x="3730752" y="4434840"/>
            <a:ext cx="3017520" cy="155448"/>
          </a:xfrm>
          <a:prstGeom prst="rect">
            <a:avLst/>
          </a:prstGeom>
          <a:noFill/>
          <a:ln>
            <a:noFill/>
          </a:ln>
        </p:spPr>
        <p:txBody>
          <a:bodyPr wrap="square" lIns="0" rIns="0" tIns="0" bIns="0" anchor="t">
            <a:noAutofit/>
          </a:bodyPr>
          <a:lstStyle/>
          <a:p>
            <a:pPr algn="l">
              <a:spcAft>
                <a:spcPts val="0"/>
              </a:spcAft>
              <a:buNone/>
            </a:pPr>
            <a:r>
              <a:rPr lang="es-CL" sz="860" b="0">
                <a:solidFill>
                  <a:srgbClr val="17375D"/>
                </a:solidFill>
                <a:latin typeface="Calibri"/>
                <a:ea typeface="Calibri"/>
                <a:cs typeface="Calibri"/>
              </a:rPr>
              <a:t>Roberto Ignacio Ávila Escobar</a:t>
            </a:r>
            <a:endParaRPr lang="es-CL" sz="860"/>
          </a:p>
        </p:txBody>
      </p:sp>
      <p:sp>
        <p:nvSpPr>
          <p:cNvPr id="13" name="Integrante 2"/>
          <p:cNvSpPr txBox="1"/>
          <p:nvPr/>
        </p:nvSpPr>
        <p:spPr>
          <a:xfrm>
            <a:off x="594360" y="4626864"/>
            <a:ext cx="3017520" cy="155448"/>
          </a:xfrm>
          <a:prstGeom prst="rect">
            <a:avLst/>
          </a:prstGeom>
          <a:noFill/>
          <a:ln>
            <a:noFill/>
          </a:ln>
        </p:spPr>
        <p:txBody>
          <a:bodyPr wrap="square" lIns="0" rIns="0" tIns="0" bIns="0" anchor="t">
            <a:noAutofit/>
          </a:bodyPr>
          <a:lstStyle/>
          <a:p>
            <a:pPr algn="l">
              <a:spcAft>
                <a:spcPts val="0"/>
              </a:spcAft>
              <a:buNone/>
            </a:pPr>
            <a:r>
              <a:rPr lang="es-CL" sz="860" b="0">
                <a:solidFill>
                  <a:srgbClr val="17375D"/>
                </a:solidFill>
                <a:latin typeface="Calibri"/>
                <a:ea typeface="Calibri"/>
                <a:cs typeface="Calibri"/>
              </a:rPr>
              <a:t>Amaru Simón Agüero Jiménez</a:t>
            </a:r>
            <a:endParaRPr lang="es-CL" sz="860"/>
          </a:p>
        </p:txBody>
      </p:sp>
      <p:sp>
        <p:nvSpPr>
          <p:cNvPr id="14" name="Integrante 3"/>
          <p:cNvSpPr txBox="1"/>
          <p:nvPr/>
        </p:nvSpPr>
        <p:spPr>
          <a:xfrm>
            <a:off x="3730752" y="4626864"/>
            <a:ext cx="3017520" cy="155448"/>
          </a:xfrm>
          <a:prstGeom prst="rect">
            <a:avLst/>
          </a:prstGeom>
          <a:noFill/>
          <a:ln>
            <a:noFill/>
          </a:ln>
        </p:spPr>
        <p:txBody>
          <a:bodyPr wrap="square" lIns="0" rIns="0" tIns="0" bIns="0" anchor="t">
            <a:noAutofit/>
          </a:bodyPr>
          <a:lstStyle/>
          <a:p>
            <a:pPr algn="l">
              <a:spcAft>
                <a:spcPts val="0"/>
              </a:spcAft>
              <a:buNone/>
            </a:pPr>
            <a:r>
              <a:rPr lang="es-CL" sz="860" b="0">
                <a:solidFill>
                  <a:srgbClr val="17375D"/>
                </a:solidFill>
                <a:latin typeface="Calibri"/>
                <a:ea typeface="Calibri"/>
                <a:cs typeface="Calibri"/>
              </a:rPr>
              <a:t>Esteban Adolfo González Rodríguez</a:t>
            </a:r>
            <a:endParaRPr lang="es-CL" sz="860"/>
          </a:p>
        </p:txBody>
      </p:sp>
      <p:pic>
        <p:nvPicPr>
          <p:cNvPr id="15" name="Red ambiental observada, sin superficie predicha" descr="Red ambiental observada, sin superficie predicha"/>
          <p:cNvPicPr>
            <a:picLocks noChangeAspect="1"/>
          </p:cNvPicPr>
          <p:nvPr/>
        </p:nvPicPr>
        <p:blipFill>
          <a:blip r:embed="rIdImage3"/>
          <a:stretch>
            <a:fillRect/>
          </a:stretch>
        </p:blipFill>
        <p:spPr>
          <a:xfrm>
            <a:off x="6675120" y="1482242"/>
            <a:ext cx="2011680" cy="2896819"/>
          </a:xfrm>
          <a:prstGeom prst="rect">
            <a:avLst/>
          </a:prstGeom>
        </p:spPr>
      </p:pic>
      <p:sp>
        <p:nvSpPr>
          <p:cNvPr id="16" name="Fecha"/>
          <p:cNvSpPr txBox="1"/>
          <p:nvPr/>
        </p:nvSpPr>
        <p:spPr>
          <a:xfrm>
            <a:off x="6583680" y="4663440"/>
            <a:ext cx="2103120" cy="146304"/>
          </a:xfrm>
          <a:prstGeom prst="rect">
            <a:avLst/>
          </a:prstGeom>
          <a:noFill/>
          <a:ln>
            <a:noFill/>
          </a:ln>
        </p:spPr>
        <p:txBody>
          <a:bodyPr wrap="square" lIns="0" rIns="0" tIns="0" bIns="0" anchor="t">
            <a:noAutofit/>
          </a:bodyPr>
          <a:lstStyle/>
          <a:p>
            <a:pPr algn="r">
              <a:spcAft>
                <a:spcPts val="0"/>
              </a:spcAft>
              <a:buNone/>
            </a:pPr>
            <a:r>
              <a:rPr lang="es-CL" sz="880" b="0">
                <a:solidFill>
                  <a:srgbClr val="64748B"/>
                </a:solidFill>
                <a:latin typeface="Calibri"/>
                <a:ea typeface="Calibri"/>
                <a:cs typeface="Calibri"/>
              </a:rPr>
              <a:t>Octubre de 2026</a:t>
            </a:r>
            <a:endParaRPr lang="es-CL" sz="880"/>
          </a:p>
        </p:txBody>
      </p:sp>
    </p:spTree>
    <p:extLst>
      <p:ext uri="{BB962C8B-B14F-4D97-AF65-F5344CB8AC3E}">
        <p14:creationId xmlns:p14="http://schemas.microsoft.com/office/powerpoint/2010/main" val="4120695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Las fuentes tienen escalas y unidades diferentes</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Insumos ambientales del repositorio, ejemplo 2020. Cada panel conserva su propia unidad y escala.</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2</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Seis mapas de insumos ambientales crudos, 2020; unidades y resoluciones diferentes" descr="Seis mapas de insumos ambientales crudos, 2020; unidades y resoluciones diferentes"/>
          <p:cNvPicPr>
            <a:picLocks noChangeAspect="1"/>
          </p:cNvPicPr>
          <p:nvPr/>
        </p:nvPicPr>
        <p:blipFill>
          <a:blip r:embed="rIdImage2"/>
          <a:stretch>
            <a:fillRect/>
          </a:stretch>
        </p:blipFill>
        <p:spPr>
          <a:xfrm>
            <a:off x="347472" y="934112"/>
            <a:ext cx="8449056" cy="3462728"/>
          </a:xfrm>
          <a:prstGeom prst="rect">
            <a:avLst/>
          </a:prstGeom>
        </p:spPr>
      </p:pic>
      <p:sp>
        <p:nvSpPr>
          <p:cNvPr id="10" name="Límite de lectura"/>
          <p:cNvSpPr txBox="1"/>
          <p:nvPr/>
        </p:nvSpPr>
        <p:spPr>
          <a:xfrm>
            <a:off x="493776" y="4498848"/>
            <a:ext cx="8138160" cy="201168"/>
          </a:xfrm>
          <a:prstGeom prst="rect">
            <a:avLst/>
          </a:prstGeom>
          <a:noFill/>
          <a:ln>
            <a:noFill/>
          </a:ln>
        </p:spPr>
        <p:txBody>
          <a:bodyPr wrap="square" lIns="0" rIns="0" tIns="0" bIns="0" anchor="t">
            <a:noAutofit/>
          </a:bodyPr>
          <a:lstStyle/>
          <a:p>
            <a:pPr algn="l">
              <a:spcAft>
                <a:spcPts val="0"/>
              </a:spcAft>
              <a:buNone/>
            </a:pPr>
            <a:r>
              <a:rPr lang="es-CL" sz="1060" b="0">
                <a:solidFill>
                  <a:srgbClr val="17375D"/>
                </a:solidFill>
                <a:latin typeface="Calibri"/>
                <a:ea typeface="Calibri"/>
                <a:cs typeface="Calibri"/>
              </a:rPr>
              <a:t>MAIAC y TROPOMI aportan información satelital; requieren vinculación con las mediciones de superficie.</a:t>
            </a:r>
            <a:endParaRPr lang="es-CL" sz="1060"/>
          </a:p>
        </p:txBody>
      </p:sp>
    </p:spTree>
    <p:extLst>
      <p:ext uri="{BB962C8B-B14F-4D97-AF65-F5344CB8AC3E}">
        <p14:creationId xmlns:p14="http://schemas.microsoft.com/office/powerpoint/2010/main" val="322757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Las observaciones provienen de una red desigual</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Observaciones, 2000–13 sep 2026. Una estación puede medir ambos contaminantes. SINCA y NO₂ adicional SNIFA.</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3</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Red observada con 107 estaciones PM2.5 y 57 NO2, Chile y ampliaciones territoriales" descr="Red observada con 107 estaciones PM2.5 y 57 NO2, Chile y ampliaciones territoriales"/>
          <p:cNvPicPr>
            <a:picLocks noChangeAspect="1"/>
          </p:cNvPicPr>
          <p:nvPr/>
        </p:nvPicPr>
        <p:blipFill>
          <a:blip r:embed="rIdImage2"/>
          <a:stretch>
            <a:fillRect/>
          </a:stretch>
        </p:blipFill>
        <p:spPr>
          <a:xfrm>
            <a:off x="384048" y="961187"/>
            <a:ext cx="8375904" cy="3280562"/>
          </a:xfrm>
          <a:prstGeom prst="rect">
            <a:avLst/>
          </a:prstGeom>
        </p:spPr>
      </p:pic>
      <p:sp>
        <p:nvSpPr>
          <p:cNvPr id="10" name="Volumen PM"/>
          <p:cNvSpPr txBox="1"/>
          <p:nvPr/>
        </p:nvSpPr>
        <p:spPr>
          <a:xfrm>
            <a:off x="640080" y="4407408"/>
            <a:ext cx="3749040" cy="246888"/>
          </a:xfrm>
          <a:prstGeom prst="rect">
            <a:avLst/>
          </a:prstGeom>
          <a:noFill/>
          <a:ln>
            <a:noFill/>
          </a:ln>
        </p:spPr>
        <p:txBody>
          <a:bodyPr wrap="square" lIns="0" rIns="0" tIns="0" bIns="0" anchor="t">
            <a:noAutofit/>
          </a:bodyPr>
          <a:lstStyle/>
          <a:p>
            <a:pPr algn="l">
              <a:spcAft>
                <a:spcPts val="0"/>
              </a:spcAft>
              <a:buNone/>
            </a:pPr>
            <a:r>
              <a:rPr lang="es-CL" sz="1400" b="1">
                <a:solidFill>
                  <a:srgbClr val="17375D"/>
                </a:solidFill>
                <a:latin typeface="Calibri"/>
                <a:ea typeface="Calibri"/>
                <a:cs typeface="Calibri"/>
              </a:rPr>
              <a:t>9,74 millones de registros PM₂.₅</a:t>
            </a:r>
            <a:endParaRPr lang="es-CL" sz="1400"/>
          </a:p>
        </p:txBody>
      </p:sp>
      <p:sp>
        <p:nvSpPr>
          <p:cNvPr id="11" name="Volumen NO2"/>
          <p:cNvSpPr txBox="1"/>
          <p:nvPr/>
        </p:nvSpPr>
        <p:spPr>
          <a:xfrm>
            <a:off x="4709160" y="4407408"/>
            <a:ext cx="3749040" cy="246888"/>
          </a:xfrm>
          <a:prstGeom prst="rect">
            <a:avLst/>
          </a:prstGeom>
          <a:noFill/>
          <a:ln>
            <a:noFill/>
          </a:ln>
        </p:spPr>
        <p:txBody>
          <a:bodyPr wrap="square" lIns="0" rIns="0" tIns="0" bIns="0" anchor="t">
            <a:noAutofit/>
          </a:bodyPr>
          <a:lstStyle/>
          <a:p>
            <a:pPr algn="l">
              <a:spcAft>
                <a:spcPts val="0"/>
              </a:spcAft>
              <a:buNone/>
            </a:pPr>
            <a:r>
              <a:rPr lang="es-CL" sz="1400" b="1">
                <a:solidFill>
                  <a:srgbClr val="17375D"/>
                </a:solidFill>
                <a:latin typeface="Calibri"/>
                <a:ea typeface="Calibri"/>
                <a:cs typeface="Calibri"/>
              </a:rPr>
              <a:t>5,71 millones de registros NO₂</a:t>
            </a:r>
            <a:endParaRPr lang="es-CL" sz="1400"/>
          </a:p>
        </p:txBody>
      </p:sp>
    </p:spTree>
    <p:extLst>
      <p:ext uri="{BB962C8B-B14F-4D97-AF65-F5344CB8AC3E}">
        <p14:creationId xmlns:p14="http://schemas.microsoft.com/office/powerpoint/2010/main" val="322757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Cada registro conserva su origen y sus controles</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Reloj descriptivo UTC−4 fijo, etiqueta al fin del intervalo. Fuentes: docs/modelo_1km_horario.qmd y desc_qc_*.csv.</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4</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9" name="Unidad"/>
          <p:cNvSpPr txBox="1"/>
          <p:nvPr/>
        </p:nvSpPr>
        <p:spPr>
          <a:xfrm>
            <a:off x="502920" y="941832"/>
            <a:ext cx="8138160" cy="320040"/>
          </a:xfrm>
          <a:prstGeom prst="rect">
            <a:avLst/>
          </a:prstGeom>
          <a:noFill/>
          <a:ln>
            <a:noFill/>
          </a:ln>
        </p:spPr>
        <p:txBody>
          <a:bodyPr wrap="square" lIns="0" rIns="0" tIns="0" bIns="0" anchor="t">
            <a:noAutofit/>
          </a:bodyPr>
          <a:lstStyle/>
          <a:p>
            <a:pPr algn="l">
              <a:spcAft>
                <a:spcPts val="0"/>
              </a:spcAft>
              <a:buNone/>
            </a:pPr>
            <a:r>
              <a:rPr lang="es-CL" sz="1800" b="1">
                <a:solidFill>
                  <a:srgbClr val="17375D"/>
                </a:solidFill>
                <a:latin typeface="Calibri"/>
                <a:ea typeface="Calibri"/>
                <a:cs typeface="Calibri"/>
              </a:rPr>
              <a:t>Estación × hora × contaminante</a:t>
            </a:r>
            <a:endParaRPr lang="es-CL" sz="1800"/>
          </a:p>
        </p:txBody>
      </p:sp>
      <p:sp>
        <p:nvSpPr>
          <p:cNvPr id="10" name="Hoja de datos 0"/>
          <p:cNvSpPr txBox="1"/>
          <p:nvPr/>
        </p:nvSpPr>
        <p:spPr>
          <a:xfrm>
            <a:off x="667512" y="1700784"/>
            <a:ext cx="1216152" cy="1124712"/>
          </a:xfrm>
          <a:prstGeom prst="rect">
            <a:avLst/>
          </a:prstGeom>
          <a:solidFill>
            <a:srgbClr val="DCEAF7"/>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1" name="Hoja de datos 1"/>
          <p:cNvSpPr txBox="1"/>
          <p:nvPr/>
        </p:nvSpPr>
        <p:spPr>
          <a:xfrm>
            <a:off x="758952" y="1609344"/>
            <a:ext cx="1216152" cy="1124712"/>
          </a:xfrm>
          <a:prstGeom prst="rect">
            <a:avLst/>
          </a:prstGeom>
          <a:solidFill>
            <a:srgbClr val="DCEAF7"/>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2" name="Hoja de datos 2"/>
          <p:cNvSpPr txBox="1"/>
          <p:nvPr/>
        </p:nvSpPr>
        <p:spPr>
          <a:xfrm>
            <a:off x="850392" y="1517904"/>
            <a:ext cx="1216152" cy="1124712"/>
          </a:xfrm>
          <a:prstGeom prst="rect">
            <a:avLst/>
          </a:prstGeom>
          <a:solidFill>
            <a:srgbClr val="EAF2FD"/>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3" name="Registro original 0"/>
          <p:cNvSpPr txBox="1"/>
          <p:nvPr/>
        </p:nvSpPr>
        <p:spPr>
          <a:xfrm>
            <a:off x="941832" y="1783080"/>
            <a:ext cx="83210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4" name="Registro original 1"/>
          <p:cNvSpPr txBox="1"/>
          <p:nvPr/>
        </p:nvSpPr>
        <p:spPr>
          <a:xfrm>
            <a:off x="941832" y="1947672"/>
            <a:ext cx="667512"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5" name="Registro original 2"/>
          <p:cNvSpPr txBox="1"/>
          <p:nvPr/>
        </p:nvSpPr>
        <p:spPr>
          <a:xfrm>
            <a:off x="941832" y="2112264"/>
            <a:ext cx="868680"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6" name="Registro original 3"/>
          <p:cNvSpPr txBox="1"/>
          <p:nvPr/>
        </p:nvSpPr>
        <p:spPr>
          <a:xfrm>
            <a:off x="941832" y="2276856"/>
            <a:ext cx="566928"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7" name="Origen"/>
          <p:cNvSpPr txBox="1"/>
          <p:nvPr/>
        </p:nvSpPr>
        <p:spPr>
          <a:xfrm>
            <a:off x="493776" y="2962656"/>
            <a:ext cx="1828800" cy="274320"/>
          </a:xfrm>
          <a:prstGeom prst="rect">
            <a:avLst/>
          </a:prstGeom>
          <a:noFill/>
          <a:ln>
            <a:noFill/>
          </a:ln>
        </p:spPr>
        <p:txBody>
          <a:bodyPr wrap="square" lIns="0" rIns="0" tIns="0" bIns="0" anchor="t">
            <a:noAutofit/>
          </a:bodyPr>
          <a:lstStyle/>
          <a:p>
            <a:pPr algn="l">
              <a:spcAft>
                <a:spcPts val="0"/>
              </a:spcAft>
              <a:buNone/>
            </a:pPr>
            <a:r>
              <a:rPr lang="es-CL" sz="1350" b="1">
                <a:solidFill>
                  <a:srgbClr val="17375D"/>
                </a:solidFill>
                <a:latin typeface="Calibri"/>
                <a:ea typeface="Calibri"/>
                <a:cs typeface="Calibri"/>
              </a:rPr>
              <a:t>Fuentes originales</a:t>
            </a:r>
            <a:endParaRPr lang="es-CL" sz="1350"/>
          </a:p>
        </p:txBody>
      </p:sp>
      <p:sp>
        <p:nvSpPr>
          <p:cNvPr id="18" name="Conexión origen"/>
          <p:cNvSpPr txBox="1"/>
          <p:nvPr/>
        </p:nvSpPr>
        <p:spPr>
          <a:xfrm>
            <a:off x="2084832" y="2057400"/>
            <a:ext cx="457200" cy="201168"/>
          </a:xfrm>
          <a:prstGeom prst="rightArrow">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9" name="Esquema de registro"/>
          <p:cNvSpPr txBox="1"/>
          <p:nvPr/>
        </p:nvSpPr>
        <p:spPr>
          <a:xfrm>
            <a:off x="2770632" y="1481328"/>
            <a:ext cx="3547872" cy="1645920"/>
          </a:xfrm>
          <a:prstGeom prst="rect">
            <a:avLst/>
          </a:prstGeom>
          <a:solidFill>
            <a:srgbClr val="F0F5FB"/>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20" name="Campo 0"/>
          <p:cNvSpPr txBox="1"/>
          <p:nvPr/>
        </p:nvSpPr>
        <p:spPr>
          <a:xfrm>
            <a:off x="2971800" y="1664208"/>
            <a:ext cx="960120" cy="228600"/>
          </a:xfrm>
          <a:prstGeom prst="rect">
            <a:avLst/>
          </a:prstGeom>
          <a:noFill/>
          <a:ln>
            <a:noFill/>
          </a:ln>
        </p:spPr>
        <p:txBody>
          <a:bodyPr wrap="square" lIns="0" rIns="0" tIns="0" bIns="0" anchor="t">
            <a:noAutofit/>
          </a:bodyPr>
          <a:lstStyle/>
          <a:p>
            <a:pPr algn="l">
              <a:spcAft>
                <a:spcPts val="0"/>
              </a:spcAft>
              <a:buNone/>
            </a:pPr>
            <a:r>
              <a:rPr lang="es-CL" sz="1250" b="1">
                <a:solidFill>
                  <a:srgbClr val="17375D"/>
                </a:solidFill>
                <a:latin typeface="Calibri"/>
                <a:ea typeface="Calibri"/>
                <a:cs typeface="Calibri"/>
              </a:rPr>
              <a:t>Estación</a:t>
            </a:r>
            <a:endParaRPr lang="es-CL" sz="1250"/>
          </a:p>
        </p:txBody>
      </p:sp>
      <p:sp>
        <p:nvSpPr>
          <p:cNvPr id="21" name="Tipo 0"/>
          <p:cNvSpPr txBox="1"/>
          <p:nvPr/>
        </p:nvSpPr>
        <p:spPr>
          <a:xfrm>
            <a:off x="4059936" y="1664208"/>
            <a:ext cx="2084832" cy="228600"/>
          </a:xfrm>
          <a:prstGeom prst="rect">
            <a:avLst/>
          </a:prstGeom>
          <a:noFill/>
          <a:ln>
            <a:noFill/>
          </a:ln>
        </p:spPr>
        <p:txBody>
          <a:bodyPr wrap="square" lIns="0" rIns="0" tIns="0" bIns="0" anchor="t">
            <a:noAutofit/>
          </a:bodyPr>
          <a:lstStyle/>
          <a:p>
            <a:pPr algn="l">
              <a:spcAft>
                <a:spcPts val="0"/>
              </a:spcAft>
              <a:buNone/>
            </a:pPr>
            <a:r>
              <a:rPr lang="es-CL" sz="1150" b="0">
                <a:solidFill>
                  <a:srgbClr val="17375D"/>
                </a:solidFill>
                <a:latin typeface="Calibri"/>
                <a:ea typeface="Calibri"/>
                <a:cs typeface="Calibri"/>
              </a:rPr>
              <a:t>Identificador y coordenadas</a:t>
            </a:r>
            <a:endParaRPr lang="es-CL" sz="1150"/>
          </a:p>
        </p:txBody>
      </p:sp>
      <p:sp>
        <p:nvSpPr>
          <p:cNvPr id="22" name="Campo 1"/>
          <p:cNvSpPr txBox="1"/>
          <p:nvPr/>
        </p:nvSpPr>
        <p:spPr>
          <a:xfrm>
            <a:off x="2971800" y="1984248"/>
            <a:ext cx="960120" cy="228600"/>
          </a:xfrm>
          <a:prstGeom prst="rect">
            <a:avLst/>
          </a:prstGeom>
          <a:noFill/>
          <a:ln>
            <a:noFill/>
          </a:ln>
        </p:spPr>
        <p:txBody>
          <a:bodyPr wrap="square" lIns="0" rIns="0" tIns="0" bIns="0" anchor="t">
            <a:noAutofit/>
          </a:bodyPr>
          <a:lstStyle/>
          <a:p>
            <a:pPr algn="l">
              <a:spcAft>
                <a:spcPts val="0"/>
              </a:spcAft>
              <a:buNone/>
            </a:pPr>
            <a:r>
              <a:rPr lang="es-CL" sz="1250" b="1">
                <a:solidFill>
                  <a:srgbClr val="17375D"/>
                </a:solidFill>
                <a:latin typeface="Calibri"/>
                <a:ea typeface="Calibri"/>
                <a:cs typeface="Calibri"/>
              </a:rPr>
              <a:t>Tiempo</a:t>
            </a:r>
            <a:endParaRPr lang="es-CL" sz="1250"/>
          </a:p>
        </p:txBody>
      </p:sp>
      <p:sp>
        <p:nvSpPr>
          <p:cNvPr id="23" name="Tipo 1"/>
          <p:cNvSpPr txBox="1"/>
          <p:nvPr/>
        </p:nvSpPr>
        <p:spPr>
          <a:xfrm>
            <a:off x="4059936" y="1984248"/>
            <a:ext cx="2084832" cy="228600"/>
          </a:xfrm>
          <a:prstGeom prst="rect">
            <a:avLst/>
          </a:prstGeom>
          <a:noFill/>
          <a:ln>
            <a:noFill/>
          </a:ln>
        </p:spPr>
        <p:txBody>
          <a:bodyPr wrap="square" lIns="0" rIns="0" tIns="0" bIns="0" anchor="t">
            <a:noAutofit/>
          </a:bodyPr>
          <a:lstStyle/>
          <a:p>
            <a:pPr algn="l">
              <a:spcAft>
                <a:spcPts val="0"/>
              </a:spcAft>
              <a:buNone/>
            </a:pPr>
            <a:r>
              <a:rPr lang="es-CL" sz="1150" b="0">
                <a:solidFill>
                  <a:srgbClr val="17375D"/>
                </a:solidFill>
                <a:latin typeface="Calibri"/>
                <a:ea typeface="Calibri"/>
                <a:cs typeface="Calibri"/>
              </a:rPr>
              <a:t>Fecha-hora explícita</a:t>
            </a:r>
            <a:endParaRPr lang="es-CL" sz="1150"/>
          </a:p>
        </p:txBody>
      </p:sp>
      <p:sp>
        <p:nvSpPr>
          <p:cNvPr id="24" name="Campo 2"/>
          <p:cNvSpPr txBox="1"/>
          <p:nvPr/>
        </p:nvSpPr>
        <p:spPr>
          <a:xfrm>
            <a:off x="2971800" y="2304288"/>
            <a:ext cx="960120" cy="228600"/>
          </a:xfrm>
          <a:prstGeom prst="rect">
            <a:avLst/>
          </a:prstGeom>
          <a:noFill/>
          <a:ln>
            <a:noFill/>
          </a:ln>
        </p:spPr>
        <p:txBody>
          <a:bodyPr wrap="square" lIns="0" rIns="0" tIns="0" bIns="0" anchor="t">
            <a:noAutofit/>
          </a:bodyPr>
          <a:lstStyle/>
          <a:p>
            <a:pPr algn="l">
              <a:spcAft>
                <a:spcPts val="0"/>
              </a:spcAft>
              <a:buNone/>
            </a:pPr>
            <a:r>
              <a:rPr lang="es-CL" sz="1250" b="1">
                <a:solidFill>
                  <a:srgbClr val="17375D"/>
                </a:solidFill>
                <a:latin typeface="Calibri"/>
                <a:ea typeface="Calibri"/>
                <a:cs typeface="Calibri"/>
              </a:rPr>
              <a:t>Valor</a:t>
            </a:r>
            <a:endParaRPr lang="es-CL" sz="1250"/>
          </a:p>
        </p:txBody>
      </p:sp>
      <p:sp>
        <p:nvSpPr>
          <p:cNvPr id="25" name="Tipo 2"/>
          <p:cNvSpPr txBox="1"/>
          <p:nvPr/>
        </p:nvSpPr>
        <p:spPr>
          <a:xfrm>
            <a:off x="4059936" y="2304288"/>
            <a:ext cx="2084832" cy="228600"/>
          </a:xfrm>
          <a:prstGeom prst="rect">
            <a:avLst/>
          </a:prstGeom>
          <a:noFill/>
          <a:ln>
            <a:noFill/>
          </a:ln>
        </p:spPr>
        <p:txBody>
          <a:bodyPr wrap="square" lIns="0" rIns="0" tIns="0" bIns="0" anchor="t">
            <a:noAutofit/>
          </a:bodyPr>
          <a:lstStyle/>
          <a:p>
            <a:pPr algn="l">
              <a:spcAft>
                <a:spcPts val="0"/>
              </a:spcAft>
              <a:buNone/>
            </a:pPr>
            <a:r>
              <a:rPr lang="es-CL" sz="1150" b="0">
                <a:solidFill>
                  <a:srgbClr val="17375D"/>
                </a:solidFill>
                <a:latin typeface="Calibri"/>
                <a:ea typeface="Calibri"/>
                <a:cs typeface="Calibri"/>
              </a:rPr>
              <a:t>µg/m³ o ppb</a:t>
            </a:r>
            <a:endParaRPr lang="es-CL" sz="1150"/>
          </a:p>
        </p:txBody>
      </p:sp>
      <p:sp>
        <p:nvSpPr>
          <p:cNvPr id="26" name="Campo 3"/>
          <p:cNvSpPr txBox="1"/>
          <p:nvPr/>
        </p:nvSpPr>
        <p:spPr>
          <a:xfrm>
            <a:off x="2971800" y="2624328"/>
            <a:ext cx="960120" cy="228600"/>
          </a:xfrm>
          <a:prstGeom prst="rect">
            <a:avLst/>
          </a:prstGeom>
          <a:noFill/>
          <a:ln>
            <a:noFill/>
          </a:ln>
        </p:spPr>
        <p:txBody>
          <a:bodyPr wrap="square" lIns="0" rIns="0" tIns="0" bIns="0" anchor="t">
            <a:noAutofit/>
          </a:bodyPr>
          <a:lstStyle/>
          <a:p>
            <a:pPr algn="l">
              <a:spcAft>
                <a:spcPts val="0"/>
              </a:spcAft>
              <a:buNone/>
            </a:pPr>
            <a:r>
              <a:rPr lang="es-CL" sz="1250" b="1">
                <a:solidFill>
                  <a:srgbClr val="17375D"/>
                </a:solidFill>
                <a:latin typeface="Calibri"/>
                <a:ea typeface="Calibri"/>
                <a:cs typeface="Calibri"/>
              </a:rPr>
              <a:t>Calidad</a:t>
            </a:r>
            <a:endParaRPr lang="es-CL" sz="1250"/>
          </a:p>
        </p:txBody>
      </p:sp>
      <p:sp>
        <p:nvSpPr>
          <p:cNvPr id="27" name="Tipo 3"/>
          <p:cNvSpPr txBox="1"/>
          <p:nvPr/>
        </p:nvSpPr>
        <p:spPr>
          <a:xfrm>
            <a:off x="4059936" y="2624328"/>
            <a:ext cx="2084832" cy="228600"/>
          </a:xfrm>
          <a:prstGeom prst="rect">
            <a:avLst/>
          </a:prstGeom>
          <a:noFill/>
          <a:ln>
            <a:noFill/>
          </a:ln>
        </p:spPr>
        <p:txBody>
          <a:bodyPr wrap="square" lIns="0" rIns="0" tIns="0" bIns="0" anchor="t">
            <a:noAutofit/>
          </a:bodyPr>
          <a:lstStyle/>
          <a:p>
            <a:pPr algn="l">
              <a:spcAft>
                <a:spcPts val="0"/>
              </a:spcAft>
              <a:buNone/>
            </a:pPr>
            <a:r>
              <a:rPr lang="es-CL" sz="1150" b="0">
                <a:solidFill>
                  <a:srgbClr val="17375D"/>
                </a:solidFill>
                <a:latin typeface="Calibri"/>
                <a:ea typeface="Calibri"/>
                <a:cs typeface="Calibri"/>
              </a:rPr>
              <a:t>Bandera de origen</a:t>
            </a:r>
            <a:endParaRPr lang="es-CL" sz="1150"/>
          </a:p>
        </p:txBody>
      </p:sp>
      <p:sp>
        <p:nvSpPr>
          <p:cNvPr id="28" name="Conexión EDA"/>
          <p:cNvSpPr txBox="1"/>
          <p:nvPr/>
        </p:nvSpPr>
        <p:spPr>
          <a:xfrm>
            <a:off x="6565392" y="2057400"/>
            <a:ext cx="457200" cy="201168"/>
          </a:xfrm>
          <a:prstGeom prst="rightArrow">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29" name="Matriz 00"/>
          <p:cNvSpPr txBox="1"/>
          <p:nvPr/>
        </p:nvSpPr>
        <p:spPr>
          <a:xfrm>
            <a:off x="7360920" y="1664208"/>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0" name="Matriz 01"/>
          <p:cNvSpPr txBox="1"/>
          <p:nvPr/>
        </p:nvSpPr>
        <p:spPr>
          <a:xfrm>
            <a:off x="7562088" y="1664208"/>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1" name="Matriz 02"/>
          <p:cNvSpPr txBox="1"/>
          <p:nvPr/>
        </p:nvSpPr>
        <p:spPr>
          <a:xfrm>
            <a:off x="7763256" y="1664208"/>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2" name="Matriz 03"/>
          <p:cNvSpPr txBox="1"/>
          <p:nvPr/>
        </p:nvSpPr>
        <p:spPr>
          <a:xfrm>
            <a:off x="7964424" y="1664208"/>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3" name="Matriz 04"/>
          <p:cNvSpPr txBox="1"/>
          <p:nvPr/>
        </p:nvSpPr>
        <p:spPr>
          <a:xfrm>
            <a:off x="8165592" y="1664208"/>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4" name="Matriz 10"/>
          <p:cNvSpPr txBox="1"/>
          <p:nvPr/>
        </p:nvSpPr>
        <p:spPr>
          <a:xfrm>
            <a:off x="7360920" y="1865376"/>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5" name="Matriz 11"/>
          <p:cNvSpPr txBox="1"/>
          <p:nvPr/>
        </p:nvSpPr>
        <p:spPr>
          <a:xfrm>
            <a:off x="7562088" y="1865376"/>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6" name="Matriz 12"/>
          <p:cNvSpPr txBox="1"/>
          <p:nvPr/>
        </p:nvSpPr>
        <p:spPr>
          <a:xfrm>
            <a:off x="7763256" y="1865376"/>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7" name="Matriz 13"/>
          <p:cNvSpPr txBox="1"/>
          <p:nvPr/>
        </p:nvSpPr>
        <p:spPr>
          <a:xfrm>
            <a:off x="7964424" y="1865376"/>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8" name="Matriz 14"/>
          <p:cNvSpPr txBox="1"/>
          <p:nvPr/>
        </p:nvSpPr>
        <p:spPr>
          <a:xfrm>
            <a:off x="8165592" y="1865376"/>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9" name="Matriz 20"/>
          <p:cNvSpPr txBox="1"/>
          <p:nvPr/>
        </p:nvSpPr>
        <p:spPr>
          <a:xfrm>
            <a:off x="7360920" y="2066544"/>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0" name="Matriz 21"/>
          <p:cNvSpPr txBox="1"/>
          <p:nvPr/>
        </p:nvSpPr>
        <p:spPr>
          <a:xfrm>
            <a:off x="7562088" y="2066544"/>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1" name="Matriz 22"/>
          <p:cNvSpPr txBox="1"/>
          <p:nvPr/>
        </p:nvSpPr>
        <p:spPr>
          <a:xfrm>
            <a:off x="7763256" y="2066544"/>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2" name="Matriz 23"/>
          <p:cNvSpPr txBox="1"/>
          <p:nvPr/>
        </p:nvSpPr>
        <p:spPr>
          <a:xfrm>
            <a:off x="7964424" y="2066544"/>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3" name="Matriz 24"/>
          <p:cNvSpPr txBox="1"/>
          <p:nvPr/>
        </p:nvSpPr>
        <p:spPr>
          <a:xfrm>
            <a:off x="8165592" y="2066544"/>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4" name="Matriz 30"/>
          <p:cNvSpPr txBox="1"/>
          <p:nvPr/>
        </p:nvSpPr>
        <p:spPr>
          <a:xfrm>
            <a:off x="7360920" y="2267712"/>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5" name="Matriz 31"/>
          <p:cNvSpPr txBox="1"/>
          <p:nvPr/>
        </p:nvSpPr>
        <p:spPr>
          <a:xfrm>
            <a:off x="7562088" y="2267712"/>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6" name="Matriz 32"/>
          <p:cNvSpPr txBox="1"/>
          <p:nvPr/>
        </p:nvSpPr>
        <p:spPr>
          <a:xfrm>
            <a:off x="7763256" y="2267712"/>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7" name="Matriz 33"/>
          <p:cNvSpPr txBox="1"/>
          <p:nvPr/>
        </p:nvSpPr>
        <p:spPr>
          <a:xfrm>
            <a:off x="7964424" y="2267712"/>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8" name="Matriz 34"/>
          <p:cNvSpPr txBox="1"/>
          <p:nvPr/>
        </p:nvSpPr>
        <p:spPr>
          <a:xfrm>
            <a:off x="8165592" y="2267712"/>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9" name="Matriz 40"/>
          <p:cNvSpPr txBox="1"/>
          <p:nvPr/>
        </p:nvSpPr>
        <p:spPr>
          <a:xfrm>
            <a:off x="7360920" y="2468880"/>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0" name="Matriz 41"/>
          <p:cNvSpPr txBox="1"/>
          <p:nvPr/>
        </p:nvSpPr>
        <p:spPr>
          <a:xfrm>
            <a:off x="7562088" y="2468880"/>
            <a:ext cx="173736" cy="173736"/>
          </a:xfrm>
          <a:prstGeom prst="rect">
            <a:avLst/>
          </a:prstGeom>
          <a:solidFill>
            <a:srgbClr val="87BDE3"/>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1" name="Matriz 42"/>
          <p:cNvSpPr txBox="1"/>
          <p:nvPr/>
        </p:nvSpPr>
        <p:spPr>
          <a:xfrm>
            <a:off x="7763256" y="2468880"/>
            <a:ext cx="173736" cy="173736"/>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2" name="Matriz 43"/>
          <p:cNvSpPr txBox="1"/>
          <p:nvPr/>
        </p:nvSpPr>
        <p:spPr>
          <a:xfrm>
            <a:off x="7964424" y="2468880"/>
            <a:ext cx="173736" cy="173736"/>
          </a:xfrm>
          <a:prstGeom prst="rect">
            <a:avLst/>
          </a:prstGeom>
          <a:solidFill>
            <a:srgbClr val="E9EFF5"/>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3" name="Matriz 44"/>
          <p:cNvSpPr txBox="1"/>
          <p:nvPr/>
        </p:nvSpPr>
        <p:spPr>
          <a:xfrm>
            <a:off x="8165592" y="2468880"/>
            <a:ext cx="173736" cy="173736"/>
          </a:xfrm>
          <a:prstGeom prst="rect">
            <a:avLst/>
          </a:prstGeom>
          <a:solidFill>
            <a:srgbClr val="D8E8F6"/>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4" name="Derivado"/>
          <p:cNvSpPr txBox="1"/>
          <p:nvPr/>
        </p:nvSpPr>
        <p:spPr>
          <a:xfrm>
            <a:off x="7104888" y="2962656"/>
            <a:ext cx="1572768" cy="274320"/>
          </a:xfrm>
          <a:prstGeom prst="rect">
            <a:avLst/>
          </a:prstGeom>
          <a:noFill/>
          <a:ln>
            <a:noFill/>
          </a:ln>
        </p:spPr>
        <p:txBody>
          <a:bodyPr wrap="square" lIns="0" rIns="0" tIns="0" bIns="0" anchor="t">
            <a:noAutofit/>
          </a:bodyPr>
          <a:lstStyle/>
          <a:p>
            <a:pPr algn="l">
              <a:spcAft>
                <a:spcPts val="0"/>
              </a:spcAft>
              <a:buNone/>
            </a:pPr>
            <a:r>
              <a:rPr lang="es-CL" sz="1350" b="1">
                <a:solidFill>
                  <a:srgbClr val="17375D"/>
                </a:solidFill>
                <a:latin typeface="Calibri"/>
                <a:ea typeface="Calibri"/>
                <a:cs typeface="Calibri"/>
              </a:rPr>
              <a:t>Tablas para EDA</a:t>
            </a:r>
            <a:endParaRPr lang="es-CL" sz="1350"/>
          </a:p>
        </p:txBody>
      </p:sp>
      <p:sp>
        <p:nvSpPr>
          <p:cNvPr id="55" name="Separador QC"/>
          <p:cNvSpPr txBox="1"/>
          <p:nvPr/>
        </p:nvSpPr>
        <p:spPr>
          <a:xfrm>
            <a:off x="502920" y="3465576"/>
            <a:ext cx="8138160" cy="10973"/>
          </a:xfrm>
          <a:prstGeom prst="rect">
            <a:avLst/>
          </a:prstGeom>
          <a:solidFill>
            <a:srgbClr val="C9D9E9"/>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56" name="Regla QC"/>
          <p:cNvSpPr txBox="1"/>
          <p:nvPr/>
        </p:nvSpPr>
        <p:spPr>
          <a:xfrm>
            <a:off x="502920" y="3749040"/>
            <a:ext cx="3291840" cy="612648"/>
          </a:xfrm>
          <a:prstGeom prst="rect">
            <a:avLst/>
          </a:prstGeom>
          <a:noFill/>
          <a:ln>
            <a:noFill/>
          </a:ln>
        </p:spPr>
        <p:txBody>
          <a:bodyPr wrap="square" lIns="0" rIns="0" tIns="0" bIns="0" anchor="t">
            <a:noAutofit/>
          </a:bodyPr>
          <a:lstStyle/>
          <a:p>
            <a:pPr algn="l">
              <a:spcAft>
                <a:spcPts val="0"/>
              </a:spcAft>
              <a:buNone/>
            </a:pPr>
            <a:r>
              <a:rPr lang="es-CL" sz="1350" b="1">
                <a:solidFill>
                  <a:srgbClr val="17375D"/>
                </a:solidFill>
                <a:latin typeface="Calibri"/>
                <a:ea typeface="Calibri"/>
                <a:cs typeface="Calibri"/>
              </a:rPr>
              <a:t>Rachas de ≥24 registros</a:t>
            </a:r>
            <a:endParaRPr lang="es-CL" sz="1350"/>
          </a:p>
          <a:p>
            <a:pPr algn="l">
              <a:spcAft>
                <a:spcPts val="0"/>
              </a:spcAft>
              <a:buNone/>
            </a:pPr>
            <a:r>
              <a:rPr lang="es-CL" sz="1350" b="1">
                <a:solidFill>
                  <a:srgbClr val="17375D"/>
                </a:solidFill>
                <a:latin typeface="Calibri"/>
                <a:ea typeface="Calibri"/>
                <a:cs typeface="Calibri"/>
              </a:rPr>
              <a:t>idénticos consecutivos</a:t>
            </a:r>
            <a:endParaRPr lang="es-CL" sz="1350"/>
          </a:p>
        </p:txBody>
      </p:sp>
      <p:sp>
        <p:nvSpPr>
          <p:cNvPr id="57" name="QC PM"/>
          <p:cNvSpPr txBox="1"/>
          <p:nvPr/>
        </p:nvSpPr>
        <p:spPr>
          <a:xfrm>
            <a:off x="4315968" y="3611880"/>
            <a:ext cx="1554480" cy="530352"/>
          </a:xfrm>
          <a:prstGeom prst="rect">
            <a:avLst/>
          </a:prstGeom>
          <a:noFill/>
          <a:ln>
            <a:noFill/>
          </a:ln>
        </p:spPr>
        <p:txBody>
          <a:bodyPr wrap="square" lIns="0" rIns="0" tIns="0" bIns="0" anchor="t">
            <a:noAutofit/>
          </a:bodyPr>
          <a:lstStyle/>
          <a:p>
            <a:pPr algn="l">
              <a:spcAft>
                <a:spcPts val="0"/>
              </a:spcAft>
              <a:buNone/>
            </a:pPr>
            <a:r>
              <a:rPr lang="es-CL" sz="3000" b="1">
                <a:solidFill>
                  <a:srgbClr val="017EDF"/>
                </a:solidFill>
                <a:latin typeface="Calibri"/>
                <a:ea typeface="Calibri"/>
                <a:cs typeface="Calibri"/>
              </a:rPr>
              <a:t>0,50 %</a:t>
            </a:r>
            <a:endParaRPr lang="es-CL" sz="3000"/>
          </a:p>
        </p:txBody>
      </p:sp>
      <p:sp>
        <p:nvSpPr>
          <p:cNvPr id="58" name="QC PM detalle"/>
          <p:cNvSpPr txBox="1"/>
          <p:nvPr/>
        </p:nvSpPr>
        <p:spPr>
          <a:xfrm>
            <a:off x="4315968" y="4242816"/>
            <a:ext cx="1691640" cy="210312"/>
          </a:xfrm>
          <a:prstGeom prst="rect">
            <a:avLst/>
          </a:prstGeom>
          <a:noFill/>
          <a:ln>
            <a:noFill/>
          </a:ln>
        </p:spPr>
        <p:txBody>
          <a:bodyPr wrap="square" lIns="0" rIns="0" tIns="0" bIns="0" anchor="t">
            <a:noAutofit/>
          </a:bodyPr>
          <a:lstStyle/>
          <a:p>
            <a:pPr algn="l">
              <a:spcAft>
                <a:spcPts val="0"/>
              </a:spcAft>
              <a:buNone/>
            </a:pPr>
            <a:r>
              <a:rPr lang="es-CL" sz="1080" b="0">
                <a:solidFill>
                  <a:srgbClr val="64748B"/>
                </a:solidFill>
                <a:latin typeface="Calibri"/>
                <a:ea typeface="Calibri"/>
                <a:cs typeface="Calibri"/>
              </a:rPr>
              <a:t>PM₂.₅ excluido</a:t>
            </a:r>
            <a:endParaRPr lang="es-CL" sz="1080"/>
          </a:p>
        </p:txBody>
      </p:sp>
      <p:sp>
        <p:nvSpPr>
          <p:cNvPr id="59" name="QC NO2"/>
          <p:cNvSpPr txBox="1"/>
          <p:nvPr/>
        </p:nvSpPr>
        <p:spPr>
          <a:xfrm>
            <a:off x="6537960" y="3611880"/>
            <a:ext cx="1554480" cy="530352"/>
          </a:xfrm>
          <a:prstGeom prst="rect">
            <a:avLst/>
          </a:prstGeom>
          <a:noFill/>
          <a:ln>
            <a:noFill/>
          </a:ln>
        </p:spPr>
        <p:txBody>
          <a:bodyPr wrap="square" lIns="0" rIns="0" tIns="0" bIns="0" anchor="t">
            <a:noAutofit/>
          </a:bodyPr>
          <a:lstStyle/>
          <a:p>
            <a:pPr algn="l">
              <a:spcAft>
                <a:spcPts val="0"/>
              </a:spcAft>
              <a:buNone/>
            </a:pPr>
            <a:r>
              <a:rPr lang="es-CL" sz="3000" b="1">
                <a:solidFill>
                  <a:srgbClr val="017EDF"/>
                </a:solidFill>
                <a:latin typeface="Calibri"/>
                <a:ea typeface="Calibri"/>
                <a:cs typeface="Calibri"/>
              </a:rPr>
              <a:t>0,68 %</a:t>
            </a:r>
            <a:endParaRPr lang="es-CL" sz="3000"/>
          </a:p>
        </p:txBody>
      </p:sp>
      <p:sp>
        <p:nvSpPr>
          <p:cNvPr id="60" name="QC NO2 detalle"/>
          <p:cNvSpPr txBox="1"/>
          <p:nvPr/>
        </p:nvSpPr>
        <p:spPr>
          <a:xfrm>
            <a:off x="6537960" y="4242816"/>
            <a:ext cx="1691640" cy="210312"/>
          </a:xfrm>
          <a:prstGeom prst="rect">
            <a:avLst/>
          </a:prstGeom>
          <a:noFill/>
          <a:ln>
            <a:noFill/>
          </a:ln>
        </p:spPr>
        <p:txBody>
          <a:bodyPr wrap="square" lIns="0" rIns="0" tIns="0" bIns="0" anchor="t">
            <a:noAutofit/>
          </a:bodyPr>
          <a:lstStyle/>
          <a:p>
            <a:pPr algn="l">
              <a:spcAft>
                <a:spcPts val="0"/>
              </a:spcAft>
              <a:buNone/>
            </a:pPr>
            <a:r>
              <a:rPr lang="es-CL" sz="1080" b="0">
                <a:solidFill>
                  <a:srgbClr val="64748B"/>
                </a:solidFill>
                <a:latin typeface="Calibri"/>
                <a:ea typeface="Calibri"/>
                <a:cs typeface="Calibri"/>
              </a:rPr>
              <a:t>NO₂ excluido</a:t>
            </a:r>
            <a:endParaRPr lang="es-CL" sz="1080"/>
          </a:p>
        </p:txBody>
      </p:sp>
    </p:spTree>
    <p:extLst>
      <p:ext uri="{BB962C8B-B14F-4D97-AF65-F5344CB8AC3E}">
        <p14:creationId xmlns:p14="http://schemas.microsoft.com/office/powerpoint/2010/main" val="322757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La historia disponible cambia entre estaciones</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Fuente: desc_cobertura_*.csv. Años completos 2000–2025; el gris indica ausencia de registros, no concentración cero.</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5</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Mapa de calor de cobertura de horas por estación y año, 107 PM2.5 y 57 NO2" descr="Mapa de calor de cobertura de horas por estación y año, 107 PM2.5 y 57 NO2"/>
          <p:cNvPicPr>
            <a:picLocks noChangeAspect="1"/>
          </p:cNvPicPr>
          <p:nvPr/>
        </p:nvPicPr>
        <p:blipFill>
          <a:blip r:embed="rIdImage2"/>
          <a:stretch>
            <a:fillRect/>
          </a:stretch>
        </p:blipFill>
        <p:spPr>
          <a:xfrm>
            <a:off x="356616" y="1164272"/>
            <a:ext cx="8430768" cy="3102991"/>
          </a:xfrm>
          <a:prstGeom prst="rect">
            <a:avLst/>
          </a:prstGeom>
        </p:spPr>
      </p:pic>
    </p:spTree>
    <p:extLst>
      <p:ext uri="{BB962C8B-B14F-4D97-AF65-F5344CB8AC3E}">
        <p14:creationId xmlns:p14="http://schemas.microsoft.com/office/powerpoint/2010/main" val="322757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El estado de validación también cambia</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SINCA después del control de rachas. Fuente: calidad_v2_tablas.json. Los estados propios de SNIFA se auditan por separado.</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6</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Banderas SINCA: validado, preliminar y no validado, por contaminante" descr="Banderas SINCA: validado, preliminar y no validado, por contaminante"/>
          <p:cNvPicPr>
            <a:picLocks noChangeAspect="1"/>
          </p:cNvPicPr>
          <p:nvPr/>
        </p:nvPicPr>
        <p:blipFill>
          <a:blip r:embed="rIdImage2"/>
          <a:stretch>
            <a:fillRect/>
          </a:stretch>
        </p:blipFill>
        <p:spPr>
          <a:xfrm>
            <a:off x="384048" y="1216304"/>
            <a:ext cx="8375904" cy="2861767"/>
          </a:xfrm>
          <a:prstGeom prst="rect">
            <a:avLst/>
          </a:prstGeom>
        </p:spPr>
      </p:pic>
      <p:sp>
        <p:nvSpPr>
          <p:cNvPr id="10" name="Interpretación de bandera"/>
          <p:cNvSpPr txBox="1"/>
          <p:nvPr/>
        </p:nvSpPr>
        <p:spPr>
          <a:xfrm>
            <a:off x="512064" y="4462272"/>
            <a:ext cx="8138160" cy="210312"/>
          </a:xfrm>
          <a:prstGeom prst="rect">
            <a:avLst/>
          </a:prstGeom>
          <a:noFill/>
          <a:ln>
            <a:noFill/>
          </a:ln>
        </p:spPr>
        <p:txBody>
          <a:bodyPr wrap="square" lIns="0" rIns="0" tIns="0" bIns="0" anchor="t">
            <a:noAutofit/>
          </a:bodyPr>
          <a:lstStyle/>
          <a:p>
            <a:pPr algn="l">
              <a:spcAft>
                <a:spcPts val="0"/>
              </a:spcAft>
              <a:buNone/>
            </a:pPr>
            <a:r>
              <a:rPr lang="es-CL" sz="1110" b="0">
                <a:solidFill>
                  <a:srgbClr val="17375D"/>
                </a:solidFill>
                <a:latin typeface="Calibri"/>
                <a:ea typeface="Calibri"/>
                <a:cs typeface="Calibri"/>
              </a:rPr>
              <a:t>«No validado» es una bandera de la fuente; no confirma por sí sola un error de medición.</a:t>
            </a:r>
            <a:endParaRPr lang="es-CL" sz="1110"/>
          </a:p>
        </p:txBody>
      </p:sp>
    </p:spTree>
    <p:extLst>
      <p:ext uri="{BB962C8B-B14F-4D97-AF65-F5344CB8AC3E}">
        <p14:creationId xmlns:p14="http://schemas.microsoft.com/office/powerpoint/2010/main" val="322757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El patrón horario depende de la temporada</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Observado, 2000–13 sep 2026. Media entre perfiles de estación con ≥30 registros por hora y temporada. Reloj UTC−4 fijo.</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7</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Perfiles horarios observados, Centro y Sur, PM2.5 y NO2, verano e invierno" descr="Perfiles horarios observados, Centro y Sur, PM2.5 y NO2, verano e invierno"/>
          <p:cNvPicPr>
            <a:picLocks noChangeAspect="1"/>
          </p:cNvPicPr>
          <p:nvPr/>
        </p:nvPicPr>
        <p:blipFill>
          <a:blip r:embed="rIdImage2"/>
          <a:stretch>
            <a:fillRect/>
          </a:stretch>
        </p:blipFill>
        <p:spPr>
          <a:xfrm>
            <a:off x="365760" y="976884"/>
            <a:ext cx="8412480" cy="3505200"/>
          </a:xfrm>
          <a:prstGeom prst="rect">
            <a:avLst/>
          </a:prstGeom>
        </p:spPr>
      </p:pic>
    </p:spTree>
    <p:extLst>
      <p:ext uri="{BB962C8B-B14F-4D97-AF65-F5344CB8AC3E}">
        <p14:creationId xmlns:p14="http://schemas.microsoft.com/office/powerpoint/2010/main" val="322757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El diagnóstico orienta las siguientes decisiones</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Próxima etapa: consolidar una base comparable para definir y evaluar el modelo ambiental.</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8</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9" name="Número decisión 01"/>
          <p:cNvSpPr txBox="1"/>
          <p:nvPr/>
        </p:nvSpPr>
        <p:spPr>
          <a:xfrm>
            <a:off x="502920" y="1161288"/>
            <a:ext cx="2377440" cy="594360"/>
          </a:xfrm>
          <a:prstGeom prst="rect">
            <a:avLst/>
          </a:prstGeom>
          <a:noFill/>
          <a:ln>
            <a:noFill/>
          </a:ln>
        </p:spPr>
        <p:txBody>
          <a:bodyPr wrap="square" lIns="0" rIns="0" tIns="0" bIns="0" anchor="t">
            <a:noAutofit/>
          </a:bodyPr>
          <a:lstStyle/>
          <a:p>
            <a:pPr algn="l">
              <a:spcAft>
                <a:spcPts val="0"/>
              </a:spcAft>
              <a:buNone/>
            </a:pPr>
            <a:r>
              <a:rPr lang="es-CL" sz="3600" b="1">
                <a:solidFill>
                  <a:srgbClr val="017EDF"/>
                </a:solidFill>
                <a:latin typeface="Calibri"/>
                <a:ea typeface="Calibri"/>
                <a:cs typeface="Calibri"/>
              </a:rPr>
              <a:t>01</a:t>
            </a:r>
            <a:endParaRPr lang="es-CL" sz="3600"/>
          </a:p>
        </p:txBody>
      </p:sp>
      <p:sp>
        <p:nvSpPr>
          <p:cNvPr id="10" name="Categoría decisión 01"/>
          <p:cNvSpPr txBox="1"/>
          <p:nvPr/>
        </p:nvSpPr>
        <p:spPr>
          <a:xfrm>
            <a:off x="502920" y="1901952"/>
            <a:ext cx="2468880" cy="219456"/>
          </a:xfrm>
          <a:prstGeom prst="rect">
            <a:avLst/>
          </a:prstGeom>
          <a:noFill/>
          <a:ln>
            <a:noFill/>
          </a:ln>
        </p:spPr>
        <p:txBody>
          <a:bodyPr wrap="square" lIns="0" rIns="0" tIns="0" bIns="0" anchor="t">
            <a:noAutofit/>
          </a:bodyPr>
          <a:lstStyle/>
          <a:p>
            <a:pPr algn="l">
              <a:spcAft>
                <a:spcPts val="0"/>
              </a:spcAft>
              <a:buNone/>
            </a:pPr>
            <a:r>
              <a:rPr lang="es-CL" sz="1050" b="1">
                <a:solidFill>
                  <a:srgbClr val="017EDF"/>
                </a:solidFill>
                <a:latin typeface="Calibri"/>
                <a:ea typeface="Calibri"/>
                <a:cs typeface="Calibri"/>
              </a:rPr>
              <a:t>PERÍODOS</a:t>
            </a:r>
            <a:endParaRPr lang="es-CL" sz="1050"/>
          </a:p>
        </p:txBody>
      </p:sp>
      <p:sp>
        <p:nvSpPr>
          <p:cNvPr id="11" name="Decisión 01"/>
          <p:cNvSpPr txBox="1"/>
          <p:nvPr/>
        </p:nvSpPr>
        <p:spPr>
          <a:xfrm>
            <a:off x="502920" y="2322576"/>
            <a:ext cx="2423160" cy="804672"/>
          </a:xfrm>
          <a:prstGeom prst="rect">
            <a:avLst/>
          </a:prstGeom>
          <a:noFill/>
          <a:ln>
            <a:noFill/>
          </a:ln>
        </p:spPr>
        <p:txBody>
          <a:bodyPr wrap="square" lIns="0" rIns="0" tIns="0" bIns="0" anchor="t">
            <a:noAutofit/>
          </a:bodyPr>
          <a:lstStyle/>
          <a:p>
            <a:pPr algn="l">
              <a:spcAft>
                <a:spcPts val="0"/>
              </a:spcAft>
              <a:buNone/>
            </a:pPr>
            <a:r>
              <a:rPr lang="es-CL" sz="1900" b="1">
                <a:solidFill>
                  <a:srgbClr val="17375D"/>
                </a:solidFill>
                <a:latin typeface="Calibri"/>
                <a:ea typeface="Calibri"/>
                <a:cs typeface="Calibri"/>
              </a:rPr>
              <a:t>Ventana útil</a:t>
            </a:r>
            <a:endParaRPr lang="es-CL" sz="1900"/>
          </a:p>
          <a:p>
            <a:pPr algn="l">
              <a:spcAft>
                <a:spcPts val="0"/>
              </a:spcAft>
              <a:buNone/>
            </a:pPr>
            <a:r>
              <a:rPr lang="es-CL" sz="1900" b="1">
                <a:solidFill>
                  <a:srgbClr val="17375D"/>
                </a:solidFill>
                <a:latin typeface="Calibri"/>
                <a:ea typeface="Calibri"/>
                <a:cs typeface="Calibri"/>
              </a:rPr>
              <a:t>por fuente</a:t>
            </a:r>
            <a:endParaRPr lang="es-CL" sz="1900"/>
          </a:p>
        </p:txBody>
      </p:sp>
      <p:sp>
        <p:nvSpPr>
          <p:cNvPr id="12" name="Acción 01"/>
          <p:cNvSpPr txBox="1"/>
          <p:nvPr/>
        </p:nvSpPr>
        <p:spPr>
          <a:xfrm>
            <a:off x="502920" y="3438144"/>
            <a:ext cx="2423160" cy="612648"/>
          </a:xfrm>
          <a:prstGeom prst="rect">
            <a:avLst/>
          </a:prstGeom>
          <a:noFill/>
          <a:ln>
            <a:noFill/>
          </a:ln>
        </p:spPr>
        <p:txBody>
          <a:bodyPr wrap="square" lIns="0" rIns="0" tIns="0" bIns="0" anchor="t">
            <a:noAutofit/>
          </a:bodyPr>
          <a:lstStyle/>
          <a:p>
            <a:pPr algn="l">
              <a:spcAft>
                <a:spcPts val="0"/>
              </a:spcAft>
              <a:buNone/>
            </a:pPr>
            <a:r>
              <a:rPr lang="es-CL" sz="1250" b="0">
                <a:solidFill>
                  <a:srgbClr val="64748B"/>
                </a:solidFill>
                <a:latin typeface="Calibri"/>
                <a:ea typeface="Calibri"/>
                <a:cs typeface="Calibri"/>
              </a:rPr>
              <a:t>Identificar los períodos</a:t>
            </a:r>
            <a:endParaRPr lang="es-CL" sz="1250"/>
          </a:p>
          <a:p>
            <a:pPr algn="l">
              <a:spcAft>
                <a:spcPts val="0"/>
              </a:spcAft>
              <a:buNone/>
            </a:pPr>
            <a:r>
              <a:rPr lang="es-CL" sz="1250" b="0">
                <a:solidFill>
                  <a:srgbClr val="64748B"/>
                </a:solidFill>
                <a:latin typeface="Calibri"/>
                <a:ea typeface="Calibri"/>
                <a:cs typeface="Calibri"/>
              </a:rPr>
              <a:t>que realmente se superponen.</a:t>
            </a:r>
            <a:endParaRPr lang="es-CL" sz="1250"/>
          </a:p>
        </p:txBody>
      </p:sp>
      <p:sp>
        <p:nvSpPr>
          <p:cNvPr id="13" name="Separador decisiones 01"/>
          <p:cNvSpPr txBox="1"/>
          <p:nvPr/>
        </p:nvSpPr>
        <p:spPr>
          <a:xfrm>
            <a:off x="3044952" y="1280160"/>
            <a:ext cx="10973" cy="2834640"/>
          </a:xfrm>
          <a:prstGeom prst="rect">
            <a:avLst/>
          </a:prstGeom>
          <a:solidFill>
            <a:srgbClr val="DCE5E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4" name="Número decisión 02"/>
          <p:cNvSpPr txBox="1"/>
          <p:nvPr/>
        </p:nvSpPr>
        <p:spPr>
          <a:xfrm>
            <a:off x="3291840" y="1161288"/>
            <a:ext cx="2377440" cy="594360"/>
          </a:xfrm>
          <a:prstGeom prst="rect">
            <a:avLst/>
          </a:prstGeom>
          <a:noFill/>
          <a:ln>
            <a:noFill/>
          </a:ln>
        </p:spPr>
        <p:txBody>
          <a:bodyPr wrap="square" lIns="0" rIns="0" tIns="0" bIns="0" anchor="t">
            <a:noAutofit/>
          </a:bodyPr>
          <a:lstStyle/>
          <a:p>
            <a:pPr algn="l">
              <a:spcAft>
                <a:spcPts val="0"/>
              </a:spcAft>
              <a:buNone/>
            </a:pPr>
            <a:r>
              <a:rPr lang="es-CL" sz="3600" b="1">
                <a:solidFill>
                  <a:srgbClr val="017EDF"/>
                </a:solidFill>
                <a:latin typeface="Calibri"/>
                <a:ea typeface="Calibri"/>
                <a:cs typeface="Calibri"/>
              </a:rPr>
              <a:t>02</a:t>
            </a:r>
            <a:endParaRPr lang="es-CL" sz="3600"/>
          </a:p>
        </p:txBody>
      </p:sp>
      <p:sp>
        <p:nvSpPr>
          <p:cNvPr id="15" name="Categoría decisión 02"/>
          <p:cNvSpPr txBox="1"/>
          <p:nvPr/>
        </p:nvSpPr>
        <p:spPr>
          <a:xfrm>
            <a:off x="3291840" y="1901952"/>
            <a:ext cx="2468880" cy="219456"/>
          </a:xfrm>
          <a:prstGeom prst="rect">
            <a:avLst/>
          </a:prstGeom>
          <a:noFill/>
          <a:ln>
            <a:noFill/>
          </a:ln>
        </p:spPr>
        <p:txBody>
          <a:bodyPr wrap="square" lIns="0" rIns="0" tIns="0" bIns="0" anchor="t">
            <a:noAutofit/>
          </a:bodyPr>
          <a:lstStyle/>
          <a:p>
            <a:pPr algn="l">
              <a:spcAft>
                <a:spcPts val="0"/>
              </a:spcAft>
              <a:buNone/>
            </a:pPr>
            <a:r>
              <a:rPr lang="es-CL" sz="1050" b="1">
                <a:solidFill>
                  <a:srgbClr val="017EDF"/>
                </a:solidFill>
                <a:latin typeface="Calibri"/>
                <a:ea typeface="Calibri"/>
                <a:cs typeface="Calibri"/>
              </a:rPr>
              <a:t>CALIDAD</a:t>
            </a:r>
            <a:endParaRPr lang="es-CL" sz="1050"/>
          </a:p>
        </p:txBody>
      </p:sp>
      <p:sp>
        <p:nvSpPr>
          <p:cNvPr id="16" name="Decisión 02"/>
          <p:cNvSpPr txBox="1"/>
          <p:nvPr/>
        </p:nvSpPr>
        <p:spPr>
          <a:xfrm>
            <a:off x="3291840" y="2322576"/>
            <a:ext cx="2423160" cy="804672"/>
          </a:xfrm>
          <a:prstGeom prst="rect">
            <a:avLst/>
          </a:prstGeom>
          <a:noFill/>
          <a:ln>
            <a:noFill/>
          </a:ln>
        </p:spPr>
        <p:txBody>
          <a:bodyPr wrap="square" lIns="0" rIns="0" tIns="0" bIns="0" anchor="t">
            <a:noAutofit/>
          </a:bodyPr>
          <a:lstStyle/>
          <a:p>
            <a:pPr algn="l">
              <a:spcAft>
                <a:spcPts val="0"/>
              </a:spcAft>
              <a:buNone/>
            </a:pPr>
            <a:r>
              <a:rPr lang="es-CL" sz="1900" b="1">
                <a:solidFill>
                  <a:srgbClr val="17375D"/>
                </a:solidFill>
                <a:latin typeface="Calibri"/>
                <a:ea typeface="Calibri"/>
                <a:cs typeface="Calibri"/>
              </a:rPr>
              <a:t>Banderas, faltantes</a:t>
            </a:r>
            <a:endParaRPr lang="es-CL" sz="1900"/>
          </a:p>
          <a:p>
            <a:pPr algn="l">
              <a:spcAft>
                <a:spcPts val="0"/>
              </a:spcAft>
              <a:buNone/>
            </a:pPr>
            <a:r>
              <a:rPr lang="es-CL" sz="1900" b="1">
                <a:solidFill>
                  <a:srgbClr val="17375D"/>
                </a:solidFill>
                <a:latin typeface="Calibri"/>
                <a:ea typeface="Calibri"/>
                <a:cs typeface="Calibri"/>
              </a:rPr>
              <a:t>y extremos</a:t>
            </a:r>
            <a:endParaRPr lang="es-CL" sz="1900"/>
          </a:p>
        </p:txBody>
      </p:sp>
      <p:sp>
        <p:nvSpPr>
          <p:cNvPr id="17" name="Acción 02"/>
          <p:cNvSpPr txBox="1"/>
          <p:nvPr/>
        </p:nvSpPr>
        <p:spPr>
          <a:xfrm>
            <a:off x="3291840" y="3438144"/>
            <a:ext cx="2423160" cy="612648"/>
          </a:xfrm>
          <a:prstGeom prst="rect">
            <a:avLst/>
          </a:prstGeom>
          <a:noFill/>
          <a:ln>
            <a:noFill/>
          </a:ln>
        </p:spPr>
        <p:txBody>
          <a:bodyPr wrap="square" lIns="0" rIns="0" tIns="0" bIns="0" anchor="t">
            <a:noAutofit/>
          </a:bodyPr>
          <a:lstStyle/>
          <a:p>
            <a:pPr algn="l">
              <a:spcAft>
                <a:spcPts val="0"/>
              </a:spcAft>
              <a:buNone/>
            </a:pPr>
            <a:r>
              <a:rPr lang="es-CL" sz="1250" b="0">
                <a:solidFill>
                  <a:srgbClr val="64748B"/>
                </a:solidFill>
                <a:latin typeface="Calibri"/>
                <a:ea typeface="Calibri"/>
                <a:cs typeface="Calibri"/>
              </a:rPr>
              <a:t>Definir tratamiento y</a:t>
            </a:r>
            <a:endParaRPr lang="es-CL" sz="1250"/>
          </a:p>
          <a:p>
            <a:pPr algn="l">
              <a:spcAft>
                <a:spcPts val="0"/>
              </a:spcAft>
              <a:buNone/>
            </a:pPr>
            <a:r>
              <a:rPr lang="es-CL" sz="1250" b="0">
                <a:solidFill>
                  <a:srgbClr val="64748B"/>
                </a:solidFill>
                <a:latin typeface="Calibri"/>
                <a:ea typeface="Calibri"/>
                <a:cs typeface="Calibri"/>
              </a:rPr>
              <a:t>análisis de sensibilidad.</a:t>
            </a:r>
            <a:endParaRPr lang="es-CL" sz="1250"/>
          </a:p>
        </p:txBody>
      </p:sp>
      <p:sp>
        <p:nvSpPr>
          <p:cNvPr id="18" name="Separador decisiones 02"/>
          <p:cNvSpPr txBox="1"/>
          <p:nvPr/>
        </p:nvSpPr>
        <p:spPr>
          <a:xfrm>
            <a:off x="5833872" y="1280160"/>
            <a:ext cx="10973" cy="2834640"/>
          </a:xfrm>
          <a:prstGeom prst="rect">
            <a:avLst/>
          </a:prstGeom>
          <a:solidFill>
            <a:srgbClr val="DCE5E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19" name="Número decisión 03"/>
          <p:cNvSpPr txBox="1"/>
          <p:nvPr/>
        </p:nvSpPr>
        <p:spPr>
          <a:xfrm>
            <a:off x="6080760" y="1161288"/>
            <a:ext cx="2377440" cy="594360"/>
          </a:xfrm>
          <a:prstGeom prst="rect">
            <a:avLst/>
          </a:prstGeom>
          <a:noFill/>
          <a:ln>
            <a:noFill/>
          </a:ln>
        </p:spPr>
        <p:txBody>
          <a:bodyPr wrap="square" lIns="0" rIns="0" tIns="0" bIns="0" anchor="t">
            <a:noAutofit/>
          </a:bodyPr>
          <a:lstStyle/>
          <a:p>
            <a:pPr algn="l">
              <a:spcAft>
                <a:spcPts val="0"/>
              </a:spcAft>
              <a:buNone/>
            </a:pPr>
            <a:r>
              <a:rPr lang="es-CL" sz="3600" b="1">
                <a:solidFill>
                  <a:srgbClr val="017EDF"/>
                </a:solidFill>
                <a:latin typeface="Calibri"/>
                <a:ea typeface="Calibri"/>
                <a:cs typeface="Calibri"/>
              </a:rPr>
              <a:t>03</a:t>
            </a:r>
            <a:endParaRPr lang="es-CL" sz="3600"/>
          </a:p>
        </p:txBody>
      </p:sp>
      <p:sp>
        <p:nvSpPr>
          <p:cNvPr id="20" name="Categoría decisión 03"/>
          <p:cNvSpPr txBox="1"/>
          <p:nvPr/>
        </p:nvSpPr>
        <p:spPr>
          <a:xfrm>
            <a:off x="6080760" y="1901952"/>
            <a:ext cx="2468880" cy="219456"/>
          </a:xfrm>
          <a:prstGeom prst="rect">
            <a:avLst/>
          </a:prstGeom>
          <a:noFill/>
          <a:ln>
            <a:noFill/>
          </a:ln>
        </p:spPr>
        <p:txBody>
          <a:bodyPr wrap="square" lIns="0" rIns="0" tIns="0" bIns="0" anchor="t">
            <a:noAutofit/>
          </a:bodyPr>
          <a:lstStyle/>
          <a:p>
            <a:pPr algn="l">
              <a:spcAft>
                <a:spcPts val="0"/>
              </a:spcAft>
              <a:buNone/>
            </a:pPr>
            <a:r>
              <a:rPr lang="es-CL" sz="1050" b="1">
                <a:solidFill>
                  <a:srgbClr val="017EDF"/>
                </a:solidFill>
                <a:latin typeface="Calibri"/>
                <a:ea typeface="Calibri"/>
                <a:cs typeface="Calibri"/>
              </a:rPr>
              <a:t>EVALUACIÓN</a:t>
            </a:r>
            <a:endParaRPr lang="es-CL" sz="1050"/>
          </a:p>
        </p:txBody>
      </p:sp>
      <p:sp>
        <p:nvSpPr>
          <p:cNvPr id="21" name="Decisión 03"/>
          <p:cNvSpPr txBox="1"/>
          <p:nvPr/>
        </p:nvSpPr>
        <p:spPr>
          <a:xfrm>
            <a:off x="6080760" y="2322576"/>
            <a:ext cx="2423160" cy="804672"/>
          </a:xfrm>
          <a:prstGeom prst="rect">
            <a:avLst/>
          </a:prstGeom>
          <a:noFill/>
          <a:ln>
            <a:noFill/>
          </a:ln>
        </p:spPr>
        <p:txBody>
          <a:bodyPr wrap="square" lIns="0" rIns="0" tIns="0" bIns="0" anchor="t">
            <a:noAutofit/>
          </a:bodyPr>
          <a:lstStyle/>
          <a:p>
            <a:pPr algn="l">
              <a:spcAft>
                <a:spcPts val="0"/>
              </a:spcAft>
              <a:buNone/>
            </a:pPr>
            <a:r>
              <a:rPr lang="es-CL" sz="1900" b="1">
                <a:solidFill>
                  <a:srgbClr val="17375D"/>
                </a:solidFill>
                <a:latin typeface="Calibri"/>
                <a:ea typeface="Calibri"/>
                <a:cs typeface="Calibri"/>
              </a:rPr>
              <a:t>Separación por</a:t>
            </a:r>
            <a:endParaRPr lang="es-CL" sz="1900"/>
          </a:p>
          <a:p>
            <a:pPr algn="l">
              <a:spcAft>
                <a:spcPts val="0"/>
              </a:spcAft>
              <a:buNone/>
            </a:pPr>
            <a:r>
              <a:rPr lang="es-CL" sz="1900" b="1">
                <a:solidFill>
                  <a:srgbClr val="17375D"/>
                </a:solidFill>
                <a:latin typeface="Calibri"/>
                <a:ea typeface="Calibri"/>
                <a:cs typeface="Calibri"/>
              </a:rPr>
              <a:t>lugar y período</a:t>
            </a:r>
            <a:endParaRPr lang="es-CL" sz="1900"/>
          </a:p>
        </p:txBody>
      </p:sp>
      <p:sp>
        <p:nvSpPr>
          <p:cNvPr id="22" name="Acción 03"/>
          <p:cNvSpPr txBox="1"/>
          <p:nvPr/>
        </p:nvSpPr>
        <p:spPr>
          <a:xfrm>
            <a:off x="6080760" y="3438144"/>
            <a:ext cx="2423160" cy="612648"/>
          </a:xfrm>
          <a:prstGeom prst="rect">
            <a:avLst/>
          </a:prstGeom>
          <a:noFill/>
          <a:ln>
            <a:noFill/>
          </a:ln>
        </p:spPr>
        <p:txBody>
          <a:bodyPr wrap="square" lIns="0" rIns="0" tIns="0" bIns="0" anchor="t">
            <a:noAutofit/>
          </a:bodyPr>
          <a:lstStyle/>
          <a:p>
            <a:pPr algn="l">
              <a:spcAft>
                <a:spcPts val="0"/>
              </a:spcAft>
              <a:buNone/>
            </a:pPr>
            <a:r>
              <a:rPr lang="es-CL" sz="1250" b="0">
                <a:solidFill>
                  <a:srgbClr val="64748B"/>
                </a:solidFill>
                <a:latin typeface="Calibri"/>
                <a:ea typeface="Calibri"/>
                <a:cs typeface="Calibri"/>
              </a:rPr>
              <a:t>Reservar información</a:t>
            </a:r>
            <a:endParaRPr lang="es-CL" sz="1250"/>
          </a:p>
          <a:p>
            <a:pPr algn="l">
              <a:spcAft>
                <a:spcPts val="0"/>
              </a:spcAft>
              <a:buNone/>
            </a:pPr>
            <a:r>
              <a:rPr lang="es-CL" sz="1250" b="0">
                <a:solidFill>
                  <a:srgbClr val="64748B"/>
                </a:solidFill>
                <a:latin typeface="Calibri"/>
                <a:ea typeface="Calibri"/>
                <a:cs typeface="Calibri"/>
              </a:rPr>
              <a:t>independiente del ajuste.</a:t>
            </a:r>
            <a:endParaRPr lang="es-CL" sz="1250"/>
          </a:p>
        </p:txBody>
      </p:sp>
      <p:sp>
        <p:nvSpPr>
          <p:cNvPr id="23" name="Cierre"/>
          <p:cNvSpPr txBox="1"/>
          <p:nvPr/>
        </p:nvSpPr>
        <p:spPr>
          <a:xfrm>
            <a:off x="502920" y="4361688"/>
            <a:ext cx="8138160" cy="283464"/>
          </a:xfrm>
          <a:prstGeom prst="rect">
            <a:avLst/>
          </a:prstGeom>
          <a:noFill/>
          <a:ln>
            <a:noFill/>
          </a:ln>
        </p:spPr>
        <p:txBody>
          <a:bodyPr wrap="square" lIns="0" rIns="0" tIns="0" bIns="0" anchor="t">
            <a:noAutofit/>
          </a:bodyPr>
          <a:lstStyle/>
          <a:p>
            <a:pPr algn="l">
              <a:spcAft>
                <a:spcPts val="0"/>
              </a:spcAft>
              <a:buNone/>
            </a:pPr>
            <a:r>
              <a:rPr lang="es-CL" sz="1450" b="1">
                <a:solidFill>
                  <a:srgbClr val="17375D"/>
                </a:solidFill>
                <a:latin typeface="Calibri"/>
                <a:ea typeface="Calibri"/>
                <a:cs typeface="Calibri"/>
              </a:rPr>
              <a:t>La cobertura y la calidad de los datos definen cómo evaluaremos el modelo.</a:t>
            </a:r>
            <a:endParaRPr lang="es-CL" sz="1450"/>
          </a:p>
        </p:txBody>
      </p:sp>
    </p:spTree>
    <p:extLst>
      <p:ext uri="{BB962C8B-B14F-4D97-AF65-F5344CB8AC3E}">
        <p14:creationId xmlns:p14="http://schemas.microsoft.com/office/powerpoint/2010/main" val="3227572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Respaldo: ciclos observados por macrozona</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Misma agregación por estación. Austral NO₂ aporta una estación; no se usa para generalizar a toda la macrozona.</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9</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pic>
        <p:nvPicPr>
          <p:cNvPr id="9" name="Ciclos observados por las cinco macrozonas y cuatro temporadas" descr="Ciclos observados por las cinco macrozonas y cuatro temporadas"/>
          <p:cNvPicPr>
            <a:picLocks noChangeAspect="1"/>
          </p:cNvPicPr>
          <p:nvPr/>
        </p:nvPicPr>
        <p:blipFill>
          <a:blip r:embed="rIdImage2"/>
          <a:stretch>
            <a:fillRect/>
          </a:stretch>
        </p:blipFill>
        <p:spPr>
          <a:xfrm>
            <a:off x="320040" y="1005649"/>
            <a:ext cx="8503920" cy="3484245"/>
          </a:xfrm>
          <a:prstGeom prst="rect">
            <a:avLst/>
          </a:prstGeom>
        </p:spPr>
      </p:pic>
    </p:spTree>
    <p:extLst>
      <p:ext uri="{BB962C8B-B14F-4D97-AF65-F5344CB8AC3E}">
        <p14:creationId xmlns:p14="http://schemas.microsoft.com/office/powerpoint/2010/main" val="3227572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Respaldo: las variables requieren unidades propias</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Unidades conservadas de los descriptivos. El detalle de fuentes y denominadores está en las notas.</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10</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graphicFrame>
        <p:nvGraphicFramePr>
          <p:cNvPr id="9" name="Diccionario de variables"/>
          <p:cNvGraphicFramePr/>
          <p:nvPr/>
        </p:nvGraphicFramePr>
        <p:xfrm>
          <a:off x="502920" y="1225296"/>
          <a:ext cx="8138160" cy="2496312"/>
        </p:xfrm>
        <a:graphic>
          <a:graphicData uri="http://schemas.openxmlformats.org/drawingml/2006/table">
            <a:tbl>
              <a:tblPr firstRow="1" bandRow="0"/>
              <a:tblGrid>
                <a:gridCol w="1828800"/>
                <a:gridCol w="3566160"/>
                <a:gridCol w="2743200"/>
              </a:tblGrid>
              <a:tr h="411480">
                <a:tc>
                  <a:txBody>
                    <a:bodyPr wrap="square" anchor="ctr" lIns="73152" rIns="73152" tIns="32004" bIns="32004">
                      <a:noAutofit/>
                    </a:bodyPr>
                    <a:lstStyle/>
                    <a:p>
                      <a:pPr algn="l">
                        <a:spcAft>
                          <a:spcPts val="0"/>
                        </a:spcAft>
                        <a:buNone/>
                      </a:pPr>
                      <a:r>
                        <a:rPr lang="es-CL" sz="1250" b="1">
                          <a:solidFill>
                            <a:srgbClr val="FFFFFF"/>
                          </a:solidFill>
                          <a:latin typeface="Calibri"/>
                          <a:ea typeface="Calibri"/>
                          <a:cs typeface="Calibri"/>
                        </a:rPr>
                        <a:t>Variable</a:t>
                      </a:r>
                      <a:endParaRPr lang="es-CL" sz="1250"/>
                    </a:p>
                  </a:txBody>
                  <a:tcPr marL="73152" marR="73152" marT="32004" marB="32004" anchor="ctr">
                    <a:solidFill>
                      <a:srgbClr val="17375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1">
                          <a:solidFill>
                            <a:srgbClr val="FFFFFF"/>
                          </a:solidFill>
                          <a:latin typeface="Calibri"/>
                          <a:ea typeface="Calibri"/>
                          <a:cs typeface="Calibri"/>
                        </a:rPr>
                        <a:t>Tipo / soporte</a:t>
                      </a:r>
                      <a:endParaRPr lang="es-CL" sz="1250"/>
                    </a:p>
                  </a:txBody>
                  <a:tcPr marL="73152" marR="73152" marT="32004" marB="32004" anchor="ctr">
                    <a:solidFill>
                      <a:srgbClr val="17375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1">
                          <a:solidFill>
                            <a:srgbClr val="FFFFFF"/>
                          </a:solidFill>
                          <a:latin typeface="Calibri"/>
                          <a:ea typeface="Calibri"/>
                          <a:cs typeface="Calibri"/>
                        </a:rPr>
                        <a:t>Lectura</a:t>
                      </a:r>
                      <a:endParaRPr lang="es-CL" sz="1250"/>
                    </a:p>
                  </a:txBody>
                  <a:tcPr marL="73152" marR="73152" marT="32004" marB="32004" anchor="ctr">
                    <a:solidFill>
                      <a:srgbClr val="17375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r>
              <a:tr h="521208">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PM₂.₅</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Concentración superficial</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µg/m³</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r>
              <a:tr h="521208">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NO₂ observado</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Concentración superficial</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ppb</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r>
              <a:tr h="521208">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MAIAC AOD</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Columna óptica</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Adimensional</a:t>
                      </a:r>
                      <a:endParaRPr lang="es-CL" sz="1250"/>
                    </a:p>
                  </a:txBody>
                  <a:tcPr marL="73152" marR="73152" marT="32004" marB="32004" anchor="ctr">
                    <a:solidFill>
                      <a:srgbClr val="EAF2FD"/>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r>
              <a:tr h="521208">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TROPOMI NO₂</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Columna troposférica</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c>
                  <a:txBody>
                    <a:bodyPr wrap="square" anchor="ctr" lIns="73152" rIns="73152" tIns="32004" bIns="32004">
                      <a:noAutofit/>
                    </a:bodyPr>
                    <a:lstStyle/>
                    <a:p>
                      <a:pPr algn="l">
                        <a:spcAft>
                          <a:spcPts val="0"/>
                        </a:spcAft>
                        <a:buNone/>
                      </a:pPr>
                      <a:r>
                        <a:rPr lang="es-CL" sz="1250" b="0">
                          <a:solidFill>
                            <a:srgbClr val="1E293B"/>
                          </a:solidFill>
                          <a:latin typeface="Calibri"/>
                          <a:ea typeface="Calibri"/>
                          <a:cs typeface="Calibri"/>
                        </a:rPr>
                        <a:t>Moléculas/cm²</a:t>
                      </a:r>
                      <a:endParaRPr lang="es-CL" sz="1250"/>
                    </a:p>
                  </a:txBody>
                  <a:tcPr marL="73152" marR="73152" marT="32004" marB="32004" anchor="ctr">
                    <a:solidFill>
                      <a:srgbClr val="FFFFFF"/>
                    </a:solidFill>
                    <a:lnL w="6350">
                      <a:solidFill>
                        <a:srgbClr val="B7C7DB"/>
                      </a:solidFill>
                      <a:prstDash val="solid"/>
                    </a:lnL>
                    <a:lnR w="6350">
                      <a:solidFill>
                        <a:srgbClr val="B7C7DB"/>
                      </a:solidFill>
                      <a:prstDash val="solid"/>
                    </a:lnR>
                    <a:lnT w="6350">
                      <a:solidFill>
                        <a:srgbClr val="B7C7DB"/>
                      </a:solidFill>
                      <a:prstDash val="solid"/>
                    </a:lnT>
                    <a:lnB w="6350">
                      <a:solidFill>
                        <a:srgbClr val="B7C7DB"/>
                      </a:solidFill>
                      <a:prstDash val="solid"/>
                    </a:lnB>
                  </a:tcPr>
                </a:tc>
              </a:tr>
            </a:tbl>
          </a:graphicData>
        </a:graphic>
      </p:graphicFrame>
    </p:spTree>
    <p:extLst>
      <p:ext uri="{BB962C8B-B14F-4D97-AF65-F5344CB8AC3E}">
        <p14:creationId xmlns:p14="http://schemas.microsoft.com/office/powerpoint/2010/main" val="3227572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Cabecera UC"/>
          <p:cNvSpPr txBox="1"/>
          <p:nvPr/>
        </p:nvSpPr>
        <p:spPr>
          <a:xfrm>
            <a:off x="91440" y="0"/>
            <a:ext cx="9052560" cy="749808"/>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3" name="Acento amarillo UC"/>
          <p:cNvSpPr txBox="1"/>
          <p:nvPr/>
        </p:nvSpPr>
        <p:spPr>
          <a:xfrm>
            <a:off x="0" y="128016"/>
            <a:ext cx="91440" cy="621792"/>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4" name="Título UC"/>
          <p:cNvSpPr txBox="1"/>
          <p:nvPr/>
        </p:nvSpPr>
        <p:spPr>
          <a:xfrm>
            <a:off x="475488" y="182880"/>
            <a:ext cx="8229600" cy="438912"/>
          </a:xfrm>
          <a:prstGeom prst="rect">
            <a:avLst/>
          </a:prstGeom>
          <a:noFill/>
          <a:ln>
            <a:noFill/>
          </a:ln>
        </p:spPr>
        <p:txBody>
          <a:bodyPr wrap="square" lIns="0" rIns="0" tIns="0" bIns="0" anchor="t">
            <a:noAutofit/>
          </a:bodyPr>
          <a:lstStyle/>
          <a:p>
            <a:pPr algn="l">
              <a:spcAft>
                <a:spcPts val="0"/>
              </a:spcAft>
              <a:buNone/>
            </a:pPr>
            <a:r>
              <a:rPr lang="es-CL" sz="2150" b="1">
                <a:solidFill>
                  <a:srgbClr val="FFFFFF"/>
                </a:solidFill>
                <a:latin typeface="Calibri"/>
                <a:ea typeface="Calibri"/>
                <a:cs typeface="Calibri"/>
              </a:rPr>
              <a:t>Fuentes para la revisión</a:t>
            </a:r>
            <a:endParaRPr lang="es-CL" sz="2150"/>
          </a:p>
        </p:txBody>
      </p:sp>
      <p:sp>
        <p:nvSpPr>
          <p:cNvPr id="5" name="Fuente"/>
          <p:cNvSpPr txBox="1"/>
          <p:nvPr/>
        </p:nvSpPr>
        <p:spPr>
          <a:xfrm>
            <a:off x="475488" y="4745736"/>
            <a:ext cx="7918704" cy="146304"/>
          </a:xfrm>
          <a:prstGeom prst="rect">
            <a:avLst/>
          </a:prstGeom>
          <a:noFill/>
          <a:ln>
            <a:noFill/>
          </a:ln>
        </p:spPr>
        <p:txBody>
          <a:bodyPr wrap="square" lIns="0" rIns="0" tIns="0" bIns="0" anchor="t">
            <a:noAutofit/>
          </a:bodyPr>
          <a:lstStyle/>
          <a:p>
            <a:pPr algn="l">
              <a:spcAft>
                <a:spcPts val="0"/>
              </a:spcAft>
              <a:buNone/>
            </a:pPr>
            <a:r>
              <a:rPr lang="es-CL" sz="780" b="0">
                <a:solidFill>
                  <a:srgbClr val="64748B"/>
                </a:solidFill>
                <a:latin typeface="Calibri"/>
                <a:ea typeface="Calibri"/>
                <a:cs typeface="Calibri"/>
              </a:rPr>
              <a:t>Pauta oficial y referencias completas en notas, guion y carpeta pautas.</a:t>
            </a:r>
            <a:endParaRPr lang="es-CL" sz="780"/>
          </a:p>
        </p:txBody>
      </p:sp>
      <p:sp>
        <p:nvSpPr>
          <p:cNvPr id="6" name="Número"/>
          <p:cNvSpPr txBox="1"/>
          <p:nvPr/>
        </p:nvSpPr>
        <p:spPr>
          <a:xfrm>
            <a:off x="8439912" y="4736592"/>
            <a:ext cx="228600" cy="164592"/>
          </a:xfrm>
          <a:prstGeom prst="rect">
            <a:avLst/>
          </a:prstGeom>
          <a:noFill/>
          <a:ln>
            <a:noFill/>
          </a:ln>
        </p:spPr>
        <p:txBody>
          <a:bodyPr wrap="square" lIns="0" rIns="0" tIns="0" bIns="0" anchor="t">
            <a:noAutofit/>
          </a:bodyPr>
          <a:lstStyle/>
          <a:p>
            <a:pPr algn="r">
              <a:spcAft>
                <a:spcPts val="0"/>
              </a:spcAft>
              <a:buNone/>
            </a:pPr>
            <a:r>
              <a:rPr lang="es-CL" sz="830" b="0">
                <a:solidFill>
                  <a:srgbClr val="64748B"/>
                </a:solidFill>
                <a:latin typeface="Calibri"/>
                <a:ea typeface="Calibri"/>
                <a:cs typeface="Calibri"/>
              </a:rPr>
              <a:t>11</a:t>
            </a:r>
            <a:endParaRPr lang="es-CL" sz="830"/>
          </a:p>
        </p:txBody>
      </p:sp>
      <p:sp>
        <p:nvSpPr>
          <p:cNvPr id="7" name="Línea de cierre UC"/>
          <p:cNvSpPr txBox="1"/>
          <p:nvPr/>
        </p:nvSpPr>
        <p:spPr>
          <a:xfrm>
            <a:off x="475488" y="4974336"/>
            <a:ext cx="8193024" cy="22860"/>
          </a:xfrm>
          <a:prstGeom prst="rect">
            <a:avLst/>
          </a:prstGeom>
          <a:solidFill>
            <a:srgbClr val="017EDF"/>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8" name="Acento de cierre UC"/>
          <p:cNvSpPr txBox="1"/>
          <p:nvPr/>
        </p:nvSpPr>
        <p:spPr>
          <a:xfrm>
            <a:off x="475488" y="4974336"/>
            <a:ext cx="384048" cy="22860"/>
          </a:xfrm>
          <a:prstGeom prst="rect">
            <a:avLst/>
          </a:prstGeom>
          <a:solidFill>
            <a:srgbClr val="FFE200"/>
          </a:solidFill>
          <a:ln>
            <a:noFill/>
          </a:ln>
        </p:spPr>
        <p:txBody>
          <a:bodyPr wrap="square" lIns="0" rIns="0" tIns="0" bIns="0" anchor="t">
            <a:noAutofit/>
          </a:bodyPr>
          <a:lstStyle/>
          <a:p>
            <a:pPr algn="l">
              <a:spcAft>
                <a:spcPts val="0"/>
              </a:spcAft>
              <a:buNone/>
            </a:pPr>
            <a:r>
              <a:rPr lang="es-CL" sz="1300" b="0">
                <a:solidFill>
                  <a:srgbClr val="1E293B"/>
                </a:solidFill>
                <a:latin typeface="Calibri"/>
                <a:ea typeface="Calibri"/>
                <a:cs typeface="Calibri"/>
              </a:rPr>
              <a:t/>
            </a:r>
            <a:endParaRPr lang="es-CL" sz="1300"/>
          </a:p>
        </p:txBody>
      </p:sp>
      <p:sp>
        <p:nvSpPr>
          <p:cNvPr id="9" name="Fuente encabezado 0"/>
          <p:cNvSpPr txBox="1"/>
          <p:nvPr/>
        </p:nvSpPr>
        <p:spPr>
          <a:xfrm>
            <a:off x="530352" y="1152144"/>
            <a:ext cx="8046720" cy="237744"/>
          </a:xfrm>
          <a:prstGeom prst="rect">
            <a:avLst/>
          </a:prstGeom>
          <a:noFill/>
          <a:ln>
            <a:noFill/>
          </a:ln>
        </p:spPr>
        <p:txBody>
          <a:bodyPr wrap="square" lIns="0" rIns="0" tIns="0" bIns="0" anchor="t">
            <a:noAutofit/>
          </a:bodyPr>
          <a:lstStyle/>
          <a:p>
            <a:pPr algn="l">
              <a:spcAft>
                <a:spcPts val="0"/>
              </a:spcAft>
              <a:buNone/>
            </a:pPr>
            <a:r>
              <a:rPr lang="es-CL" sz="1100" b="1">
                <a:solidFill>
                  <a:srgbClr val="017EDF"/>
                </a:solidFill>
                <a:latin typeface="Calibri"/>
                <a:ea typeface="Calibri"/>
                <a:cs typeface="Calibri"/>
              </a:rPr>
              <a:t>FUENTES DEL RAMO</a:t>
            </a:r>
            <a:endParaRPr lang="es-CL" sz="1100"/>
          </a:p>
        </p:txBody>
      </p:sp>
      <p:sp>
        <p:nvSpPr>
          <p:cNvPr id="10" name="Fuente detalle 0"/>
          <p:cNvSpPr txBox="1"/>
          <p:nvPr/>
        </p:nvSpPr>
        <p:spPr>
          <a:xfrm>
            <a:off x="530352" y="1527048"/>
            <a:ext cx="8046720" cy="502920"/>
          </a:xfrm>
          <a:prstGeom prst="rect">
            <a:avLst/>
          </a:prstGeom>
          <a:noFill/>
          <a:ln>
            <a:noFill/>
          </a:ln>
        </p:spPr>
        <p:txBody>
          <a:bodyPr wrap="square" lIns="0" rIns="0" tIns="0" bIns="0" anchor="t">
            <a:noAutofit/>
          </a:bodyPr>
          <a:lstStyle/>
          <a:p>
            <a:pPr algn="l">
              <a:spcAft>
                <a:spcPts val="0"/>
              </a:spcAft>
              <a:buNone/>
            </a:pPr>
            <a:r>
              <a:rPr lang="es-CL" sz="1220" b="0">
                <a:solidFill>
                  <a:srgbClr val="17375D"/>
                </a:solidFill>
                <a:latin typeface="Calibri"/>
                <a:ea typeface="Calibri"/>
                <a:cs typeface="Calibri"/>
              </a:rPr>
              <a:t>AFG II, semana 2. Video #1: EDA. Máximo 8 minutos.</a:t>
            </a:r>
            <a:endParaRPr lang="es-CL" sz="1220"/>
          </a:p>
          <a:p>
            <a:pPr algn="l">
              <a:spcAft>
                <a:spcPts val="0"/>
              </a:spcAft>
              <a:buNone/>
            </a:pPr>
            <a:r>
              <a:rPr lang="es-CL" sz="1220" b="0">
                <a:solidFill>
                  <a:srgbClr val="17375D"/>
                </a:solidFill>
                <a:latin typeface="Calibri"/>
                <a:ea typeface="Calibri"/>
                <a:cs typeface="Calibri"/>
              </a:rPr>
              <a:t>Pauta consultada el 17 de octubre de 2026.</a:t>
            </a:r>
            <a:endParaRPr lang="es-CL" sz="1220"/>
          </a:p>
        </p:txBody>
      </p:sp>
      <p:sp>
        <p:nvSpPr>
          <p:cNvPr id="11" name="Fuente encabezado 1"/>
          <p:cNvSpPr txBox="1"/>
          <p:nvPr/>
        </p:nvSpPr>
        <p:spPr>
          <a:xfrm>
            <a:off x="530352" y="2231136"/>
            <a:ext cx="8046720" cy="237744"/>
          </a:xfrm>
          <a:prstGeom prst="rect">
            <a:avLst/>
          </a:prstGeom>
          <a:noFill/>
          <a:ln>
            <a:noFill/>
          </a:ln>
        </p:spPr>
        <p:txBody>
          <a:bodyPr wrap="square" lIns="0" rIns="0" tIns="0" bIns="0" anchor="t">
            <a:noAutofit/>
          </a:bodyPr>
          <a:lstStyle/>
          <a:p>
            <a:pPr algn="l">
              <a:spcAft>
                <a:spcPts val="0"/>
              </a:spcAft>
              <a:buNone/>
            </a:pPr>
            <a:r>
              <a:rPr lang="es-CL" sz="1100" b="1">
                <a:solidFill>
                  <a:srgbClr val="017EDF"/>
                </a:solidFill>
                <a:latin typeface="Calibri"/>
                <a:ea typeface="Calibri"/>
                <a:cs typeface="Calibri"/>
              </a:rPr>
              <a:t>OBSERVACIONES Y CALIDAD</a:t>
            </a:r>
            <a:endParaRPr lang="es-CL" sz="1100"/>
          </a:p>
        </p:txBody>
      </p:sp>
      <p:sp>
        <p:nvSpPr>
          <p:cNvPr id="12" name="Fuente detalle 1"/>
          <p:cNvSpPr txBox="1"/>
          <p:nvPr/>
        </p:nvSpPr>
        <p:spPr>
          <a:xfrm>
            <a:off x="530352" y="2606040"/>
            <a:ext cx="8046720" cy="502920"/>
          </a:xfrm>
          <a:prstGeom prst="rect">
            <a:avLst/>
          </a:prstGeom>
          <a:noFill/>
          <a:ln>
            <a:noFill/>
          </a:ln>
        </p:spPr>
        <p:txBody>
          <a:bodyPr wrap="square" lIns="0" rIns="0" tIns="0" bIns="0" anchor="t">
            <a:noAutofit/>
          </a:bodyPr>
          <a:lstStyle/>
          <a:p>
            <a:pPr algn="l">
              <a:spcAft>
                <a:spcPts val="0"/>
              </a:spcAft>
              <a:buNone/>
            </a:pPr>
            <a:r>
              <a:rPr lang="es-CL" sz="1220" b="0">
                <a:solidFill>
                  <a:srgbClr val="17375D"/>
                </a:solidFill>
                <a:latin typeface="Calibri"/>
                <a:ea typeface="Calibri"/>
                <a:cs typeface="Calibri"/>
              </a:rPr>
              <a:t>Air-Pollution/output_files/modelo_1km/desc_*.csv</a:t>
            </a:r>
            <a:endParaRPr lang="es-CL" sz="1220"/>
          </a:p>
          <a:p>
            <a:pPr algn="l">
              <a:spcAft>
                <a:spcPts val="0"/>
              </a:spcAft>
              <a:buNone/>
            </a:pPr>
            <a:r>
              <a:rPr lang="es-CL" sz="1220" b="0">
                <a:solidFill>
                  <a:srgbClr val="17375D"/>
                </a:solidFill>
                <a:latin typeface="Calibri"/>
                <a:ea typeface="Calibri"/>
                <a:cs typeface="Calibri"/>
              </a:rPr>
              <a:t>Air-Pollution/output_files/modelo_1km_v2/calidad_v2_tablas.json</a:t>
            </a:r>
            <a:endParaRPr lang="es-CL" sz="1220"/>
          </a:p>
        </p:txBody>
      </p:sp>
      <p:sp>
        <p:nvSpPr>
          <p:cNvPr id="13" name="Fuente encabezado 2"/>
          <p:cNvSpPr txBox="1"/>
          <p:nvPr/>
        </p:nvSpPr>
        <p:spPr>
          <a:xfrm>
            <a:off x="530352" y="3310128"/>
            <a:ext cx="8046720" cy="237744"/>
          </a:xfrm>
          <a:prstGeom prst="rect">
            <a:avLst/>
          </a:prstGeom>
          <a:noFill/>
          <a:ln>
            <a:noFill/>
          </a:ln>
        </p:spPr>
        <p:txBody>
          <a:bodyPr wrap="square" lIns="0" rIns="0" tIns="0" bIns="0" anchor="t">
            <a:noAutofit/>
          </a:bodyPr>
          <a:lstStyle/>
          <a:p>
            <a:pPr algn="l">
              <a:spcAft>
                <a:spcPts val="0"/>
              </a:spcAft>
              <a:buNone/>
            </a:pPr>
            <a:r>
              <a:rPr lang="es-CL" sz="1100" b="1">
                <a:solidFill>
                  <a:srgbClr val="017EDF"/>
                </a:solidFill>
                <a:latin typeface="Calibri"/>
                <a:ea typeface="Calibri"/>
                <a:cs typeface="Calibri"/>
              </a:rPr>
              <a:t>FIGURAS Y REPRODUCCIÓN</a:t>
            </a:r>
            <a:endParaRPr lang="es-CL" sz="1100"/>
          </a:p>
        </p:txBody>
      </p:sp>
      <p:sp>
        <p:nvSpPr>
          <p:cNvPr id="14" name="Fuente detalle 2"/>
          <p:cNvSpPr txBox="1"/>
          <p:nvPr/>
        </p:nvSpPr>
        <p:spPr>
          <a:xfrm>
            <a:off x="530352" y="3685032"/>
            <a:ext cx="8046720" cy="502920"/>
          </a:xfrm>
          <a:prstGeom prst="rect">
            <a:avLst/>
          </a:prstGeom>
          <a:noFill/>
          <a:ln>
            <a:noFill/>
          </a:ln>
        </p:spPr>
        <p:txBody>
          <a:bodyPr wrap="square" lIns="0" rIns="0" tIns="0" bIns="0" anchor="t">
            <a:noAutofit/>
          </a:bodyPr>
          <a:lstStyle/>
          <a:p>
            <a:pPr algn="l">
              <a:spcAft>
                <a:spcPts val="0"/>
              </a:spcAft>
              <a:buNone/>
            </a:pPr>
            <a:r>
              <a:rPr lang="es-CL" sz="1220" b="0">
                <a:solidFill>
                  <a:srgbClr val="17375D"/>
                </a:solidFill>
                <a:latin typeface="Calibri"/>
                <a:ea typeface="Calibri"/>
                <a:cs typeface="Calibri"/>
              </a:rPr>
              <a:t>Mapas de insumos originales y gráficos observacionales del repositorio.</a:t>
            </a:r>
            <a:endParaRPr lang="es-CL" sz="1220"/>
          </a:p>
          <a:p>
            <a:pPr algn="l">
              <a:spcAft>
                <a:spcPts val="0"/>
              </a:spcAft>
              <a:buNone/>
            </a:pPr>
            <a:r>
              <a:rPr lang="es-CL" sz="1220" b="0">
                <a:solidFill>
                  <a:srgbClr val="17375D"/>
                </a:solidFill>
                <a:latin typeface="Calibri"/>
                <a:ea typeface="Calibri"/>
                <a:cs typeface="Calibri"/>
              </a:rPr>
              <a:t>Versiones adaptadas en Python, con datos derivados y manifiestos.</a:t>
            </a:r>
            <a:endParaRPr lang="es-CL" sz="1220"/>
          </a:p>
        </p:txBody>
      </p:sp>
    </p:spTree>
    <p:extLst>
      <p:ext uri="{BB962C8B-B14F-4D97-AF65-F5344CB8AC3E}">
        <p14:creationId xmlns:p14="http://schemas.microsoft.com/office/powerpoint/2010/main" val="3227572768"/>
      </p:ext>
    </p:extLst>
  </p:cSld>
  <p:clrMapOvr>
    <a:masterClrMapping/>
  </p:clrMapOvr>
</p:sld>
</file>

<file path=ppt/theme/theme1.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 UC.potx</Template>
  <TotalTime>280</TotalTime>
  <Words>1</Words>
  <Application>Microsoft Macintosh PowerPoint</Application>
  <PresentationFormat>Presentación en pantalla (16:9)</PresentationFormat>
  <Paragraphs>1</Paragraphs>
  <Slides>11</Slides>
  <Notes>1</Notes>
  <HiddenSlides>3</HiddenSlides>
  <MMClips>0</MMClips>
  <ScaleCrop>false</ScaleCrop>
  <HeadingPairs>
    <vt:vector size="6" baseType="variant">
      <vt:variant>
        <vt:lpstr>Fuentes usadas</vt:lpstr>
      </vt:variant>
      <vt:variant>
        <vt:i4>2</vt:i4>
      </vt:variant>
      <vt:variant>
        <vt:lpstr>Tema</vt:lpstr>
      </vt:variant>
      <vt:variant>
        <vt:i4>3</vt:i4>
      </vt:variant>
      <vt:variant>
        <vt:lpstr>Títulos de diapositiva</vt:lpstr>
      </vt:variant>
      <vt:variant>
        <vt:i4>5</vt:i4>
      </vt:variant>
    </vt:vector>
  </HeadingPairs>
  <TitlesOfParts>
    <vt:vector size="10" baseType="lpstr">
      <vt:lpstr>Calibri</vt:lpstr>
      <vt:lpstr>Arial</vt:lpstr>
      <vt:lpstr>Plantilla UC</vt:lpstr>
      <vt:lpstr>Diseño personalizado</vt:lpstr>
      <vt:lpstr>2_Diseño personalizado</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AFG II · Avance 1 · Exploración de datos de calidad del aire</dc:title>
  <dc:creator>Equipo Romero, Ávila, Agüero y González</dc:creator>
  <cp:lastModifiedBy>Usuario de Microsoft Office</cp:lastModifiedBy>
  <cp:revision>33</cp:revision>
  <dcterms:created xsi:type="dcterms:W3CDTF">2013-12-19T15:07:33Z</dcterms:created>
  <dcterms:modified xsi:type="dcterms:W3CDTF">2019-05-23T17:24:28Z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0x0101002A30D13EB03CFA46896655FA61226709</vt:lpwstr>
  </property>
</Properties>
</file>