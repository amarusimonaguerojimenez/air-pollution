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s/slide12.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1" r:id="rId3"/>
  </p:sldMasterIdLst>
  <p:notesMasterIdLst>
    <p:notesMasterId r:id="rId9"/>
  </p:notesMasterIdLst>
  <p:sldIdLst>
    <p:sldId id="262" r:id="rId5"/>
    <p:sldId id="259" r:id="rId7"/>
    <p:sldId id="263" r:id="rId17"/>
    <p:sldId id="267" r:id="rId21"/>
    <p:sldId id="268" r:id="rId22"/>
    <p:sldId id="269" r:id="rIdDiagram7"/>
    <p:sldId id="260" r:id="rId8"/>
  </p:sldIdLst>
  <p:sldSz cx="9144000" cy="5143500" type="screen16x9"/>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97">
          <p15:clr>
            <a:srgbClr val="A4A3A4"/>
          </p15:clr>
        </p15:guide>
        <p15:guide id="2" pos="41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CC"/>
    <a:srgbClr val="FFE200"/>
    <a:srgbClr val="FFF0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88"/>
    <p:restoredTop sz="50067"/>
  </p:normalViewPr>
  <p:slideViewPr>
    <p:cSldViewPr snapToGrid="0" snapToObjects="1" showGuides="1">
      <p:cViewPr>
        <p:scale>
          <a:sx n="99" d="100"/>
          <a:sy n="99" d="100"/>
        </p:scale>
        <p:origin x="2248" y="-328"/>
      </p:cViewPr>
      <p:guideLst>
        <p:guide orient="horz" pos="2697"/>
        <p:guide pos="4162"/>
      </p:guideLst>
    </p:cSldViewPr>
  </p:slid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1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7" Type="http://schemas.openxmlformats.org/officeDocument/2006/relationships/slide" Target="slides/slide3.xml"/><Relationship Id="rId21" Type="http://schemas.openxmlformats.org/officeDocument/2006/relationships/slide" Target="slides/slide7.xml"/><Relationship Id="rId22" Type="http://schemas.openxmlformats.org/officeDocument/2006/relationships/slide" Target="slides/slide8.xml"/><Relationship Id="rIdDiagram7"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7875-FBB4-E24A-BDDE-B8BBEBD8D5C9}" type="datetimeFigureOut">
              <a:rPr lang="es-ES" smtClean="0"/>
              <a:t>23/5/19</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FB505-4C2B-1B4C-9533-CA0B69CD73D7}" type="slidenum">
              <a:rPr lang="es-ES" smtClean="0"/>
              <a:t>‹Nr.›</a:t>
            </a:fld>
            <a:endParaRPr lang="es-E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D1 Estimación multi-contaminante de la calidad del aire en Chile</a:t>
            </a:r>
          </a:p>
          <a:p>
            <a:pPr algn="l">
              <a:spcAft>
                <a:spcPts val="500"/>
              </a:spcAft>
              <a:buNone/>
            </a:pPr>
            <a:r>
              <a:rPr sz="1100" b="0">
                <a:solidFill>
                  <a:srgbClr val="000000"/>
                </a:solidFill>
                <a:latin typeface="Calibri"/>
              </a:rPr>
              <a:t>0:00 a 0:15 · Presentación</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Hola, somos el Equipo 2. En este avance presentamos los objetivos, la arquitectura del pipeline y la metodología para integrar fuentes, comparar diez modelos y evaluar su generalización territorial y temporal.</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Portada del proyecto.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D2 Objetivos Fijados para la Semana</a:t>
            </a:r>
          </a:p>
          <a:p>
            <a:pPr algn="l">
              <a:spcAft>
                <a:spcPts val="500"/>
              </a:spcAft>
              <a:buNone/>
            </a:pPr>
            <a:r>
              <a:rPr sz="1100" b="0">
                <a:solidFill>
                  <a:srgbClr val="000000"/>
                </a:solidFill>
                <a:latin typeface="Calibri"/>
              </a:rPr>
              <a:t>0:15 a 0:45 · Objetivos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Fijamos tres objetivos: consolidar las fuentes y su integración reproducible; formular modelos de concentración por celda y hora; y establecer una evaluación independiente en el espacio y el tiempo.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alcance general comprende PM₂.₅, PM₁₀, NO₂, O₃, SO₂ y CO. El desarrollo metodológico actual detalla PM₂.₅ y NO₂, con ajustes separados para cada contaminante.</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Di, Q., et al. (2019). An ensemble-based model of PM₂.₅ concentration across the contiguous United States with high spatiotemporal resolution. Environment International, 130, 104909. https://doi.org/10.1016/j.envint.2019.104909</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Roberts, D. R., et al. (2017). Cross-validation strategies for data with temporal, spatial, hierarchical, or phylogenetic structure. Ecography, 40(8), 913–929. https://doi.org/10.1111/ecog.02881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D3 Arquitectura del Pipeline y Consolidación de Datos</a:t>
            </a:r>
          </a:p>
          <a:p>
            <a:pPr algn="l">
              <a:spcAft>
                <a:spcPts val="500"/>
              </a:spcAft>
              <a:buNone/>
            </a:pPr>
            <a:r>
              <a:rPr sz="1100" b="0">
                <a:solidFill>
                  <a:srgbClr val="000000"/>
                </a:solidFill>
                <a:latin typeface="Calibri"/>
              </a:rPr>
              <a:t>0:45 a 1:30 · Integración de fuentes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pipeline parte de lectores específicos para cada fuente. SINCA aporta las concentraciones de referencia; MAIAC, TROPOMI y ACAG, información satelital y de exposición; ERA5-Land, ERA5, MERRA-2, CAMS y GEOS-CF, variables meteorológicas y atmosféricas. Se añaden cobertura del suelo, población y calendario.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Tras revisar calidad, unidades y convenciones horarias, vinculamos cada celda con el píxel nativo válido más cercano y alineamos las observaciones en UTC, respetando su frecuencia. Construimos un panel por contaminante para ajustar y validar los modelos. La etapa territorial contempla superficies horarias. El esquema muestra cómo cada transformación alimenta la etapa siguiente. Los datos originales se conservan separados de los derivados, con trazabilidad en el documento ejecutable.</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Lyapustin, A., Wang, Y., Korkin, S., &amp; Huang, D. (2018). MODIS Collection 6 MAIAC algorithm. Atmospheric Measurement Techniques, 11, 5741–5765. https://doi.org/10.5194/amt-11-5741-2018</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van Geffen, J., et al. (2022). Sentinel-5P TROPOMI NO₂ retrieval: impact of version v2.2 improvements and comparisons with OMI and ground-based data. Atmospheric Measurement Techniques, 15, 2037–2060. https://doi.org/10.5194/amt-15-2037-2022</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Hersbach, H., et al. (2020). The ERA5 global reanalysis. Quarterly Journal of the Royal Meteorological Society, 146, 1999–2049. https://doi.org/10.1002/qj.3803</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Muñoz-Sabater, J., et al. (2021). ERA5-Land: a state-of-the-art global reanalysis dataset for land applications. Earth System Science Data, 13, 4349–4383. https://doi.org/10.5194/essd-13-4349-2021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Gelaro, R., et al. (2017). The Modern-Era Retrospective Analysis for Research and Applications, Version 2 (MERRA-2). Journal of Climate, 30(13), 5419–5454. https://doi.org/10.1175/JCLI-D-16-0758.1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van Donkelaar, A., et al. (2016). Global Estimates of Fine Particulate Matter using a Combined Geophysical-Statistical Method with Information from Satellites, Models, and Monitors. Environmental Science &amp; Technology, 50(7), 3762–3772. https://doi.org/10.1021/acs.est.5b05833</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D4 Propuesta Metodológica y Modelamiento Químico-Atmosférico</a:t>
            </a:r>
          </a:p>
          <a:p>
            <a:pPr algn="l">
              <a:spcAft>
                <a:spcPts val="500"/>
              </a:spcAft>
              <a:buNone/>
            </a:pPr>
            <a:r>
              <a:rPr sz="1100" b="0">
                <a:solidFill>
                  <a:srgbClr val="000000"/>
                </a:solidFill>
                <a:latin typeface="Calibri"/>
              </a:rPr>
              <a:t>1:30 a 2:05 · Diseño de estimación</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diseño calibra y valida modelos de exposición. La unidad combina una celda de cero coma cero un grados, aproximadamente un kilómetro, con una hora UTC. Cada estación recibe los mismos predictores de su celda que utilizará el producto territorial.</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contexto físico y químico orienta la selección de variables. Las columnas satelitales ayudan a estimar la concentración superficial mediante modelos estadísticos. La agregación a comunas requiere definir una regla explícita.</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Di, Q., et al. (2019). An ensemble-based model of PM₂.₅ concentration across the contiguous United States with high spatiotemporal resolution. Environment International, 130, 104909. https://doi.org/10.1016/j.envint.2019.104909</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van Donkelaar, A., et al. (2016). Global Estimates of Fine Particulate Matter using a Combined Geophysical-Statistical Method with Information from Satellites, Models, and Monitors. Environmental Science &amp; Technology, 50(7), 3762–3772. https://doi.org/10.1021/acs.est.5b05833</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D5 Comparación de Modelos de Estimación</a:t>
            </a:r>
          </a:p>
          <a:p>
            <a:pPr algn="l">
              <a:spcAft>
                <a:spcPts val="500"/>
              </a:spcAft>
              <a:buNone/>
            </a:pPr>
            <a:r>
              <a:rPr sz="1100" b="0">
                <a:solidFill>
                  <a:srgbClr val="000000"/>
                </a:solidFill>
                <a:latin typeface="Calibri"/>
              </a:rPr>
              <a:t>2:05 a 3:10 · Diez modelos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Comparamos diez alternativas. LightGBM y Random Forest representan relaciones mediante árboles; la red neuronal multicapa aprende relaciones no lineales; y el proceso gaussiano modela similitudes mediante un núcleo.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modelo lineal mixto combina efectos fijos y aleatorios por hora local. GWR estima coeficientes locales; la regresión con kriging incorpora dependencia espacial en los residuos; y la interpolación de estaciones vecinas funciona como línea base.</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LightGBM para alertas estima el percentil ochenta y se orienta a detectar excedencias. El ensamble por apilado combina LightGBM, Random Forest y la red neuronal mediante regresión ridge.</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LightGBM es el motor actual del producto territorial. La comparación debe considerar el objetivo de cada modelo, su tamaño de entrenamiento y su costo computacional.</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Ke, G., Meng, Q., Finley, T., Wang, T., Chen, W., Ma, W., Ye, Q., &amp; Liu, T.-Y. (2017). LightGBM: A Highly Efficient Gradient Boosting Decision Tree. Advances in Neural Information Processing Systems, 30. https://papers.nips.cc/paper/2017/hash/6449f44a102fde848669bdd9eb6b76fa-Abstract.html</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Breiman, L. (2001). Random Forests. Machine Learning, 45, 5–32. https://doi.org/10.1023/A:1010933404324</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Rumelhart, D. E., Hinton, G. E., &amp; Williams, R. J. (1986). Learning representations by back-propagating errors. Nature, 323, 533–536. https://doi.org/10.1038/323533a0</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Rasmussen, C. E., &amp; Williams, C. K. I. (2006). Gaussian Processes for Machine Learning. MIT Press. https://gaussianprocess.org/gpml/</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Fotheringham, A. S., Brunsdon, C., &amp; Charlton, M. (2002). Geographically Weighted Regression: The Analysis of Spatially Varying Relationships. John Wiley &amp; Sons. ISBN 978-0-471-49616-8. https://www.wiley-vch.de/de/fachgebiete/naturwissenschaften/geographically-weighted-regression-978-0-471-49616-8</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Hengl, T., Heuvelink, G. B. M., &amp; Rossiter, D. G. (2007). About regression-kriging: From equations to case studies. Computers &amp; Geosciences, 33(10), 1301–1315. https://doi.org/10.1016/j.cageo.2007.05.001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Laird, N. M., &amp; Ware, J. H. (1982). Random-Effects Models for Longitudinal Data. Biometrics, 38(4), 963–974. https://doi.org/10.2307/2529876</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Koenker, R., &amp; Bassett, G., Jr. (1978). Regression Quantiles. Econometrica, 46(1), 33–50. https://doi.org/10.2307/1913643</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Wolpert, D. H. (1992). Stacked generalization. Neural Networks, 5(2), 241–259. https://doi.org/10.1016/S0893-6080(05)80023-1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D6 Dificultades Surgidas durante la Semana y Soluciones Adoptadas</a:t>
            </a:r>
          </a:p>
          <a:p>
            <a:pPr algn="l">
              <a:spcAft>
                <a:spcPts val="500"/>
              </a:spcAft>
              <a:buNone/>
            </a:pPr>
            <a:r>
              <a:rPr sz="1100" b="0">
                <a:solidFill>
                  <a:srgbClr val="000000"/>
                </a:solidFill>
                <a:latin typeface="Calibri"/>
              </a:rPr>
              <a:t>3:10 a 4:15 · Control de sesgos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 dependencia espacial y temporal exige reservar grupos completos. LOSO excluye un sitio, agrupando las estaciones de una misma celda; LRO reserva una región; y LPO, un bloque de cuatro años. En LOSO y LRO, las estaciones excluidas tampoco participan en los predictores de vecindario. LPO evalúa transferencia entre períodos históricos.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fuentes tienen frecuencias y faltantes distintos. LightGBM admite ausencias; los modelos que requieren imputación o estandarización las ajustan dentro del entrenamiento de cada partición.</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Evaluamos pares de las mismas horas mediante RMSE, MAE, sesgo y R², en escalas horaria, diaria, mensual y anual. Los tamaños de entrenamiento difieren entre modelos. Para el apilado, queda pendiente una validación anidada que preserve la independencia del grupo evaluado.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Roberts, D. R., et al. (2017). Cross-validation strategies for data with temporal, spatial, hierarchical, or phylogenetic structure. Ecography, 40(8), 913–929. https://doi.org/10.1111/ecog.02881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Valavi, R., Elith, J., Lahoz-Monfort, J. J., &amp; Guillera-Arroita, G. (2019). blockCV: An R package for generating spatially or environmentally separated folds for k-fold cross-validation of species distribution models. Methods in Ecology and Evolution, 10, 225–232. https://doi.org/10.1111/2041-210X.13107</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Varma, S., &amp; Simon, R. (2006). Bias in error estimation when using cross-validation for model selection. BMC Bioinformatics, 7, 91. https://doi.org/10.1186/1471-2105-7-91</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as del presentador"/>
          <p:cNvSpPr/>
          <p:nvPr>
            <p:ph type="body" idx="1"/>
          </p:nvPr>
        </p:nvSpPr>
        <p:spPr/>
        <p:txBody>
          <a:bodyPr/>
          <a:lstStyle/>
          <a:p>
            <a:pPr algn="l">
              <a:spcAft>
                <a:spcPts val="500"/>
              </a:spcAft>
              <a:buNone/>
            </a:pPr>
            <a:r>
              <a:rPr sz="1100" b="0">
                <a:solidFill>
                  <a:srgbClr val="000000"/>
                </a:solidFill>
                <a:latin typeface="Calibri"/>
              </a:rPr>
              <a:t>D7 Objetivos de la Próxima Semana y Repositorio</a:t>
            </a:r>
          </a:p>
          <a:p>
            <a:pPr algn="l">
              <a:spcAft>
                <a:spcPts val="500"/>
              </a:spcAft>
              <a:buNone/>
            </a:pPr>
            <a:r>
              <a:rPr sz="1100" b="0">
                <a:solidFill>
                  <a:srgbClr val="000000"/>
                </a:solidFill>
                <a:latin typeface="Calibri"/>
              </a:rPr>
              <a:t>4:15 a 4:50 · Continuidad del trabajo</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Los próximos objetivos son formalizar la agregación comunal, acordar la métrica principal y completar una comparación equitativa, separando la selección de modelos de la evaluación final. También precisaremos la incorporación de los demás contaminantes y la disponibilidad temporal de sus predictores.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El repositorio y el documento ejecutable permiten revisar las decisiones y reproducir el flujo. Esto respalda la documentación metodológica y la preparación de la defensa. Muchas gracias.</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REFERENCIAS CIENTÍFICAS</a:t>
            </a:r>
          </a:p>
          <a:p>
            <a:pPr algn="l">
              <a:spcAft>
                <a:spcPts val="500"/>
              </a:spcAft>
              <a:buNone/>
            </a:pPr>
            <a:r>
              <a:rPr sz="1100" b="0">
                <a:solidFill>
                  <a:srgbClr val="000000"/>
                </a:solidFill>
                <a:latin typeface="Calibri"/>
              </a:rPr>
              <a:t>Sandve, G. K., Nekrutenko, A., Taylor, J., &amp; Hovig, E. (2013). Ten Simple Rules for Reproducible Computational Research. PLOS Computational Biology, 9(10), e1003285. https://doi.org/10.1371/journal.pcbi.1003285</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Wilkinson, M. D., et al. (2016). The FAIR Guiding Principles for scientific data management and stewardship. Scientific Data, 3, 160018. https://doi.org/10.1038/sdata.2016.18</a:t>
            </a:r>
          </a:p>
          <a:p>
            <a:pPr algn="l">
              <a:spcAft>
                <a:spcPts val="500"/>
              </a:spcAft>
              <a:buNone/>
            </a:pPr>
            <a:r>
              <a:rPr sz="1100" b="0">
                <a:solidFill>
                  <a:srgbClr val="000000"/>
                </a:solidFill>
                <a:latin typeface="Calibri"/>
              </a:rPr>
              <a:t/>
            </a:r>
          </a:p>
          <a:p>
            <a:pPr algn="l">
              <a:spcAft>
                <a:spcPts val="500"/>
              </a:spcAft>
              <a:buNone/>
            </a:pPr>
            <a:r>
              <a:rPr sz="1100" b="0">
                <a:solidFill>
                  <a:srgbClr val="000000"/>
                </a:solidFill>
                <a:latin typeface="Calibri"/>
              </a:rPr>
              <a:t>Las referencias fundamentan métodos y fuentes. Las decisiones específicas del proyecto se describen en el guion. Los esquemas representan flujo de datos y procedimientos, no relaciones causales.</a:t>
            </a:r>
          </a:p>
          <a:p>
            <a:pPr algn="l">
              <a:spcAft>
                <a:spcPts val="500"/>
              </a:spcAft>
              <a:buNone/>
            </a:pPr>
            <a:r>
              <a:rPr sz="1100" b="0">
                <a:solidFill>
                  <a:srgbClr val="000000"/>
                </a:solidFill>
                <a:latin typeface="Calibri"/>
              </a:rPr>
              <a:t>Plantilla: AFG1_Video2_Presentacion_UC.pptx.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Diseño personalizado">
    <p:spTree>
      <p:nvGrpSpPr>
        <p:cNvPr id="1" name=""/>
        <p:cNvGrpSpPr/>
        <p:nvPr/>
      </p:nvGrpSpPr>
      <p:grpSpPr>
        <a:xfrm>
          <a:off x="0" y="0"/>
          <a:ext cx="0" cy="0"/>
          <a:chOff x="0" y="0"/>
          <a:chExt cx="0" cy="0"/>
        </a:xfrm>
      </p:grpSpPr>
      <p:sp>
        <p:nvSpPr>
          <p:cNvPr id="4" name="Rectángulo 3"/>
          <p:cNvSpPr/>
          <p:nvPr userDrawn="1"/>
        </p:nvSpPr>
        <p:spPr>
          <a:xfrm>
            <a:off x="169334" y="1007195"/>
            <a:ext cx="8974667" cy="2385786"/>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title" hasCustomPrompt="1"/>
          </p:nvPr>
        </p:nvSpPr>
        <p:spPr>
          <a:xfrm>
            <a:off x="457200" y="1755587"/>
            <a:ext cx="8229600" cy="857250"/>
          </a:xfrm>
        </p:spPr>
        <p:txBody>
          <a:bodyPr/>
          <a:lstStyle/>
          <a:p>
            <a:r>
              <a:rPr lang="es-ES_tradnl" dirty="0" smtClean="0"/>
              <a:t>Clic para editar nombre de capítulo</a:t>
            </a:r>
            <a:endParaRPr lang="es-ES" dirty="0"/>
          </a:p>
        </p:txBody>
      </p:sp>
    </p:spTree>
    <p:extLst>
      <p:ext uri="{BB962C8B-B14F-4D97-AF65-F5344CB8AC3E}">
        <p14:creationId xmlns:p14="http://schemas.microsoft.com/office/powerpoint/2010/main" val="2116728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esarrollo de tema">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dirty="0"/>
          </a:p>
        </p:txBody>
      </p:sp>
      <p:sp>
        <p:nvSpPr>
          <p:cNvPr id="3" name="Marcador de contenido 2"/>
          <p:cNvSpPr>
            <a:spLocks noGrp="1"/>
          </p:cNvSpPr>
          <p:nvPr>
            <p:ph idx="1"/>
          </p:nvPr>
        </p:nvSpPr>
        <p:spPr>
          <a:xfrm>
            <a:off x="457200" y="1200150"/>
            <a:ext cx="8229600" cy="3081338"/>
          </a:xfrm>
        </p:spPr>
        <p:txBody>
          <a:bodyPr/>
          <a:lstStyle>
            <a:lvl1pPr>
              <a:defRPr sz="2600"/>
            </a:lvl1pPr>
            <a:lvl2pPr>
              <a:defRPr sz="2600"/>
            </a:lvl2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4" name="Marcador de fecha 3"/>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5" name="Marcador de pie de página 4"/>
          <p:cNvSpPr>
            <a:spLocks noGrp="1"/>
          </p:cNvSpPr>
          <p:nvPr>
            <p:ph type="ftr" sz="quarter" idx="11"/>
          </p:nvPr>
        </p:nvSpPr>
        <p:spPr>
          <a:xfrm>
            <a:off x="1627373" y="4767263"/>
            <a:ext cx="2895600" cy="27384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Tree>
    <p:extLst>
      <p:ext uri="{BB962C8B-B14F-4D97-AF65-F5344CB8AC3E}">
        <p14:creationId xmlns:p14="http://schemas.microsoft.com/office/powerpoint/2010/main" val="706443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contenido 2"/>
          <p:cNvSpPr>
            <a:spLocks noGrp="1"/>
          </p:cNvSpPr>
          <p:nvPr>
            <p:ph sz="half" idx="1"/>
          </p:nvPr>
        </p:nvSpPr>
        <p:spPr>
          <a:xfrm>
            <a:off x="457200" y="1200150"/>
            <a:ext cx="4038600" cy="3087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4" name="Marcador de contenido 3"/>
          <p:cNvSpPr>
            <a:spLocks noGrp="1"/>
          </p:cNvSpPr>
          <p:nvPr>
            <p:ph sz="half" idx="2"/>
          </p:nvPr>
        </p:nvSpPr>
        <p:spPr>
          <a:xfrm>
            <a:off x="4648200" y="1200151"/>
            <a:ext cx="4038600" cy="308729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5" name="Marcador de fecha 4"/>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6" name="Marcador de pie de página 5"/>
          <p:cNvSpPr>
            <a:spLocks noGrp="1"/>
          </p:cNvSpPr>
          <p:nvPr>
            <p:ph type="ftr" sz="quarter" idx="11"/>
          </p:nvPr>
        </p:nvSpPr>
        <p:spPr>
          <a:xfrm>
            <a:off x="1627373" y="4767263"/>
            <a:ext cx="2895600" cy="27384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Tree>
    <p:extLst>
      <p:ext uri="{BB962C8B-B14F-4D97-AF65-F5344CB8AC3E}">
        <p14:creationId xmlns:p14="http://schemas.microsoft.com/office/powerpoint/2010/main" val="79062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o y objet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smtClean="0"/>
              <a:t>Clic para editar título</a:t>
            </a:r>
            <a:endParaRPr lang="es-ES"/>
          </a:p>
        </p:txBody>
      </p:sp>
      <p:sp>
        <p:nvSpPr>
          <p:cNvPr id="3" name="Marcador de texto 2"/>
          <p:cNvSpPr>
            <a:spLocks noGrp="1"/>
          </p:cNvSpPr>
          <p:nvPr>
            <p:ph type="body" idx="1"/>
          </p:nvPr>
        </p:nvSpPr>
        <p:spPr>
          <a:xfrm>
            <a:off x="457200" y="1151335"/>
            <a:ext cx="4040188" cy="97742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Marcador de contenido 3"/>
          <p:cNvSpPr>
            <a:spLocks noGrp="1"/>
          </p:cNvSpPr>
          <p:nvPr>
            <p:ph sz="half" idx="2"/>
          </p:nvPr>
        </p:nvSpPr>
        <p:spPr>
          <a:xfrm>
            <a:off x="457200" y="2176006"/>
            <a:ext cx="4040188" cy="211143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s-ES" dirty="0"/>
          </a:p>
        </p:txBody>
      </p:sp>
      <p:sp>
        <p:nvSpPr>
          <p:cNvPr id="7" name="Marcador de fecha 6"/>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8" name="Marcador de pie de página 7"/>
          <p:cNvSpPr>
            <a:spLocks noGrp="1"/>
          </p:cNvSpPr>
          <p:nvPr>
            <p:ph type="ftr" sz="quarter" idx="11"/>
          </p:nvPr>
        </p:nvSpPr>
        <p:spPr>
          <a:xfrm>
            <a:off x="1627373" y="4767263"/>
            <a:ext cx="2895600" cy="273844"/>
          </a:xfrm>
          <a:prstGeom prst="rect">
            <a:avLst/>
          </a:prstGeom>
        </p:spPr>
        <p:txBody>
          <a:bodyPr/>
          <a:lstStyle/>
          <a:p>
            <a:endParaRPr lang="es-ES"/>
          </a:p>
        </p:txBody>
      </p:sp>
      <p:sp>
        <p:nvSpPr>
          <p:cNvPr id="9" name="Marcador de número de diapositiva 8"/>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
        <p:nvSpPr>
          <p:cNvPr id="11" name="Marcador de SmartArt 10"/>
          <p:cNvSpPr>
            <a:spLocks noGrp="1"/>
          </p:cNvSpPr>
          <p:nvPr>
            <p:ph type="dgm" sz="quarter" idx="13"/>
          </p:nvPr>
        </p:nvSpPr>
        <p:spPr>
          <a:xfrm>
            <a:off x="4559300" y="1151335"/>
            <a:ext cx="4127500" cy="3136106"/>
          </a:xfrm>
        </p:spPr>
        <p:txBody>
          <a:bodyPr/>
          <a:lstStyle/>
          <a:p>
            <a:r>
              <a:rPr lang="es-ES_tradnl" smtClean="0"/>
              <a:t>Haga clic en el icono para agregar un gráfico SmartArt</a:t>
            </a:r>
            <a:endParaRPr lang="es-ES" dirty="0"/>
          </a:p>
        </p:txBody>
      </p:sp>
    </p:spTree>
    <p:extLst>
      <p:ext uri="{BB962C8B-B14F-4D97-AF65-F5344CB8AC3E}">
        <p14:creationId xmlns:p14="http://schemas.microsoft.com/office/powerpoint/2010/main" val="1131438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con gráfic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pPr/>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dirty="0"/>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pPr/>
              <a:t>‹Nr.›</a:t>
            </a:fld>
            <a:endParaRPr lang="es-ES"/>
          </a:p>
        </p:txBody>
      </p:sp>
      <p:sp>
        <p:nvSpPr>
          <p:cNvPr id="7" name="Marcador de gráfico 6"/>
          <p:cNvSpPr>
            <a:spLocks noGrp="1"/>
          </p:cNvSpPr>
          <p:nvPr>
            <p:ph type="chart" sz="quarter" idx="13"/>
          </p:nvPr>
        </p:nvSpPr>
        <p:spPr>
          <a:xfrm>
            <a:off x="457200" y="1316811"/>
            <a:ext cx="8229600" cy="2970631"/>
          </a:xfrm>
        </p:spPr>
        <p:txBody>
          <a:bodyPr/>
          <a:lstStyle/>
          <a:p>
            <a:r>
              <a:rPr lang="es-ES_tradnl" smtClean="0"/>
              <a:t>Haga clic en el icono para agregar un gráfico</a:t>
            </a:r>
            <a:endParaRPr lang="es-ES"/>
          </a:p>
        </p:txBody>
      </p:sp>
    </p:spTree>
    <p:extLst>
      <p:ext uri="{BB962C8B-B14F-4D97-AF65-F5344CB8AC3E}">
        <p14:creationId xmlns:p14="http://schemas.microsoft.com/office/powerpoint/2010/main" val="85482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dirty="0"/>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t>‹Nr.›</a:t>
            </a:fld>
            <a:endParaRPr lang="es-ES"/>
          </a:p>
        </p:txBody>
      </p:sp>
      <p:sp>
        <p:nvSpPr>
          <p:cNvPr id="6" name="Marcador de posición de imagen 2"/>
          <p:cNvSpPr>
            <a:spLocks noGrp="1"/>
          </p:cNvSpPr>
          <p:nvPr>
            <p:ph type="pic" idx="1"/>
          </p:nvPr>
        </p:nvSpPr>
        <p:spPr>
          <a:xfrm>
            <a:off x="457200" y="1214080"/>
            <a:ext cx="8229600" cy="268965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lang="es-ES" dirty="0"/>
          </a:p>
        </p:txBody>
      </p:sp>
      <p:sp>
        <p:nvSpPr>
          <p:cNvPr id="7" name="Marcador de texto 3"/>
          <p:cNvSpPr>
            <a:spLocks noGrp="1"/>
          </p:cNvSpPr>
          <p:nvPr>
            <p:ph type="body" sz="half" idx="2"/>
          </p:nvPr>
        </p:nvSpPr>
        <p:spPr>
          <a:xfrm>
            <a:off x="457200" y="4025504"/>
            <a:ext cx="8229600" cy="26193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smtClean="0"/>
              <a:t>Haga clic para modificar el estilo de texto del patrón</a:t>
            </a:r>
          </a:p>
        </p:txBody>
      </p:sp>
    </p:spTree>
    <p:extLst>
      <p:ext uri="{BB962C8B-B14F-4D97-AF65-F5344CB8AC3E}">
        <p14:creationId xmlns:p14="http://schemas.microsoft.com/office/powerpoint/2010/main" val="3484501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smtClean="0"/>
              <a:t>Clic para editar título</a:t>
            </a:r>
            <a:endParaRPr lang="es-ES"/>
          </a:p>
        </p:txBody>
      </p:sp>
      <p:sp>
        <p:nvSpPr>
          <p:cNvPr id="3" name="Marcador de fecha 2"/>
          <p:cNvSpPr>
            <a:spLocks noGrp="1"/>
          </p:cNvSpPr>
          <p:nvPr>
            <p:ph type="dt" sz="half" idx="10"/>
          </p:nvPr>
        </p:nvSpPr>
        <p:spPr>
          <a:xfrm>
            <a:off x="170818" y="4767263"/>
            <a:ext cx="800392" cy="273844"/>
          </a:xfrm>
          <a:prstGeom prst="rect">
            <a:avLst/>
          </a:prstGeom>
        </p:spPr>
        <p:txBody>
          <a:bodyPr/>
          <a:lstStyle/>
          <a:p>
            <a:fld id="{64248F72-65B5-4A4E-B82F-2E1A76141EF9}" type="datetimeFigureOut">
              <a:rPr lang="es-ES" smtClean="0"/>
              <a:pPr/>
              <a:t>23/5/19</a:t>
            </a:fld>
            <a:endParaRPr lang="es-ES"/>
          </a:p>
        </p:txBody>
      </p:sp>
      <p:sp>
        <p:nvSpPr>
          <p:cNvPr id="4" name="Marcador de pie de página 3"/>
          <p:cNvSpPr>
            <a:spLocks noGrp="1"/>
          </p:cNvSpPr>
          <p:nvPr>
            <p:ph type="ftr" sz="quarter" idx="11"/>
          </p:nvPr>
        </p:nvSpPr>
        <p:spPr>
          <a:xfrm>
            <a:off x="1627373" y="4767263"/>
            <a:ext cx="2895600" cy="273844"/>
          </a:xfrm>
          <a:prstGeom prst="rect">
            <a:avLst/>
          </a:prstGeom>
        </p:spPr>
        <p:txBody>
          <a:bodyPr/>
          <a:lstStyle/>
          <a:p>
            <a:endParaRPr lang="es-ES" dirty="0"/>
          </a:p>
        </p:txBody>
      </p:sp>
      <p:sp>
        <p:nvSpPr>
          <p:cNvPr id="5" name="Marcador de número de diapositiva 4"/>
          <p:cNvSpPr>
            <a:spLocks noGrp="1"/>
          </p:cNvSpPr>
          <p:nvPr>
            <p:ph type="sldNum" sz="quarter" idx="12"/>
          </p:nvPr>
        </p:nvSpPr>
        <p:spPr>
          <a:xfrm>
            <a:off x="971211" y="4767263"/>
            <a:ext cx="656163" cy="273844"/>
          </a:xfrm>
          <a:prstGeom prst="rect">
            <a:avLst/>
          </a:prstGeom>
        </p:spPr>
        <p:txBody>
          <a:bodyPr/>
          <a:lstStyle/>
          <a:p>
            <a:fld id="{4637D2F8-05A4-FD4C-AF87-1FA0BA229BE2}" type="slidenum">
              <a:rPr lang="es-ES" smtClean="0"/>
              <a:pPr/>
              <a:t>‹Nr.›</a:t>
            </a:fld>
            <a:endParaRPr lang="es-ES"/>
          </a:p>
        </p:txBody>
      </p:sp>
    </p:spTree>
    <p:extLst>
      <p:ext uri="{BB962C8B-B14F-4D97-AF65-F5344CB8AC3E}">
        <p14:creationId xmlns:p14="http://schemas.microsoft.com/office/powerpoint/2010/main" val="3512244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p:spTree>
      <p:nvGrpSpPr>
        <p:cNvPr id="1" name=""/>
        <p:cNvGrpSpPr/>
        <p:nvPr/>
      </p:nvGrpSpPr>
      <p:grpSpPr>
        <a:xfrm>
          <a:off x="0" y="0"/>
          <a:ext cx="0" cy="0"/>
          <a:chOff x="0" y="0"/>
          <a:chExt cx="0" cy="0"/>
        </a:xfrm>
      </p:grpSpPr>
      <p:pic>
        <p:nvPicPr>
          <p:cNvPr id="5" name="Imagen 4" descr="fondo 2727.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4483"/>
            <a:ext cx="9144000" cy="3492818"/>
          </a:xfrm>
          <a:prstGeom prst="rect">
            <a:avLst/>
          </a:prstGeom>
        </p:spPr>
      </p:pic>
    </p:spTree>
    <p:extLst>
      <p:ext uri="{BB962C8B-B14F-4D97-AF65-F5344CB8AC3E}">
        <p14:creationId xmlns:p14="http://schemas.microsoft.com/office/powerpoint/2010/main" val="250687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471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1598613"/>
            <a:ext cx="7772400" cy="1101725"/>
          </a:xfrm>
        </p:spPr>
        <p:txBody>
          <a:bodyPr/>
          <a:lstStyle/>
          <a:p>
            <a:r>
              <a:rPr lang="es-ES_tradnl" smtClean="0"/>
              <a:t>Clic para editar título</a:t>
            </a:r>
            <a:endParaRPr lang="es-ES"/>
          </a:p>
        </p:txBody>
      </p:sp>
      <p:sp>
        <p:nvSpPr>
          <p:cNvPr id="3" name="Subtítulo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smtClean="0"/>
              <a:t>Haga clic para modificar el estilo de subtítulo del patrón</a:t>
            </a:r>
            <a:endParaRPr lang="es-ES"/>
          </a:p>
        </p:txBody>
      </p:sp>
      <p:sp>
        <p:nvSpPr>
          <p:cNvPr id="4" name="Marcador de fecha 3"/>
          <p:cNvSpPr>
            <a:spLocks noGrp="1"/>
          </p:cNvSpPr>
          <p:nvPr>
            <p:ph type="dt" sz="half" idx="10"/>
          </p:nvPr>
        </p:nvSpPr>
        <p:spPr>
          <a:xfrm>
            <a:off x="457200" y="4767263"/>
            <a:ext cx="2133600" cy="274637"/>
          </a:xfrm>
          <a:prstGeom prst="rect">
            <a:avLst/>
          </a:prstGeom>
        </p:spPr>
        <p:txBody>
          <a:bodyPr/>
          <a:lstStyle/>
          <a:p>
            <a:fld id="{CC73C310-44D8-D44E-9500-41BAE48D6C1F}" type="datetimeFigureOut">
              <a:rPr lang="es-ES" smtClean="0"/>
              <a:t>23/5/19</a:t>
            </a:fld>
            <a:endParaRPr lang="es-ES"/>
          </a:p>
        </p:txBody>
      </p:sp>
      <p:sp>
        <p:nvSpPr>
          <p:cNvPr id="5" name="Marcador de pie de página 4"/>
          <p:cNvSpPr>
            <a:spLocks noGrp="1"/>
          </p:cNvSpPr>
          <p:nvPr>
            <p:ph type="ftr" sz="quarter" idx="11"/>
          </p:nvPr>
        </p:nvSpPr>
        <p:spPr>
          <a:xfrm>
            <a:off x="3124200" y="4767263"/>
            <a:ext cx="2895600" cy="274637"/>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6553200" y="4767263"/>
            <a:ext cx="2133600" cy="274637"/>
          </a:xfrm>
          <a:prstGeom prst="rect">
            <a:avLst/>
          </a:prstGeom>
        </p:spPr>
        <p:txBody>
          <a:bodyPr/>
          <a:lstStyle/>
          <a:p>
            <a:fld id="{F152EED2-0F54-FF4E-878C-CD5E3782BC09}" type="slidenum">
              <a:rPr lang="es-ES" smtClean="0"/>
              <a:t>‹Nr.›</a:t>
            </a:fld>
            <a:endParaRPr lang="es-ES"/>
          </a:p>
        </p:txBody>
      </p:sp>
    </p:spTree>
    <p:extLst>
      <p:ext uri="{BB962C8B-B14F-4D97-AF65-F5344CB8AC3E}">
        <p14:creationId xmlns:p14="http://schemas.microsoft.com/office/powerpoint/2010/main" val="22285863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2.xml"/><Relationship Id="rId3"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 Id="rId3" Type="http://schemas.openxmlformats.org/officeDocument/2006/relationships/image" Target="../media/image1.emf"/><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descr="fondo 2727.ai"/>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8742" y="0"/>
            <a:ext cx="8985258" cy="1007195"/>
          </a:xfrm>
          <a:prstGeom prst="rect">
            <a:avLst/>
          </a:prstGeom>
        </p:spPr>
      </p:pic>
      <p:sp>
        <p:nvSpPr>
          <p:cNvPr id="2" name="Marcador de título 1"/>
          <p:cNvSpPr>
            <a:spLocks noGrp="1"/>
          </p:cNvSpPr>
          <p:nvPr>
            <p:ph type="title"/>
          </p:nvPr>
        </p:nvSpPr>
        <p:spPr>
          <a:xfrm>
            <a:off x="457200" y="149945"/>
            <a:ext cx="8229600" cy="857250"/>
          </a:xfrm>
          <a:prstGeom prst="rect">
            <a:avLst/>
          </a:prstGeom>
        </p:spPr>
        <p:txBody>
          <a:bodyPr vert="horz" lIns="91440" tIns="45720" rIns="91440" bIns="45720" rtlCol="0" anchor="ctr">
            <a:normAutofit/>
          </a:bodyPr>
          <a:lstStyle/>
          <a:p>
            <a:r>
              <a:rPr lang="es-ES_tradnl" dirty="0" smtClean="0"/>
              <a:t>Clic para editar título</a:t>
            </a:r>
            <a:endParaRPr lang="es-ES" dirty="0"/>
          </a:p>
        </p:txBody>
      </p:sp>
      <p:sp>
        <p:nvSpPr>
          <p:cNvPr id="3" name="Marcador de texto 2"/>
          <p:cNvSpPr>
            <a:spLocks noGrp="1"/>
          </p:cNvSpPr>
          <p:nvPr>
            <p:ph type="body" idx="1"/>
          </p:nvPr>
        </p:nvSpPr>
        <p:spPr>
          <a:xfrm>
            <a:off x="457200" y="1200151"/>
            <a:ext cx="8229600" cy="3081337"/>
          </a:xfrm>
          <a:prstGeom prst="rect">
            <a:avLst/>
          </a:prstGeom>
        </p:spPr>
        <p:txBody>
          <a:bodyPr vert="horz" lIns="91440" tIns="45720" rIns="91440" bIns="45720" rtlCol="0">
            <a:normAutofit/>
          </a:body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s-ES" dirty="0"/>
          </a:p>
        </p:txBody>
      </p:sp>
      <p:sp>
        <p:nvSpPr>
          <p:cNvPr id="10"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
        <p:nvSpPr>
          <p:cNvPr id="11"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Tree>
    <p:extLst>
      <p:ext uri="{BB962C8B-B14F-4D97-AF65-F5344CB8AC3E}">
        <p14:creationId xmlns:p14="http://schemas.microsoft.com/office/powerpoint/2010/main" val="864562874"/>
      </p:ext>
    </p:extLst>
  </p:cSld>
  <p:clrMap bg1="lt1" tx1="dk1" bg2="lt2" tx2="dk2" accent1="accent1" accent2="accent2" accent3="accent3" accent4="accent4" accent5="accent5" accent6="accent6" hlink="hlink" folHlink="folHlink"/>
  <p:sldLayoutIdLst>
    <p:sldLayoutId id="2147483662" r:id="rId1"/>
    <p:sldLayoutId id="2147483650" r:id="rId2"/>
    <p:sldLayoutId id="2147483652" r:id="rId3"/>
    <p:sldLayoutId id="2147483653" r:id="rId4"/>
    <p:sldLayoutId id="2147483658" r:id="rId5"/>
    <p:sldLayoutId id="2147483654" r:id="rId6"/>
    <p:sldLayoutId id="2147483659" r:id="rId7"/>
    <p:sldLayoutId id="2147483655" r:id="rId8"/>
  </p:sldLayoutIdLst>
  <p:txStyles>
    <p:titleStyle>
      <a:lvl1pPr algn="l" defTabSz="457200" rtl="0" eaLnBrk="1" latinLnBrk="0" hangingPunct="1">
        <a:spcBef>
          <a:spcPct val="0"/>
        </a:spcBef>
        <a:buNone/>
        <a:defRPr sz="3200" b="1" kern="1200">
          <a:solidFill>
            <a:schemeClr val="bg1"/>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800" b="0" kern="1200">
          <a:solidFill>
            <a:schemeClr val="tx1"/>
          </a:solidFill>
          <a:latin typeface="Arial"/>
          <a:ea typeface="+mn-ea"/>
          <a:cs typeface="Arial"/>
        </a:defRPr>
      </a:lvl1pPr>
      <a:lvl2pPr marL="365125" indent="0" algn="l" defTabSz="457200" rtl="0" eaLnBrk="1" latinLnBrk="0" hangingPunct="1">
        <a:spcBef>
          <a:spcPct val="20000"/>
        </a:spcBef>
        <a:buFontTx/>
        <a:buNone/>
        <a:defRPr sz="2800" kern="1200">
          <a:solidFill>
            <a:schemeClr val="tx1"/>
          </a:solidFill>
          <a:latin typeface="Arial"/>
          <a:ea typeface="+mn-ea"/>
          <a:cs typeface="Arial"/>
        </a:defRPr>
      </a:lvl2pPr>
      <a:lvl3pPr marL="630238" indent="-241300" algn="l" defTabSz="457200" rtl="0" eaLnBrk="1" latinLnBrk="0" hangingPunct="1">
        <a:spcBef>
          <a:spcPct val="20000"/>
        </a:spcBef>
        <a:buFont typeface="Arial"/>
        <a:buChar char="•"/>
        <a:defRPr sz="2400" kern="1200">
          <a:solidFill>
            <a:schemeClr val="tx1"/>
          </a:solidFill>
          <a:latin typeface="Arial"/>
          <a:ea typeface="+mn-ea"/>
          <a:cs typeface="Arial"/>
        </a:defRPr>
      </a:lvl3pPr>
      <a:lvl4pPr marL="982663" indent="-268288" algn="l" defTabSz="457200" rtl="0" eaLnBrk="1" latinLnBrk="0" hangingPunct="1">
        <a:spcBef>
          <a:spcPct val="20000"/>
        </a:spcBef>
        <a:buFont typeface="Arial"/>
        <a:buChar char="–"/>
        <a:defRPr sz="2000" kern="1200">
          <a:solidFill>
            <a:schemeClr val="tx1"/>
          </a:solidFill>
          <a:latin typeface="Arial"/>
          <a:ea typeface="+mn-ea"/>
          <a:cs typeface="Arial"/>
        </a:defRPr>
      </a:lvl4pPr>
      <a:lvl5pPr marL="982662" indent="0" algn="l" defTabSz="457200" rtl="0" eaLnBrk="1" latinLnBrk="0" hangingPunct="1">
        <a:spcBef>
          <a:spcPct val="20000"/>
        </a:spcBef>
        <a:buFontTx/>
        <a:buNone/>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Imagen 2" descr="UC color TR-0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20800" y="698500"/>
            <a:ext cx="6480264" cy="3733925"/>
          </a:xfrm>
          <a:prstGeom prst="rect">
            <a:avLst/>
          </a:prstGeom>
        </p:spPr>
      </p:pic>
    </p:spTree>
    <p:extLst>
      <p:ext uri="{BB962C8B-B14F-4D97-AF65-F5344CB8AC3E}">
        <p14:creationId xmlns:p14="http://schemas.microsoft.com/office/powerpoint/2010/main" val="2234904303"/>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1437737"/>
            <a:ext cx="8229600" cy="857250"/>
          </a:xfrm>
          <a:prstGeom prst="rect">
            <a:avLst/>
          </a:prstGeom>
        </p:spPr>
        <p:txBody>
          <a:bodyPr vert="horz" lIns="91440" tIns="45720" rIns="91440" bIns="45720" rtlCol="0" anchor="ctr">
            <a:normAutofit/>
          </a:bodyPr>
          <a:lstStyle/>
          <a:p>
            <a:r>
              <a:rPr lang="es-ES_tradnl" dirty="0" smtClean="0"/>
              <a:t>Clic para editar título</a:t>
            </a:r>
            <a:endParaRPr lang="es-ES" dirty="0"/>
          </a:p>
        </p:txBody>
      </p:sp>
      <p:sp>
        <p:nvSpPr>
          <p:cNvPr id="3" name="Marcador de texto 2"/>
          <p:cNvSpPr>
            <a:spLocks noGrp="1"/>
          </p:cNvSpPr>
          <p:nvPr>
            <p:ph type="body" idx="1"/>
          </p:nvPr>
        </p:nvSpPr>
        <p:spPr>
          <a:xfrm>
            <a:off x="457200" y="2770565"/>
            <a:ext cx="8229600" cy="1510924"/>
          </a:xfrm>
          <a:prstGeom prst="rect">
            <a:avLst/>
          </a:prstGeom>
        </p:spPr>
        <p:txBody>
          <a:bodyPr vert="horz" lIns="91440" tIns="45720" rIns="91440" bIns="45720" rtlCol="0">
            <a:normAutofit/>
          </a:bodyPr>
          <a:lstStyle/>
          <a:p>
            <a:pPr lvl="0"/>
            <a:r>
              <a:rPr lang="es-ES_tradnl" dirty="0" smtClean="0"/>
              <a:t>Integrantes</a:t>
            </a:r>
            <a:endParaRPr lang="es-ES" dirty="0"/>
          </a:p>
        </p:txBody>
      </p:sp>
      <p:pic>
        <p:nvPicPr>
          <p:cNvPr id="7" name="Imagen 6" descr="fondo 2727.ai"/>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00137" y="1"/>
            <a:ext cx="6043863" cy="1123125"/>
          </a:xfrm>
          <a:prstGeom prst="rect">
            <a:avLst/>
          </a:prstGeom>
        </p:spPr>
      </p:pic>
      <p:sp>
        <p:nvSpPr>
          <p:cNvPr id="8" name="Rectángulo 7"/>
          <p:cNvSpPr/>
          <p:nvPr userDrawn="1"/>
        </p:nvSpPr>
        <p:spPr>
          <a:xfrm flipV="1">
            <a:off x="-1" y="-4"/>
            <a:ext cx="177417" cy="1123126"/>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pic>
        <p:nvPicPr>
          <p:cNvPr id="9" name="Imagen 8" descr="UC color TR-0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2784" y="70795"/>
            <a:ext cx="1907624" cy="1099172"/>
          </a:xfrm>
          <a:prstGeom prst="rect">
            <a:avLst/>
          </a:prstGeom>
        </p:spPr>
      </p:pic>
      <p:sp>
        <p:nvSpPr>
          <p:cNvPr id="10" name="Rectángulo 9"/>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
        <p:nvSpPr>
          <p:cNvPr id="11"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t>
            </a:r>
            <a:endParaRPr lang="es-ES" dirty="0"/>
          </a:p>
        </p:txBody>
      </p:sp>
    </p:spTree>
    <p:extLst>
      <p:ext uri="{BB962C8B-B14F-4D97-AF65-F5344CB8AC3E}">
        <p14:creationId xmlns:p14="http://schemas.microsoft.com/office/powerpoint/2010/main" val="799033479"/>
      </p:ext>
    </p:extLst>
  </p:cSld>
  <p:clrMap bg1="lt1" tx1="dk1" bg2="lt2" tx2="dk2" accent1="accent1" accent2="accent2" accent3="accent3" accent4="accent4" accent5="accent5" accent6="accent6" hlink="hlink" folHlink="folHlink"/>
  <p:sldLayoutIdLst>
    <p:sldLayoutId id="2147483672" r:id="rId1"/>
  </p:sldLayoutIdLst>
  <p:txStyles>
    <p:titleStyle>
      <a:lvl1pPr algn="r" defTabSz="457200" rtl="0" eaLnBrk="1" latinLnBrk="0" hangingPunct="1">
        <a:spcBef>
          <a:spcPct val="0"/>
        </a:spcBef>
        <a:buNone/>
        <a:defRPr sz="4400" b="1" i="0" kern="1200">
          <a:solidFill>
            <a:schemeClr val="tx1"/>
          </a:solidFill>
          <a:latin typeface="Arial"/>
          <a:ea typeface="+mj-ea"/>
          <a:cs typeface="Arial"/>
        </a:defRPr>
      </a:lvl1pPr>
    </p:titleStyle>
    <p:bodyStyle>
      <a:lvl1pPr marL="342900" indent="-342900" algn="r" defTabSz="457200" rtl="0" eaLnBrk="1" latinLnBrk="0" hangingPunct="1">
        <a:spcBef>
          <a:spcPct val="20000"/>
        </a:spcBef>
        <a:buFont typeface="Arial"/>
        <a:buChar char="•"/>
        <a:defRPr sz="3200" kern="1200">
          <a:solidFill>
            <a:srgbClr val="595959"/>
          </a:solidFill>
          <a:latin typeface="Arial"/>
          <a:ea typeface="+mn-ea"/>
          <a:cs typeface="Arial"/>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0.xml"/><Relationship Id="rIdNotesFinal"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NotesFinal"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NotesFinal" Type="http://schemas.openxmlformats.org/officeDocument/2006/relationships/notesSlide" Target="../notesSlides/notesSlide3.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3.xml"/><Relationship Id="rIdNotesFinal" Type="http://schemas.openxmlformats.org/officeDocument/2006/relationships/notesSlide" Target="../notesSlides/notesSlide4.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3.xml"/><Relationship Id="rIdNotesFinal" Type="http://schemas.openxmlformats.org/officeDocument/2006/relationships/notesSlide" Target="../notesSlides/notesSlide5.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png"/><Relationship Id="rIdNotesFinal" Type="http://schemas.openxmlformats.org/officeDocument/2006/relationships/notesSlide" Target="../notesSlides/notesSlide7.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 Id="rIdNotesFinal"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Bloque azul portada UC"/>
          <p:cNvSpPr txBox="1"/>
          <p:nvPr/>
        </p:nvSpPr>
        <p:spPr>
          <a:xfrm>
            <a:off x="3100137" y="1"/>
            <a:ext cx="6043863" cy="1123125"/>
          </a:xfrm>
          <a:prstGeom prst="rect">
            <a:avLst/>
          </a:prstGeom>
          <a:solidFill>
            <a:srgbClr val="017EDF"/>
          </a:solidFill>
          <a:ln>
            <a:noFill/>
          </a:ln>
        </p:spPr>
        <p:txBody>
          <a:bodyPr wrap="square" lIns="0" rIns="0" tIns="0" bIns="0" anchor="ctr">
            <a:noAutofit/>
          </a:bodyPr>
          <a:lstStyle/>
          <a:p>
            <a:pPr algn="l">
              <a:spcAft>
                <a:spcPts val="0"/>
              </a:spcAft>
              <a:buNone/>
            </a:pPr>
            <a:r>
              <a:rPr sz="1100" b="0">
                <a:solidFill>
                  <a:srgbClr val="17375D"/>
                </a:solidFill>
                <a:latin typeface="Calibri"/>
              </a:rPr>
              <a:t/>
            </a:r>
          </a:p>
        </p:txBody>
      </p:sp>
      <p:sp>
        <p:nvSpPr>
          <p:cNvPr id="3" name="Subtítulo 2"/>
          <p:cNvSpPr>
            <a:spLocks noGrp="1"/>
          </p:cNvSpPr>
          <p:nvPr>
            <p:ph type="subTitle" idx="1"/>
          </p:nvPr>
        </p:nvSpPr>
        <p:spPr>
          <a:xfrm>
            <a:off x="612648" y="2761488"/>
            <a:ext cx="7772400" cy="1097280"/>
          </a:xfrm>
        </p:spPr>
        <p:txBody>
          <a:bodyPr wrap="square">
            <a:noAutofit/>
          </a:bodyPr>
          <a:lstStyle/>
          <a:p>
            <a:pPr algn="l">
              <a:spcAft>
                <a:spcPts val="0"/>
              </a:spcAft>
              <a:buNone/>
            </a:pPr>
            <a:r>
              <a:rPr sz="1300" b="0">
                <a:solidFill>
                  <a:srgbClr val="595959"/>
                </a:solidFill>
                <a:latin typeface="Calibri"/>
              </a:rPr>
              <a:t>Desarrollo metodológico espacio-temporal: integración de datos, comparación de modelos y validación</a:t>
            </a:r>
          </a:p>
        </p:txBody>
      </p:sp>
      <p:sp>
        <p:nvSpPr>
          <p:cNvPr id="4" name="Título 1"/>
          <p:cNvSpPr>
            <a:spLocks noGrp="1"/>
          </p:cNvSpPr>
          <p:nvPr>
            <p:ph type="ctrTitle"/>
          </p:nvPr>
        </p:nvSpPr>
        <p:spPr>
          <a:xfrm>
            <a:off x="614967" y="1538445"/>
            <a:ext cx="7772400" cy="1101725"/>
          </a:xfrm>
        </p:spPr>
        <p:txBody>
          <a:bodyPr wrap="square">
            <a:normAutofit/>
          </a:bodyPr>
          <a:lstStyle/>
          <a:p>
            <a:pPr algn="l"/>
            <a:r>
              <a:rPr sz="2600" b="1">
                <a:solidFill>
                  <a:srgbClr val="17375D"/>
                </a:solidFill>
                <a:latin typeface="Calibri"/>
              </a:rPr>
              <a:t>Estimación multi-contaminante de la calidad del aire en Chile</a:t>
            </a:r>
          </a:p>
        </p:txBody>
      </p:sp>
      <p:sp>
        <p:nvSpPr>
          <p:cNvPr id="5" name="TextBox 4"/>
          <p:cNvSpPr txBox="1"/>
          <p:nvPr/>
        </p:nvSpPr>
        <p:spPr>
          <a:xfrm>
            <a:off x="612648" y="1188720"/>
            <a:ext cx="7772400" cy="274320"/>
          </a:xfrm>
          <a:prstGeom prst="rect">
            <a:avLst/>
          </a:prstGeom>
          <a:noFill/>
        </p:spPr>
        <p:txBody>
          <a:bodyPr wrap="square" anchor="t" lIns="0" rIns="0" tIns="0" bIns="0">
            <a:spAutoFit/>
          </a:bodyPr>
          <a:lstStyle/>
          <a:p>
            <a:pPr algn="l"/>
            <a:r>
              <a:rPr sz="950" b="1" i="0">
                <a:solidFill>
                  <a:srgbClr val="3366CC"/>
                </a:solidFill>
                <a:latin typeface="Calibri"/>
              </a:rPr>
              <a:t>ACTIVIDAD FINAL DE GRADUACIÓN 1  ·  MDS3050  ·  VIDEO DE AVANCE N.º 3: PROPUESTA METODOLÓGICA</a:t>
            </a:r>
          </a:p>
        </p:txBody>
      </p:sp>
      <p:sp>
        <p:nvSpPr>
          <p:cNvPr id="6" name="Rounded Rectangle 5"/>
          <p:cNvSpPr/>
          <p:nvPr/>
        </p:nvSpPr>
        <p:spPr>
          <a:xfrm>
            <a:off x="612648" y="3950208"/>
            <a:ext cx="1883664" cy="402336"/>
          </a:xfrm>
          <a:prstGeom prst="roundRect">
            <a:avLst>
              <a:gd name="adj" fmla="val 18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950208"/>
            <a:ext cx="1737360" cy="402336"/>
          </a:xfrm>
          <a:prstGeom prst="rect">
            <a:avLst/>
          </a:prstGeom>
          <a:noFill/>
        </p:spPr>
        <p:txBody>
          <a:bodyPr wrap="square" anchor="ctr" lIns="0" rIns="0" tIns="0" bIns="0">
            <a:spAutoFit/>
          </a:bodyPr>
          <a:lstStyle/>
          <a:p>
            <a:pPr algn="ctr"/>
            <a:r>
              <a:rPr sz="819" b="1" i="0">
                <a:solidFill>
                  <a:srgbClr val="17375D"/>
                </a:solidFill>
                <a:latin typeface="Calibri"/>
              </a:rPr>
              <a:t>José Jesús Romero Fuenmayor</a:t>
            </a:r>
          </a:p>
        </p:txBody>
      </p:sp>
      <p:sp>
        <p:nvSpPr>
          <p:cNvPr id="8" name="Rounded Rectangle 7"/>
          <p:cNvSpPr/>
          <p:nvPr/>
        </p:nvSpPr>
        <p:spPr>
          <a:xfrm>
            <a:off x="2624328" y="3950208"/>
            <a:ext cx="1883664" cy="402336"/>
          </a:xfrm>
          <a:prstGeom prst="roundRect">
            <a:avLst>
              <a:gd name="adj" fmla="val 18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97480" y="3950208"/>
            <a:ext cx="1737360" cy="402336"/>
          </a:xfrm>
          <a:prstGeom prst="rect">
            <a:avLst/>
          </a:prstGeom>
          <a:noFill/>
        </p:spPr>
        <p:txBody>
          <a:bodyPr wrap="square" anchor="ctr" lIns="0" rIns="0" tIns="0" bIns="0">
            <a:spAutoFit/>
          </a:bodyPr>
          <a:lstStyle/>
          <a:p>
            <a:pPr algn="ctr"/>
            <a:r>
              <a:rPr sz="819" b="1" i="0">
                <a:solidFill>
                  <a:srgbClr val="17375D"/>
                </a:solidFill>
                <a:latin typeface="Calibri"/>
              </a:rPr>
              <a:t>Roberto Ignacio Ávila Escobar</a:t>
            </a:r>
          </a:p>
        </p:txBody>
      </p:sp>
      <p:sp>
        <p:nvSpPr>
          <p:cNvPr id="10" name="Rounded Rectangle 9"/>
          <p:cNvSpPr/>
          <p:nvPr/>
        </p:nvSpPr>
        <p:spPr>
          <a:xfrm>
            <a:off x="4636008" y="3950208"/>
            <a:ext cx="1883664" cy="402336"/>
          </a:xfrm>
          <a:prstGeom prst="roundRect">
            <a:avLst>
              <a:gd name="adj" fmla="val 18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3950208"/>
            <a:ext cx="1737360" cy="402336"/>
          </a:xfrm>
          <a:prstGeom prst="rect">
            <a:avLst/>
          </a:prstGeom>
          <a:noFill/>
        </p:spPr>
        <p:txBody>
          <a:bodyPr wrap="square" anchor="ctr" lIns="0" rIns="0" tIns="0" bIns="0">
            <a:spAutoFit/>
          </a:bodyPr>
          <a:lstStyle/>
          <a:p>
            <a:pPr algn="ctr"/>
            <a:r>
              <a:rPr sz="819" b="1" i="0">
                <a:solidFill>
                  <a:srgbClr val="17375D"/>
                </a:solidFill>
                <a:latin typeface="Calibri"/>
              </a:rPr>
              <a:t>Amaru Simón Agüero Jiménez</a:t>
            </a:r>
          </a:p>
        </p:txBody>
      </p:sp>
      <p:sp>
        <p:nvSpPr>
          <p:cNvPr id="12" name="Rounded Rectangle 11"/>
          <p:cNvSpPr/>
          <p:nvPr/>
        </p:nvSpPr>
        <p:spPr>
          <a:xfrm>
            <a:off x="6647688" y="3950208"/>
            <a:ext cx="1883664" cy="402336"/>
          </a:xfrm>
          <a:prstGeom prst="roundRect">
            <a:avLst>
              <a:gd name="adj" fmla="val 18000"/>
            </a:avLst>
          </a:prstGeom>
          <a:solidFill>
            <a:srgbClr val="EA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3950208"/>
            <a:ext cx="1737360" cy="402336"/>
          </a:xfrm>
          <a:prstGeom prst="rect">
            <a:avLst/>
          </a:prstGeom>
          <a:noFill/>
        </p:spPr>
        <p:txBody>
          <a:bodyPr wrap="square" anchor="ctr" lIns="0" rIns="0" tIns="0" bIns="0">
            <a:spAutoFit/>
          </a:bodyPr>
          <a:lstStyle/>
          <a:p>
            <a:pPr algn="ctr"/>
            <a:r>
              <a:rPr sz="819" b="1" i="0">
                <a:solidFill>
                  <a:srgbClr val="17375D"/>
                </a:solidFill>
                <a:latin typeface="Calibri"/>
              </a:rPr>
              <a:t>Esteban Adolfo González Rodríguez</a:t>
            </a:r>
          </a:p>
        </p:txBody>
      </p:sp>
      <p:sp>
        <p:nvSpPr>
          <p:cNvPr id="14" name="TextBox 13"/>
          <p:cNvSpPr txBox="1"/>
          <p:nvPr/>
        </p:nvSpPr>
        <p:spPr>
          <a:xfrm>
            <a:off x="612648" y="4462272"/>
            <a:ext cx="7772400" cy="237744"/>
          </a:xfrm>
          <a:prstGeom prst="rect">
            <a:avLst/>
          </a:prstGeom>
          <a:noFill/>
        </p:spPr>
        <p:txBody>
          <a:bodyPr wrap="square" anchor="t" lIns="0" rIns="0" tIns="0" bIns="0">
            <a:spAutoFit/>
          </a:bodyPr>
          <a:lstStyle/>
          <a:p>
            <a:pPr algn="l"/>
            <a:r>
              <a:rPr sz="950" b="0" i="0">
                <a:solidFill>
                  <a:srgbClr val="898781"/>
                </a:solidFill>
                <a:latin typeface="Calibri"/>
              </a:rPr>
              <a:t>Equipo 2 (Team2)  ·  septiembre de 2026</a:t>
            </a:r>
          </a:p>
        </p:txBody>
      </p:sp>
    </p:spTree>
    <p:extLst>
      <p:ext uri="{BB962C8B-B14F-4D97-AF65-F5344CB8AC3E}">
        <p14:creationId xmlns:p14="http://schemas.microsoft.com/office/powerpoint/2010/main" val="4120695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 name=""/>
        <p:cNvGrpSpPr/>
        <p:nvPr/>
      </p:nvGrpSpPr>
      <p:grpSpPr>
        <a:xfrm>
          <a:off x="0" y="0"/>
          <a:ext cx="0" cy="0"/>
          <a:chOff x="0" y="0"/>
          <a:chExt cx="0" cy="0"/>
        </a:xfrm>
      </p:grpSpPr>
      <p:sp>
        <p:nvSpPr>
          <p:cNvPr id="3" name="Cabecera azul UC"/>
          <p:cNvSpPr/>
          <p:nvPr/>
        </p:nvSpPr>
        <p:spPr>
          <a:xfrm>
            <a:off x="158742" y="0"/>
            <a:ext cx="8985258" cy="1007195"/>
          </a:xfrm>
          <a:prstGeom prst="rect">
            <a:avLst/>
          </a:prstGeom>
          <a:solidFill>
            <a:srgbClr val="017EDF"/>
          </a:solidFill>
          <a:ln>
            <a:noFill/>
          </a:ln>
        </p:spPr>
      </p:sp>
      <p:sp>
        <p:nvSpPr>
          <p:cNvPr id="4"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6"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7" name="Título 1"/>
          <p:cNvSpPr>
            <a:spLocks noGrp="1"/>
          </p:cNvSpPr>
          <p:nvPr>
            <p:ph type="title"/>
          </p:nvPr>
        </p:nvSpPr>
        <p:spPr>
          <a:xfrm>
            <a:off x="457200" y="149945"/>
            <a:ext cx="8229600" cy="857250"/>
          </a:xfrm>
        </p:spPr>
        <p:txBody>
          <a:bodyPr wrap="square" anchor="ctr"/>
          <a:lstStyle/>
          <a:p>
            <a:pPr algn="l">
              <a:spcAft>
                <a:spcPts val="0"/>
              </a:spcAft>
              <a:buNone/>
            </a:pPr>
            <a:r>
              <a:rPr sz="1900" b="1">
                <a:solidFill>
                  <a:srgbClr val="FFFFFF"/>
                </a:solidFill>
                <a:latin typeface="Calibri"/>
              </a:rPr>
              <a:t>Objetivos Fijados para la Semana</a:t>
            </a:r>
          </a:p>
        </p:txBody>
      </p:sp>
      <p:sp>
        <p:nvSpPr>
          <p:cNvPr id="8" name="Objetivo 1"/>
          <p:cNvSpPr txBox="1"/>
          <p:nvPr/>
        </p:nvSpPr>
        <p:spPr>
          <a:xfrm>
            <a:off x="548640" y="1303020"/>
            <a:ext cx="2496312" cy="3236976"/>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78308" rIns="178308" tIns="178308" bIns="178308" anchor="t">
            <a:noAutofit/>
          </a:bodyPr>
          <a:lstStyle/>
          <a:p>
            <a:pPr algn="l">
              <a:spcAft>
                <a:spcPts val="750"/>
              </a:spcAft>
              <a:buNone/>
            </a:pPr>
            <a:r>
              <a:rPr sz="825" b="1">
                <a:solidFill>
                  <a:srgbClr val="3366CC"/>
                </a:solidFill>
                <a:latin typeface="Calibri"/>
                <a:ea typeface="Calibri"/>
                <a:cs typeface="Calibri"/>
              </a:rPr>
              <a:t>OBJETIVO 1</a:t>
            </a:r>
          </a:p>
          <a:p>
            <a:pPr algn="l">
              <a:spcAft>
                <a:spcPts val="1200"/>
              </a:spcAft>
              <a:buNone/>
            </a:pPr>
            <a:r>
              <a:rPr sz="1200" b="1">
                <a:solidFill>
                  <a:srgbClr val="17375D"/>
                </a:solidFill>
                <a:latin typeface="Calibri"/>
                <a:ea typeface="Calibri"/>
                <a:cs typeface="Calibri"/>
              </a:rPr>
              <a:t>Consolidación de Datos Multi-Fuente</a:t>
            </a:r>
          </a:p>
          <a:p>
            <a:pPr algn="l">
              <a:spcAft>
                <a:spcPts val="1350"/>
              </a:spcAft>
              <a:buNone/>
            </a:pPr>
            <a:r>
              <a:rPr sz="975" b="0">
                <a:solidFill>
                  <a:srgbClr val="1E293B"/>
                </a:solidFill>
                <a:latin typeface="Calibri"/>
                <a:ea typeface="Calibri"/>
                <a:cs typeface="Calibri"/>
              </a:rPr>
              <a:t>Organizar el pipeline y sus artefactos.</a:t>
            </a:r>
          </a:p>
          <a:p>
            <a:pPr algn="l">
              <a:spcAft>
                <a:spcPts val="900"/>
              </a:spcAft>
              <a:buNone/>
            </a:pPr>
            <a:r>
              <a:rPr sz="938" b="0">
                <a:solidFill>
                  <a:srgbClr val="1E293B"/>
                </a:solidFill>
                <a:latin typeface="Calibri"/>
                <a:ea typeface="Calibri"/>
                <a:cs typeface="Calibri"/>
              </a:rPr>
              <a:t>• Lectura de fuentes nativas</a:t>
            </a:r>
          </a:p>
          <a:p>
            <a:pPr algn="l">
              <a:spcAft>
                <a:spcPts val="900"/>
              </a:spcAft>
              <a:buNone/>
            </a:pPr>
            <a:r>
              <a:rPr sz="938" b="0">
                <a:solidFill>
                  <a:srgbClr val="1E293B"/>
                </a:solidFill>
                <a:latin typeface="Calibri"/>
                <a:ea typeface="Calibri"/>
                <a:cs typeface="Calibri"/>
              </a:rPr>
              <a:t>• Control de calidad y alineación temporal</a:t>
            </a:r>
          </a:p>
          <a:p>
            <a:pPr algn="l">
              <a:spcAft>
                <a:spcPts val="900"/>
              </a:spcAft>
              <a:buNone/>
            </a:pPr>
            <a:r>
              <a:rPr sz="938" b="0">
                <a:solidFill>
                  <a:srgbClr val="1E293B"/>
                </a:solidFill>
                <a:latin typeface="Calibri"/>
                <a:ea typeface="Calibri"/>
                <a:cs typeface="Calibri"/>
              </a:rPr>
              <a:t>• Panel celda × hora reproducible</a:t>
            </a:r>
          </a:p>
        </p:txBody>
      </p:sp>
      <p:sp>
        <p:nvSpPr>
          <p:cNvPr id="9" name="Objetivo 2"/>
          <p:cNvSpPr txBox="1"/>
          <p:nvPr/>
        </p:nvSpPr>
        <p:spPr>
          <a:xfrm>
            <a:off x="3319272" y="1303020"/>
            <a:ext cx="2496312" cy="3236976"/>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78308" rIns="178308" tIns="178308" bIns="178308" anchor="t">
            <a:noAutofit/>
          </a:bodyPr>
          <a:lstStyle/>
          <a:p>
            <a:pPr algn="l">
              <a:spcAft>
                <a:spcPts val="750"/>
              </a:spcAft>
              <a:buNone/>
            </a:pPr>
            <a:r>
              <a:rPr sz="825" b="1">
                <a:solidFill>
                  <a:srgbClr val="3366CC"/>
                </a:solidFill>
                <a:latin typeface="Calibri"/>
                <a:ea typeface="Calibri"/>
                <a:cs typeface="Calibri"/>
              </a:rPr>
              <a:t>OBJETIVO 2</a:t>
            </a:r>
          </a:p>
          <a:p>
            <a:pPr algn="l">
              <a:spcAft>
                <a:spcPts val="1200"/>
              </a:spcAft>
              <a:buNone/>
            </a:pPr>
            <a:r>
              <a:rPr sz="1200" b="1">
                <a:solidFill>
                  <a:srgbClr val="17375D"/>
                </a:solidFill>
                <a:latin typeface="Calibri"/>
                <a:ea typeface="Calibri"/>
                <a:cs typeface="Calibri"/>
              </a:rPr>
              <a:t>Propuesta Metodológica Espacio-Temporal</a:t>
            </a:r>
          </a:p>
          <a:p>
            <a:pPr algn="l">
              <a:spcAft>
                <a:spcPts val="1350"/>
              </a:spcAft>
              <a:buNone/>
            </a:pPr>
            <a:r>
              <a:rPr sz="975" b="0">
                <a:solidFill>
                  <a:srgbClr val="1E293B"/>
                </a:solidFill>
                <a:latin typeface="Calibri"/>
                <a:ea typeface="Calibri"/>
                <a:cs typeface="Calibri"/>
              </a:rPr>
              <a:t>Definir la estimación y comparar diez modelos.</a:t>
            </a:r>
          </a:p>
          <a:p>
            <a:pPr algn="l">
              <a:spcAft>
                <a:spcPts val="900"/>
              </a:spcAft>
              <a:buNone/>
            </a:pPr>
            <a:r>
              <a:rPr sz="938" b="0">
                <a:solidFill>
                  <a:srgbClr val="1E293B"/>
                </a:solidFill>
                <a:latin typeface="Calibri"/>
                <a:ea typeface="Calibri"/>
                <a:cs typeface="Calibri"/>
              </a:rPr>
              <a:t>• Ajustes separados por contaminante</a:t>
            </a:r>
          </a:p>
          <a:p>
            <a:pPr algn="l">
              <a:spcAft>
                <a:spcPts val="900"/>
              </a:spcAft>
              <a:buNone/>
            </a:pPr>
            <a:r>
              <a:rPr sz="938" b="0">
                <a:solidFill>
                  <a:srgbClr val="1E293B"/>
                </a:solidFill>
                <a:latin typeface="Calibri"/>
                <a:ea typeface="Calibri"/>
                <a:cs typeface="Calibri"/>
              </a:rPr>
              <a:t>• Desarrollo actual: PM₂.₅ y NO₂</a:t>
            </a:r>
          </a:p>
          <a:p>
            <a:pPr algn="l">
              <a:spcAft>
                <a:spcPts val="900"/>
              </a:spcAft>
              <a:buNone/>
            </a:pPr>
            <a:r>
              <a:rPr sz="938" b="0">
                <a:solidFill>
                  <a:srgbClr val="1E293B"/>
                </a:solidFill>
                <a:latin typeface="Calibri"/>
                <a:ea typeface="Calibri"/>
                <a:cs typeface="Calibri"/>
              </a:rPr>
              <a:t>• Agregación comunal por formalizar</a:t>
            </a:r>
          </a:p>
          <a:p>
            <a:pPr algn="l">
              <a:spcAft>
                <a:spcPts val="900"/>
              </a:spcAft>
              <a:buNone/>
            </a:pPr>
            <a:r>
              <a:rPr sz="938" b="0">
                <a:solidFill>
                  <a:srgbClr val="1E293B"/>
                </a:solidFill>
                <a:latin typeface="Calibri"/>
                <a:ea typeface="Calibri"/>
                <a:cs typeface="Calibri"/>
              </a:rPr>
              <a:t>• Alcance general: seis contaminantes</a:t>
            </a:r>
          </a:p>
        </p:txBody>
      </p:sp>
      <p:sp>
        <p:nvSpPr>
          <p:cNvPr id="10" name="Objetivo 3"/>
          <p:cNvSpPr txBox="1"/>
          <p:nvPr/>
        </p:nvSpPr>
        <p:spPr>
          <a:xfrm>
            <a:off x="6089904" y="1303020"/>
            <a:ext cx="2496312" cy="3236976"/>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78308" rIns="178308" tIns="178308" bIns="178308" anchor="t">
            <a:noAutofit/>
          </a:bodyPr>
          <a:lstStyle/>
          <a:p>
            <a:pPr algn="l">
              <a:spcAft>
                <a:spcPts val="750"/>
              </a:spcAft>
              <a:buNone/>
            </a:pPr>
            <a:r>
              <a:rPr sz="825" b="1">
                <a:solidFill>
                  <a:srgbClr val="3366CC"/>
                </a:solidFill>
                <a:latin typeface="Calibri"/>
                <a:ea typeface="Calibri"/>
                <a:cs typeface="Calibri"/>
              </a:rPr>
              <a:t>OBJETIVO 3</a:t>
            </a:r>
          </a:p>
          <a:p>
            <a:pPr algn="l">
              <a:spcAft>
                <a:spcPts val="1200"/>
              </a:spcAft>
              <a:buNone/>
            </a:pPr>
            <a:r>
              <a:rPr sz="1200" b="1">
                <a:solidFill>
                  <a:srgbClr val="17375D"/>
                </a:solidFill>
                <a:latin typeface="Calibri"/>
                <a:ea typeface="Calibri"/>
                <a:cs typeface="Calibri"/>
              </a:rPr>
              <a:t>Protocolo de Validación Cruzada Espacial</a:t>
            </a:r>
          </a:p>
          <a:p>
            <a:pPr algn="l">
              <a:spcAft>
                <a:spcPts val="1350"/>
              </a:spcAft>
              <a:buNone/>
            </a:pPr>
            <a:r>
              <a:rPr sz="975" b="0">
                <a:solidFill>
                  <a:srgbClr val="1E293B"/>
                </a:solidFill>
                <a:latin typeface="Calibri"/>
                <a:ea typeface="Calibri"/>
                <a:cs typeface="Calibri"/>
              </a:rPr>
              <a:t>Examinar la generalización fuera del ajuste.</a:t>
            </a:r>
          </a:p>
          <a:p>
            <a:pPr algn="l">
              <a:spcAft>
                <a:spcPts val="900"/>
              </a:spcAft>
              <a:buNone/>
            </a:pPr>
            <a:r>
              <a:rPr sz="938" b="0">
                <a:solidFill>
                  <a:srgbClr val="1E293B"/>
                </a:solidFill>
                <a:latin typeface="Calibri"/>
                <a:ea typeface="Calibri"/>
                <a:cs typeface="Calibri"/>
              </a:rPr>
              <a:t>• LOSO: sitios o celdas reservados</a:t>
            </a:r>
          </a:p>
          <a:p>
            <a:pPr algn="l">
              <a:spcAft>
                <a:spcPts val="900"/>
              </a:spcAft>
              <a:buNone/>
            </a:pPr>
            <a:r>
              <a:rPr sz="938" b="0">
                <a:solidFill>
                  <a:srgbClr val="1E293B"/>
                </a:solidFill>
                <a:latin typeface="Calibri"/>
                <a:ea typeface="Calibri"/>
                <a:cs typeface="Calibri"/>
              </a:rPr>
              <a:t>• LRO: regiones reservadas</a:t>
            </a:r>
          </a:p>
          <a:p>
            <a:pPr algn="l">
              <a:spcAft>
                <a:spcPts val="900"/>
              </a:spcAft>
              <a:buNone/>
            </a:pPr>
            <a:r>
              <a:rPr sz="938" b="0">
                <a:solidFill>
                  <a:srgbClr val="1E293B"/>
                </a:solidFill>
                <a:latin typeface="Calibri"/>
                <a:ea typeface="Calibri"/>
                <a:cs typeface="Calibri"/>
              </a:rPr>
              <a:t>• LPO: bloques de cuatro años</a:t>
            </a:r>
          </a:p>
        </p:txBody>
      </p:sp>
      <p:sp>
        <p:nvSpPr>
          <p:cNvPr id="11" name="Referencias científicas"/>
          <p:cNvSpPr txBox="1"/>
          <p:nvPr/>
        </p:nvSpPr>
        <p:spPr>
          <a:xfrm>
            <a:off x="548640" y="4613148"/>
            <a:ext cx="8092440" cy="22860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Di et al. (2019); Roberts et al. (2017).</a:t>
            </a:r>
          </a:p>
        </p:txBody>
      </p:sp>
    </p:spTree>
    <p:extLst>
      <p:ext uri="{BB962C8B-B14F-4D97-AF65-F5344CB8AC3E}">
        <p14:creationId xmlns:p14="http://schemas.microsoft.com/office/powerpoint/2010/main" val="3227572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 name=""/>
        <p:cNvGrpSpPr/>
        <p:nvPr/>
      </p:nvGrpSpPr>
      <p:grpSpPr>
        <a:xfrm>
          <a:off x="0" y="0"/>
          <a:ext cx="0" cy="0"/>
          <a:chOff x="0" y="0"/>
          <a:chExt cx="0" cy="0"/>
        </a:xfrm>
      </p:grpSpPr>
      <p:sp>
        <p:nvSpPr>
          <p:cNvPr id="3" name="Cabecera azul UC"/>
          <p:cNvSpPr/>
          <p:nvPr/>
        </p:nvSpPr>
        <p:spPr>
          <a:xfrm>
            <a:off x="158742" y="0"/>
            <a:ext cx="8985258" cy="1007195"/>
          </a:xfrm>
          <a:prstGeom prst="rect">
            <a:avLst/>
          </a:prstGeom>
          <a:solidFill>
            <a:srgbClr val="017EDF"/>
          </a:solidFill>
          <a:ln>
            <a:noFill/>
          </a:ln>
        </p:spPr>
      </p:sp>
      <p:sp>
        <p:nvSpPr>
          <p:cNvPr id="4"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6"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7" name="Título 1"/>
          <p:cNvSpPr>
            <a:spLocks noGrp="1"/>
          </p:cNvSpPr>
          <p:nvPr>
            <p:ph type="title"/>
          </p:nvPr>
        </p:nvSpPr>
        <p:spPr>
          <a:xfrm>
            <a:off x="457200" y="149945"/>
            <a:ext cx="8229600" cy="857250"/>
          </a:xfrm>
        </p:spPr>
        <p:txBody>
          <a:bodyPr wrap="square" anchor="ctr"/>
          <a:lstStyle/>
          <a:p>
            <a:pPr algn="l">
              <a:spcAft>
                <a:spcPts val="0"/>
              </a:spcAft>
              <a:buNone/>
            </a:pPr>
            <a:r>
              <a:rPr sz="1900" b="1">
                <a:solidFill>
                  <a:srgbClr val="FFFFFF"/>
                </a:solidFill>
                <a:latin typeface="Calibri"/>
              </a:rPr>
              <a:t>Arquitectura del Pipeline y Consolidación de Datos</a:t>
            </a:r>
          </a:p>
        </p:txBody>
      </p:sp>
      <p:cxnSp>
        <p:nvCxnSpPr>
          <p:cNvPr id="8" name="Entrada 1"/>
          <p:cNvCxnSpPr/>
          <p:nvPr/>
        </p:nvCxnSpPr>
        <p:spPr>
          <a:xfrm>
            <a:off x="2366010" y="1522476"/>
            <a:ext cx="274320" cy="0"/>
          </a:xfrm>
          <a:prstGeom prst="line">
            <a:avLst/>
          </a:prstGeom>
          <a:ln w="15240">
            <a:solidFill>
              <a:srgbClr val="3366CC"/>
            </a:solidFill>
            <a:headEnd type="none"/>
            <a:tailEnd type="none"/>
          </a:ln>
        </p:spPr>
      </p:cxnSp>
      <p:cxnSp>
        <p:nvCxnSpPr>
          <p:cNvPr id="9" name="Entrada 2"/>
          <p:cNvCxnSpPr/>
          <p:nvPr/>
        </p:nvCxnSpPr>
        <p:spPr>
          <a:xfrm>
            <a:off x="2366010" y="2263140"/>
            <a:ext cx="274320" cy="0"/>
          </a:xfrm>
          <a:prstGeom prst="line">
            <a:avLst/>
          </a:prstGeom>
          <a:ln w="15240">
            <a:solidFill>
              <a:srgbClr val="3366CC"/>
            </a:solidFill>
            <a:headEnd type="none"/>
            <a:tailEnd type="none"/>
          </a:ln>
        </p:spPr>
      </p:cxnSp>
      <p:cxnSp>
        <p:nvCxnSpPr>
          <p:cNvPr id="10" name="Entrada 3"/>
          <p:cNvCxnSpPr/>
          <p:nvPr/>
        </p:nvCxnSpPr>
        <p:spPr>
          <a:xfrm>
            <a:off x="2366010" y="3003804"/>
            <a:ext cx="274320" cy="0"/>
          </a:xfrm>
          <a:prstGeom prst="line">
            <a:avLst/>
          </a:prstGeom>
          <a:ln w="15240">
            <a:solidFill>
              <a:srgbClr val="3366CC"/>
            </a:solidFill>
            <a:headEnd type="none"/>
            <a:tailEnd type="none"/>
          </a:ln>
        </p:spPr>
      </p:cxnSp>
      <p:cxnSp>
        <p:nvCxnSpPr>
          <p:cNvPr id="11" name="Entrada 4"/>
          <p:cNvCxnSpPr/>
          <p:nvPr/>
        </p:nvCxnSpPr>
        <p:spPr>
          <a:xfrm>
            <a:off x="2366010" y="3744468"/>
            <a:ext cx="274320" cy="0"/>
          </a:xfrm>
          <a:prstGeom prst="line">
            <a:avLst/>
          </a:prstGeom>
          <a:ln w="15240">
            <a:solidFill>
              <a:srgbClr val="3366CC"/>
            </a:solidFill>
            <a:headEnd type="none"/>
            <a:tailEnd type="none"/>
          </a:ln>
        </p:spPr>
      </p:cxnSp>
      <p:cxnSp>
        <p:nvCxnSpPr>
          <p:cNvPr id="12" name="Colector de fuentes"/>
          <p:cNvCxnSpPr/>
          <p:nvPr/>
        </p:nvCxnSpPr>
        <p:spPr>
          <a:xfrm>
            <a:off x="2640330" y="1522476"/>
            <a:ext cx="0" cy="2221992"/>
          </a:xfrm>
          <a:prstGeom prst="line">
            <a:avLst/>
          </a:prstGeom>
          <a:ln w="15240">
            <a:solidFill>
              <a:srgbClr val="3366CC"/>
            </a:solidFill>
            <a:headEnd type="none"/>
            <a:tailEnd type="none"/>
          </a:ln>
        </p:spPr>
      </p:cxnSp>
      <p:cxnSp>
        <p:nvCxnSpPr>
          <p:cNvPr id="13" name="Fuentes a preparación"/>
          <p:cNvCxnSpPr/>
          <p:nvPr/>
        </p:nvCxnSpPr>
        <p:spPr>
          <a:xfrm>
            <a:off x="2640330" y="2558034"/>
            <a:ext cx="226314" cy="0"/>
          </a:xfrm>
          <a:prstGeom prst="line">
            <a:avLst/>
          </a:prstGeom>
          <a:ln w="15240">
            <a:solidFill>
              <a:srgbClr val="3366CC"/>
            </a:solidFill>
            <a:headEnd type="none"/>
            <a:tailEnd type="triangle"/>
          </a:ln>
        </p:spPr>
      </p:cxnSp>
      <p:cxnSp>
        <p:nvCxnSpPr>
          <p:cNvPr id="14" name="Preparación a panel"/>
          <p:cNvCxnSpPr/>
          <p:nvPr/>
        </p:nvCxnSpPr>
        <p:spPr>
          <a:xfrm>
            <a:off x="4814316" y="2558034"/>
            <a:ext cx="260604" cy="0"/>
          </a:xfrm>
          <a:prstGeom prst="line">
            <a:avLst/>
          </a:prstGeom>
          <a:ln w="15240">
            <a:solidFill>
              <a:srgbClr val="3366CC"/>
            </a:solidFill>
            <a:headEnd type="none"/>
            <a:tailEnd type="triangle"/>
          </a:ln>
        </p:spPr>
      </p:cxnSp>
      <p:cxnSp>
        <p:nvCxnSpPr>
          <p:cNvPr id="15" name="Panel a evaluación"/>
          <p:cNvCxnSpPr/>
          <p:nvPr/>
        </p:nvCxnSpPr>
        <p:spPr>
          <a:xfrm>
            <a:off x="6604254" y="2558034"/>
            <a:ext cx="253746" cy="0"/>
          </a:xfrm>
          <a:prstGeom prst="line">
            <a:avLst/>
          </a:prstGeom>
          <a:ln w="15240">
            <a:solidFill>
              <a:srgbClr val="3366CC"/>
            </a:solidFill>
            <a:headEnd type="none"/>
            <a:tailEnd type="triangle"/>
          </a:ln>
        </p:spPr>
      </p:cxnSp>
      <p:cxnSp>
        <p:nvCxnSpPr>
          <p:cNvPr id="16" name="Evaluación a producto"/>
          <p:cNvCxnSpPr/>
          <p:nvPr/>
        </p:nvCxnSpPr>
        <p:spPr>
          <a:xfrm>
            <a:off x="7660386" y="3134106"/>
            <a:ext cx="0" cy="322326"/>
          </a:xfrm>
          <a:prstGeom prst="line">
            <a:avLst/>
          </a:prstGeom>
          <a:ln w="15240">
            <a:solidFill>
              <a:srgbClr val="3366CC"/>
            </a:solidFill>
            <a:headEnd type="none"/>
            <a:tailEnd type="triangle"/>
          </a:ln>
        </p:spPr>
      </p:cxnSp>
      <p:sp>
        <p:nvSpPr>
          <p:cNvPr id="17" name="Fuente 1"/>
          <p:cNvSpPr txBox="1"/>
          <p:nvPr/>
        </p:nvSpPr>
        <p:spPr>
          <a:xfrm>
            <a:off x="548640" y="1220724"/>
            <a:ext cx="1817370" cy="61722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Referencia terrestre</a:t>
            </a:r>
          </a:p>
          <a:p>
            <a:pPr algn="l">
              <a:spcAft>
                <a:spcPts val="225"/>
              </a:spcAft>
              <a:buNone/>
            </a:pPr>
            <a:r>
              <a:rPr sz="810" b="0">
                <a:solidFill>
                  <a:srgbClr val="1E293B"/>
                </a:solidFill>
                <a:latin typeface="Calibri"/>
                <a:ea typeface="Calibri"/>
                <a:cs typeface="Calibri"/>
              </a:rPr>
              <a:t>SINCA: concentraciones horarias</a:t>
            </a:r>
          </a:p>
        </p:txBody>
      </p:sp>
      <p:sp>
        <p:nvSpPr>
          <p:cNvPr id="18" name="Fuente 2"/>
          <p:cNvSpPr txBox="1"/>
          <p:nvPr/>
        </p:nvSpPr>
        <p:spPr>
          <a:xfrm>
            <a:off x="548640" y="1961388"/>
            <a:ext cx="1817370" cy="61722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Satélites y ACAG</a:t>
            </a:r>
          </a:p>
          <a:p>
            <a:pPr algn="l">
              <a:spcAft>
                <a:spcPts val="225"/>
              </a:spcAft>
              <a:buNone/>
            </a:pPr>
            <a:r>
              <a:rPr sz="810" b="0">
                <a:solidFill>
                  <a:srgbClr val="1E293B"/>
                </a:solidFill>
                <a:latin typeface="Calibri"/>
                <a:ea typeface="Calibri"/>
                <a:cs typeface="Calibri"/>
              </a:rPr>
              <a:t>MAIAC, TROPOMI y ACAG mensual</a:t>
            </a:r>
          </a:p>
        </p:txBody>
      </p:sp>
      <p:sp>
        <p:nvSpPr>
          <p:cNvPr id="19" name="Fuente 3"/>
          <p:cNvSpPr txBox="1"/>
          <p:nvPr/>
        </p:nvSpPr>
        <p:spPr>
          <a:xfrm>
            <a:off x="548640" y="2702052"/>
            <a:ext cx="1817370" cy="61722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Atmósfera y meteorología</a:t>
            </a:r>
          </a:p>
          <a:p>
            <a:pPr algn="l">
              <a:spcAft>
                <a:spcPts val="225"/>
              </a:spcAft>
              <a:buNone/>
            </a:pPr>
            <a:r>
              <a:rPr sz="810" b="0">
                <a:solidFill>
                  <a:srgbClr val="1E293B"/>
                </a:solidFill>
                <a:latin typeface="Calibri"/>
                <a:ea typeface="Calibri"/>
                <a:cs typeface="Calibri"/>
              </a:rPr>
              <a:t>ERA5/Land, MERRA-2, CAMS, GEOS-CF</a:t>
            </a:r>
          </a:p>
        </p:txBody>
      </p:sp>
      <p:sp>
        <p:nvSpPr>
          <p:cNvPr id="20" name="Fuente 4"/>
          <p:cNvSpPr txBox="1"/>
          <p:nvPr/>
        </p:nvSpPr>
        <p:spPr>
          <a:xfrm>
            <a:off x="548640" y="3442716"/>
            <a:ext cx="1817370" cy="61722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Territorio y calendario</a:t>
            </a:r>
          </a:p>
          <a:p>
            <a:pPr algn="l">
              <a:spcAft>
                <a:spcPts val="225"/>
              </a:spcAft>
              <a:buNone/>
            </a:pPr>
            <a:r>
              <a:rPr sz="810" b="0">
                <a:solidFill>
                  <a:srgbClr val="1E293B"/>
                </a:solidFill>
                <a:latin typeface="Calibri"/>
                <a:ea typeface="Calibri"/>
                <a:cs typeface="Calibri"/>
              </a:rPr>
              <a:t>Uso de suelo, población y tiempo</a:t>
            </a:r>
          </a:p>
        </p:txBody>
      </p:sp>
      <p:sp>
        <p:nvSpPr>
          <p:cNvPr id="21" name="Preparación común"/>
          <p:cNvSpPr txBox="1"/>
          <p:nvPr/>
        </p:nvSpPr>
        <p:spPr>
          <a:xfrm>
            <a:off x="2866644" y="1611630"/>
            <a:ext cx="1947672" cy="1899666"/>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37160" rIns="137160" tIns="137160" bIns="137160" anchor="t">
            <a:noAutofit/>
          </a:bodyPr>
          <a:lstStyle/>
          <a:p>
            <a:pPr algn="l">
              <a:spcAft>
                <a:spcPts val="1050"/>
              </a:spcAft>
              <a:buNone/>
            </a:pPr>
            <a:r>
              <a:rPr sz="900" b="1">
                <a:solidFill>
                  <a:srgbClr val="3366CC"/>
                </a:solidFill>
                <a:latin typeface="Calibri"/>
                <a:ea typeface="Calibri"/>
                <a:cs typeface="Calibri"/>
              </a:rPr>
              <a:t>PREPARACIÓN</a:t>
            </a:r>
          </a:p>
          <a:p>
            <a:pPr algn="l">
              <a:spcAft>
                <a:spcPts val="975"/>
              </a:spcAft>
              <a:buNone/>
            </a:pPr>
            <a:r>
              <a:rPr sz="975" b="0">
                <a:solidFill>
                  <a:srgbClr val="1E293B"/>
                </a:solidFill>
                <a:latin typeface="Calibri"/>
                <a:ea typeface="Calibri"/>
                <a:cs typeface="Calibri"/>
              </a:rPr>
              <a:t>1. Lectura en formato nativo</a:t>
            </a:r>
          </a:p>
          <a:p>
            <a:pPr algn="l">
              <a:spcAft>
                <a:spcPts val="975"/>
              </a:spcAft>
              <a:buNone/>
            </a:pPr>
            <a:r>
              <a:rPr sz="975" b="0">
                <a:solidFill>
                  <a:srgbClr val="1E293B"/>
                </a:solidFill>
                <a:latin typeface="Calibri"/>
                <a:ea typeface="Calibri"/>
                <a:cs typeface="Calibri"/>
              </a:rPr>
              <a:t>2. Calidad y reloj SINCA</a:t>
            </a:r>
          </a:p>
          <a:p>
            <a:pPr algn="l">
              <a:spcAft>
                <a:spcPts val="975"/>
              </a:spcAft>
              <a:buNone/>
            </a:pPr>
            <a:r>
              <a:rPr sz="975" b="0">
                <a:solidFill>
                  <a:srgbClr val="1E293B"/>
                </a:solidFill>
                <a:latin typeface="Calibri"/>
                <a:ea typeface="Calibri"/>
                <a:cs typeface="Calibri"/>
              </a:rPr>
              <a:t>3. Enlace celda–píxel y alineación UTC</a:t>
            </a:r>
          </a:p>
          <a:p>
            <a:pPr algn="l">
              <a:spcAft>
                <a:spcPts val="0"/>
              </a:spcAft>
              <a:buNone/>
            </a:pPr>
            <a:r>
              <a:rPr sz="863" b="0">
                <a:solidFill>
                  <a:srgbClr val="64748B"/>
                </a:solidFill>
                <a:latin typeface="Calibri"/>
                <a:ea typeface="Calibri"/>
                <a:cs typeface="Calibri"/>
              </a:rPr>
              <a:t>Faltantes explícitos en la ingesta</a:t>
            </a:r>
          </a:p>
        </p:txBody>
      </p:sp>
      <p:sp>
        <p:nvSpPr>
          <p:cNvPr id="22" name="Panel analítico"/>
          <p:cNvSpPr txBox="1"/>
          <p:nvPr/>
        </p:nvSpPr>
        <p:spPr>
          <a:xfrm>
            <a:off x="5074920" y="1995678"/>
            <a:ext cx="1529334" cy="113157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PANEL</a:t>
            </a:r>
          </a:p>
          <a:p>
            <a:pPr algn="l">
              <a:spcAft>
                <a:spcPts val="225"/>
              </a:spcAft>
              <a:buNone/>
            </a:pPr>
            <a:r>
              <a:rPr sz="938" b="0">
                <a:solidFill>
                  <a:srgbClr val="1E293B"/>
                </a:solidFill>
                <a:latin typeface="Calibri"/>
                <a:ea typeface="Calibri"/>
                <a:cs typeface="Calibri"/>
              </a:rPr>
              <a:t>Celda × hora</a:t>
            </a:r>
          </a:p>
          <a:p>
            <a:pPr algn="l">
              <a:spcAft>
                <a:spcPts val="225"/>
              </a:spcAft>
              <a:buNone/>
            </a:pPr>
            <a:r>
              <a:rPr sz="938" b="0">
                <a:solidFill>
                  <a:srgbClr val="1E293B"/>
                </a:solidFill>
                <a:latin typeface="Calibri"/>
                <a:ea typeface="Calibri"/>
                <a:cs typeface="Calibri"/>
              </a:rPr>
              <a:t>Por contaminante</a:t>
            </a:r>
          </a:p>
          <a:p>
            <a:pPr algn="l">
              <a:spcAft>
                <a:spcPts val="225"/>
              </a:spcAft>
              <a:buNone/>
            </a:pPr>
            <a:r>
              <a:rPr sz="938" b="0">
                <a:solidFill>
                  <a:srgbClr val="1E293B"/>
                </a:solidFill>
                <a:latin typeface="Calibri"/>
                <a:ea typeface="Calibri"/>
                <a:cs typeface="Calibri"/>
              </a:rPr>
              <a:t>Mismos predictores</a:t>
            </a:r>
          </a:p>
        </p:txBody>
      </p:sp>
      <p:sp>
        <p:nvSpPr>
          <p:cNvPr id="23" name="Ajuste y validación"/>
          <p:cNvSpPr txBox="1"/>
          <p:nvPr/>
        </p:nvSpPr>
        <p:spPr>
          <a:xfrm>
            <a:off x="6858000" y="1995678"/>
            <a:ext cx="1604772" cy="1131570"/>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MODELOS</a:t>
            </a:r>
          </a:p>
          <a:p>
            <a:pPr algn="l">
              <a:spcAft>
                <a:spcPts val="225"/>
              </a:spcAft>
              <a:buNone/>
            </a:pPr>
            <a:r>
              <a:rPr sz="938" b="0">
                <a:solidFill>
                  <a:srgbClr val="1E293B"/>
                </a:solidFill>
                <a:latin typeface="Calibri"/>
                <a:ea typeface="Calibri"/>
                <a:cs typeface="Calibri"/>
              </a:rPr>
              <a:t>Diez enfoques</a:t>
            </a:r>
          </a:p>
          <a:p>
            <a:pPr algn="l">
              <a:spcAft>
                <a:spcPts val="225"/>
              </a:spcAft>
              <a:buNone/>
            </a:pPr>
            <a:r>
              <a:rPr sz="938" b="0">
                <a:solidFill>
                  <a:srgbClr val="1E293B"/>
                </a:solidFill>
                <a:latin typeface="Calibri"/>
                <a:ea typeface="Calibri"/>
                <a:cs typeface="Calibri"/>
              </a:rPr>
              <a:t>Ajuste y validación</a:t>
            </a:r>
          </a:p>
          <a:p>
            <a:pPr algn="l">
              <a:spcAft>
                <a:spcPts val="225"/>
              </a:spcAft>
              <a:buNone/>
            </a:pPr>
            <a:r>
              <a:rPr sz="938" b="0">
                <a:solidFill>
                  <a:srgbClr val="1E293B"/>
                </a:solidFill>
                <a:latin typeface="Calibri"/>
                <a:ea typeface="Calibri"/>
                <a:cs typeface="Calibri"/>
              </a:rPr>
              <a:t>LOSO · LRO · LPO</a:t>
            </a:r>
          </a:p>
        </p:txBody>
      </p:sp>
      <p:sp>
        <p:nvSpPr>
          <p:cNvPr id="24" name="Producto territorial"/>
          <p:cNvSpPr txBox="1"/>
          <p:nvPr/>
        </p:nvSpPr>
        <p:spPr>
          <a:xfrm>
            <a:off x="6858000" y="3456432"/>
            <a:ext cx="1604772" cy="768096"/>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PRODUCTO PREVISTO</a:t>
            </a:r>
          </a:p>
          <a:p>
            <a:pPr algn="l">
              <a:spcAft>
                <a:spcPts val="225"/>
              </a:spcAft>
              <a:buNone/>
            </a:pPr>
            <a:r>
              <a:rPr sz="863" b="0">
                <a:solidFill>
                  <a:srgbClr val="1E293B"/>
                </a:solidFill>
                <a:latin typeface="Calibri"/>
                <a:ea typeface="Calibri"/>
                <a:cs typeface="Calibri"/>
              </a:rPr>
              <a:t>Superficies horarias</a:t>
            </a:r>
          </a:p>
          <a:p>
            <a:pPr algn="l">
              <a:spcAft>
                <a:spcPts val="225"/>
              </a:spcAft>
              <a:buNone/>
            </a:pPr>
            <a:r>
              <a:rPr sz="863" b="0">
                <a:solidFill>
                  <a:srgbClr val="1E293B"/>
                </a:solidFill>
                <a:latin typeface="Calibri"/>
                <a:ea typeface="Calibri"/>
                <a:cs typeface="Calibri"/>
              </a:rPr>
              <a:t>Archivos diarios NetCDF</a:t>
            </a:r>
          </a:p>
        </p:txBody>
      </p:sp>
      <p:sp>
        <p:nvSpPr>
          <p:cNvPr id="25" name="Trazabilidad"/>
          <p:cNvSpPr txBox="1"/>
          <p:nvPr/>
        </p:nvSpPr>
        <p:spPr>
          <a:xfrm>
            <a:off x="2866644" y="3840480"/>
            <a:ext cx="3737610" cy="438912"/>
          </a:xfrm>
          <a:prstGeom prst="rect">
            <a:avLst/>
          </a:prstGeom>
          <a:noFill/>
          <a:ln w="8573">
            <a:noFill/>
          </a:ln>
        </p:spPr>
        <p:txBody>
          <a:bodyPr wrap="square" lIns="0" rIns="0" tIns="0" bIns="0" anchor="t">
            <a:noAutofit/>
          </a:bodyPr>
          <a:lstStyle/>
          <a:p>
            <a:pPr algn="l">
              <a:spcAft>
                <a:spcPts val="0"/>
              </a:spcAft>
              <a:buNone/>
            </a:pPr>
            <a:r>
              <a:rPr sz="900" b="0">
                <a:solidFill>
                  <a:srgbClr val="64748B"/>
                </a:solidFill>
                <a:latin typeface="Calibri"/>
                <a:ea typeface="Calibri"/>
                <a:cs typeface="Calibri"/>
              </a:rPr>
              <a:t>Fuentes crudas y derivados separados. Documento ejecutable y artefactos por etapa.</a:t>
            </a:r>
          </a:p>
        </p:txBody>
      </p:sp>
      <p:sp>
        <p:nvSpPr>
          <p:cNvPr id="26" name="Referencias científicas"/>
          <p:cNvSpPr txBox="1"/>
          <p:nvPr/>
        </p:nvSpPr>
        <p:spPr>
          <a:xfrm>
            <a:off x="548640" y="4613148"/>
            <a:ext cx="8092440" cy="22860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Lyapustin et al. (2018); van Geffen et al. (2022); Hersbach et al. (2020); Muñoz-Sabater et al. (2021); Gelaro et al. (2017).</a:t>
            </a:r>
          </a:p>
        </p:txBody>
      </p:sp>
    </p:spTree>
    <p:extLst>
      <p:ext uri="{BB962C8B-B14F-4D97-AF65-F5344CB8AC3E}">
        <p14:creationId xmlns:p14="http://schemas.microsoft.com/office/powerpoint/2010/main" val="322757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2" name=""/>
        <p:cNvGrpSpPr/>
        <p:nvPr/>
      </p:nvGrpSpPr>
      <p:grpSpPr>
        <a:xfrm>
          <a:off x="0" y="0"/>
          <a:ext cx="0" cy="0"/>
          <a:chOff x="0" y="0"/>
          <a:chExt cx="0" cy="0"/>
        </a:xfrm>
      </p:grpSpPr>
      <p:sp>
        <p:nvSpPr>
          <p:cNvPr id="3" name="Cabecera azul UC"/>
          <p:cNvSpPr/>
          <p:nvPr/>
        </p:nvSpPr>
        <p:spPr>
          <a:xfrm>
            <a:off x="158742" y="0"/>
            <a:ext cx="8985258" cy="1007195"/>
          </a:xfrm>
          <a:prstGeom prst="rect">
            <a:avLst/>
          </a:prstGeom>
          <a:solidFill>
            <a:srgbClr val="017EDF"/>
          </a:solidFill>
          <a:ln>
            <a:noFill/>
          </a:ln>
        </p:spPr>
      </p:sp>
      <p:sp>
        <p:nvSpPr>
          <p:cNvPr id="4"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6"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7" name="Título 1"/>
          <p:cNvSpPr>
            <a:spLocks noGrp="1"/>
          </p:cNvSpPr>
          <p:nvPr>
            <p:ph type="title"/>
          </p:nvPr>
        </p:nvSpPr>
        <p:spPr>
          <a:xfrm>
            <a:off x="457200" y="149945"/>
            <a:ext cx="8229600" cy="857250"/>
          </a:xfrm>
        </p:spPr>
        <p:txBody>
          <a:bodyPr wrap="square" anchor="ctr"/>
          <a:lstStyle/>
          <a:p>
            <a:pPr algn="l">
              <a:spcAft>
                <a:spcPts val="0"/>
              </a:spcAft>
              <a:buNone/>
            </a:pPr>
            <a:r>
              <a:rPr sz="1900" b="1">
                <a:solidFill>
                  <a:srgbClr val="FFFFFF"/>
                </a:solidFill>
                <a:latin typeface="Calibri"/>
              </a:rPr>
              <a:t>Propuesta Metodológica y</a:t>
            </a:r>
          </a:p>
          <a:p>
            <a:pPr algn="l">
              <a:spcAft>
                <a:spcPts val="0"/>
              </a:spcAft>
              <a:buNone/>
            </a:pPr>
            <a:r>
              <a:rPr sz="1900" b="1">
                <a:solidFill>
                  <a:srgbClr val="FFFFFF"/>
                </a:solidFill>
                <a:latin typeface="Calibri"/>
              </a:rPr>
              <a:t>Modelamiento Químico-Atmosférico</a:t>
            </a:r>
          </a:p>
        </p:txBody>
      </p:sp>
      <p:sp>
        <p:nvSpPr>
          <p:cNvPr id="8" name="Unidad de análisis"/>
          <p:cNvSpPr txBox="1"/>
          <p:nvPr/>
        </p:nvSpPr>
        <p:spPr>
          <a:xfrm>
            <a:off x="548640" y="1179576"/>
            <a:ext cx="8044434" cy="411480"/>
          </a:xfrm>
          <a:prstGeom prst="rect">
            <a:avLst/>
          </a:prstGeom>
          <a:solidFill>
            <a:srgbClr val="17375D"/>
          </a:solidFill>
          <a:ln w="8573">
            <a:noFill/>
          </a:ln>
        </p:spPr>
        <p:txBody>
          <a:bodyPr wrap="square" lIns="96012" rIns="96012" tIns="96012" bIns="96012" anchor="ctr">
            <a:noAutofit/>
          </a:bodyPr>
          <a:lstStyle/>
          <a:p>
            <a:pPr algn="ctr">
              <a:spcAft>
                <a:spcPts val="0"/>
              </a:spcAft>
              <a:buNone/>
            </a:pPr>
            <a:r>
              <a:rPr sz="1013" b="1">
                <a:solidFill>
                  <a:srgbClr val="FFFFFF"/>
                </a:solidFill>
                <a:latin typeface="Calibri"/>
                <a:ea typeface="Calibri"/>
                <a:cs typeface="Calibri"/>
              </a:rPr>
              <a:t>Unidad de análisis: celda de 0,01° (aprox. 1 km) × hora UTC. Ajustes separados por contaminante.</a:t>
            </a:r>
          </a:p>
        </p:txBody>
      </p:sp>
      <p:sp>
        <p:nvSpPr>
          <p:cNvPr id="9" name="Etapa de calibración"/>
          <p:cNvSpPr txBox="1"/>
          <p:nvPr/>
        </p:nvSpPr>
        <p:spPr>
          <a:xfrm>
            <a:off x="548640" y="1776222"/>
            <a:ext cx="3634740" cy="219456"/>
          </a:xfrm>
          <a:prstGeom prst="rect">
            <a:avLst/>
          </a:prstGeom>
          <a:noFill/>
          <a:ln w="8573">
            <a:noFill/>
          </a:ln>
        </p:spPr>
        <p:txBody>
          <a:bodyPr wrap="square" lIns="0" rIns="0" tIns="0" bIns="0" anchor="t">
            <a:noAutofit/>
          </a:bodyPr>
          <a:lstStyle/>
          <a:p>
            <a:pPr algn="l">
              <a:spcAft>
                <a:spcPts val="0"/>
              </a:spcAft>
              <a:buNone/>
            </a:pPr>
            <a:r>
              <a:rPr sz="900" b="1">
                <a:solidFill>
                  <a:srgbClr val="3366CC"/>
                </a:solidFill>
                <a:latin typeface="Calibri"/>
                <a:ea typeface="Calibri"/>
                <a:cs typeface="Calibri"/>
              </a:rPr>
              <a:t>CALIBRACIÓN EN ESTACIONES</a:t>
            </a:r>
          </a:p>
        </p:txBody>
      </p:sp>
      <p:sp>
        <p:nvSpPr>
          <p:cNvPr id="10" name="Etapa territorial"/>
          <p:cNvSpPr txBox="1"/>
          <p:nvPr/>
        </p:nvSpPr>
        <p:spPr>
          <a:xfrm>
            <a:off x="5054346" y="1776222"/>
            <a:ext cx="3429000" cy="219456"/>
          </a:xfrm>
          <a:prstGeom prst="rect">
            <a:avLst/>
          </a:prstGeom>
          <a:noFill/>
          <a:ln w="8573">
            <a:noFill/>
          </a:ln>
        </p:spPr>
        <p:txBody>
          <a:bodyPr wrap="square" lIns="0" rIns="0" tIns="0" bIns="0" anchor="t">
            <a:noAutofit/>
          </a:bodyPr>
          <a:lstStyle/>
          <a:p>
            <a:pPr algn="l">
              <a:spcAft>
                <a:spcPts val="0"/>
              </a:spcAft>
              <a:buNone/>
            </a:pPr>
            <a:r>
              <a:rPr sz="900" b="1">
                <a:solidFill>
                  <a:srgbClr val="3366CC"/>
                </a:solidFill>
                <a:latin typeface="Calibri"/>
                <a:ea typeface="Calibri"/>
                <a:cs typeface="Calibri"/>
              </a:rPr>
              <a:t>ESTIMACIÓN EN EL TERRITORIO</a:t>
            </a:r>
          </a:p>
        </p:txBody>
      </p:sp>
      <p:cxnSp>
        <p:nvCxnSpPr>
          <p:cNvPr id="11" name="Referencia a ajuste"/>
          <p:cNvCxnSpPr/>
          <p:nvPr/>
        </p:nvCxnSpPr>
        <p:spPr>
          <a:xfrm>
            <a:off x="2167128" y="2372868"/>
            <a:ext cx="336042" cy="576072"/>
          </a:xfrm>
          <a:prstGeom prst="line">
            <a:avLst/>
          </a:prstGeom>
          <a:ln w="15240">
            <a:solidFill>
              <a:srgbClr val="3366CC"/>
            </a:solidFill>
            <a:headEnd type="none"/>
            <a:tailEnd type="triangle"/>
          </a:ln>
        </p:spPr>
      </p:cxnSp>
      <p:cxnSp>
        <p:nvCxnSpPr>
          <p:cNvPr id="12" name="Predictores a ajuste"/>
          <p:cNvCxnSpPr/>
          <p:nvPr/>
        </p:nvCxnSpPr>
        <p:spPr>
          <a:xfrm flipV="1">
            <a:off x="2167128" y="3106674"/>
            <a:ext cx="336042" cy="342900"/>
          </a:xfrm>
          <a:prstGeom prst="line">
            <a:avLst/>
          </a:prstGeom>
          <a:ln w="15240">
            <a:solidFill>
              <a:srgbClr val="3366CC"/>
            </a:solidFill>
            <a:headEnd type="none"/>
            <a:tailEnd type="triangle"/>
          </a:ln>
        </p:spPr>
      </p:cxnSp>
      <p:cxnSp>
        <p:nvCxnSpPr>
          <p:cNvPr id="13" name="Modelo calibrado a grilla"/>
          <p:cNvCxnSpPr/>
          <p:nvPr/>
        </p:nvCxnSpPr>
        <p:spPr>
          <a:xfrm>
            <a:off x="4457700" y="3031236"/>
            <a:ext cx="548640" cy="0"/>
          </a:xfrm>
          <a:prstGeom prst="line">
            <a:avLst/>
          </a:prstGeom>
          <a:ln w="15240">
            <a:solidFill>
              <a:srgbClr val="3366CC"/>
            </a:solidFill>
            <a:headEnd type="none"/>
            <a:tailEnd type="triangle"/>
          </a:ln>
        </p:spPr>
      </p:cxnSp>
      <p:cxnSp>
        <p:nvCxnSpPr>
          <p:cNvPr id="14" name="Variables a predicción"/>
          <p:cNvCxnSpPr/>
          <p:nvPr/>
        </p:nvCxnSpPr>
        <p:spPr>
          <a:xfrm>
            <a:off x="6556248" y="2468880"/>
            <a:ext cx="0" cy="294894"/>
          </a:xfrm>
          <a:prstGeom prst="line">
            <a:avLst/>
          </a:prstGeom>
          <a:ln w="15240">
            <a:solidFill>
              <a:srgbClr val="3366CC"/>
            </a:solidFill>
            <a:headEnd type="none"/>
            <a:tailEnd type="triangle"/>
          </a:ln>
        </p:spPr>
      </p:cxnSp>
      <p:cxnSp>
        <p:nvCxnSpPr>
          <p:cNvPr id="15" name="Predicción a superficies"/>
          <p:cNvCxnSpPr/>
          <p:nvPr/>
        </p:nvCxnSpPr>
        <p:spPr>
          <a:xfrm>
            <a:off x="6556248" y="3319272"/>
            <a:ext cx="0" cy="294894"/>
          </a:xfrm>
          <a:prstGeom prst="line">
            <a:avLst/>
          </a:prstGeom>
          <a:ln w="15240">
            <a:solidFill>
              <a:srgbClr val="3366CC"/>
            </a:solidFill>
            <a:headEnd type="none"/>
            <a:tailEnd type="triangle"/>
          </a:ln>
        </p:spPr>
      </p:cxnSp>
      <p:sp>
        <p:nvSpPr>
          <p:cNvPr id="16" name="Objetivo observado"/>
          <p:cNvSpPr txBox="1"/>
          <p:nvPr/>
        </p:nvSpPr>
        <p:spPr>
          <a:xfrm>
            <a:off x="548640" y="2084832"/>
            <a:ext cx="1618488" cy="740664"/>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SINCA</a:t>
            </a:r>
          </a:p>
          <a:p>
            <a:pPr algn="l">
              <a:spcAft>
                <a:spcPts val="225"/>
              </a:spcAft>
              <a:buNone/>
            </a:pPr>
            <a:r>
              <a:rPr sz="878" b="0">
                <a:solidFill>
                  <a:srgbClr val="1E293B"/>
                </a:solidFill>
                <a:latin typeface="Calibri"/>
                <a:ea typeface="Calibri"/>
                <a:cs typeface="Calibri"/>
              </a:rPr>
              <a:t>Concentración de superficie</a:t>
            </a:r>
          </a:p>
          <a:p>
            <a:pPr algn="l">
              <a:spcAft>
                <a:spcPts val="225"/>
              </a:spcAft>
              <a:buNone/>
            </a:pPr>
            <a:r>
              <a:rPr sz="878" b="0">
                <a:solidFill>
                  <a:srgbClr val="1E293B"/>
                </a:solidFill>
                <a:latin typeface="Calibri"/>
                <a:ea typeface="Calibri"/>
                <a:cs typeface="Calibri"/>
              </a:rPr>
              <a:t>PM₂.₅ o NO₂</a:t>
            </a:r>
          </a:p>
        </p:txBody>
      </p:sp>
      <p:sp>
        <p:nvSpPr>
          <p:cNvPr id="17" name="Predictores de estación"/>
          <p:cNvSpPr txBox="1"/>
          <p:nvPr/>
        </p:nvSpPr>
        <p:spPr>
          <a:xfrm>
            <a:off x="548640" y="3092958"/>
            <a:ext cx="1618488" cy="740664"/>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CELDA DE LA ESTACIÓN</a:t>
            </a:r>
          </a:p>
          <a:p>
            <a:pPr algn="l">
              <a:spcAft>
                <a:spcPts val="225"/>
              </a:spcAft>
              <a:buNone/>
            </a:pPr>
            <a:r>
              <a:rPr sz="878" b="0">
                <a:solidFill>
                  <a:srgbClr val="1E293B"/>
                </a:solidFill>
                <a:latin typeface="Calibri"/>
                <a:ea typeface="Calibri"/>
                <a:cs typeface="Calibri"/>
              </a:rPr>
              <a:t>Atmósfera, meteorología</a:t>
            </a:r>
          </a:p>
          <a:p>
            <a:pPr algn="l">
              <a:spcAft>
                <a:spcPts val="225"/>
              </a:spcAft>
              <a:buNone/>
            </a:pPr>
            <a:r>
              <a:rPr sz="878" b="0">
                <a:solidFill>
                  <a:srgbClr val="1E293B"/>
                </a:solidFill>
                <a:latin typeface="Calibri"/>
                <a:ea typeface="Calibri"/>
                <a:cs typeface="Calibri"/>
              </a:rPr>
              <a:t>Territorio y calendario</a:t>
            </a:r>
          </a:p>
        </p:txBody>
      </p:sp>
      <p:sp>
        <p:nvSpPr>
          <p:cNvPr id="18" name="Calibración"/>
          <p:cNvSpPr txBox="1"/>
          <p:nvPr/>
        </p:nvSpPr>
        <p:spPr>
          <a:xfrm>
            <a:off x="2503170" y="2578608"/>
            <a:ext cx="1954530" cy="912114"/>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AJUSTE ESTADÍSTICO</a:t>
            </a:r>
          </a:p>
          <a:p>
            <a:pPr algn="l">
              <a:spcAft>
                <a:spcPts val="225"/>
              </a:spcAft>
              <a:buNone/>
            </a:pPr>
            <a:r>
              <a:rPr sz="900" b="0">
                <a:solidFill>
                  <a:srgbClr val="1E293B"/>
                </a:solidFill>
                <a:latin typeface="Calibri"/>
                <a:ea typeface="Calibri"/>
                <a:cs typeface="Calibri"/>
              </a:rPr>
              <a:t>Relación entre predictores</a:t>
            </a:r>
          </a:p>
          <a:p>
            <a:pPr algn="l">
              <a:spcAft>
                <a:spcPts val="225"/>
              </a:spcAft>
              <a:buNone/>
            </a:pPr>
            <a:r>
              <a:rPr sz="900" b="0">
                <a:solidFill>
                  <a:srgbClr val="1E293B"/>
                </a:solidFill>
                <a:latin typeface="Calibri"/>
                <a:ea typeface="Calibri"/>
                <a:cs typeface="Calibri"/>
              </a:rPr>
              <a:t>y concentración observada</a:t>
            </a:r>
          </a:p>
          <a:p>
            <a:pPr algn="l">
              <a:spcAft>
                <a:spcPts val="225"/>
              </a:spcAft>
              <a:buNone/>
            </a:pPr>
            <a:r>
              <a:rPr sz="900" b="0">
                <a:solidFill>
                  <a:srgbClr val="1E293B"/>
                </a:solidFill>
                <a:latin typeface="Calibri"/>
                <a:ea typeface="Calibri"/>
                <a:cs typeface="Calibri"/>
              </a:rPr>
              <a:t>Comparación de modelos</a:t>
            </a:r>
          </a:p>
        </p:txBody>
      </p:sp>
      <p:sp>
        <p:nvSpPr>
          <p:cNvPr id="19" name="Predictores grilla"/>
          <p:cNvSpPr txBox="1"/>
          <p:nvPr/>
        </p:nvSpPr>
        <p:spPr>
          <a:xfrm>
            <a:off x="5006340" y="2071116"/>
            <a:ext cx="3099816" cy="404622"/>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Predictores de cada celda</a:t>
            </a:r>
          </a:p>
        </p:txBody>
      </p:sp>
      <p:sp>
        <p:nvSpPr>
          <p:cNvPr id="20" name="Predicción grilla"/>
          <p:cNvSpPr txBox="1"/>
          <p:nvPr/>
        </p:nvSpPr>
        <p:spPr>
          <a:xfrm>
            <a:off x="5006340" y="2763774"/>
            <a:ext cx="3099816" cy="555498"/>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Aplicación del modelo ajustado</a:t>
            </a:r>
          </a:p>
          <a:p>
            <a:pPr algn="l">
              <a:spcAft>
                <a:spcPts val="225"/>
              </a:spcAft>
              <a:buNone/>
            </a:pPr>
            <a:r>
              <a:rPr sz="900" b="0">
                <a:solidFill>
                  <a:srgbClr val="1E293B"/>
                </a:solidFill>
                <a:latin typeface="Calibri"/>
                <a:ea typeface="Calibri"/>
                <a:cs typeface="Calibri"/>
              </a:rPr>
              <a:t>Mismas variables y unidad de análisis</a:t>
            </a:r>
          </a:p>
        </p:txBody>
      </p:sp>
      <p:sp>
        <p:nvSpPr>
          <p:cNvPr id="21" name="Superficies"/>
          <p:cNvSpPr txBox="1"/>
          <p:nvPr/>
        </p:nvSpPr>
        <p:spPr>
          <a:xfrm>
            <a:off x="5006340" y="3614166"/>
            <a:ext cx="3099816" cy="630936"/>
          </a:xfrm>
          <a:prstGeom prst="roundRect">
            <a:avLst>
              <a:gd name="adj" fmla="val 7500"/>
            </a:avLst>
          </a:prstGeom>
          <a:solidFill>
            <a:srgbClr val="EAF2FD"/>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a:p>
            <a:pPr algn="l">
              <a:spcAft>
                <a:spcPts val="450"/>
              </a:spcAft>
              <a:buNone/>
            </a:pPr>
            <a:r>
              <a:rPr sz="1050" b="1">
                <a:solidFill>
                  <a:srgbClr val="17375D"/>
                </a:solidFill>
                <a:latin typeface="Calibri"/>
                <a:ea typeface="Calibri"/>
                <a:cs typeface="Calibri"/>
              </a:rPr>
              <a:t>Concentraciones celda × hora</a:t>
            </a:r>
          </a:p>
          <a:p>
            <a:pPr algn="l">
              <a:spcAft>
                <a:spcPts val="225"/>
              </a:spcAft>
              <a:buNone/>
            </a:pPr>
            <a:r>
              <a:rPr sz="900" b="0">
                <a:solidFill>
                  <a:srgbClr val="1E293B"/>
                </a:solidFill>
                <a:latin typeface="Calibri"/>
                <a:ea typeface="Calibri"/>
                <a:cs typeface="Calibri"/>
              </a:rPr>
              <a:t>Agregación comunal: regla por formalizar</a:t>
            </a:r>
          </a:p>
        </p:txBody>
      </p:sp>
      <p:sp>
        <p:nvSpPr>
          <p:cNvPr id="22" name="Contexto físico"/>
          <p:cNvSpPr txBox="1"/>
          <p:nvPr/>
        </p:nvSpPr>
        <p:spPr>
          <a:xfrm>
            <a:off x="548640" y="4299966"/>
            <a:ext cx="8023860" cy="356616"/>
          </a:xfrm>
          <a:prstGeom prst="rect">
            <a:avLst/>
          </a:prstGeom>
          <a:noFill/>
          <a:ln w="8573">
            <a:noFill/>
          </a:ln>
        </p:spPr>
        <p:txBody>
          <a:bodyPr wrap="square" lIns="0" rIns="0" tIns="0" bIns="0" anchor="t">
            <a:noAutofit/>
          </a:bodyPr>
          <a:lstStyle/>
          <a:p>
            <a:pPr algn="l">
              <a:spcAft>
                <a:spcPts val="0"/>
              </a:spcAft>
              <a:buNone/>
            </a:pPr>
            <a:r>
              <a:rPr sz="900" b="0">
                <a:solidFill>
                  <a:srgbClr val="64748B"/>
                </a:solidFill>
                <a:latin typeface="Calibri"/>
                <a:ea typeface="Calibri"/>
                <a:cs typeface="Calibri"/>
              </a:rPr>
              <a:t>Los predictores atmosféricos aportan contexto físico a una estimación estadística. Las columnas satelitales son predictores de la concentración superficial.</a:t>
            </a:r>
          </a:p>
        </p:txBody>
      </p:sp>
      <p:sp>
        <p:nvSpPr>
          <p:cNvPr id="23" name="Referencias científicas"/>
          <p:cNvSpPr txBox="1"/>
          <p:nvPr/>
        </p:nvSpPr>
        <p:spPr>
          <a:xfrm>
            <a:off x="548640" y="4613148"/>
            <a:ext cx="8092440" cy="22860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Di et al. (2019); van Donkelaar et al. (2016).</a:t>
            </a:r>
          </a:p>
        </p:txBody>
      </p:sp>
    </p:spTree>
    <p:extLst>
      <p:ext uri="{BB962C8B-B14F-4D97-AF65-F5344CB8AC3E}">
        <p14:creationId xmlns:p14="http://schemas.microsoft.com/office/powerpoint/2010/main" val="322757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2" name=""/>
        <p:cNvGrpSpPr/>
        <p:nvPr/>
      </p:nvGrpSpPr>
      <p:grpSpPr>
        <a:xfrm>
          <a:off x="0" y="0"/>
          <a:ext cx="0" cy="0"/>
          <a:chOff x="0" y="0"/>
          <a:chExt cx="0" cy="0"/>
        </a:xfrm>
      </p:grpSpPr>
      <p:sp>
        <p:nvSpPr>
          <p:cNvPr id="3" name="Cabecera azul UC"/>
          <p:cNvSpPr/>
          <p:nvPr/>
        </p:nvSpPr>
        <p:spPr>
          <a:xfrm>
            <a:off x="158742" y="0"/>
            <a:ext cx="8985258" cy="1007195"/>
          </a:xfrm>
          <a:prstGeom prst="rect">
            <a:avLst/>
          </a:prstGeom>
          <a:solidFill>
            <a:srgbClr val="017EDF"/>
          </a:solidFill>
          <a:ln>
            <a:noFill/>
          </a:ln>
        </p:spPr>
      </p:sp>
      <p:sp>
        <p:nvSpPr>
          <p:cNvPr id="4"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6"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7" name="Título 1"/>
          <p:cNvSpPr>
            <a:spLocks noGrp="1"/>
          </p:cNvSpPr>
          <p:nvPr>
            <p:ph type="title"/>
          </p:nvPr>
        </p:nvSpPr>
        <p:spPr>
          <a:xfrm>
            <a:off x="457200" y="149945"/>
            <a:ext cx="8229600" cy="857250"/>
          </a:xfrm>
        </p:spPr>
        <p:txBody>
          <a:bodyPr wrap="square" anchor="ctr"/>
          <a:lstStyle/>
          <a:p>
            <a:pPr algn="l">
              <a:spcAft>
                <a:spcPts val="0"/>
              </a:spcAft>
              <a:buNone/>
            </a:pPr>
            <a:r>
              <a:rPr sz="1900" b="1">
                <a:solidFill>
                  <a:srgbClr val="FFFFFF"/>
                </a:solidFill>
                <a:latin typeface="Calibri"/>
              </a:rPr>
              <a:t>Comparación de Modelos de Estimación</a:t>
            </a:r>
          </a:p>
        </p:txBody>
      </p:sp>
      <p:cxnSp>
        <p:nvCxnSpPr>
          <p:cNvPr id="8" name="Tronco de modelos"/>
          <p:cNvCxnSpPr/>
          <p:nvPr/>
        </p:nvCxnSpPr>
        <p:spPr>
          <a:xfrm>
            <a:off x="4574286" y="1481328"/>
            <a:ext cx="0" cy="226314"/>
          </a:xfrm>
          <a:prstGeom prst="line">
            <a:avLst/>
          </a:prstGeom>
          <a:ln w="15240">
            <a:solidFill>
              <a:srgbClr val="3366CC"/>
            </a:solidFill>
            <a:headEnd type="none"/>
            <a:tailEnd type="none"/>
          </a:ln>
        </p:spPr>
      </p:cxnSp>
      <p:cxnSp>
        <p:nvCxnSpPr>
          <p:cNvPr id="9" name="Ramas de familias"/>
          <p:cNvCxnSpPr/>
          <p:nvPr/>
        </p:nvCxnSpPr>
        <p:spPr>
          <a:xfrm>
            <a:off x="1796796" y="1707642"/>
            <a:ext cx="5541264" cy="0"/>
          </a:xfrm>
          <a:prstGeom prst="line">
            <a:avLst/>
          </a:prstGeom>
          <a:ln w="15240">
            <a:solidFill>
              <a:srgbClr val="3366CC"/>
            </a:solidFill>
            <a:headEnd type="none"/>
            <a:tailEnd type="none"/>
          </a:ln>
        </p:spPr>
      </p:cxnSp>
      <p:cxnSp>
        <p:nvCxnSpPr>
          <p:cNvPr id="10" name="Familia 1"/>
          <p:cNvCxnSpPr/>
          <p:nvPr/>
        </p:nvCxnSpPr>
        <p:spPr>
          <a:xfrm>
            <a:off x="1796796" y="1707642"/>
            <a:ext cx="0" cy="192024"/>
          </a:xfrm>
          <a:prstGeom prst="line">
            <a:avLst/>
          </a:prstGeom>
          <a:ln w="15240">
            <a:solidFill>
              <a:srgbClr val="3366CC"/>
            </a:solidFill>
            <a:headEnd type="none"/>
            <a:tailEnd type="triangle"/>
          </a:ln>
        </p:spPr>
      </p:cxnSp>
      <p:cxnSp>
        <p:nvCxnSpPr>
          <p:cNvPr id="11" name="Familia 2"/>
          <p:cNvCxnSpPr/>
          <p:nvPr/>
        </p:nvCxnSpPr>
        <p:spPr>
          <a:xfrm>
            <a:off x="4574286" y="1707642"/>
            <a:ext cx="0" cy="192024"/>
          </a:xfrm>
          <a:prstGeom prst="line">
            <a:avLst/>
          </a:prstGeom>
          <a:ln w="15240">
            <a:solidFill>
              <a:srgbClr val="3366CC"/>
            </a:solidFill>
            <a:headEnd type="none"/>
            <a:tailEnd type="triangle"/>
          </a:ln>
        </p:spPr>
      </p:cxnSp>
      <p:cxnSp>
        <p:nvCxnSpPr>
          <p:cNvPr id="12" name="Familia 3"/>
          <p:cNvCxnSpPr/>
          <p:nvPr/>
        </p:nvCxnSpPr>
        <p:spPr>
          <a:xfrm>
            <a:off x="7338060" y="1707642"/>
            <a:ext cx="0" cy="192024"/>
          </a:xfrm>
          <a:prstGeom prst="line">
            <a:avLst/>
          </a:prstGeom>
          <a:ln w="15240">
            <a:solidFill>
              <a:srgbClr val="3366CC"/>
            </a:solidFill>
            <a:headEnd type="none"/>
            <a:tailEnd type="triangle"/>
          </a:ln>
        </p:spPr>
      </p:cxnSp>
      <p:sp>
        <p:nvSpPr>
          <p:cNvPr id="13" name="Diez modelos"/>
          <p:cNvSpPr txBox="1"/>
          <p:nvPr/>
        </p:nvSpPr>
        <p:spPr>
          <a:xfrm>
            <a:off x="3586734" y="1083564"/>
            <a:ext cx="1975104" cy="397764"/>
          </a:xfrm>
          <a:prstGeom prst="rect">
            <a:avLst/>
          </a:prstGeom>
          <a:solidFill>
            <a:srgbClr val="17375D"/>
          </a:solidFill>
          <a:ln w="8573">
            <a:noFill/>
          </a:ln>
        </p:spPr>
        <p:txBody>
          <a:bodyPr wrap="square" lIns="96012" rIns="96012" tIns="96012" bIns="96012" anchor="ctr">
            <a:noAutofit/>
          </a:bodyPr>
          <a:lstStyle/>
          <a:p>
            <a:pPr algn="ctr">
              <a:spcAft>
                <a:spcPts val="0"/>
              </a:spcAft>
              <a:buNone/>
            </a:pPr>
            <a:r>
              <a:rPr sz="900" b="1">
                <a:solidFill>
                  <a:srgbClr val="FFFFFF"/>
                </a:solidFill>
                <a:latin typeface="Calibri"/>
                <a:ea typeface="Calibri"/>
                <a:cs typeface="Calibri"/>
              </a:rPr>
              <a:t>10 ENFOQUES POR CONTAMINANTE</a:t>
            </a:r>
          </a:p>
        </p:txBody>
      </p:sp>
      <p:sp>
        <p:nvSpPr>
          <p:cNvPr id="14" name="Grupo 1"/>
          <p:cNvSpPr txBox="1"/>
          <p:nvPr/>
        </p:nvSpPr>
        <p:spPr>
          <a:xfrm>
            <a:off x="548640"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rIns="157734" tIns="157734" bIns="157734" anchor="t">
            <a:noAutofit/>
          </a:bodyPr>
          <a:lstStyle/>
          <a:p>
            <a:pPr algn="l">
              <a:spcAft>
                <a:spcPts val="1200"/>
              </a:spcAft>
              <a:buNone/>
            </a:pPr>
            <a:r>
              <a:rPr sz="1050" b="1">
                <a:solidFill>
                  <a:srgbClr val="17375D"/>
                </a:solidFill>
                <a:latin typeface="Calibri"/>
                <a:ea typeface="Calibri"/>
                <a:cs typeface="Calibri"/>
              </a:rPr>
              <a:t>Aprendizaje flexible</a:t>
            </a:r>
          </a:p>
          <a:p>
            <a:pPr algn="l">
              <a:spcAft>
                <a:spcPts val="225"/>
              </a:spcAft>
              <a:buNone/>
            </a:pPr>
            <a:r>
              <a:rPr sz="975" b="1">
                <a:solidFill>
                  <a:srgbClr val="3366CC"/>
                </a:solidFill>
                <a:latin typeface="Calibri"/>
                <a:ea typeface="Calibri"/>
                <a:cs typeface="Calibri"/>
              </a:rPr>
              <a:t>1  LightGBM</a:t>
            </a:r>
          </a:p>
          <a:p>
            <a:pPr algn="l">
              <a:spcAft>
                <a:spcPts val="975"/>
              </a:spcAft>
              <a:buNone/>
            </a:pPr>
            <a:r>
              <a:rPr sz="863" b="0">
                <a:solidFill>
                  <a:srgbClr val="1E293B"/>
                </a:solidFill>
                <a:latin typeface="Calibri"/>
                <a:ea typeface="Calibri"/>
                <a:cs typeface="Calibri"/>
              </a:rPr>
              <a:t>Boosting y ajuste logarítmico</a:t>
            </a:r>
          </a:p>
          <a:p>
            <a:pPr algn="l">
              <a:spcAft>
                <a:spcPts val="225"/>
              </a:spcAft>
              <a:buNone/>
            </a:pPr>
            <a:r>
              <a:rPr sz="975" b="1">
                <a:solidFill>
                  <a:srgbClr val="3366CC"/>
                </a:solidFill>
                <a:latin typeface="Calibri"/>
                <a:ea typeface="Calibri"/>
                <a:cs typeface="Calibri"/>
              </a:rPr>
              <a:t>2  Random Forest</a:t>
            </a:r>
          </a:p>
          <a:p>
            <a:pPr algn="l">
              <a:spcAft>
                <a:spcPts val="975"/>
              </a:spcAft>
              <a:buNone/>
            </a:pPr>
            <a:r>
              <a:rPr sz="863" b="0">
                <a:solidFill>
                  <a:srgbClr val="1E293B"/>
                </a:solidFill>
                <a:latin typeface="Calibri"/>
                <a:ea typeface="Calibri"/>
                <a:cs typeface="Calibri"/>
              </a:rPr>
              <a:t>Bosque de árboles</a:t>
            </a:r>
          </a:p>
          <a:p>
            <a:pPr algn="l">
              <a:spcAft>
                <a:spcPts val="225"/>
              </a:spcAft>
              <a:buNone/>
            </a:pPr>
            <a:r>
              <a:rPr sz="975" b="1">
                <a:solidFill>
                  <a:srgbClr val="3366CC"/>
                </a:solidFill>
                <a:latin typeface="Calibri"/>
                <a:ea typeface="Calibri"/>
                <a:cs typeface="Calibri"/>
              </a:rPr>
              <a:t>3  Red neuronal MLP</a:t>
            </a:r>
          </a:p>
          <a:p>
            <a:pPr algn="l">
              <a:spcAft>
                <a:spcPts val="975"/>
              </a:spcAft>
              <a:buNone/>
            </a:pPr>
            <a:r>
              <a:rPr sz="863" b="0">
                <a:solidFill>
                  <a:srgbClr val="1E293B"/>
                </a:solidFill>
                <a:latin typeface="Calibri"/>
                <a:ea typeface="Calibri"/>
                <a:cs typeface="Calibri"/>
              </a:rPr>
              <a:t>Relaciones no lineales</a:t>
            </a:r>
          </a:p>
          <a:p>
            <a:pPr algn="l">
              <a:spcAft>
                <a:spcPts val="225"/>
              </a:spcAft>
              <a:buNone/>
            </a:pPr>
            <a:r>
              <a:rPr sz="975" b="1">
                <a:solidFill>
                  <a:srgbClr val="3366CC"/>
                </a:solidFill>
                <a:latin typeface="Calibri"/>
                <a:ea typeface="Calibri"/>
                <a:cs typeface="Calibri"/>
              </a:rPr>
              <a:t>4  Proceso gaussiano</a:t>
            </a:r>
          </a:p>
          <a:p>
            <a:pPr algn="l">
              <a:spcAft>
                <a:spcPts val="975"/>
              </a:spcAft>
              <a:buNone/>
            </a:pPr>
            <a:r>
              <a:rPr sz="863" b="0">
                <a:solidFill>
                  <a:srgbClr val="1E293B"/>
                </a:solidFill>
                <a:latin typeface="Calibri"/>
                <a:ea typeface="Calibri"/>
                <a:cs typeface="Calibri"/>
              </a:rPr>
              <a:t>Núcleo Matérn</a:t>
            </a:r>
          </a:p>
        </p:txBody>
      </p:sp>
      <p:sp>
        <p:nvSpPr>
          <p:cNvPr id="15" name="Grupo 2"/>
          <p:cNvSpPr txBox="1"/>
          <p:nvPr/>
        </p:nvSpPr>
        <p:spPr>
          <a:xfrm>
            <a:off x="3319272"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rIns="157734" tIns="157734" bIns="157734" anchor="t">
            <a:noAutofit/>
          </a:bodyPr>
          <a:lstStyle/>
          <a:p>
            <a:pPr algn="l">
              <a:spcAft>
                <a:spcPts val="1200"/>
              </a:spcAft>
              <a:buNone/>
            </a:pPr>
            <a:r>
              <a:rPr sz="1050" b="1">
                <a:solidFill>
                  <a:srgbClr val="17375D"/>
                </a:solidFill>
                <a:latin typeface="Calibri"/>
                <a:ea typeface="Calibri"/>
                <a:cs typeface="Calibri"/>
              </a:rPr>
              <a:t>Estructura espacial y temporal</a:t>
            </a:r>
          </a:p>
          <a:p>
            <a:pPr algn="l">
              <a:spcAft>
                <a:spcPts val="225"/>
              </a:spcAft>
              <a:buNone/>
            </a:pPr>
            <a:r>
              <a:rPr sz="975" b="1">
                <a:solidFill>
                  <a:srgbClr val="3366CC"/>
                </a:solidFill>
                <a:latin typeface="Calibri"/>
                <a:ea typeface="Calibri"/>
                <a:cs typeface="Calibri"/>
              </a:rPr>
              <a:t>5  GWR</a:t>
            </a:r>
          </a:p>
          <a:p>
            <a:pPr algn="l">
              <a:spcAft>
                <a:spcPts val="975"/>
              </a:spcAft>
              <a:buNone/>
            </a:pPr>
            <a:r>
              <a:rPr sz="863" b="0">
                <a:solidFill>
                  <a:srgbClr val="1E293B"/>
                </a:solidFill>
                <a:latin typeface="Calibri"/>
                <a:ea typeface="Calibri"/>
                <a:cs typeface="Calibri"/>
              </a:rPr>
              <a:t>Coeficientes locales por cercanía</a:t>
            </a:r>
          </a:p>
          <a:p>
            <a:pPr algn="l">
              <a:spcAft>
                <a:spcPts val="225"/>
              </a:spcAft>
              <a:buNone/>
            </a:pPr>
            <a:r>
              <a:rPr sz="975" b="1">
                <a:solidFill>
                  <a:srgbClr val="3366CC"/>
                </a:solidFill>
                <a:latin typeface="Calibri"/>
                <a:ea typeface="Calibri"/>
                <a:cs typeface="Calibri"/>
              </a:rPr>
              <a:t>6  Regresión con kriging</a:t>
            </a:r>
          </a:p>
          <a:p>
            <a:pPr algn="l">
              <a:spcAft>
                <a:spcPts val="975"/>
              </a:spcAft>
              <a:buNone/>
            </a:pPr>
            <a:r>
              <a:rPr sz="863" b="0">
                <a:solidFill>
                  <a:srgbClr val="1E293B"/>
                </a:solidFill>
                <a:latin typeface="Calibri"/>
                <a:ea typeface="Calibri"/>
                <a:cs typeface="Calibri"/>
              </a:rPr>
              <a:t>Tendencia y residuos espaciales</a:t>
            </a:r>
          </a:p>
          <a:p>
            <a:pPr algn="l">
              <a:spcAft>
                <a:spcPts val="225"/>
              </a:spcAft>
              <a:buNone/>
            </a:pPr>
            <a:r>
              <a:rPr sz="975" b="1">
                <a:solidFill>
                  <a:srgbClr val="3366CC"/>
                </a:solidFill>
                <a:latin typeface="Calibri"/>
                <a:ea typeface="Calibri"/>
                <a:cs typeface="Calibri"/>
              </a:rPr>
              <a:t>7  Modelo lineal mixto</a:t>
            </a:r>
          </a:p>
          <a:p>
            <a:pPr algn="l">
              <a:spcAft>
                <a:spcPts val="975"/>
              </a:spcAft>
              <a:buNone/>
            </a:pPr>
            <a:r>
              <a:rPr sz="863" b="0">
                <a:solidFill>
                  <a:srgbClr val="1E293B"/>
                </a:solidFill>
                <a:latin typeface="Calibri"/>
                <a:ea typeface="Calibri"/>
                <a:cs typeface="Calibri"/>
              </a:rPr>
              <a:t>Efectos fijos y aleatorios por hora</a:t>
            </a:r>
          </a:p>
          <a:p>
            <a:pPr algn="l">
              <a:spcAft>
                <a:spcPts val="225"/>
              </a:spcAft>
              <a:buNone/>
            </a:pPr>
            <a:r>
              <a:rPr sz="975" b="1">
                <a:solidFill>
                  <a:srgbClr val="3366CC"/>
                </a:solidFill>
                <a:latin typeface="Calibri"/>
                <a:ea typeface="Calibri"/>
                <a:cs typeface="Calibri"/>
              </a:rPr>
              <a:t>8  Interpolación de vecinas</a:t>
            </a:r>
          </a:p>
          <a:p>
            <a:pPr algn="l">
              <a:spcAft>
                <a:spcPts val="975"/>
              </a:spcAft>
              <a:buNone/>
            </a:pPr>
            <a:r>
              <a:rPr sz="863" b="0">
                <a:solidFill>
                  <a:srgbClr val="1E293B"/>
                </a:solidFill>
                <a:latin typeface="Calibri"/>
                <a:ea typeface="Calibri"/>
                <a:cs typeface="Calibri"/>
              </a:rPr>
              <a:t>Línea base de estaciones cercanas</a:t>
            </a:r>
          </a:p>
        </p:txBody>
      </p:sp>
      <p:sp>
        <p:nvSpPr>
          <p:cNvPr id="16" name="Grupo 3"/>
          <p:cNvSpPr txBox="1"/>
          <p:nvPr/>
        </p:nvSpPr>
        <p:spPr>
          <a:xfrm>
            <a:off x="6089904" y="1899666"/>
            <a:ext cx="2496312" cy="2578608"/>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157734" rIns="157734" tIns="157734" bIns="157734" anchor="t">
            <a:noAutofit/>
          </a:bodyPr>
          <a:lstStyle/>
          <a:p>
            <a:pPr algn="l">
              <a:spcAft>
                <a:spcPts val="1200"/>
              </a:spcAft>
              <a:buNone/>
            </a:pPr>
            <a:r>
              <a:rPr sz="1050" b="1">
                <a:solidFill>
                  <a:srgbClr val="17375D"/>
                </a:solidFill>
                <a:latin typeface="Calibri"/>
                <a:ea typeface="Calibri"/>
                <a:cs typeface="Calibri"/>
              </a:rPr>
              <a:t>Combinación y alertas</a:t>
            </a:r>
          </a:p>
          <a:p>
            <a:pPr algn="l">
              <a:spcAft>
                <a:spcPts val="225"/>
              </a:spcAft>
              <a:buNone/>
            </a:pPr>
            <a:r>
              <a:rPr sz="975" b="1">
                <a:solidFill>
                  <a:srgbClr val="3366CC"/>
                </a:solidFill>
                <a:latin typeface="Calibri"/>
                <a:ea typeface="Calibri"/>
                <a:cs typeface="Calibri"/>
              </a:rPr>
              <a:t>9  LightGBM para alertas</a:t>
            </a:r>
          </a:p>
          <a:p>
            <a:pPr algn="l">
              <a:spcAft>
                <a:spcPts val="975"/>
              </a:spcAft>
              <a:buNone/>
            </a:pPr>
            <a:r>
              <a:rPr sz="863" b="0">
                <a:solidFill>
                  <a:srgbClr val="1E293B"/>
                </a:solidFill>
                <a:latin typeface="Calibri"/>
                <a:ea typeface="Calibri"/>
                <a:cs typeface="Calibri"/>
              </a:rPr>
              <a:t>Cuantil 0,80 y detección de excedencias</a:t>
            </a:r>
          </a:p>
          <a:p>
            <a:pPr algn="l">
              <a:spcAft>
                <a:spcPts val="225"/>
              </a:spcAft>
              <a:buNone/>
            </a:pPr>
            <a:r>
              <a:rPr sz="975" b="1">
                <a:solidFill>
                  <a:srgbClr val="3366CC"/>
                </a:solidFill>
                <a:latin typeface="Calibri"/>
                <a:ea typeface="Calibri"/>
                <a:cs typeface="Calibri"/>
              </a:rPr>
              <a:t>10  Ensamble por apilado</a:t>
            </a:r>
          </a:p>
          <a:p>
            <a:pPr algn="l">
              <a:spcAft>
                <a:spcPts val="975"/>
              </a:spcAft>
              <a:buNone/>
            </a:pPr>
            <a:r>
              <a:rPr sz="863" b="0">
                <a:solidFill>
                  <a:srgbClr val="1E293B"/>
                </a:solidFill>
                <a:latin typeface="Calibri"/>
                <a:ea typeface="Calibri"/>
                <a:cs typeface="Calibri"/>
              </a:rPr>
              <a:t>Ridge sobre LightGBM, Random Forest y MLP</a:t>
            </a:r>
          </a:p>
        </p:txBody>
      </p:sp>
      <p:sp>
        <p:nvSpPr>
          <p:cNvPr id="17" name="Criterio de comparación"/>
          <p:cNvSpPr txBox="1"/>
          <p:nvPr/>
        </p:nvSpPr>
        <p:spPr>
          <a:xfrm>
            <a:off x="6309360" y="3931920"/>
            <a:ext cx="1975104" cy="502920"/>
          </a:xfrm>
          <a:prstGeom prst="rect">
            <a:avLst/>
          </a:prstGeom>
          <a:noFill/>
          <a:ln>
            <a:noFill/>
          </a:ln>
        </p:spPr>
        <p:txBody>
          <a:bodyPr wrap="square" lIns="0" rIns="0" tIns="0" bIns="0" anchor="t">
            <a:noAutofit/>
          </a:bodyPr>
          <a:lstStyle/>
          <a:p>
            <a:pPr algn="l">
              <a:spcAft>
                <a:spcPts val="0"/>
              </a:spcAft>
              <a:buNone/>
            </a:pPr>
            <a:r>
              <a:rPr sz="810" b="0">
                <a:solidFill>
                  <a:srgbClr val="64748B"/>
                </a:solidFill>
                <a:latin typeface="Calibri"/>
              </a:rPr>
              <a:t>Objetivos y tamaños de entrenamiento distintos.</a:t>
            </a:r>
          </a:p>
          <a:p>
            <a:pPr algn="l">
              <a:spcAft>
                <a:spcPts val="0"/>
              </a:spcAft>
              <a:buNone/>
            </a:pPr>
            <a:r>
              <a:rPr sz="810" b="0">
                <a:solidFill>
                  <a:srgbClr val="64748B"/>
                </a:solidFill>
                <a:latin typeface="Calibri"/>
              </a:rPr>
              <a:t>Apilado: validación anidada pendiente.</a:t>
            </a:r>
          </a:p>
        </p:txBody>
      </p:sp>
      <p:sp>
        <p:nvSpPr>
          <p:cNvPr id="18" name="Referencias científicas"/>
          <p:cNvSpPr txBox="1"/>
          <p:nvPr/>
        </p:nvSpPr>
        <p:spPr>
          <a:xfrm>
            <a:off x="548640" y="4613148"/>
            <a:ext cx="8092440" cy="22860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Ke et al. (2017); Breiman (2001); Rumelhart et al. (1986); Rasmussen y Williams (2006); Fotheringham et al. (2002).</a:t>
            </a:r>
          </a:p>
          <a:p>
            <a:pPr algn="l">
              <a:spcAft>
                <a:spcPts val="0"/>
              </a:spcAft>
              <a:buNone/>
            </a:pPr>
            <a:r>
              <a:rPr sz="710" b="0">
                <a:solidFill>
                  <a:srgbClr val="666666"/>
                </a:solidFill>
                <a:latin typeface="Calibri"/>
              </a:rPr>
              <a:t>Hengl et al. (2007); Laird y Ware (1982); Koenker y Bassett (1978); Wolpert (1992).</a:t>
            </a:r>
          </a:p>
        </p:txBody>
      </p:sp>
    </p:spTree>
    <p:extLst>
      <p:ext uri="{BB962C8B-B14F-4D97-AF65-F5344CB8AC3E}">
        <p14:creationId xmlns:p14="http://schemas.microsoft.com/office/powerpoint/2010/main" val="3227572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0" name="Fondo azul UC"/>
          <p:cNvSpPr/>
          <p:nvPr/>
        </p:nvSpPr>
        <p:spPr>
          <a:xfrm>
            <a:off x="0" y="0"/>
            <a:ext cx="9144000" cy="4277301"/>
          </a:xfrm>
          <a:prstGeom prst="rect">
            <a:avLst/>
          </a:prstGeom>
          <a:solidFill>
            <a:srgbClr val="017EDF"/>
          </a:solidFill>
          <a:ln>
            <a:noFill/>
          </a:ln>
        </p:spPr>
      </p:sp>
      <p:sp>
        <p:nvSpPr>
          <p:cNvPr id="301"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02" name="Continuidad fondo UC"/>
          <p:cNvSpPr/>
          <p:nvPr/>
        </p:nvSpPr>
        <p:spPr>
          <a:xfrm>
            <a:off x="0" y="784483"/>
            <a:ext cx="9144000" cy="3492818"/>
          </a:xfrm>
          <a:prstGeom prst="rect">
            <a:avLst/>
          </a:prstGeom>
          <a:solidFill>
            <a:srgbClr val="017EDF"/>
          </a:solidFill>
          <a:ln>
            <a:noFill/>
          </a:ln>
        </p:spPr>
      </p:sp>
      <p:sp>
        <p:nvSpPr>
          <p:cNvPr id="2" name="TextBox 1"/>
          <p:cNvSpPr txBox="1"/>
          <p:nvPr/>
        </p:nvSpPr>
        <p:spPr>
          <a:xfrm>
            <a:off x="502920" y="932688"/>
            <a:ext cx="5394960" cy="685800"/>
          </a:xfrm>
          <a:prstGeom prst="rect">
            <a:avLst/>
          </a:prstGeom>
          <a:noFill/>
        </p:spPr>
        <p:txBody>
          <a:bodyPr wrap="square" anchor="t" lIns="0" rIns="0" tIns="0" bIns="0">
            <a:spAutoFit/>
          </a:bodyPr>
          <a:lstStyle/>
          <a:p>
            <a:pPr algn="l">
              <a:spcAft>
                <a:spcPts val="0"/>
              </a:spcAft>
              <a:buNone/>
            </a:pPr>
            <a:r>
              <a:rPr sz="1900" b="1">
                <a:solidFill>
                  <a:srgbClr val="FFFFFF"/>
                </a:solidFill>
                <a:latin typeface="Calibri"/>
              </a:rPr>
              <a:t>Objetivos de la Próxima Semana</a:t>
            </a:r>
          </a:p>
          <a:p>
            <a:pPr algn="l">
              <a:spcAft>
                <a:spcPts val="0"/>
              </a:spcAft>
              <a:buNone/>
            </a:pPr>
            <a:r>
              <a:rPr sz="1900" b="1">
                <a:solidFill>
                  <a:srgbClr val="FFFFFF"/>
                </a:solidFill>
                <a:latin typeface="Calibri"/>
              </a:rPr>
              <a:t>y Repositorio</a:t>
            </a:r>
          </a:p>
        </p:txBody>
      </p:sp>
      <p:sp>
        <p:nvSpPr>
          <p:cNvPr id="3" name="TextBox 2"/>
          <p:cNvSpPr txBox="1"/>
          <p:nvPr/>
        </p:nvSpPr>
        <p:spPr>
          <a:xfrm>
            <a:off x="502920" y="1783080"/>
            <a:ext cx="5394960" cy="1554480"/>
          </a:xfrm>
          <a:prstGeom prst="rect">
            <a:avLst/>
          </a:prstGeom>
          <a:noFill/>
        </p:spPr>
        <p:txBody>
          <a:bodyPr wrap="square" lIns="0" rIns="0" tIns="0" bIns="0">
            <a:spAutoFit/>
          </a:bodyPr>
          <a:lstStyle/>
          <a:p>
            <a:pPr algn="l">
              <a:spcAft>
                <a:spcPts val="900"/>
              </a:spcAft>
              <a:buNone/>
            </a:pPr>
            <a:r>
              <a:rPr sz="1100" b="0">
                <a:solidFill>
                  <a:srgbClr val="D0E2FB"/>
                </a:solidFill>
                <a:latin typeface="Calibri"/>
              </a:rPr>
              <a:t>1. Formalizar la agregación comunal e incorporar los demás contaminantes.</a:t>
            </a:r>
          </a:p>
          <a:p>
            <a:pPr algn="l">
              <a:spcAft>
                <a:spcPts val="900"/>
              </a:spcAft>
              <a:buNone/>
            </a:pPr>
            <a:r>
              <a:rPr sz="1100" b="0">
                <a:solidFill>
                  <a:srgbClr val="D0E2FB"/>
                </a:solidFill>
                <a:latin typeface="Calibri"/>
              </a:rPr>
              <a:t>2. Acordar la métrica y completar una comparación independiente, incluido el apilado.</a:t>
            </a:r>
          </a:p>
          <a:p>
            <a:pPr algn="l">
              <a:spcAft>
                <a:spcPts val="900"/>
              </a:spcAft>
              <a:buNone/>
            </a:pPr>
            <a:r>
              <a:rPr sz="1100" b="0">
                <a:solidFill>
                  <a:srgbClr val="D0E2FB"/>
                </a:solidFill>
                <a:latin typeface="Calibri"/>
              </a:rPr>
              <a:t>3. Consolidar metodología, incertidumbre y registros para la defensa.</a:t>
            </a:r>
          </a:p>
        </p:txBody>
      </p:sp>
      <p:sp>
        <p:nvSpPr>
          <p:cNvPr id="4" name="Rounded Rectangle 3"/>
          <p:cNvSpPr/>
          <p:nvPr/>
        </p:nvSpPr>
        <p:spPr>
          <a:xfrm>
            <a:off x="502920" y="3456432"/>
            <a:ext cx="5394960" cy="512064"/>
          </a:xfrm>
          <a:prstGeom prst="roundRect">
            <a:avLst>
              <a:gd name="adj" fmla="val 10000"/>
            </a:avLst>
          </a:prstGeom>
          <a:solidFill>
            <a:srgbClr val="113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thub_w.png"/>
          <p:cNvPicPr>
            <a:picLocks noChangeAspect="1"/>
          </p:cNvPicPr>
          <p:nvPr/>
        </p:nvPicPr>
        <p:blipFill>
          <a:blip r:embed="rId2"/>
          <a:stretch>
            <a:fillRect/>
          </a:stretch>
        </p:blipFill>
        <p:spPr>
          <a:xfrm>
            <a:off x="658368" y="3584448"/>
            <a:ext cx="256032" cy="256032"/>
          </a:xfrm>
          <a:prstGeom prst="rect">
            <a:avLst/>
          </a:prstGeom>
        </p:spPr>
      </p:pic>
      <p:sp>
        <p:nvSpPr>
          <p:cNvPr id="6" name="TextBox 5"/>
          <p:cNvSpPr txBox="1"/>
          <p:nvPr/>
        </p:nvSpPr>
        <p:spPr>
          <a:xfrm>
            <a:off x="1005840" y="3456432"/>
            <a:ext cx="4846320" cy="512064"/>
          </a:xfrm>
          <a:prstGeom prst="rect">
            <a:avLst/>
          </a:prstGeom>
          <a:noFill/>
        </p:spPr>
        <p:txBody>
          <a:bodyPr wrap="square" anchor="ctr" lIns="0" rIns="0" tIns="0" bIns="0">
            <a:spAutoFit/>
          </a:bodyPr>
          <a:lstStyle/>
          <a:p>
            <a:pPr algn="l"/>
            <a:r>
              <a:rPr sz="1150" b="1" i="0">
                <a:solidFill>
                  <a:srgbClr val="FFFFFF"/>
                </a:solidFill>
                <a:latin typeface="Calibri"/>
              </a:rPr>
              <a:t>github.com/AmaruSimonAgueroJimenez/Air-Pollution</a:t>
            </a:r>
          </a:p>
        </p:txBody>
      </p:sp>
      <p:sp>
        <p:nvSpPr>
          <p:cNvPr id="7" name="Rounded Rectangle 6"/>
          <p:cNvSpPr/>
          <p:nvPr/>
        </p:nvSpPr>
        <p:spPr>
          <a:xfrm>
            <a:off x="6355080" y="932688"/>
            <a:ext cx="2331720" cy="303580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_repo.png"/>
          <p:cNvPicPr>
            <a:picLocks noChangeAspect="1"/>
          </p:cNvPicPr>
          <p:nvPr/>
        </p:nvPicPr>
        <p:blipFill>
          <a:blip r:embed="rId3"/>
          <a:stretch>
            <a:fillRect/>
          </a:stretch>
        </p:blipFill>
        <p:spPr>
          <a:xfrm>
            <a:off x="6556248" y="1133856"/>
            <a:ext cx="1929384" cy="1929384"/>
          </a:xfrm>
          <a:prstGeom prst="rect">
            <a:avLst/>
          </a:prstGeom>
        </p:spPr>
      </p:pic>
      <p:sp>
        <p:nvSpPr>
          <p:cNvPr id="9" name="TextBox 8"/>
          <p:cNvSpPr txBox="1"/>
          <p:nvPr/>
        </p:nvSpPr>
        <p:spPr>
          <a:xfrm>
            <a:off x="6446520" y="3127248"/>
            <a:ext cx="2148840" cy="731520"/>
          </a:xfrm>
          <a:prstGeom prst="rect">
            <a:avLst/>
          </a:prstGeom>
          <a:noFill/>
        </p:spPr>
        <p:txBody>
          <a:bodyPr wrap="square" anchor="t" lIns="0" rIns="0" tIns="0" bIns="0">
            <a:spAutoFit/>
          </a:bodyPr>
          <a:lstStyle/>
          <a:p>
            <a:pPr algn="ctr">
              <a:spcAft>
                <a:spcPts val="0"/>
              </a:spcAft>
              <a:buNone/>
            </a:pPr>
            <a:r>
              <a:rPr sz="850" b="0">
                <a:solidFill>
                  <a:srgbClr val="17375D"/>
                </a:solidFill>
                <a:latin typeface="Calibri"/>
              </a:rPr>
              <a:t>Código, metodología y registros para reproducir cada etapa</a:t>
            </a:r>
          </a:p>
        </p:txBody>
      </p:sp>
      <p:sp>
        <p:nvSpPr>
          <p:cNvPr id="10" name="TextBox 9"/>
          <p:cNvSpPr txBox="1"/>
          <p:nvPr/>
        </p:nvSpPr>
        <p:spPr>
          <a:xfrm>
            <a:off x="502920" y="4389120"/>
            <a:ext cx="8138160" cy="274320"/>
          </a:xfrm>
          <a:prstGeom prst="rect">
            <a:avLst/>
          </a:prstGeom>
          <a:noFill/>
        </p:spPr>
        <p:txBody>
          <a:bodyPr wrap="square" anchor="t" lIns="0" rIns="0" tIns="0" bIns="0">
            <a:spAutoFit/>
          </a:bodyPr>
          <a:lstStyle/>
          <a:p>
            <a:pPr algn="l">
              <a:spcAft>
                <a:spcPts val="0"/>
              </a:spcAft>
              <a:buNone/>
            </a:pPr>
            <a:r>
              <a:rPr sz="1000" b="0">
                <a:solidFill>
                  <a:srgbClr val="6686AC"/>
                </a:solidFill>
                <a:latin typeface="Calibri"/>
              </a:rPr>
              <a:t>Equipo 2: José J. Romero · Roberto I. Ávila · Amaru S. Agüero · Esteban A. González          ¡Gracias!</a:t>
            </a:r>
          </a:p>
        </p:txBody>
      </p:sp>
      <p:sp>
        <p:nvSpPr>
          <p:cNvPr id="810" name="Referencias científicas"/>
          <p:cNvSpPr txBox="1"/>
          <p:nvPr/>
        </p:nvSpPr>
        <p:spPr>
          <a:xfrm>
            <a:off x="502920" y="4718304"/>
            <a:ext cx="8138160" cy="18288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Sandve et al. (2013); Wilkinson et al. (2016).</a:t>
            </a:r>
          </a:p>
        </p:txBody>
      </p:sp>
    </p:spTree>
    <p:extLst>
      <p:ext uri="{BB962C8B-B14F-4D97-AF65-F5344CB8AC3E}">
        <p14:creationId xmlns:p14="http://schemas.microsoft.com/office/powerpoint/2010/main" val="785384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2" name=""/>
        <p:cNvGrpSpPr/>
        <p:nvPr/>
      </p:nvGrpSpPr>
      <p:grpSpPr>
        <a:xfrm>
          <a:off x="0" y="0"/>
          <a:ext cx="0" cy="0"/>
          <a:chOff x="0" y="0"/>
          <a:chExt cx="0" cy="0"/>
        </a:xfrm>
      </p:grpSpPr>
      <p:sp>
        <p:nvSpPr>
          <p:cNvPr id="3" name="Cabecera azul UC"/>
          <p:cNvSpPr/>
          <p:nvPr/>
        </p:nvSpPr>
        <p:spPr>
          <a:xfrm>
            <a:off x="158742" y="0"/>
            <a:ext cx="8985258" cy="1007195"/>
          </a:xfrm>
          <a:prstGeom prst="rect">
            <a:avLst/>
          </a:prstGeom>
          <a:solidFill>
            <a:srgbClr val="017EDF"/>
          </a:solidFill>
          <a:ln>
            <a:noFill/>
          </a:ln>
        </p:spPr>
      </p:sp>
      <p:sp>
        <p:nvSpPr>
          <p:cNvPr id="4" name="Rectángulo 9"/>
          <p:cNvSpPr/>
          <p:nvPr/>
        </p:nvSpPr>
        <p:spPr>
          <a:xfrm>
            <a:off x="0" y="149945"/>
            <a:ext cx="158742" cy="857250"/>
          </a:xfrm>
          <a:prstGeom prst="rect">
            <a:avLst/>
          </a:prstGeom>
          <a:solidFill>
            <a:srgbClr val="FFE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5" name="Rectángulo 7"/>
          <p:cNvSpPr/>
          <p:nvPr userDrawn="1"/>
        </p:nvSpPr>
        <p:spPr>
          <a:xfrm flipV="1">
            <a:off x="169334" y="4871120"/>
            <a:ext cx="8815911" cy="177311"/>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6" name="Rectángulo 10"/>
          <p:cNvSpPr/>
          <p:nvPr userDrawn="1"/>
        </p:nvSpPr>
        <p:spPr>
          <a:xfrm flipV="1">
            <a:off x="7200957" y="4871118"/>
            <a:ext cx="1119038" cy="177313"/>
          </a:xfrm>
          <a:prstGeom prst="rect">
            <a:avLst/>
          </a:prstGeom>
          <a:solidFill>
            <a:srgbClr val="3366C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smtClean="0"/>
              <a:t/>
            </a:r>
            <a:endParaRPr lang="es-ES" dirty="0"/>
          </a:p>
        </p:txBody>
      </p:sp>
      <p:sp>
        <p:nvSpPr>
          <p:cNvPr id="7" name="Título 1"/>
          <p:cNvSpPr>
            <a:spLocks noGrp="1"/>
          </p:cNvSpPr>
          <p:nvPr>
            <p:ph type="title"/>
          </p:nvPr>
        </p:nvSpPr>
        <p:spPr>
          <a:xfrm>
            <a:off x="457200" y="149945"/>
            <a:ext cx="8229600" cy="857250"/>
          </a:xfrm>
        </p:spPr>
        <p:txBody>
          <a:bodyPr wrap="square" anchor="ctr"/>
          <a:lstStyle/>
          <a:p>
            <a:pPr algn="l">
              <a:spcAft>
                <a:spcPts val="0"/>
              </a:spcAft>
              <a:buNone/>
            </a:pPr>
            <a:r>
              <a:rPr sz="1900" b="1">
                <a:solidFill>
                  <a:srgbClr val="FFFFFF"/>
                </a:solidFill>
                <a:latin typeface="Calibri"/>
              </a:rPr>
              <a:t>Dificultades Surgidas durante la Semana</a:t>
            </a:r>
          </a:p>
          <a:p>
            <a:pPr algn="l">
              <a:spcAft>
                <a:spcPts val="0"/>
              </a:spcAft>
              <a:buNone/>
            </a:pPr>
            <a:r>
              <a:rPr sz="1900" b="1">
                <a:solidFill>
                  <a:srgbClr val="FFFFFF"/>
                </a:solidFill>
                <a:latin typeface="Calibri"/>
              </a:rPr>
              <a:t>y Soluciones Adoptadas</a:t>
            </a:r>
          </a:p>
        </p:txBody>
      </p:sp>
      <p:sp>
        <p:nvSpPr>
          <p:cNvPr id="8" name="Riesgo 1"/>
          <p:cNvSpPr txBox="1"/>
          <p:nvPr/>
        </p:nvSpPr>
        <p:spPr>
          <a:xfrm>
            <a:off x="548640" y="1303020"/>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p:txBody>
      </p:sp>
      <p:sp>
        <p:nvSpPr>
          <p:cNvPr id="9" name="Problema 1"/>
          <p:cNvSpPr txBox="1"/>
          <p:nvPr/>
        </p:nvSpPr>
        <p:spPr>
          <a:xfrm>
            <a:off x="768096" y="1440180"/>
            <a:ext cx="2379726" cy="617220"/>
          </a:xfrm>
          <a:prstGeom prst="rect">
            <a:avLst/>
          </a:prstGeom>
          <a:noFill/>
          <a:ln w="8573">
            <a:noFill/>
          </a:ln>
        </p:spPr>
        <p:txBody>
          <a:bodyPr wrap="square" lIns="0" rIns="0" tIns="0" bIns="0" anchor="t">
            <a:noAutofit/>
          </a:bodyPr>
          <a:lstStyle/>
          <a:p>
            <a:pPr algn="l">
              <a:spcAft>
                <a:spcPts val="525"/>
              </a:spcAft>
              <a:buNone/>
            </a:pPr>
            <a:r>
              <a:rPr sz="1050" b="1">
                <a:solidFill>
                  <a:srgbClr val="3366CC"/>
                </a:solidFill>
                <a:latin typeface="Calibri"/>
                <a:ea typeface="Calibri"/>
                <a:cs typeface="Calibri"/>
              </a:rPr>
              <a:t>Dependencia espacio-temporal</a:t>
            </a:r>
          </a:p>
          <a:p>
            <a:pPr algn="l">
              <a:spcAft>
                <a:spcPts val="0"/>
              </a:spcAft>
              <a:buNone/>
            </a:pPr>
            <a:r>
              <a:rPr sz="900" b="0">
                <a:solidFill>
                  <a:srgbClr val="1E293B"/>
                </a:solidFill>
                <a:latin typeface="Calibri"/>
                <a:ea typeface="Calibri"/>
                <a:cs typeface="Calibri"/>
              </a:rPr>
              <a:t>Las observaciones cercanas comparten información.</a:t>
            </a:r>
          </a:p>
        </p:txBody>
      </p:sp>
      <p:cxnSp>
        <p:nvCxnSpPr>
          <p:cNvPr id="10" name="Respuesta 1"/>
          <p:cNvCxnSpPr/>
          <p:nvPr/>
        </p:nvCxnSpPr>
        <p:spPr>
          <a:xfrm>
            <a:off x="3394710" y="1741932"/>
            <a:ext cx="480060" cy="0"/>
          </a:xfrm>
          <a:prstGeom prst="line">
            <a:avLst/>
          </a:prstGeom>
          <a:ln w="15240">
            <a:solidFill>
              <a:srgbClr val="3366CC"/>
            </a:solidFill>
            <a:headEnd type="none"/>
            <a:tailEnd type="triangle"/>
          </a:ln>
        </p:spPr>
      </p:cxnSp>
      <p:sp>
        <p:nvSpPr>
          <p:cNvPr id="11" name="Medida 1"/>
          <p:cNvSpPr txBox="1"/>
          <p:nvPr/>
        </p:nvSpPr>
        <p:spPr>
          <a:xfrm>
            <a:off x="4128516" y="1440180"/>
            <a:ext cx="4114800" cy="624078"/>
          </a:xfrm>
          <a:prstGeom prst="rect">
            <a:avLst/>
          </a:prstGeom>
          <a:noFill/>
          <a:ln w="8573">
            <a:noFill/>
          </a:ln>
        </p:spPr>
        <p:txBody>
          <a:bodyPr wrap="square" lIns="0" rIns="0" tIns="0" bIns="0" anchor="t">
            <a:noAutofit/>
          </a:bodyPr>
          <a:lstStyle/>
          <a:p>
            <a:pPr algn="l">
              <a:spcAft>
                <a:spcPts val="525"/>
              </a:spcAft>
              <a:buNone/>
            </a:pPr>
            <a:r>
              <a:rPr sz="1050" b="1">
                <a:solidFill>
                  <a:srgbClr val="17375D"/>
                </a:solidFill>
                <a:latin typeface="Calibri"/>
                <a:ea typeface="Calibri"/>
                <a:cs typeface="Calibri"/>
              </a:rPr>
              <a:t>LOSO, LRO y LPO</a:t>
            </a:r>
          </a:p>
          <a:p>
            <a:pPr algn="l">
              <a:spcAft>
                <a:spcPts val="0"/>
              </a:spcAft>
              <a:buNone/>
            </a:pPr>
            <a:r>
              <a:rPr sz="900" b="0">
                <a:solidFill>
                  <a:srgbClr val="1E293B"/>
                </a:solidFill>
                <a:latin typeface="Calibri"/>
                <a:ea typeface="Calibri"/>
                <a:cs typeface="Calibri"/>
              </a:rPr>
              <a:t>Reservar sitios, regiones o períodos completos. En LOSO y LRO, recalcular el vecindario sin las estaciones excluidas.</a:t>
            </a:r>
          </a:p>
        </p:txBody>
      </p:sp>
      <p:sp>
        <p:nvSpPr>
          <p:cNvPr id="12" name="Riesgo 2"/>
          <p:cNvSpPr txBox="1"/>
          <p:nvPr/>
        </p:nvSpPr>
        <p:spPr>
          <a:xfrm>
            <a:off x="548640" y="2352294"/>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p:txBody>
      </p:sp>
      <p:sp>
        <p:nvSpPr>
          <p:cNvPr id="13" name="Problema 2"/>
          <p:cNvSpPr txBox="1"/>
          <p:nvPr/>
        </p:nvSpPr>
        <p:spPr>
          <a:xfrm>
            <a:off x="768096" y="2489454"/>
            <a:ext cx="2379726" cy="617220"/>
          </a:xfrm>
          <a:prstGeom prst="rect">
            <a:avLst/>
          </a:prstGeom>
          <a:noFill/>
          <a:ln w="8573">
            <a:noFill/>
          </a:ln>
        </p:spPr>
        <p:txBody>
          <a:bodyPr wrap="square" lIns="0" rIns="0" tIns="0" bIns="0" anchor="t">
            <a:noAutofit/>
          </a:bodyPr>
          <a:lstStyle/>
          <a:p>
            <a:pPr algn="l">
              <a:spcAft>
                <a:spcPts val="525"/>
              </a:spcAft>
              <a:buNone/>
            </a:pPr>
            <a:r>
              <a:rPr sz="1050" b="1">
                <a:solidFill>
                  <a:srgbClr val="3366CC"/>
                </a:solidFill>
                <a:latin typeface="Calibri"/>
                <a:ea typeface="Calibri"/>
                <a:cs typeface="Calibri"/>
              </a:rPr>
              <a:t>Fuentes heterogéneas</a:t>
            </a:r>
          </a:p>
          <a:p>
            <a:pPr algn="l">
              <a:spcAft>
                <a:spcPts val="0"/>
              </a:spcAft>
              <a:buNone/>
            </a:pPr>
            <a:r>
              <a:rPr sz="900" b="0">
                <a:solidFill>
                  <a:srgbClr val="1E293B"/>
                </a:solidFill>
                <a:latin typeface="Calibri"/>
                <a:ea typeface="Calibri"/>
                <a:cs typeface="Calibri"/>
              </a:rPr>
              <a:t>Frecuencias, relojes, unidades y cobertura distintos.</a:t>
            </a:r>
          </a:p>
        </p:txBody>
      </p:sp>
      <p:cxnSp>
        <p:nvCxnSpPr>
          <p:cNvPr id="14" name="Respuesta 2"/>
          <p:cNvCxnSpPr/>
          <p:nvPr/>
        </p:nvCxnSpPr>
        <p:spPr>
          <a:xfrm>
            <a:off x="3394710" y="2791206"/>
            <a:ext cx="480060" cy="0"/>
          </a:xfrm>
          <a:prstGeom prst="line">
            <a:avLst/>
          </a:prstGeom>
          <a:ln w="15240">
            <a:solidFill>
              <a:srgbClr val="3366CC"/>
            </a:solidFill>
            <a:headEnd type="none"/>
            <a:tailEnd type="triangle"/>
          </a:ln>
        </p:spPr>
      </p:cxnSp>
      <p:sp>
        <p:nvSpPr>
          <p:cNvPr id="15" name="Medida 2"/>
          <p:cNvSpPr txBox="1"/>
          <p:nvPr/>
        </p:nvSpPr>
        <p:spPr>
          <a:xfrm>
            <a:off x="4128516" y="2489454"/>
            <a:ext cx="4114800" cy="624078"/>
          </a:xfrm>
          <a:prstGeom prst="rect">
            <a:avLst/>
          </a:prstGeom>
          <a:noFill/>
          <a:ln w="8573">
            <a:noFill/>
          </a:ln>
        </p:spPr>
        <p:txBody>
          <a:bodyPr wrap="square" lIns="0" rIns="0" tIns="0" bIns="0" anchor="t">
            <a:noAutofit/>
          </a:bodyPr>
          <a:lstStyle/>
          <a:p>
            <a:pPr algn="l">
              <a:spcAft>
                <a:spcPts val="525"/>
              </a:spcAft>
              <a:buNone/>
            </a:pPr>
            <a:r>
              <a:rPr sz="1050" b="1">
                <a:solidFill>
                  <a:srgbClr val="17375D"/>
                </a:solidFill>
                <a:latin typeface="Calibri"/>
                <a:ea typeface="Calibri"/>
                <a:cs typeface="Calibri"/>
              </a:rPr>
              <a:t>Armonización por fuente</a:t>
            </a:r>
          </a:p>
          <a:p>
            <a:pPr algn="l">
              <a:spcAft>
                <a:spcPts val="0"/>
              </a:spcAft>
              <a:buNone/>
            </a:pPr>
            <a:r>
              <a:rPr sz="900" b="0">
                <a:solidFill>
                  <a:srgbClr val="1E293B"/>
                </a:solidFill>
                <a:latin typeface="Calibri"/>
                <a:ea typeface="Calibri"/>
                <a:cs typeface="Calibri"/>
              </a:rPr>
              <a:t>Alinear en UTC y registrar faltantes. La imputación, cuando corresponde, se aprende dentro del entrenamiento.</a:t>
            </a:r>
          </a:p>
        </p:txBody>
      </p:sp>
      <p:sp>
        <p:nvSpPr>
          <p:cNvPr id="16" name="Riesgo 3"/>
          <p:cNvSpPr txBox="1"/>
          <p:nvPr/>
        </p:nvSpPr>
        <p:spPr>
          <a:xfrm>
            <a:off x="548640" y="3401568"/>
            <a:ext cx="8044434" cy="891540"/>
          </a:xfrm>
          <a:prstGeom prst="roundRect">
            <a:avLst>
              <a:gd name="adj" fmla="val 7500"/>
            </a:avLst>
          </a:prstGeom>
          <a:solidFill>
            <a:srgbClr val="F2F6FC"/>
          </a:solidFill>
          <a:ln w="8573">
            <a:solidFill>
              <a:srgbClr val="D6DFEB"/>
            </a:solidFill>
          </a:ln>
          <a:effectLst>
            <a:outerShdw blurRad="38000" dist="23000" dir="5400000" algn="ctr" rotWithShape="0">
              <a:srgbClr val="000000">
                <a:alpha val="14000"/>
              </a:srgbClr>
            </a:outerShdw>
          </a:effectLst>
        </p:spPr>
        <p:txBody>
          <a:bodyPr wrap="square" lIns="96012" rIns="96012" tIns="96012" bIns="96012" anchor="ctr">
            <a:noAutofit/>
          </a:bodyPr>
          <a:lstStyle/>
        </p:txBody>
      </p:sp>
      <p:sp>
        <p:nvSpPr>
          <p:cNvPr id="17" name="Problema 3"/>
          <p:cNvSpPr txBox="1"/>
          <p:nvPr/>
        </p:nvSpPr>
        <p:spPr>
          <a:xfrm>
            <a:off x="768096" y="3538728"/>
            <a:ext cx="2379726" cy="617220"/>
          </a:xfrm>
          <a:prstGeom prst="rect">
            <a:avLst/>
          </a:prstGeom>
          <a:noFill/>
          <a:ln w="8573">
            <a:noFill/>
          </a:ln>
        </p:spPr>
        <p:txBody>
          <a:bodyPr wrap="square" lIns="0" rIns="0" tIns="0" bIns="0" anchor="t">
            <a:noAutofit/>
          </a:bodyPr>
          <a:lstStyle/>
          <a:p>
            <a:pPr algn="l">
              <a:spcAft>
                <a:spcPts val="525"/>
              </a:spcAft>
              <a:buNone/>
            </a:pPr>
            <a:r>
              <a:rPr sz="1050" b="1">
                <a:solidFill>
                  <a:srgbClr val="3366CC"/>
                </a:solidFill>
                <a:latin typeface="Calibri"/>
                <a:ea typeface="Calibri"/>
                <a:cs typeface="Calibri"/>
              </a:rPr>
              <a:t>Comparación entre modelos</a:t>
            </a:r>
          </a:p>
          <a:p>
            <a:pPr algn="l">
              <a:spcAft>
                <a:spcPts val="0"/>
              </a:spcAft>
              <a:buNone/>
            </a:pPr>
            <a:r>
              <a:rPr sz="900" b="0">
                <a:solidFill>
                  <a:srgbClr val="1E293B"/>
                </a:solidFill>
                <a:latin typeface="Calibri"/>
                <a:ea typeface="Calibri"/>
                <a:cs typeface="Calibri"/>
              </a:rPr>
              <a:t>Distintos costos, objetivos y tamaños de entrenamiento.</a:t>
            </a:r>
          </a:p>
        </p:txBody>
      </p:sp>
      <p:cxnSp>
        <p:nvCxnSpPr>
          <p:cNvPr id="18" name="Respuesta 3"/>
          <p:cNvCxnSpPr/>
          <p:nvPr/>
        </p:nvCxnSpPr>
        <p:spPr>
          <a:xfrm>
            <a:off x="3394710" y="3840480"/>
            <a:ext cx="480060" cy="0"/>
          </a:xfrm>
          <a:prstGeom prst="line">
            <a:avLst/>
          </a:prstGeom>
          <a:ln w="15240">
            <a:solidFill>
              <a:srgbClr val="3366CC"/>
            </a:solidFill>
            <a:headEnd type="none"/>
            <a:tailEnd type="triangle"/>
          </a:ln>
        </p:spPr>
      </p:cxnSp>
      <p:sp>
        <p:nvSpPr>
          <p:cNvPr id="19" name="Medida 3"/>
          <p:cNvSpPr txBox="1"/>
          <p:nvPr/>
        </p:nvSpPr>
        <p:spPr>
          <a:xfrm>
            <a:off x="4128516" y="3538728"/>
            <a:ext cx="4114800" cy="624078"/>
          </a:xfrm>
          <a:prstGeom prst="rect">
            <a:avLst/>
          </a:prstGeom>
          <a:noFill/>
          <a:ln w="8573">
            <a:noFill/>
          </a:ln>
        </p:spPr>
        <p:txBody>
          <a:bodyPr wrap="square" lIns="0" rIns="0" tIns="0" bIns="0" anchor="t">
            <a:noAutofit/>
          </a:bodyPr>
          <a:lstStyle/>
          <a:p>
            <a:pPr algn="l">
              <a:spcAft>
                <a:spcPts val="525"/>
              </a:spcAft>
              <a:buNone/>
            </a:pPr>
            <a:r>
              <a:rPr sz="1050" b="1">
                <a:solidFill>
                  <a:srgbClr val="17375D"/>
                </a:solidFill>
                <a:latin typeface="Calibri"/>
                <a:ea typeface="Calibri"/>
                <a:cs typeface="Calibri"/>
              </a:rPr>
              <a:t>Comparabilidad e independencia</a:t>
            </a:r>
          </a:p>
          <a:p>
            <a:pPr algn="l">
              <a:spcAft>
                <a:spcPts val="0"/>
              </a:spcAft>
              <a:buNone/>
            </a:pPr>
            <a:r>
              <a:rPr sz="900" b="0">
                <a:solidFill>
                  <a:srgbClr val="1E293B"/>
                </a:solidFill>
                <a:latin typeface="Calibri"/>
                <a:ea typeface="Calibri"/>
                <a:cs typeface="Calibri"/>
              </a:rPr>
              <a:t>Mismos pares y protocolos. Declarar el submuestreo y completar la validación anidada del apilado.</a:t>
            </a:r>
          </a:p>
        </p:txBody>
      </p:sp>
      <p:sp>
        <p:nvSpPr>
          <p:cNvPr id="20" name="Métricas de evaluación"/>
          <p:cNvSpPr txBox="1"/>
          <p:nvPr/>
        </p:nvSpPr>
        <p:spPr>
          <a:xfrm>
            <a:off x="548640" y="4434840"/>
            <a:ext cx="8046720" cy="164592"/>
          </a:xfrm>
          <a:prstGeom prst="rect">
            <a:avLst/>
          </a:prstGeom>
          <a:noFill/>
          <a:ln>
            <a:noFill/>
          </a:ln>
        </p:spPr>
        <p:txBody>
          <a:bodyPr wrap="square" lIns="0" rIns="0" tIns="0" bIns="0" anchor="t">
            <a:noAutofit/>
          </a:bodyPr>
          <a:lstStyle/>
          <a:p>
            <a:pPr algn="l">
              <a:spcAft>
                <a:spcPts val="0"/>
              </a:spcAft>
              <a:buNone/>
            </a:pPr>
            <a:r>
              <a:rPr sz="810" b="0">
                <a:solidFill>
                  <a:srgbClr val="64748B"/>
                </a:solidFill>
                <a:latin typeface="Calibri"/>
              </a:rPr>
              <a:t>RMSE, MAE, sesgo y R² en escalas horaria, diaria, mensual y anual. Alertas: detección de excedencias.</a:t>
            </a:r>
          </a:p>
        </p:txBody>
      </p:sp>
      <p:sp>
        <p:nvSpPr>
          <p:cNvPr id="21" name="Referencias científicas"/>
          <p:cNvSpPr txBox="1"/>
          <p:nvPr/>
        </p:nvSpPr>
        <p:spPr>
          <a:xfrm>
            <a:off x="548640" y="4613148"/>
            <a:ext cx="8092440" cy="228600"/>
          </a:xfrm>
          <a:prstGeom prst="rect">
            <a:avLst/>
          </a:prstGeom>
          <a:noFill/>
          <a:ln>
            <a:noFill/>
          </a:ln>
        </p:spPr>
        <p:txBody>
          <a:bodyPr wrap="square" lIns="0" rIns="0" tIns="0" bIns="0" anchor="t">
            <a:noAutofit/>
          </a:bodyPr>
          <a:lstStyle/>
          <a:p>
            <a:pPr algn="l">
              <a:spcAft>
                <a:spcPts val="0"/>
              </a:spcAft>
              <a:buNone/>
            </a:pPr>
            <a:r>
              <a:rPr sz="710" b="0">
                <a:solidFill>
                  <a:srgbClr val="666666"/>
                </a:solidFill>
                <a:latin typeface="Calibri"/>
              </a:rPr>
              <a:t>Roberts et al. (2017); Valavi et al. (2019); Varma y Simon (2006).</a:t>
            </a:r>
          </a:p>
        </p:txBody>
      </p:sp>
    </p:spTree>
    <p:extLst>
      <p:ext uri="{BB962C8B-B14F-4D97-AF65-F5344CB8AC3E}">
        <p14:creationId xmlns:p14="http://schemas.microsoft.com/office/powerpoint/2010/main" val="3227572768"/>
      </p:ext>
    </p:extLst>
  </p:cSld>
  <p:clrMapOvr>
    <a:masterClrMapping/>
  </p:clrMapOvr>
</p:sld>
</file>

<file path=ppt/theme/theme1.xml><?xml version="1.0" encoding="utf-8"?>
<a:theme xmlns:a="http://schemas.openxmlformats.org/drawingml/2006/main" name="Plantilla U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Plantilla UC.potx</Template>
  <TotalTime>280</TotalTime>
  <Words>1</Words>
  <Application>Microsoft Macintosh PowerPoint</Application>
  <PresentationFormat>Presentación en pantalla (16:9)</PresentationFormat>
  <Paragraphs>1</Paragraphs>
  <Slides>7</Slides>
  <Notes>1</Notes>
  <HiddenSlides>0</HiddenSlides>
  <MMClips>0</MMClips>
  <ScaleCrop>false</ScaleCrop>
  <HeadingPairs>
    <vt:vector size="6" baseType="variant">
      <vt:variant>
        <vt:lpstr>Fuentes usadas</vt:lpstr>
      </vt:variant>
      <vt:variant>
        <vt:i4>2</vt:i4>
      </vt:variant>
      <vt:variant>
        <vt:lpstr>Tema</vt:lpstr>
      </vt:variant>
      <vt:variant>
        <vt:i4>3</vt:i4>
      </vt:variant>
      <vt:variant>
        <vt:lpstr>Títulos de diapositiva</vt:lpstr>
      </vt:variant>
      <vt:variant>
        <vt:i4>5</vt:i4>
      </vt:variant>
    </vt:vector>
  </HeadingPairs>
  <TitlesOfParts>
    <vt:vector size="10" baseType="lpstr">
      <vt:lpstr>Calibri</vt:lpstr>
      <vt:lpstr>Arial</vt:lpstr>
      <vt:lpstr>Plantilla UC</vt:lpstr>
      <vt:lpstr>Diseño personalizado</vt:lpstr>
      <vt:lpstr>2_Diseño personalizado</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XX</dc:creator>
  <cp:lastModifiedBy>Usuario de Microsoft Office</cp:lastModifiedBy>
  <cp:revision>33</cp:revision>
  <dcterms:created xsi:type="dcterms:W3CDTF">2013-12-19T15:07:33Z</dcterms:created>
  <dcterms:modified xsi:type="dcterms:W3CDTF">2019-05-23T17:24:28Z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0x0101002A30D13EB03CFA46896655FA61226709</vt:lpwstr>
  </property>
</Properties>
</file>