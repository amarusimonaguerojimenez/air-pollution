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1" r:id="rId3"/>
  </p:sldMasterIdLst>
  <p:notesMasterIdLst>
    <p:notesMasterId r:id="rId9"/>
  </p:notesMasterIdLst>
  <p:sldIdLst>
    <p:sldId id="262" r:id="rId5"/>
    <p:sldId id="259" r:id="rId7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60" r:id="rId8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97">
          <p15:clr>
            <a:srgbClr val="A4A3A4"/>
          </p15:clr>
        </p15:guide>
        <p15:guide id="2" pos="41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  <a:srgbClr val="FFE200"/>
    <a:srgbClr val="FFF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50067"/>
  </p:normalViewPr>
  <p:slideViewPr>
    <p:cSldViewPr snapToGrid="0" snapToObjects="1" showGuides="1">
      <p:cViewPr>
        <p:scale>
          <a:sx n="99" d="100"/>
          <a:sy n="99" d="100"/>
        </p:scale>
        <p:origin x="2248" y="-328"/>
      </p:cViewPr>
      <p:guideLst>
        <p:guide orient="horz" pos="2697"/>
        <p:guide pos="41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1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7875-FBB4-E24A-BDDE-B8BBEBD8D5C9}" type="datetimeFigureOut">
              <a:rPr lang="es-ES" smtClean="0"/>
              <a:t>23/5/19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FB505-4C2B-1B4C-9533-CA0B69CD73D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89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FB505-4C2B-1B4C-9533-CA0B69CD73D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5751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169334" y="1007195"/>
            <a:ext cx="8974667" cy="2385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1755587"/>
            <a:ext cx="8229600" cy="857250"/>
          </a:xfrm>
        </p:spPr>
        <p:txBody>
          <a:bodyPr/>
          <a:lstStyle/>
          <a:p>
            <a:r>
              <a:rPr lang="es-ES_tradnl" dirty="0" smtClean="0"/>
              <a:t>Clic para editar nombre de capítulo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672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sarrollo de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081338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t>23/5/19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44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087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0872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t>23/5/19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062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y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9774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6006"/>
            <a:ext cx="4040188" cy="211143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t>23/5/19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t>‹Nr.›</a:t>
            </a:fld>
            <a:endParaRPr lang="es-ES"/>
          </a:p>
        </p:txBody>
      </p:sp>
      <p:sp>
        <p:nvSpPr>
          <p:cNvPr id="11" name="Marcador de SmartArt 10"/>
          <p:cNvSpPr>
            <a:spLocks noGrp="1"/>
          </p:cNvSpPr>
          <p:nvPr>
            <p:ph type="dgm" sz="quarter" idx="13"/>
          </p:nvPr>
        </p:nvSpPr>
        <p:spPr>
          <a:xfrm>
            <a:off x="4559300" y="1151335"/>
            <a:ext cx="4127500" cy="3136106"/>
          </a:xfrm>
        </p:spPr>
        <p:txBody>
          <a:bodyPr/>
          <a:lstStyle/>
          <a:p>
            <a:r>
              <a:rPr lang="es-ES_tradnl" smtClean="0"/>
              <a:t>Haga clic en el icono para agregar un gráfico SmartArt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143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on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pPr/>
              <a:t>23/5/19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pPr/>
              <a:t>‹Nr.›</a:t>
            </a:fld>
            <a:endParaRPr lang="es-ES"/>
          </a:p>
        </p:txBody>
      </p:sp>
      <p:sp>
        <p:nvSpPr>
          <p:cNvPr id="7" name="Marcador de gráfico 6"/>
          <p:cNvSpPr>
            <a:spLocks noGrp="1"/>
          </p:cNvSpPr>
          <p:nvPr>
            <p:ph type="chart" sz="quarter" idx="13"/>
          </p:nvPr>
        </p:nvSpPr>
        <p:spPr>
          <a:xfrm>
            <a:off x="457200" y="1316811"/>
            <a:ext cx="8229600" cy="2970631"/>
          </a:xfrm>
        </p:spPr>
        <p:txBody>
          <a:bodyPr/>
          <a:lstStyle/>
          <a:p>
            <a:r>
              <a:rPr lang="es-ES_tradnl" smtClean="0"/>
              <a:t>Haga clic en el icono para agregar un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82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t>23/5/19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t>‹Nr.›</a:t>
            </a:fld>
            <a:endParaRPr lang="es-ES"/>
          </a:p>
        </p:txBody>
      </p:sp>
      <p:sp>
        <p:nvSpPr>
          <p:cNvPr id="6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7200" y="1214080"/>
            <a:ext cx="8229600" cy="268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smtClean="0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7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4025504"/>
            <a:ext cx="8229600" cy="2619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8450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pPr/>
              <a:t>23/5/19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pPr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244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483"/>
            <a:ext cx="9144000" cy="349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47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C73C310-44D8-D44E-9500-41BAE48D6C1F}" type="datetimeFigureOut">
              <a:rPr lang="es-ES" smtClean="0"/>
              <a:t>23/5/19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F152EED2-0F54-FF4E-878C-CD5E3782BC0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85863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2.xml"/><Relationship Id="rId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Relationship Id="rId3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ndo 2727.ai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007195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14994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08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r>
              <a:rPr lang="es-ES_tradnl" dirty="0" smtClean="0"/>
              <a:t>Segundo nivel</a:t>
            </a:r>
          </a:p>
          <a:p>
            <a:pPr lvl="2"/>
            <a:r>
              <a:rPr lang="es-ES_tradnl" dirty="0" smtClean="0"/>
              <a:t>Tercer nivel</a:t>
            </a:r>
          </a:p>
          <a:p>
            <a:pPr lvl="3"/>
            <a:r>
              <a:rPr lang="es-ES_tradnl" dirty="0" smtClean="0"/>
              <a:t>Cuarto nivel</a:t>
            </a:r>
          </a:p>
          <a:p>
            <a:pPr lvl="4"/>
            <a:r>
              <a:rPr lang="es-ES_tradnl" dirty="0" smtClean="0"/>
              <a:t>Quinto nivel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0" y="149945"/>
            <a:ext cx="158742" cy="85725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/>
          <p:cNvSpPr/>
          <p:nvPr userDrawn="1"/>
        </p:nvSpPr>
        <p:spPr>
          <a:xfrm flipV="1">
            <a:off x="169334" y="4871120"/>
            <a:ext cx="8815911" cy="1773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1" name="Rectángulo 10"/>
          <p:cNvSpPr/>
          <p:nvPr userDrawn="1"/>
        </p:nvSpPr>
        <p:spPr>
          <a:xfrm flipV="1">
            <a:off x="7200957" y="4871118"/>
            <a:ext cx="1119038" cy="177313"/>
          </a:xfrm>
          <a:prstGeom prst="rect">
            <a:avLst/>
          </a:prstGeom>
          <a:solidFill>
            <a:srgbClr val="3366C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6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3" r:id="rId4"/>
    <p:sldLayoutId id="2147483658" r:id="rId5"/>
    <p:sldLayoutId id="2147483654" r:id="rId6"/>
    <p:sldLayoutId id="2147483659" r:id="rId7"/>
    <p:sldLayoutId id="2147483655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kern="1200">
          <a:solidFill>
            <a:schemeClr val="tx1"/>
          </a:solidFill>
          <a:latin typeface="Arial"/>
          <a:ea typeface="+mn-ea"/>
          <a:cs typeface="Arial"/>
        </a:defRPr>
      </a:lvl1pPr>
      <a:lvl2pPr marL="365125" indent="0" algn="l" defTabSz="457200" rtl="0" eaLnBrk="1" latinLnBrk="0" hangingPunct="1">
        <a:spcBef>
          <a:spcPct val="20000"/>
        </a:spcBef>
        <a:buFontTx/>
        <a:buNone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630238" indent="-2413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982663" indent="-268288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982662" indent="0" algn="l" defTabSz="4572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C color TR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698500"/>
            <a:ext cx="6480264" cy="3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1437737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2770565"/>
            <a:ext cx="8229600" cy="151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 smtClean="0"/>
              <a:t>Integrantes</a:t>
            </a:r>
            <a:endParaRPr lang="es-ES" dirty="0"/>
          </a:p>
        </p:txBody>
      </p:sp>
      <p:pic>
        <p:nvPicPr>
          <p:cNvPr id="7" name="Imagen 6" descr="fondo 2727.ai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137" y="1"/>
            <a:ext cx="6043863" cy="1123125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 flipV="1">
            <a:off x="-1" y="-4"/>
            <a:ext cx="177417" cy="1123126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 descr="UC color TR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84" y="70795"/>
            <a:ext cx="1907624" cy="1099172"/>
          </a:xfrm>
          <a:prstGeom prst="rect">
            <a:avLst/>
          </a:prstGeom>
        </p:spPr>
      </p:pic>
      <p:sp>
        <p:nvSpPr>
          <p:cNvPr id="10" name="Rectángulo 9"/>
          <p:cNvSpPr/>
          <p:nvPr userDrawn="1"/>
        </p:nvSpPr>
        <p:spPr>
          <a:xfrm flipV="1">
            <a:off x="169334" y="4871120"/>
            <a:ext cx="8815911" cy="1773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1" name="Rectángulo 10"/>
          <p:cNvSpPr/>
          <p:nvPr userDrawn="1"/>
        </p:nvSpPr>
        <p:spPr>
          <a:xfrm flipV="1">
            <a:off x="7200957" y="4871118"/>
            <a:ext cx="1119038" cy="177313"/>
          </a:xfrm>
          <a:prstGeom prst="rect">
            <a:avLst/>
          </a:prstGeom>
          <a:solidFill>
            <a:srgbClr val="3366C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903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r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r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595959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12648" y="2761488"/>
            <a:ext cx="7772400" cy="1097280"/>
          </a:xfrm>
        </p:spPr>
        <p:txBody>
          <a:bodyPr wrap="square">
            <a:noAutofit/>
          </a:bodyPr>
          <a:lstStyle/>
          <a:p>
            <a:pPr algn="l">
              <a:spcBef>
                <a:spcPts val="200"/>
              </a:spcBef>
            </a:pPr>
            <a:r>
              <a:rPr sz="1300">
                <a:solidFill>
                  <a:srgbClr val="52514E"/>
                </a:solidFill>
                <a:latin typeface="Calibri"/>
              </a:rPr>
              <a:t>El problema ordenado, la brecha de monitoreo cuantificada con la red SINCA y lo que dicen la literatura internacional y chilena para estimar PM₂.₅ · PM₁₀ · NO₂ · O₃ · SO₂ · CO</a:t>
            </a:r>
            <a:endParaRPr lang="es-ES" sz="1800" dirty="0"/>
          </a:p>
        </p:txBody>
      </p:sp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614967" y="1538445"/>
            <a:ext cx="7772400" cy="1101725"/>
          </a:xfrm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17375D"/>
                </a:solidFill>
                <a:latin typeface="Calibri"/>
              </a:rPr>
              <a:t>Estimación multi-contaminante de la calidad del aire en Chile</a:t>
            </a:r>
            <a:endParaRPr lang="es-CL" sz="4000" dirty="0">
              <a:solidFill>
                <a:srgbClr val="3366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366CC"/>
                </a:solidFill>
                <a:latin typeface="Calibri"/>
              </a:rPr>
              <a:t>ACTIVIDAD FINAL DE GRADUACIÓN 1  ·  MDS3050  ·  VIDEO DE AVANCE N.º 2: DEFINICIÓN DEL PROBLEMA + TRABAJOS RELACIONADOS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950208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950208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19" b="1" i="0">
                <a:solidFill>
                  <a:srgbClr val="17375D"/>
                </a:solidFill>
                <a:latin typeface="Calibri"/>
              </a:rPr>
              <a:t>José Jesús Romero Fuenmayor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4328" y="3950208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3950208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19" b="1" i="0">
                <a:solidFill>
                  <a:srgbClr val="17375D"/>
                </a:solidFill>
                <a:latin typeface="Calibri"/>
              </a:rPr>
              <a:t>Roberto Ignacio Ávila Escobar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3950208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950208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19" b="1" i="0">
                <a:solidFill>
                  <a:srgbClr val="17375D"/>
                </a:solidFill>
                <a:latin typeface="Calibri"/>
              </a:rPr>
              <a:t>Amaru Simón Agüero Jiménez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7688" y="3950208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950208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19" b="1" i="0">
                <a:solidFill>
                  <a:srgbClr val="17375D"/>
                </a:solidFill>
                <a:latin typeface="Calibri"/>
              </a:rPr>
              <a:t>Esteban Adolfo González Rodríguez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462272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98781"/>
                </a:solidFill>
                <a:latin typeface="Calibri"/>
              </a:rPr>
              <a:t>Equipo 2 (Team2)  · 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412069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El problema: de la contaminación a la propuesta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225296" cy="713232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188720"/>
            <a:ext cx="11155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19" b="1" i="0">
                <a:solidFill>
                  <a:srgbClr val="1F497D"/>
                </a:solidFill>
                <a:latin typeface="Calibri"/>
              </a:rPr>
              <a:t>Contaminación atmosférica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8780" y="1188720"/>
            <a:ext cx="20299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366CC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58060" y="1188720"/>
            <a:ext cx="1225296" cy="713232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12924" y="1188720"/>
            <a:ext cx="11155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19" b="1" i="0">
                <a:solidFill>
                  <a:srgbClr val="1F497D"/>
                </a:solidFill>
                <a:latin typeface="Calibri"/>
              </a:rPr>
              <a:t>Necesidad de conocer la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9640" y="1188720"/>
            <a:ext cx="20299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366CC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8921" y="1188720"/>
            <a:ext cx="1225296" cy="713232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3785" y="1188720"/>
            <a:ext cx="11155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19" b="1" i="0">
                <a:solidFill>
                  <a:srgbClr val="1F497D"/>
                </a:solidFill>
                <a:latin typeface="Calibri"/>
              </a:rPr>
              <a:t>Red de monitoreo SINCA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0501" y="1188720"/>
            <a:ext cx="20299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366C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9782" y="1188720"/>
            <a:ext cx="1225296" cy="713232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4646" y="1188720"/>
            <a:ext cx="11155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19" b="1" i="0">
                <a:solidFill>
                  <a:srgbClr val="1F497D"/>
                </a:solidFill>
                <a:latin typeface="Calibri"/>
              </a:rPr>
              <a:t>Brecha de cobertura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1362" y="1188720"/>
            <a:ext cx="20299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366CC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0643" y="1188720"/>
            <a:ext cx="1225296" cy="713232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5507" y="1188720"/>
            <a:ext cx="11155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19" b="1" i="0">
                <a:solidFill>
                  <a:srgbClr val="1F497D"/>
                </a:solidFill>
                <a:latin typeface="Calibri"/>
              </a:rPr>
              <a:t>Brecha de información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2223" y="1188720"/>
            <a:ext cx="20299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366C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1188720"/>
            <a:ext cx="1225296" cy="713232"/>
          </a:xfrm>
          <a:prstGeom prst="roundRect">
            <a:avLst>
              <a:gd name="adj" fmla="val 14000"/>
            </a:avLst>
          </a:prstGeom>
          <a:solidFill>
            <a:srgbClr val="17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1188720"/>
            <a:ext cx="11155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Propuesta de Ciencia de Datos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212848"/>
            <a:ext cx="2679192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32257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66CC"/>
                </a:solidFill>
                <a:latin typeface="Calibri"/>
              </a:rPr>
              <a:t>El problema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2578608"/>
            <a:ext cx="23774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514E"/>
                </a:solidFill>
                <a:latin typeface="Calibri"/>
              </a:rPr>
              <a:t>Existen lugares y horas donde no conocemos directamente la concentración de ciertos contaminantes.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4408" y="2212848"/>
            <a:ext cx="2679192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232257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66CC"/>
                </a:solidFill>
                <a:latin typeface="Calibri"/>
              </a:rPr>
              <a:t>Por qué importa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2578608"/>
            <a:ext cx="23774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514E"/>
                </a:solidFill>
                <a:latin typeface="Calibri"/>
              </a:rPr>
              <a:t>La contaminación tiene efectos sobre la salud, el ambiente y la toma de decisiones públicas.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71616" y="2212848"/>
            <a:ext cx="2679192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32257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66CC"/>
                </a:solidFill>
                <a:latin typeface="Calibri"/>
              </a:rPr>
              <a:t>Por qué ocurre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578608"/>
            <a:ext cx="23774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514E"/>
                </a:solidFill>
                <a:latin typeface="Calibri"/>
              </a:rPr>
              <a:t>Distribución de las estaciones, fuentes de emisión, características del territorio y meteorología.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566160"/>
            <a:ext cx="8229600" cy="603504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648456"/>
            <a:ext cx="7909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F497D"/>
                </a:solidFill>
                <a:latin typeface="Calibri"/>
              </a:rPr>
              <a:t>Alcance: </a:t>
            </a:r>
            <a:r>
              <a:rPr sz="940" b="0" i="0">
                <a:solidFill>
                  <a:srgbClr val="52514E"/>
                </a:solidFill>
                <a:latin typeface="Calibri"/>
              </a:rPr>
              <a:t>el proyecto no busca resolver las fuentes de contaminación; busca estimar concentraciones en lugares y momentos donde no existe una medición directa, usando las estaciones como mediciones de referencia para entrenar y validar.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Conceptos clave en 30 segundos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679192" cy="135331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29844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SINCA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72768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Sistema de Información Nacional de Calidad del Aire (MMA): concentra la información de las estaciones que monitorean el aire en Chile.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4408" y="1188720"/>
            <a:ext cx="2679192" cy="135331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0712" y="129844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Contaminante normado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0712" y="1572768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Contaminante con norma de calidad ambiental vigente en Chile, es decir, con límites legales de concentración.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188720"/>
            <a:ext cx="2679192" cy="135331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9844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Reanálisis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72768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Reconstrucción retrospectiva de la atmósfera que combina un modelo físico con observaciones históricas (p. ej. CAMS, MERRA-2).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70048"/>
            <a:ext cx="2679192" cy="135331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77977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Columna satelital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054096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Cantidad total de un gas en la vertical que observa el satélite; no es la concentración a nivel de superficie.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2670048"/>
            <a:ext cx="2679192" cy="135331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77977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Nivel L2 / 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3054096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L2: producto por pasada del satélite, en su grilla original. L3: producto regrillado y agregado en el tiempo, listo para análisis.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2670048"/>
            <a:ext cx="2679192" cy="135331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77977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Mediciones de referencia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54096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Observaciones de las estaciones de monitoreo que se usan para entrenar los modelos y evaluar su desempeño.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La brecha de monitoreo: qué cubre la red SINCA</a:t>
            </a:r>
            <a:endParaRPr lang="es-E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284 de las 345 comunas no tienen ninguna estación; </a:t>
            </a:r>
            <a:r>
              <a:rPr sz="1100" b="0" i="0">
                <a:solidFill>
                  <a:srgbClr val="52514E"/>
                </a:solidFill>
                <a:latin typeface="Calibri"/>
              </a:rPr>
              <a:t>y para los gases la red efectiva es cerca de la mitad que para el material particulado.</a:t>
            </a:r>
          </a:p>
        </p:txBody>
      </p:sp>
      <p:pic>
        <p:nvPicPr>
          <p:cNvPr id="4" name="Picture 3" descr="brecha_si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426464"/>
            <a:ext cx="8641080" cy="27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Trabajos relacionados (1): estado del arte internacional</a:t>
            </a:r>
            <a:endParaRPr lang="es-E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33856"/>
          <a:ext cx="8229600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663440"/>
                <a:gridCol w="2377440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Contaminante</a:t>
                      </a:r>
                    </a:p>
                  </a:txBody>
                  <a:tcPr marL="64008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Qué existe hoy</a:t>
                      </a:r>
                    </a:p>
                  </a:txBody>
                  <a:tcPr marL="64008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Desempeño reportado</a:t>
                      </a:r>
                    </a:p>
                  </a:txBody>
                  <a:tcPr marL="64008" marR="45720" marT="27432" marB="27432" anchor="ctr">
                    <a:solidFill>
                      <a:srgbClr val="1F497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1A"/>
                          </a:solidFill>
                          <a:latin typeface="Calibri"/>
                        </a:rPr>
                        <a:t>PM₂.₅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A1A1A"/>
                          </a:solidFill>
                          <a:latin typeface="Calibri"/>
                        </a:rPr>
                        <a:t>Superficies globales mensuales con incertidumbre¹ ² y EE. UU. diario a 1 km con ensambles de aprendizaje automático³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A1A1A"/>
                          </a:solidFill>
                          <a:latin typeface="Calibri"/>
                        </a:rPr>
                        <a:t>R² 0.81 en validación cruzada global²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1A"/>
                          </a:solidFill>
                          <a:latin typeface="Calibri"/>
                        </a:rPr>
                        <a:t>NO₂ y O₃</a:t>
                      </a:r>
                    </a:p>
                  </a:txBody>
                  <a:tcPr marL="64008" marR="45720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A1A1A"/>
                          </a:solidFill>
                          <a:latin typeface="Calibri"/>
                        </a:rPr>
                        <a:t>Regresión de uso de suelo global⁴ y productos diarios sin huecos para China con IA espaciotemporal⁵</a:t>
                      </a:r>
                    </a:p>
                  </a:txBody>
                  <a:tcPr marL="64008" marR="45720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A1A1A"/>
                          </a:solidFill>
                          <a:latin typeface="Calibri"/>
                        </a:rPr>
                        <a:t>R² ≈ 0.84 diario en CV⁶</a:t>
                      </a:r>
                    </a:p>
                  </a:txBody>
                  <a:tcPr marL="64008" marR="45720" marT="27432" marB="27432"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1A"/>
                          </a:solidFill>
                          <a:latin typeface="Calibri"/>
                        </a:rPr>
                        <a:t>SO₂ y CO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A1A1A"/>
                          </a:solidFill>
                          <a:latin typeface="Calibri"/>
                        </a:rPr>
                        <a:t>Los menos estudiados: el primer mapeo diario continuo (China) apareció recién en 2023⁶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1A1A1A"/>
                          </a:solidFill>
                          <a:latin typeface="Calibri"/>
                        </a:rPr>
                        <a:t>R² 0.80 a 0.84 en CV; 0.61 a 0.70 fuera de estación⁶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3832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3456432"/>
            <a:ext cx="7909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1" i="0">
                <a:solidFill>
                  <a:srgbClr val="1F497D"/>
                </a:solidFill>
                <a:latin typeface="Calibri"/>
              </a:rPr>
              <a:t>Cuatro familias de métodos se repiten: </a:t>
            </a:r>
            <a:r>
              <a:rPr sz="900" b="0" i="0">
                <a:solidFill>
                  <a:srgbClr val="52514E"/>
                </a:solidFill>
                <a:latin typeface="Calibri"/>
              </a:rPr>
              <a:t>regresión de uso de suelo⁷, geoestadística (GWR y kriging)², aprendizaje automático³ ⁵ e híbridos físico-estadísticos¹ ². La validación estándar es espacial, dejando estaciones fuera.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59936"/>
            <a:ext cx="406908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590" b="0" i="0">
                <a:solidFill>
                  <a:srgbClr val="898781"/>
                </a:solidFill>
                <a:latin typeface="Calibri"/>
              </a:rPr>
              <a:t>¹ van Donkelaar A. et al. Global estimates of fine particulate matter using a combined geophysical-statistical method with information from satellites, models, and monitors. Environ. Sci. Technol. 50 (2016). doi:10.1021/acs.est.5b05833</a:t>
            </a:r>
          </a:p>
          <a:p>
            <a:pPr algn="l">
              <a:spcAft>
                <a:spcPts val="100"/>
              </a:spcAft>
            </a:pPr>
            <a:r>
              <a:rPr sz="590" b="0" i="0">
                <a:solidFill>
                  <a:srgbClr val="898781"/>
                </a:solidFill>
                <a:latin typeface="Calibri"/>
              </a:rPr>
              <a:t>² van Donkelaar A. et al. Monthly global estimates of fine particulate matter and their uncertainty. Environ. Sci. Technol. 55 (2021). doi:10.1021/acs.est.1c05309</a:t>
            </a:r>
          </a:p>
          <a:p>
            <a:pPr algn="l">
              <a:spcAft>
                <a:spcPts val="100"/>
              </a:spcAft>
            </a:pPr>
            <a:r>
              <a:rPr sz="590" b="0" i="0">
                <a:solidFill>
                  <a:srgbClr val="898781"/>
                </a:solidFill>
                <a:latin typeface="Calibri"/>
              </a:rPr>
              <a:t>³ Di Q. et al. An ensemble-based model of PM2.5 concentration across the contiguous United States with high spatiotemporal resolution. Environment International (2019). doi:10.1016/j.envint.2019.104909</a:t>
            </a:r>
          </a:p>
          <a:p>
            <a:pPr algn="l">
              <a:spcAft>
                <a:spcPts val="100"/>
              </a:spcAft>
            </a:pPr>
            <a:r>
              <a:rPr sz="590" b="0" i="0">
                <a:solidFill>
                  <a:srgbClr val="898781"/>
                </a:solidFill>
                <a:latin typeface="Calibri"/>
              </a:rPr>
              <a:t>⁴ Larkin A. et al. Global land use regression model for nitrogen dioxide air pollution. Environ. Sci. Technol. 51 (2017). doi:10.1021/acs.est.7b01148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059936"/>
            <a:ext cx="402336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590" b="0" i="0">
                <a:solidFill>
                  <a:srgbClr val="898781"/>
                </a:solidFill>
                <a:latin typeface="Calibri"/>
              </a:rPr>
              <a:t>⁵ Wei J. et al. Ground-level NO2 surveillance from space across China using interpretable spatiotemporally weighted artificial intelligence. Environ. Sci. Technol. 56 (2022). doi:10.1021/acs.est.2c03834</a:t>
            </a:r>
          </a:p>
          <a:p>
            <a:pPr algn="l">
              <a:spcAft>
                <a:spcPts val="100"/>
              </a:spcAft>
            </a:pPr>
            <a:r>
              <a:rPr sz="590" b="0" i="0">
                <a:solidFill>
                  <a:srgbClr val="898781"/>
                </a:solidFill>
                <a:latin typeface="Calibri"/>
              </a:rPr>
              <a:t>⁶ Wei J. et al. Ground-level gaseous pollutants (NO2, SO2, and CO) in China: daily seamless mapping and spatiotemporal variations. Atmos. Chem. Phys. 23, 1511–1532 (2023). doi:10.5194/acp-23-1511-2023</a:t>
            </a:r>
          </a:p>
          <a:p>
            <a:pPr algn="l">
              <a:spcAft>
                <a:spcPts val="100"/>
              </a:spcAft>
            </a:pPr>
            <a:r>
              <a:rPr sz="590" b="0" i="0">
                <a:solidFill>
                  <a:srgbClr val="898781"/>
                </a:solidFill>
                <a:latin typeface="Calibri"/>
              </a:rPr>
              <a:t>⁷ Hoek G. et al. A review of land-use regression models to assess spatial variation of outdoor air pollution. Atmospheric Environment 42 (2008). doi:10.1016/j.atmosenv.2008.05.057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Trabajos relacionados (2): estado del arte en Chile</a:t>
            </a:r>
            <a:endParaRPr lang="es-E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932688"/>
                <a:gridCol w="841248"/>
                <a:gridCol w="1389888"/>
                <a:gridCol w="1298448"/>
                <a:gridCol w="2194560"/>
              </a:tblGrid>
              <a:tr h="274320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Trabajo</a:t>
                      </a:r>
                    </a:p>
                  </a:txBody>
                  <a:tcPr marL="45720" marR="27432" marT="9144" marB="9144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Contaminante</a:t>
                      </a:r>
                    </a:p>
                  </a:txBody>
                  <a:tcPr marL="45720" marR="27432" marT="9144" marB="9144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Zona</a:t>
                      </a:r>
                    </a:p>
                  </a:txBody>
                  <a:tcPr marL="45720" marR="27432" marT="9144" marB="9144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Datos</a:t>
                      </a:r>
                    </a:p>
                  </a:txBody>
                  <a:tcPr marL="45720" marR="27432" marT="9144" marB="9144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marL="45720" marR="27432" marT="9144" marB="9144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Principal limitación</a:t>
                      </a:r>
                    </a:p>
                  </a:txBody>
                  <a:tcPr marL="45720" marR="27432" marT="9144" marB="9144" anchor="ctr">
                    <a:solidFill>
                      <a:srgbClr val="1F497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A1A1A"/>
                          </a:solidFill>
                          <a:latin typeface="Calibri"/>
                        </a:rPr>
                        <a:t>Pérez 2000¹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PM₂.₅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Santiago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1 estación, horario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red neuronal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pronóstico temporal en un punto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A1A1A"/>
                          </a:solidFill>
                          <a:latin typeface="Calibri"/>
                        </a:rPr>
                        <a:t>Pérez y Gramsch 2016²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PM₂.₅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Santiago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estaciones + meteorología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red neuronal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episodios nocturnos; sin superficie espacial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A1A1A"/>
                          </a:solidFill>
                          <a:latin typeface="Calibri"/>
                        </a:rPr>
                        <a:t>Menares 2021³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PM₂.₅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Santiago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10 años, 3 zonas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LSTM / deep learning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solo zonas ya monitoreadas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A1A1A"/>
                          </a:solidFill>
                          <a:latin typeface="Calibri"/>
                        </a:rPr>
                        <a:t>Peralta 2022⁴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PM₂.₅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Santiago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7 estaciones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LSTM espacio-temporal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R² cae de 0.74 (1 h) a 0.38 (24 h)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A1A1A"/>
                          </a:solidFill>
                          <a:latin typeface="Calibri"/>
                        </a:rPr>
                        <a:t>Pérez y Menares 2020⁵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PM₂.₅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Coyhaique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estaciones + meteorología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red neuronal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una ciudad; episodios de leña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A1A1A"/>
                          </a:solidFill>
                          <a:latin typeface="Calibri"/>
                        </a:rPr>
                        <a:t>Escribano 2014⁶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AOD · PM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Santiago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MODIS + AERONET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modelo físico simple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el AOD solo no basta como proxy en Santiago</a:t>
                      </a:r>
                    </a:p>
                  </a:txBody>
                  <a:tcPr marL="45720" marR="27432" marT="9144" marB="9144" anchor="ctr">
                    <a:solidFill>
                      <a:srgbClr val="F2F6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A1A1A"/>
                          </a:solidFill>
                          <a:latin typeface="Calibri"/>
                        </a:rPr>
                        <a:t>Villalobos 2017⁷ · Barraza 2017⁸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PM₂.₅ (fuentes)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Temuco · Santiago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filtros, especiación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modelo receptor (CMB)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A1A1A"/>
                          </a:solidFill>
                          <a:latin typeface="Calibri"/>
                        </a:rPr>
                        <a:t>caracterizan fuentes; no estiman superficies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401568"/>
            <a:ext cx="8229600" cy="566928"/>
          </a:xfrm>
          <a:prstGeom prst="roundRect">
            <a:avLst>
              <a:gd name="adj" fmla="val 10000"/>
            </a:avLst>
          </a:prstGeom>
          <a:solidFill>
            <a:srgbClr val="17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3474720"/>
            <a:ext cx="7909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19" b="1" i="0">
                <a:solidFill>
                  <a:srgbClr val="FFE200"/>
                </a:solidFill>
                <a:latin typeface="Calibri"/>
              </a:rPr>
              <a:t>La contribución: </a:t>
            </a:r>
            <a:r>
              <a:rPr sz="919" b="0" i="0">
                <a:solidFill>
                  <a:srgbClr val="FFFFFF"/>
                </a:solidFill>
                <a:latin typeface="Calibri"/>
              </a:rPr>
              <a:t>en Chile existen pronósticos temporales por estación y estudios de fuentes, pero no una superficie espacial continua, multi-contaminante y validada para todo el territorio. Eso es lo que este proyecto cubre.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96512"/>
            <a:ext cx="4069080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570" b="0" i="0">
                <a:solidFill>
                  <a:srgbClr val="898781"/>
                </a:solidFill>
                <a:latin typeface="Calibri"/>
              </a:rPr>
              <a:t>¹ Pérez P. et al. Prediction of PM2.5 concentrations several hours in advance using neural networks in Santiago, Chile. Atmospheric Environment 34 (2000). doi:10.1016/S1352-2310(99)00316-7</a:t>
            </a:r>
          </a:p>
          <a:p>
            <a:pPr algn="l">
              <a:spcAft>
                <a:spcPts val="100"/>
              </a:spcAft>
            </a:pPr>
            <a:r>
              <a:rPr sz="570" b="0" i="0">
                <a:solidFill>
                  <a:srgbClr val="898781"/>
                </a:solidFill>
                <a:latin typeface="Calibri"/>
              </a:rPr>
              <a:t>² Pérez P. y Gramsch E. Forecasting hourly PM2.5 in Santiago de Chile with emphasis on night episodes. Atmospheric Environment 124 (2016). doi:10.1016/j.atmosenv.2015.11.016</a:t>
            </a:r>
          </a:p>
          <a:p>
            <a:pPr algn="l">
              <a:spcAft>
                <a:spcPts val="100"/>
              </a:spcAft>
            </a:pPr>
            <a:r>
              <a:rPr sz="570" b="0" i="0">
                <a:solidFill>
                  <a:srgbClr val="898781"/>
                </a:solidFill>
                <a:latin typeface="Calibri"/>
              </a:rPr>
              <a:t>³ Menares C. et al. Forecasting PM2.5 levels in Santiago de Chile using deep learning neural networks. Urban Climate 38 (2021). doi:10.1016/j.uclim.2021.100906</a:t>
            </a:r>
          </a:p>
          <a:p>
            <a:pPr algn="l">
              <a:spcAft>
                <a:spcPts val="100"/>
              </a:spcAft>
            </a:pPr>
            <a:r>
              <a:rPr sz="570" b="0" i="0">
                <a:solidFill>
                  <a:srgbClr val="898781"/>
                </a:solidFill>
                <a:latin typeface="Calibri"/>
              </a:rPr>
              <a:t>⁴ Peralta B. et al. Space-time prediction of PM2.5 concentrations in Santiago de Chile using LSTM networks. Applied Sciences 12, 11317 (2022). doi:10.3390/app122211317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096512"/>
            <a:ext cx="4023360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570" b="0" i="0">
                <a:solidFill>
                  <a:srgbClr val="898781"/>
                </a:solidFill>
                <a:latin typeface="Calibri"/>
              </a:rPr>
              <a:t>⁵ Pérez P. y Menares C. PM2.5 forecasting in Coyhaique, the most polluted city in the Americas. Urban Climate 32 (2020). doi:10.1016/j.uclim.2020.100608</a:t>
            </a:r>
          </a:p>
          <a:p>
            <a:pPr algn="l">
              <a:spcAft>
                <a:spcPts val="100"/>
              </a:spcAft>
            </a:pPr>
            <a:r>
              <a:rPr sz="570" b="0" i="0">
                <a:solidFill>
                  <a:srgbClr val="898781"/>
                </a:solidFill>
                <a:latin typeface="Calibri"/>
              </a:rPr>
              <a:t>⁶ Escribano J. et al. Satellite retrievals of aerosol optical depth over a subtropical urban area: the role of stratification and surface reflectance. Aerosol and Air Quality Research 14 (2014). doi:10.4209/aaqr.2013.03.0082</a:t>
            </a:r>
          </a:p>
          <a:p>
            <a:pPr algn="l">
              <a:spcAft>
                <a:spcPts val="100"/>
              </a:spcAft>
            </a:pPr>
            <a:r>
              <a:rPr sz="570" b="0" i="0">
                <a:solidFill>
                  <a:srgbClr val="898781"/>
                </a:solidFill>
                <a:latin typeface="Calibri"/>
              </a:rPr>
              <a:t>⁷ Villalobos A.M. et al. Wood burning pollution in southern Chile: PM2.5 source apportionment using CMB and molecular markers. Environmental Pollution 225 (2017). doi:10.1016/j.envpol.2017.02.069</a:t>
            </a:r>
          </a:p>
          <a:p>
            <a:pPr algn="l">
              <a:spcAft>
                <a:spcPts val="100"/>
              </a:spcAft>
            </a:pPr>
            <a:r>
              <a:rPr sz="570" b="0" i="0">
                <a:solidFill>
                  <a:srgbClr val="898781"/>
                </a:solidFill>
                <a:latin typeface="Calibri"/>
              </a:rPr>
              <a:t>⁸ Barraza F. et al. Temporal evolution of main ambient PM2.5 sources in Santiago, Chile, 1998–2012. Atmos. Chem. Phys. 17 (2017). doi:10.5194/acp-17-10093-2017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Hipótesis de trabajo y tipo de problema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15568"/>
            <a:ext cx="4041648" cy="2450592"/>
          </a:xfrm>
          <a:prstGeom prst="roundRect">
            <a:avLst>
              <a:gd name="adj" fmla="val 10000"/>
            </a:avLst>
          </a:prstGeom>
          <a:solidFill>
            <a:srgbClr val="17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E200"/>
                </a:solidFill>
                <a:latin typeface="Calibri"/>
              </a:rPr>
              <a:t>HIPÓTESIS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3675887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60" b="0" i="0">
                <a:solidFill>
                  <a:srgbClr val="FFFFFF"/>
                </a:solidFill>
                <a:latin typeface="Calibri"/>
              </a:rPr>
              <a:t>Las variables satelitales, meteorológicas, territoriales y de reanálisis contienen información suficiente para estimar las concentraciones de superficie que observan las estaciones.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60" b="0" i="0">
                <a:solidFill>
                  <a:srgbClr val="CDE2FB"/>
                </a:solidFill>
                <a:latin typeface="Calibri"/>
              </a:rPr>
              <a:t>Los objetivos dicen qué vamos a hacer; la hipótesis explica por qué creemos que el problema puede resolverse con los datos disponibles.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45152" y="1115568"/>
            <a:ext cx="4041648" cy="245059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9744" y="1225296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El problema predictivo, bien definido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9744" y="155448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3366CC"/>
                </a:solidFill>
                <a:latin typeface="Calibri"/>
              </a:rPr>
              <a:t>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9904" y="1554480"/>
            <a:ext cx="25054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regresión espacio-temporal predictiva; no busca explicar causas ni evaluar intervenciones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1952243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3366CC"/>
                </a:solidFill>
                <a:latin typeface="Calibri"/>
              </a:rPr>
              <a:t>Variable 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9904" y="1952243"/>
            <a:ext cx="25054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concentración de superficie por contaminante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35000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3366CC"/>
                </a:solidFill>
                <a:latin typeface="Calibri"/>
              </a:rPr>
              <a:t>Unidad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350008"/>
            <a:ext cx="25054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µg/m³ (CO en mg/m³)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74777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3366CC"/>
                </a:solidFill>
                <a:latin typeface="Calibri"/>
              </a:rPr>
              <a:t>Resolución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2747772"/>
            <a:ext cx="25054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comuna × hora y día, todo Chile, agregable por macrozona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314553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3366CC"/>
                </a:solidFill>
                <a:latin typeface="Calibri"/>
              </a:rPr>
              <a:t>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3145536"/>
            <a:ext cx="25054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un modelo por contaminante; sin enfoque multiobjetivo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8229600" cy="493776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13048"/>
            <a:ext cx="7909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F497D"/>
                </a:solidFill>
                <a:latin typeface="Calibri"/>
              </a:rPr>
              <a:t>La secuencia completa del proyecto: </a:t>
            </a:r>
            <a:r>
              <a:rPr sz="960" b="0" i="0">
                <a:solidFill>
                  <a:srgbClr val="52514E"/>
                </a:solidFill>
                <a:latin typeface="Calibri"/>
              </a:rPr>
              <a:t>problema → brecha → evidencia → hipótesis → objetivos → metodología.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Estrategia de validación por escenarios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15568"/>
            <a:ext cx="4041648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24E1C"/>
                </a:solidFill>
                <a:latin typeface="Calibri"/>
              </a:rPr>
              <a:t>El desafío: dependencia espacial y 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36192"/>
            <a:ext cx="37124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  <a:spcAft>
                <a:spcPts val="400"/>
              </a:spcAft>
            </a:pPr>
            <a:r>
              <a:rPr sz="860">
                <a:solidFill>
                  <a:srgbClr val="52514E"/>
                </a:solidFill>
                <a:latin typeface="Calibri"/>
              </a:rPr>
              <a:t>• La contaminación no es independiente entre lugares: hay autocorrelación espacial</a:t>
            </a:r>
          </a:p>
          <a:p>
            <a:pPr>
              <a:lnSpc>
                <a:spcPct val="98000"/>
              </a:lnSpc>
              <a:spcAft>
                <a:spcPts val="400"/>
              </a:spcAft>
            </a:pPr>
            <a:r>
              <a:rPr sz="860">
                <a:solidFill>
                  <a:srgbClr val="52514E"/>
                </a:solidFill>
                <a:latin typeface="Calibri"/>
              </a:rPr>
              <a:t>• Horas consecutivas están fuertemente correlacionadas</a:t>
            </a:r>
          </a:p>
          <a:p>
            <a:pPr>
              <a:lnSpc>
                <a:spcPct val="98000"/>
              </a:lnSpc>
              <a:spcAft>
                <a:spcPts val="400"/>
              </a:spcAft>
            </a:pPr>
            <a:r>
              <a:rPr sz="860">
                <a:solidFill>
                  <a:srgbClr val="52514E"/>
                </a:solidFill>
                <a:latin typeface="Calibri"/>
              </a:rPr>
              <a:t>• La red SINCA no es uniforme: 3 regiones concentran la mitad de las estaciones</a:t>
            </a:r>
          </a:p>
          <a:p>
            <a:pPr>
              <a:lnSpc>
                <a:spcPct val="98000"/>
              </a:lnSpc>
              <a:spcAft>
                <a:spcPts val="400"/>
              </a:spcAft>
            </a:pPr>
            <a:r>
              <a:rPr sz="860">
                <a:solidFill>
                  <a:srgbClr val="52514E"/>
                </a:solidFill>
                <a:latin typeface="Calibri"/>
              </a:rPr>
              <a:t>• Mezclar observaciones cercanas infla las métricas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45152" y="1115568"/>
            <a:ext cx="4041648" cy="233172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9744" y="1225296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7D57"/>
                </a:solidFill>
                <a:latin typeface="Calibri"/>
              </a:rPr>
              <a:t>Nuestra estrategia, por bloques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9744" y="1536192"/>
            <a:ext cx="37124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  <a:spcAft>
                <a:spcPts val="400"/>
              </a:spcAft>
            </a:pPr>
            <a:r>
              <a:rPr sz="860">
                <a:solidFill>
                  <a:srgbClr val="52514E"/>
                </a:solidFill>
                <a:latin typeface="Calibri"/>
              </a:rPr>
              <a:t>• LOSO (dejar una estación fuera) como primera aproximación</a:t>
            </a:r>
          </a:p>
          <a:p>
            <a:pPr>
              <a:lnSpc>
                <a:spcPct val="98000"/>
              </a:lnSpc>
              <a:spcAft>
                <a:spcPts val="400"/>
              </a:spcAft>
            </a:pPr>
            <a:r>
              <a:rPr sz="860">
                <a:solidFill>
                  <a:srgbClr val="52514E"/>
                </a:solidFill>
                <a:latin typeface="Calibri"/>
              </a:rPr>
              <a:t>• Bloques espaciales y macrozonas completas fuera</a:t>
            </a:r>
          </a:p>
          <a:p>
            <a:pPr>
              <a:lnSpc>
                <a:spcPct val="98000"/>
              </a:lnSpc>
              <a:spcAft>
                <a:spcPts val="400"/>
              </a:spcAft>
            </a:pPr>
            <a:r>
              <a:rPr sz="860">
                <a:solidFill>
                  <a:srgbClr val="52514E"/>
                </a:solidFill>
                <a:latin typeface="Calibri"/>
              </a:rPr>
              <a:t>• Bloques temporales y validación hacia adelante</a:t>
            </a:r>
          </a:p>
          <a:p>
            <a:pPr>
              <a:lnSpc>
                <a:spcPct val="98000"/>
              </a:lnSpc>
              <a:spcAft>
                <a:spcPts val="400"/>
              </a:spcAft>
            </a:pPr>
            <a:r>
              <a:rPr sz="860">
                <a:solidFill>
                  <a:srgbClr val="52514E"/>
                </a:solidFill>
                <a:latin typeface="Calibri"/>
              </a:rPr>
              <a:t>• Reporte de métricas por contaminante, estación y macrozona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21024"/>
            <a:ext cx="8229600" cy="658368"/>
          </a:xfrm>
          <a:prstGeom prst="roundRect">
            <a:avLst>
              <a:gd name="adj" fmla="val 10000"/>
            </a:avLst>
          </a:prstGeom>
          <a:solidFill>
            <a:srgbClr val="17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7863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FFE200"/>
                </a:solidFill>
                <a:latin typeface="Calibri"/>
              </a:rPr>
              <a:t>Cada métrica declarará su escenario: </a:t>
            </a:r>
            <a:r>
              <a:rPr sz="940" b="0" i="0">
                <a:solidFill>
                  <a:srgbClr val="FFFFFF"/>
                </a:solidFill>
                <a:latin typeface="Calibri"/>
              </a:rPr>
              <a:t>¿predice una nueva hora en una estación conocida, una estación nunca vista o un territorio donde nunca hubo estación? Fuera de estación, la literatura reporta caídas a R² 0.6 a 0.7.¹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43984"/>
            <a:ext cx="8229600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 i="0">
                <a:solidFill>
                  <a:srgbClr val="898781"/>
                </a:solidFill>
                <a:latin typeface="Calibri"/>
              </a:rPr>
              <a:t>¹ Wei J. et al. Ground-level gaseous pollutants (NO2, SO2, and CO) in China: daily seamless mapping and spatiotemporal variations. Atmos. Chem. Phys. 23, 1511–1532 (2023). doi:10.5194/acp-23-1511-2023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Semana 3: qué hicimos, qué costó y qué viene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15568"/>
            <a:ext cx="2011680" cy="2615184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243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80" b="1" i="0">
                <a:solidFill>
                  <a:srgbClr val="1F497D"/>
                </a:solidFill>
                <a:latin typeface="Calibri"/>
              </a:rPr>
              <a:t>Objetivos de la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55648"/>
            <a:ext cx="17373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Profundizar la definición del problema y su evidencia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Revisión de literatura internacional y chilena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Cuantificar la brecha con datos del repositorio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78608" y="1115568"/>
            <a:ext cx="2011680" cy="2615184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24912" y="1243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80" b="1" i="0">
                <a:solidFill>
                  <a:srgbClr val="3366CC"/>
                </a:solidFill>
                <a:latin typeface="Calibri"/>
              </a:rPr>
              <a:t>Tareas realizadas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912" y="1755648"/>
            <a:ext cx="17373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Brecha medida: mapa SINCA, estaciones por región y cobertura por contaminante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Tabla de trabajos chilenos con DOI verificado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Hipótesis y problema predictivo definidos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0016" y="1115568"/>
            <a:ext cx="2011680" cy="2615184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243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80" b="1" i="0">
                <a:solidFill>
                  <a:srgbClr val="B24E1C"/>
                </a:solidFill>
                <a:latin typeface="Calibri"/>
              </a:rPr>
              <a:t>Desafíos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55648"/>
            <a:ext cx="17373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La literatura chilena es de pronóstico temporal, no de superficies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Métricas no comparables entre estudios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Definir escenarios de validación honestos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1423" y="1115568"/>
            <a:ext cx="2011680" cy="2615184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7" y="1243584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80" b="1" i="0">
                <a:solidFill>
                  <a:srgbClr val="0F7D57"/>
                </a:solidFill>
                <a:latin typeface="Calibri"/>
              </a:rPr>
              <a:t>Próxima semana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7" y="1755648"/>
            <a:ext cx="17373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Defensa de tema (semana 4): documento de una plana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Congelar el diseño metodológico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780">
                <a:solidFill>
                  <a:srgbClr val="52514E"/>
                </a:solidFill>
                <a:latin typeface="Calibri"/>
              </a:rPr>
              <a:t>• Iniciar los paneles de modelamiento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932688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Todo el detalle vive
en el repositorio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83080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CDE2FB"/>
                </a:solidFill>
                <a:latin typeface="Calibri"/>
              </a:rPr>
              <a:t>• Bibliografía APA con cada DOI verificado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CDE2FB"/>
                </a:solidFill>
                <a:latin typeface="Calibri"/>
              </a:rPr>
              <a:t>• Datos y scripts de la brecha SINCA (mapa y coberturas)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CDE2FB"/>
                </a:solidFill>
                <a:latin typeface="Calibri"/>
              </a:rPr>
              <a:t>• Matriz contaminante × método y líneas base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CDE2FB"/>
                </a:solidFill>
                <a:latin typeface="Calibri"/>
              </a:rPr>
              <a:t>• Pipeline reproducible de descarga y procesamiento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456432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13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ithu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58444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3456432"/>
            <a:ext cx="4846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github.com/AmaruSimonAgueroJimenez/Air-Pollution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32688"/>
            <a:ext cx="2331720" cy="3035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133856"/>
            <a:ext cx="1929384" cy="1929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3127248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17375D"/>
                </a:solidFill>
                <a:latin typeface="Calibri"/>
              </a:rPr>
              <a:t>Escanea para ver la bibliografía, el pipeline y la documentación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DE2FB"/>
                </a:solidFill>
                <a:latin typeface="Calibri"/>
              </a:rPr>
              <a:t>Equipo 2: José J. Romero · Roberto I. Ávila · Amaru S. Agüero · Esteban A. González          ¡Gracias!</a:t>
            </a:r>
          </a:p>
        </p:txBody>
      </p:sp>
    </p:spTree>
    <p:extLst>
      <p:ext uri="{BB962C8B-B14F-4D97-AF65-F5344CB8AC3E}">
        <p14:creationId xmlns:p14="http://schemas.microsoft.com/office/powerpoint/2010/main" val="785384284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U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UC.potx</Template>
  <TotalTime>280</TotalTime>
  <Words>1</Words>
  <Application>Microsoft Macintosh PowerPoint</Application>
  <PresentationFormat>Presentación en pantalla (16:9)</PresentationFormat>
  <Paragraphs>1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Calibri</vt:lpstr>
      <vt:lpstr>Arial</vt:lpstr>
      <vt:lpstr>Plantilla UC</vt:lpstr>
      <vt:lpstr>Diseño personalizado</vt:lpstr>
      <vt:lpstr>2_Diseño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XX</dc:creator>
  <cp:lastModifiedBy>Usuario de Microsoft Office</cp:lastModifiedBy>
  <cp:revision>33</cp:revision>
  <dcterms:created xsi:type="dcterms:W3CDTF">2013-12-19T15:07:33Z</dcterms:created>
  <dcterms:modified xsi:type="dcterms:W3CDTF">2019-05-23T17:24:28Z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0x0101002A30D13EB03CFA46896655FA61226709</vt:lpwstr>
  </property>
</Properties>
</file>