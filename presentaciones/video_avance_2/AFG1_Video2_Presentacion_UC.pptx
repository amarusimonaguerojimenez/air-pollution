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1" r:id="rId3"/>
  </p:sldMasterIdLst>
  <p:notesMasterIdLst>
    <p:notesMasterId r:id="rId9"/>
  </p:notesMasterIdLst>
  <p:sldIdLst>
    <p:sldId id="262" r:id="rId5"/>
    <p:sldId id="259" r:id="rId7"/>
    <p:sldId id="263" r:id="rId17"/>
    <p:sldId id="264" r:id="rId18"/>
    <p:sldId id="265" r:id="rId19"/>
    <p:sldId id="266" r:id="rId20"/>
    <p:sldId id="267" r:id="rId21"/>
    <p:sldId id="268" r:id="rId22"/>
    <p:sldId id="260" r:id="rId8"/>
  </p:sldIdLst>
  <p:sldSz cx="9144000" cy="5143500" type="screen16x9"/>
  <p:notesSz cx="6858000" cy="9144000"/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97">
          <p15:clr>
            <a:srgbClr val="A4A3A4"/>
          </p15:clr>
        </p15:guide>
        <p15:guide id="2" pos="416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66CC"/>
    <a:srgbClr val="FFE200"/>
    <a:srgbClr val="FFF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88"/>
    <p:restoredTop sz="50067"/>
  </p:normalViewPr>
  <p:slideViewPr>
    <p:cSldViewPr snapToGrid="0" snapToObjects="1" showGuides="1">
      <p:cViewPr>
        <p:scale>
          <a:sx n="99" d="100"/>
          <a:sy n="99" d="100"/>
        </p:scale>
        <p:origin x="2248" y="-328"/>
      </p:cViewPr>
      <p:guideLst>
        <p:guide orient="horz" pos="2697"/>
        <p:guide pos="4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07875-FBB4-E24A-BDDE-B8BBEBD8D5C9}" type="datetimeFigureOut">
              <a:rPr lang="es-ES" smtClean="0"/>
              <a:t>23/5/19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FB505-4C2B-1B4C-9533-CA0B69CD73D7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56898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0FB505-4C2B-1B4C-9533-CA0B69CD73D7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5751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 userDrawn="1"/>
        </p:nvSpPr>
        <p:spPr>
          <a:xfrm>
            <a:off x="169334" y="1007195"/>
            <a:ext cx="8974667" cy="238578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1755587"/>
            <a:ext cx="8229600" cy="857250"/>
          </a:xfrm>
        </p:spPr>
        <p:txBody>
          <a:bodyPr/>
          <a:lstStyle/>
          <a:p>
            <a:r>
              <a:rPr lang="es-ES_tradnl" dirty="0" smtClean="0"/>
              <a:t>Clic para editar nombre de capítulo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16728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sarrollo de t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081338"/>
          </a:xfrm>
        </p:spPr>
        <p:txBody>
          <a:bodyPr/>
          <a:lstStyle>
            <a:lvl1pPr>
              <a:defRPr sz="2600"/>
            </a:lvl1pPr>
            <a:lvl2pPr>
              <a:defRPr sz="2600"/>
            </a:lvl2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23/5/19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443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087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08729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23/5/19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0623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y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9774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2176006"/>
            <a:ext cx="4040188" cy="211143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23/5/19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‹Nr.›</a:t>
            </a:fld>
            <a:endParaRPr lang="es-ES"/>
          </a:p>
        </p:txBody>
      </p:sp>
      <p:sp>
        <p:nvSpPr>
          <p:cNvPr id="11" name="Marcador de SmartArt 10"/>
          <p:cNvSpPr>
            <a:spLocks noGrp="1"/>
          </p:cNvSpPr>
          <p:nvPr>
            <p:ph type="dgm" sz="quarter" idx="13"/>
          </p:nvPr>
        </p:nvSpPr>
        <p:spPr>
          <a:xfrm>
            <a:off x="4559300" y="1151335"/>
            <a:ext cx="4127500" cy="3136106"/>
          </a:xfrm>
        </p:spPr>
        <p:txBody>
          <a:bodyPr/>
          <a:lstStyle/>
          <a:p>
            <a:r>
              <a:rPr lang="es-ES_tradnl" smtClean="0"/>
              <a:t>Haga clic en el icono para agregar un gráfico SmartArt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1438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on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pPr/>
              <a:t>23/5/19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pPr/>
              <a:t>‹Nr.›</a:t>
            </a:fld>
            <a:endParaRPr lang="es-ES"/>
          </a:p>
        </p:txBody>
      </p:sp>
      <p:sp>
        <p:nvSpPr>
          <p:cNvPr id="7" name="Marcador de gráfico 6"/>
          <p:cNvSpPr>
            <a:spLocks noGrp="1"/>
          </p:cNvSpPr>
          <p:nvPr>
            <p:ph type="chart" sz="quarter" idx="13"/>
          </p:nvPr>
        </p:nvSpPr>
        <p:spPr>
          <a:xfrm>
            <a:off x="457200" y="1316811"/>
            <a:ext cx="8229600" cy="2970631"/>
          </a:xfrm>
        </p:spPr>
        <p:txBody>
          <a:bodyPr/>
          <a:lstStyle/>
          <a:p>
            <a:r>
              <a:rPr lang="es-ES_tradnl" smtClean="0"/>
              <a:t>Haga clic en el icono para agregar un gráfico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4820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23/5/19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‹Nr.›</a:t>
            </a:fld>
            <a:endParaRPr lang="es-ES"/>
          </a:p>
        </p:txBody>
      </p:sp>
      <p:sp>
        <p:nvSpPr>
          <p:cNvPr id="6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457200" y="1214080"/>
            <a:ext cx="8229600" cy="268965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 smtClean="0"/>
              <a:t>Arrastre la imagen al marcador de posición o haga clic en el icono para agregar</a:t>
            </a:r>
            <a:endParaRPr lang="es-ES" dirty="0"/>
          </a:p>
        </p:txBody>
      </p:sp>
      <p:sp>
        <p:nvSpPr>
          <p:cNvPr id="7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0" y="4025504"/>
            <a:ext cx="8229600" cy="2619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484501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pPr/>
              <a:t>23/5/19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pPr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2244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fondo 2727.ai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4483"/>
            <a:ext cx="9144000" cy="34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79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3471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 smtClean="0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/>
          <a:p>
            <a:fld id="{CC73C310-44D8-D44E-9500-41BAE48D6C1F}" type="datetimeFigureOut">
              <a:rPr lang="es-ES" smtClean="0"/>
              <a:t>23/5/19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/>
          <a:p>
            <a:fld id="{F152EED2-0F54-FF4E-878C-CD5E3782BC09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85863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2.xml"/><Relationship Id="rId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3.xml"/><Relationship Id="rId3" Type="http://schemas.openxmlformats.org/officeDocument/2006/relationships/image" Target="../media/image1.emf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fondo 2727.ai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2" y="0"/>
            <a:ext cx="8985258" cy="1007195"/>
          </a:xfrm>
          <a:prstGeom prst="rect">
            <a:avLst/>
          </a:prstGeom>
        </p:spPr>
      </p:pic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14994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dirty="0" smtClean="0"/>
              <a:t>Clic para editar título</a:t>
            </a:r>
            <a:endParaRPr lang="es-ES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08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 smtClean="0"/>
              <a:t>Haga clic para modificar el estilo de texto del patrón</a:t>
            </a:r>
          </a:p>
          <a:p>
            <a:pPr lvl="1"/>
            <a:r>
              <a:rPr lang="es-ES_tradnl" dirty="0" smtClean="0"/>
              <a:t>Segundo nivel</a:t>
            </a:r>
          </a:p>
          <a:p>
            <a:pPr lvl="2"/>
            <a:r>
              <a:rPr lang="es-ES_tradnl" dirty="0" smtClean="0"/>
              <a:t>Tercer nivel</a:t>
            </a:r>
          </a:p>
          <a:p>
            <a:pPr lvl="3"/>
            <a:r>
              <a:rPr lang="es-ES_tradnl" dirty="0" smtClean="0"/>
              <a:t>Cuarto nivel</a:t>
            </a:r>
          </a:p>
          <a:p>
            <a:pPr lvl="4"/>
            <a:r>
              <a:rPr lang="es-ES_tradnl" dirty="0" smtClean="0"/>
              <a:t>Quinto nivel</a:t>
            </a:r>
            <a:endParaRPr lang="es-ES" dirty="0"/>
          </a:p>
        </p:txBody>
      </p:sp>
      <p:sp>
        <p:nvSpPr>
          <p:cNvPr id="10" name="Rectángulo 9"/>
          <p:cNvSpPr/>
          <p:nvPr/>
        </p:nvSpPr>
        <p:spPr>
          <a:xfrm>
            <a:off x="0" y="149945"/>
            <a:ext cx="158742" cy="857250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ángulo 7"/>
          <p:cNvSpPr/>
          <p:nvPr userDrawn="1"/>
        </p:nvSpPr>
        <p:spPr>
          <a:xfrm flipV="1">
            <a:off x="169334" y="4871120"/>
            <a:ext cx="8815911" cy="1773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  <p:sp>
        <p:nvSpPr>
          <p:cNvPr id="11" name="Rectángulo 10"/>
          <p:cNvSpPr/>
          <p:nvPr userDrawn="1"/>
        </p:nvSpPr>
        <p:spPr>
          <a:xfrm flipV="1">
            <a:off x="7200957" y="4871118"/>
            <a:ext cx="1119038" cy="177313"/>
          </a:xfrm>
          <a:prstGeom prst="rect">
            <a:avLst/>
          </a:prstGeom>
          <a:solidFill>
            <a:srgbClr val="3366C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64562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0" r:id="rId2"/>
    <p:sldLayoutId id="2147483652" r:id="rId3"/>
    <p:sldLayoutId id="2147483653" r:id="rId4"/>
    <p:sldLayoutId id="2147483658" r:id="rId5"/>
    <p:sldLayoutId id="2147483654" r:id="rId6"/>
    <p:sldLayoutId id="2147483659" r:id="rId7"/>
    <p:sldLayoutId id="2147483655" r:id="rId8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b="0" kern="1200">
          <a:solidFill>
            <a:schemeClr val="tx1"/>
          </a:solidFill>
          <a:latin typeface="Arial"/>
          <a:ea typeface="+mn-ea"/>
          <a:cs typeface="Arial"/>
        </a:defRPr>
      </a:lvl1pPr>
      <a:lvl2pPr marL="365125" indent="0" algn="l" defTabSz="457200" rtl="0" eaLnBrk="1" latinLnBrk="0" hangingPunct="1">
        <a:spcBef>
          <a:spcPct val="20000"/>
        </a:spcBef>
        <a:buFontTx/>
        <a:buNone/>
        <a:defRPr sz="2800" kern="1200">
          <a:solidFill>
            <a:schemeClr val="tx1"/>
          </a:solidFill>
          <a:latin typeface="Arial"/>
          <a:ea typeface="+mn-ea"/>
          <a:cs typeface="Arial"/>
        </a:defRPr>
      </a:lvl2pPr>
      <a:lvl3pPr marL="630238" indent="-2413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Arial"/>
        </a:defRPr>
      </a:lvl3pPr>
      <a:lvl4pPr marL="982663" indent="-268288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Arial"/>
        </a:defRPr>
      </a:lvl4pPr>
      <a:lvl5pPr marL="982662" indent="0" algn="l" defTabSz="457200" rtl="0" eaLnBrk="1" latinLnBrk="0" hangingPunct="1">
        <a:spcBef>
          <a:spcPct val="20000"/>
        </a:spcBef>
        <a:buFontTx/>
        <a:buNone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UC color TR-0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800" y="698500"/>
            <a:ext cx="6480264" cy="3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90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1437737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dirty="0" smtClean="0"/>
              <a:t>Clic para editar título</a:t>
            </a:r>
            <a:endParaRPr lang="es-ES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2770565"/>
            <a:ext cx="8229600" cy="15109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 smtClean="0"/>
              <a:t>Integrantes</a:t>
            </a:r>
            <a:endParaRPr lang="es-ES" dirty="0"/>
          </a:p>
        </p:txBody>
      </p:sp>
      <p:pic>
        <p:nvPicPr>
          <p:cNvPr id="7" name="Imagen 6" descr="fondo 2727.ai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137" y="1"/>
            <a:ext cx="6043863" cy="1123125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 flipV="1">
            <a:off x="-1" y="-4"/>
            <a:ext cx="177417" cy="1123126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Imagen 8" descr="UC color TR-01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784" y="70795"/>
            <a:ext cx="1907624" cy="1099172"/>
          </a:xfrm>
          <a:prstGeom prst="rect">
            <a:avLst/>
          </a:prstGeom>
        </p:spPr>
      </p:pic>
      <p:sp>
        <p:nvSpPr>
          <p:cNvPr id="10" name="Rectángulo 9"/>
          <p:cNvSpPr/>
          <p:nvPr userDrawn="1"/>
        </p:nvSpPr>
        <p:spPr>
          <a:xfrm flipV="1">
            <a:off x="169334" y="4871120"/>
            <a:ext cx="8815911" cy="1773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  <p:sp>
        <p:nvSpPr>
          <p:cNvPr id="11" name="Rectángulo 10"/>
          <p:cNvSpPr/>
          <p:nvPr userDrawn="1"/>
        </p:nvSpPr>
        <p:spPr>
          <a:xfrm flipV="1">
            <a:off x="7200957" y="4871118"/>
            <a:ext cx="1119038" cy="177313"/>
          </a:xfrm>
          <a:prstGeom prst="rect">
            <a:avLst/>
          </a:prstGeom>
          <a:solidFill>
            <a:srgbClr val="3366C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9903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txStyles>
    <p:titleStyle>
      <a:lvl1pPr algn="r" defTabSz="457200" rtl="0" eaLnBrk="1" latinLnBrk="0" hangingPunct="1">
        <a:spcBef>
          <a:spcPct val="0"/>
        </a:spcBef>
        <a:buNone/>
        <a:defRPr sz="4400" b="1" i="0" kern="120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342900" indent="-342900" algn="r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595959"/>
          </a:solidFill>
          <a:latin typeface="Arial"/>
          <a:ea typeface="+mn-ea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12648" y="2761488"/>
            <a:ext cx="7772400" cy="1097280"/>
          </a:xfrm>
        </p:spPr>
        <p:txBody>
          <a:bodyPr wrap="square">
            <a:noAutofit/>
          </a:bodyPr>
          <a:lstStyle/>
          <a:p>
            <a:pPr algn="l">
              <a:spcBef>
                <a:spcPts val="200"/>
              </a:spcBef>
            </a:pPr>
            <a:r>
              <a:rPr sz="1300">
                <a:solidFill>
                  <a:srgbClr val="52514E"/>
                </a:solidFill>
                <a:latin typeface="Calibri"/>
              </a:rPr>
              <a:t>Qué se sabe, con qué métodos se ha hecho y qué brecha abordamos para estimar PM₂.₅ · PM₁₀ · NO₂ · O₃ · SO₂ · CO en todo Chile, validado contra la red SINCA</a:t>
            </a:r>
            <a:endParaRPr lang="es-ES" sz="1800" dirty="0"/>
          </a:p>
        </p:txBody>
      </p:sp>
      <p:sp>
        <p:nvSpPr>
          <p:cNvPr id="4" name="Título 1"/>
          <p:cNvSpPr>
            <a:spLocks noGrp="1"/>
          </p:cNvSpPr>
          <p:nvPr>
            <p:ph type="ctrTitle"/>
          </p:nvPr>
        </p:nvSpPr>
        <p:spPr>
          <a:xfrm>
            <a:off x="614967" y="1538445"/>
            <a:ext cx="7772400" cy="1101725"/>
          </a:xfrm>
        </p:spPr>
        <p:txBody>
          <a:bodyPr wrap="square">
            <a:normAutofit/>
          </a:bodyPr>
          <a:lstStyle/>
          <a:p>
            <a:pPr algn="l"/>
            <a:r>
              <a:rPr sz="2600" b="1">
                <a:solidFill>
                  <a:srgbClr val="17375D"/>
                </a:solidFill>
                <a:latin typeface="Calibri"/>
              </a:rPr>
              <a:t>Revisión de literatura: estimar la calidad del aire desde el espacio</a:t>
            </a:r>
            <a:endParaRPr lang="es-CL" sz="4000" dirty="0">
              <a:solidFill>
                <a:srgbClr val="3366C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188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66CC"/>
                </a:solidFill>
                <a:latin typeface="Calibri"/>
              </a:rPr>
              <a:t>ACTIVIDAD FINAL DE GRADUACIÓN 1  ·  MDS3050  ·  VIDEO DE AVANCE N.º 2: REVISIÓN DE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950208"/>
            <a:ext cx="1883664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50208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19" b="1" i="0">
                <a:solidFill>
                  <a:srgbClr val="17375D"/>
                </a:solidFill>
                <a:latin typeface="Calibri"/>
              </a:rPr>
              <a:t>José Jesús Romero Fuenmayor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4328" y="3950208"/>
            <a:ext cx="1883664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3950208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19" b="1" i="0">
                <a:solidFill>
                  <a:srgbClr val="17375D"/>
                </a:solidFill>
                <a:latin typeface="Calibri"/>
              </a:rPr>
              <a:t>Roberto Ignacio Ávila Escobar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3950208"/>
            <a:ext cx="1883664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950208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19" b="1" i="0">
                <a:solidFill>
                  <a:srgbClr val="17375D"/>
                </a:solidFill>
                <a:latin typeface="Calibri"/>
              </a:rPr>
              <a:t>Amaru Simón Agüero Jiménez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47688" y="3950208"/>
            <a:ext cx="1883664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950208"/>
            <a:ext cx="17373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19" b="1" i="0">
                <a:solidFill>
                  <a:srgbClr val="17375D"/>
                </a:solidFill>
                <a:latin typeface="Calibri"/>
              </a:rPr>
              <a:t>Esteban Adolfo González Rodríguez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46227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98781"/>
                </a:solidFill>
                <a:latin typeface="Calibri"/>
              </a:rPr>
              <a:t>Equipo 2 (Team2)  · 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4120695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Cómo hicimos la revisión: método antes que lista de papers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2011680" cy="223113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5216" y="1243584"/>
            <a:ext cx="384048" cy="384048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or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" y="1335755"/>
            <a:ext cx="199704" cy="199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1F497D"/>
                </a:solidFill>
                <a:latin typeface="Calibri"/>
              </a:rPr>
              <a:t>Búsqueda por palabras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847088"/>
            <a:ext cx="17373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Google Scholar, Scopus y Web of Science; términos en inglés por contaminante: satellite, surface estimation, LUR, machine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78608" y="1115568"/>
            <a:ext cx="2011680" cy="223113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06624" y="1243584"/>
            <a:ext cx="384048" cy="384048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95" y="1335755"/>
            <a:ext cx="199704" cy="19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63824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3366CC"/>
                </a:solidFill>
                <a:latin typeface="Calibri"/>
              </a:rPr>
              <a:t>Criterios de inclusión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1847088"/>
            <a:ext cx="17373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trabajos 2000+; estimación de superficies con validación contra estaciones; guías OMS y normas como literatura oficial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1115568"/>
            <a:ext cx="2011680" cy="223113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28031" y="1243584"/>
            <a:ext cx="384048" cy="384048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ienc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203" y="1335755"/>
            <a:ext cx="199704" cy="19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85231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F7D57"/>
                </a:solidFill>
                <a:latin typeface="Calibri"/>
              </a:rPr>
              <a:t>Citation chaining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847088"/>
            <a:ext cx="17373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desde los trabajos ancla, hacia atrás (sus referencias) y hacia adelante (quién los cita hoy)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21423" y="1115568"/>
            <a:ext cx="2011680" cy="223113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49439" y="1243584"/>
            <a:ext cx="384048" cy="384048"/>
          </a:xfrm>
          <a:prstGeom prst="ellipse">
            <a:avLst/>
          </a:prstGeom>
          <a:solidFill>
            <a:srgbClr val="B24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a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1611" y="1335755"/>
            <a:ext cx="199704" cy="1997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06640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B24E1C"/>
                </a:solidFill>
                <a:latin typeface="Calibri"/>
              </a:rPr>
              <a:t>Síntesis y gestión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7" y="1847088"/>
            <a:ext cx="17373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matriz contaminante × método; bibliografía en formato APA consolidada en el repositorio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529584"/>
            <a:ext cx="8229600" cy="566928"/>
          </a:xfrm>
          <a:prstGeom prst="roundRect">
            <a:avLst>
              <a:gd name="adj" fmla="val 1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602736"/>
            <a:ext cx="7909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1" i="0">
                <a:solidFill>
                  <a:srgbClr val="1F497D"/>
                </a:solidFill>
                <a:latin typeface="Calibri"/>
              </a:rPr>
              <a:t>Estructura elegida: </a:t>
            </a:r>
            <a:r>
              <a:rPr sz="919" b="0" i="0">
                <a:solidFill>
                  <a:srgbClr val="52514E"/>
                </a:solidFill>
                <a:latin typeface="Calibri"/>
              </a:rPr>
              <a:t>por tema (cada contaminante) y por metodología, dos de las formas recomendadas en la sesión sincrónica del curso. La revisión busca qué se sabe, cómo se llegó y qué no se sabe.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9" b="0" i="0">
                <a:solidFill>
                  <a:srgbClr val="898781"/>
                </a:solidFill>
                <a:latin typeface="Calibri"/>
              </a:rPr>
              <a:t>Todas las referencias citadas en esta presentación tienen DOI o ISBN verificado y están en la bibliografía del repositorio.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Qué se sabe (1): PM₂.₅ es el contaminante mejor resuelto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2070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80" b="1" i="0">
                <a:solidFill>
                  <a:srgbClr val="1F497D"/>
                </a:solidFill>
                <a:latin typeface="Calibri"/>
              </a:rPr>
              <a:t>Global, mensual y con incertidumbre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1207008"/>
            <a:ext cx="138988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44368" y="1207008"/>
            <a:ext cx="13898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20" b="1" i="0">
                <a:solidFill>
                  <a:srgbClr val="1F497D"/>
                </a:solidFill>
                <a:latin typeface="Calibri"/>
              </a:rPr>
              <a:t>van Donkelaar 2021 · ACAG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37124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52514E"/>
                </a:solidFill>
                <a:latin typeface="Calibri"/>
              </a:rPr>
              <a:t>Estimaciones globales de PM₂.₅ combinando satélite, modelo químico y estaciones; es la base del producto de superficie que usamos.¹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1728" y="1115568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28032" y="12070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80" b="1" i="0">
                <a:solidFill>
                  <a:srgbClr val="1F497D"/>
                </a:solidFill>
                <a:latin typeface="Calibri"/>
              </a:rPr>
              <a:t>El salto: híbrido geofísico + estadístico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68896" y="1207008"/>
            <a:ext cx="138988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68896" y="1207008"/>
            <a:ext cx="13898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20" b="1" i="0">
                <a:solidFill>
                  <a:srgbClr val="1F497D"/>
                </a:solidFill>
                <a:latin typeface="Calibri"/>
              </a:rPr>
              <a:t>van Donkelaar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1554480"/>
            <a:ext cx="37124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52514E"/>
                </a:solidFill>
                <a:latin typeface="Calibri"/>
              </a:rPr>
              <a:t>AOD satelital + GEOS-Chem, corregido con regresión geográficamente ponderada contra estaciones: R² 0.81 en validación cruzada global.²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77439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46887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80" b="1" i="0">
                <a:solidFill>
                  <a:srgbClr val="1F497D"/>
                </a:solidFill>
                <a:latin typeface="Calibri"/>
              </a:rPr>
              <a:t>Ensambles de aprendizaje automático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4368" y="2468879"/>
            <a:ext cx="138988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2468879"/>
            <a:ext cx="13898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20" b="1" i="0">
                <a:solidFill>
                  <a:srgbClr val="1F497D"/>
                </a:solidFill>
                <a:latin typeface="Calibri"/>
              </a:rPr>
              <a:t>Di 2019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816351"/>
            <a:ext cx="37124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52514E"/>
                </a:solidFill>
                <a:latin typeface="Calibri"/>
              </a:rPr>
              <a:t>EE. UU. a 1 km y resolución diaria con un ensamble de redes neuronales, boosting y bosques aleatorios: el estándar de ingeniería actual.³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1728" y="2377439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246887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80" b="1" i="0">
                <a:solidFill>
                  <a:srgbClr val="1F497D"/>
                </a:solidFill>
                <a:latin typeface="Calibri"/>
              </a:rPr>
              <a:t>Chile: composición y fuentes locales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68896" y="2468879"/>
            <a:ext cx="138988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468879"/>
            <a:ext cx="13898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20" b="1" i="0">
                <a:solidFill>
                  <a:srgbClr val="1F497D"/>
                </a:solidFill>
                <a:latin typeface="Calibri"/>
              </a:rPr>
              <a:t>Villalobos 2017 · Barraza 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2816351"/>
            <a:ext cx="37124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52514E"/>
                </a:solidFill>
                <a:latin typeface="Calibri"/>
              </a:rPr>
              <a:t>La leña domina el PM₂.₅ invernal del centro-sur⁴ y las fuentes de Santiago evolucionaron durante 15 años⁵: contexto para interpretar nuestras superficies.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12463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La receta madura: </a:t>
            </a:r>
            <a:r>
              <a:rPr sz="930" b="0" i="0">
                <a:solidFill>
                  <a:srgbClr val="52514E"/>
                </a:solidFill>
                <a:latin typeface="Calibri"/>
              </a:rPr>
              <a:t>AOD satelital + modelo químico + predictores locales + calibración contra estaciones.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41648"/>
            <a:ext cx="6446520" cy="850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van Donkelaar A. et al. Monthly global estimates of fine particulate matter and their uncertainty. Environ. Sci. Technol. 55 (2021). doi:10.1021/acs.est.1c05309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van Donkelaar A. et al. Global estimates of fine particulate matter using a combined geophysical-statistical method with information from satellites, models, and monitors. Environ. Sci. Technol. 50 (2016). doi:10.1021/acs.est.5b05833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Di Q. et al. An ensemble-based model of PM2.5 concentration across the contiguous United States with high spatiotemporal resolution. Environment International (2019). doi:10.1016/j.envint.2019.104909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⁴ Villalobos A.M. et al. Wood burning pollution in southern Chile: PM2.5 source apportionment using CMB and molecular markers. Environmental Pollution 225 (2017). doi:10.1016/j.envpol.2017.02.069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⁵ Barraza F. et al. Temporal evolution of main ambient PM2.5 sources in Santiago, Chile, 1998–2012. Atmos. Chem. Phys. 17 (2017). doi:10.5194/acp-17-10093-2017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Qué se sabe (2): los gases van una década más atrás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4041648" cy="237744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225296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66CC"/>
                </a:solidFill>
                <a:latin typeface="Calibri"/>
              </a:rPr>
              <a:t>NO₂ y O₃: el camino ya está trazado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536192"/>
            <a:ext cx="3712463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LUR global de NO₂ anual: el precedente de escalar un gas a todo el planeta¹</a:t>
            </a:r>
          </a:p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NO₂ diario sin huecos para China con IA espaciotemporal interpretable²</a:t>
            </a:r>
          </a:p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Las superficies alimentan decisiones: asma pediátrica por NO₂³ y mortalidad por O₃ de largo plazo⁴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5152" y="1115568"/>
            <a:ext cx="4041648" cy="2377440"/>
          </a:xfrm>
          <a:prstGeom prst="roundRect">
            <a:avLst>
              <a:gd name="adj" fmla="val 10000"/>
            </a:avLst>
          </a:prstGeom>
          <a:solidFill>
            <a:srgbClr val="FDF2EC"/>
          </a:solidFill>
          <a:ln w="12700">
            <a:solidFill>
              <a:srgbClr val="B24E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9744" y="1225296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24E1C"/>
                </a:solidFill>
                <a:latin typeface="Calibri"/>
              </a:rPr>
              <a:t>SO₂ y CO: los menos estudiados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9744" y="1536192"/>
            <a:ext cx="3712463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Primer mapeo diario y sin huecos de NO₂, SO₂ y CO para China recién en 2023⁵</a:t>
            </a:r>
          </a:p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La base instrumental existe: algoritmo SO₂ de TROPOMI⁶ y 20+ años de CO desde MOPITT⁷</a:t>
            </a:r>
          </a:p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840">
                <a:solidFill>
                  <a:srgbClr val="52514E"/>
                </a:solidFill>
                <a:latin typeface="Calibri"/>
              </a:rPr>
              <a:t>• Fuera de estación el desempeño cae a R² 0.6 a 0.7⁵: medir esa caída importa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657600"/>
            <a:ext cx="8229600" cy="402336"/>
          </a:xfrm>
          <a:prstGeom prst="roundRect">
            <a:avLst>
              <a:gd name="adj" fmla="val 1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712463"/>
            <a:ext cx="7909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1" i="0">
                <a:solidFill>
                  <a:srgbClr val="1F497D"/>
                </a:solidFill>
                <a:latin typeface="Calibri"/>
              </a:rPr>
              <a:t>Patrón geográfico: </a:t>
            </a:r>
            <a:r>
              <a:rPr sz="919" b="0" i="0">
                <a:solidFill>
                  <a:srgbClr val="52514E"/>
                </a:solidFill>
                <a:latin typeface="Calibri"/>
              </a:rPr>
              <a:t>casi toda esta literatura se concentra en China, EE. UU. y Europa; Sudamérica no tiene un producto propio equivalente.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4069080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¹ Larkin A. et al. Global land use regression model for nitrogen dioxide air pollution. Environ. Sci. Technol. 51 (2017). doi:10.1021/acs.est.7b01148</a:t>
            </a:r>
          </a:p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² Wei J. et al. Ground-level NO2 surveillance from space across China using interpretable spatiotemporally weighted artificial intelligence. Environ. Sci. Technol. 56 (2022). doi:10.1021/acs.est.2c03834</a:t>
            </a:r>
          </a:p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³ Anenberg S.C. et al. Long-term trends in urban NO2 concentrations and associated paediatric asthma incidence. The Lancet Planetary Health 6 (2022). doi:10.1016/S2542-5196(21)00255-2</a:t>
            </a:r>
          </a:p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⁴ Turner M.C. et al. Long-term ozone exposure and mortality in a large prospective study. Am. J. Respir. Crit. Care Med. 193 (2016). doi:10.1164/rccm.201508-1633OC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4023360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⁵ Wei J. et al. Ground-level gaseous pollutants (NO2, SO2, and CO) in China: daily seamless mapping and spatiotemporal variations. Atmos. Chem. Phys. 23, 1511–1532 (2023). doi:10.5194/acp-23-1511-2023</a:t>
            </a:r>
          </a:p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⁶ Theys N. et al. Sulfur dioxide retrievals from TROPOMI onboard Sentinel-5 Precursor: algorithm theoretical basis. Atmos. Meas. Tech. 10, 119–153 (2017). doi:10.5194/amt-10-119-2017</a:t>
            </a:r>
          </a:p>
          <a:p>
            <a:pPr algn="l">
              <a:spcAft>
                <a:spcPts val="100"/>
              </a:spcAft>
            </a:pPr>
            <a:r>
              <a:rPr sz="590" b="0" i="0">
                <a:solidFill>
                  <a:srgbClr val="898781"/>
                </a:solidFill>
                <a:latin typeface="Calibri"/>
              </a:rPr>
              <a:t>⁷ Deeter M.N. et al. The MOPITT Version 9 CO product. Atmos. Meas. Tech. 15 (2022). doi:10.5194/amt-15-2325-2022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Cómo se ha hecho: cuatro familias de métodos</a:t>
            </a:r>
            <a:endParaRPr lang="es-ES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15568"/>
          <a:ext cx="8229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54680"/>
                <a:gridCol w="2971800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Idea central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Ejemplos verificados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A1A1A"/>
                          </a:solidFill>
                          <a:latin typeface="Calibri"/>
                        </a:rPr>
                        <a:t>Regresión de uso de suelo (LUR)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predictores de suelo, vías y población explican el gradiente espacial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Hoek 2008 (revisión canónica)¹ · Larkin 2017²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A1A1A"/>
                          </a:solidFill>
                          <a:latin typeface="Calibri"/>
                        </a:rPr>
                        <a:t>Geoestadística y GWR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coeficientes que varían en el espacio; kriging de residuos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van Donkelaar 2016³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A1A1A"/>
                          </a:solidFill>
                          <a:latin typeface="Calibri"/>
                        </a:rPr>
                        <a:t>Aprendizaje automático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boosting, bosques y ensambles espaciotemporales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Di 2019⁴ · Wei 2022⁵ · Wei 2023⁶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A1A1A"/>
                          </a:solidFill>
                          <a:latin typeface="Calibri"/>
                        </a:rPr>
                        <a:t>Híbridos físico-estadísticos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modelo químico + satélite + corrección con estaciones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0">
                          <a:solidFill>
                            <a:srgbClr val="1A1A1A"/>
                          </a:solidFill>
                          <a:latin typeface="Calibri"/>
                        </a:rPr>
                        <a:t>van Donkelaar 2016³ y 2021⁷ · CAMS⁸ / GEOS-CF⁹ como insumo</a:t>
                      </a:r>
                    </a:p>
                  </a:txBody>
                  <a:tcPr marL="64008" marR="45720" marT="18288" marB="18288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3255264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3319272"/>
            <a:ext cx="7909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1" i="0">
                <a:solidFill>
                  <a:srgbClr val="1F497D"/>
                </a:solidFill>
                <a:latin typeface="Calibri"/>
              </a:rPr>
              <a:t>Validación estándar del área: </a:t>
            </a:r>
            <a:r>
              <a:rPr sz="900" b="0" i="0">
                <a:solidFill>
                  <a:srgbClr val="52514E"/>
                </a:solidFill>
                <a:latin typeface="Calibri"/>
              </a:rPr>
              <a:t>cross-validation espacial dejando estaciones fuera. Nuestra elección de LOSO y de los motores GWR, boosting y kriging sale directamente de estas cuatro familias.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58768"/>
            <a:ext cx="406908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Hoek G. et al. A review of land-use regression models to assess spatial variation of outdoor air pollution. Atmospheric Environment 42 (2008). doi:10.1016/j.atmosenv.2008.05.057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Larkin A. et al. Global land use regression model for nitrogen dioxide air pollution. Environ. Sci. Technol. 51 (2017). doi:10.1021/acs.est.7b01148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van Donkelaar A. et al. Global estimates of fine particulate matter using a combined geophysical-statistical method with information from satellites, models, and monitors. Environ. Sci. Technol. 50 (2016). doi:10.1021/acs.est.5b05833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⁴ Di Q. et al. An ensemble-based model of PM2.5 concentration across the contiguous United States with high spatiotemporal resolution. Environment International (2019). doi:10.1016/j.envint.2019.104909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⁵ Wei J. et al. Ground-level NO2 surveillance from space across China using interpretable spatiotemporally weighted artificial intelligence. Environ. Sci. Technol. 56 (2022). doi:10.1021/acs.est.2c03834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858768"/>
            <a:ext cx="402336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⁶ Wei J. et al. Ground-level gaseous pollutants (NO2, SO2, and CO) in China: daily seamless mapping and spatiotemporal variations. Atmos. Chem. Phys. 23, 1511–1532 (2023). doi:10.5194/acp-23-1511-2023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⁷ van Donkelaar A. et al. Monthly global estimates of fine particulate matter and their uncertainty. Environ. Sci. Technol. 55 (2021). doi:10.1021/acs.est.1c05309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⁸ Inness A. et al. The CAMS reanalysis of atmospheric composition. Atmos. Chem. Phys. 19 (2019). doi:10.5194/acp-19-3515-2019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⁹ Keller C.A. et al. Description of the NASA GEOS-CF v1.0. J. Adv. Model. Earth Syst. 13 (2021). doi:10.1029/2020MS002413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Qué no se sabe: brechas y nuestro posicionamiento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4297680" cy="65836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1243584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" y="1340144"/>
            <a:ext cx="209214" cy="209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179576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Cobertura geográfica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371600"/>
            <a:ext cx="3529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50" b="0" i="0">
                <a:solidFill>
                  <a:srgbClr val="52514E"/>
                </a:solidFill>
                <a:latin typeface="Calibri"/>
              </a:rPr>
              <a:t>Hay productos multi-gas continuos para China, EE. UU. y Europa; para Chile y Sudamérica no existe un equivalente público y validado.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65376"/>
            <a:ext cx="4297680" cy="65836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993392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rnin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" y="2089952"/>
            <a:ext cx="209214" cy="2092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5568" y="1929384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SO₂ y 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121408"/>
            <a:ext cx="3529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50" b="0" i="0">
                <a:solidFill>
                  <a:srgbClr val="52514E"/>
                </a:solidFill>
                <a:latin typeface="Calibri"/>
              </a:rPr>
              <a:t>Son los contaminantes menos modelados: el primer producto diario chino apareció recién en 2023.¹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4297680" cy="65836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2743200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rg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8" y="2839760"/>
            <a:ext cx="209214" cy="2092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5568" y="2679191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Redes ralas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871215"/>
            <a:ext cx="3529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50" b="0" i="0">
                <a:solidFill>
                  <a:srgbClr val="52514E"/>
                </a:solidFill>
                <a:latin typeface="Calibri"/>
              </a:rPr>
              <a:t>Fuera de estación el R² cae a 0.6 a 0.7 incluso en China¹; las macrozonas extremas de Chile son justo ese caso difícil.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64991"/>
            <a:ext cx="4297680" cy="65836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493008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488" y="3589568"/>
            <a:ext cx="209214" cy="2092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15568" y="3428999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Resolución temporal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3621024"/>
            <a:ext cx="3529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50" b="0" i="0">
                <a:solidFill>
                  <a:srgbClr val="52514E"/>
                </a:solidFill>
                <a:latin typeface="Calibri"/>
              </a:rPr>
              <a:t>Predominan productos anuales o mensuales²; lo diario y horario es la frontera actual.³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1115568"/>
            <a:ext cx="3730752" cy="2999232"/>
          </a:xfrm>
          <a:prstGeom prst="roundRect">
            <a:avLst>
              <a:gd name="adj" fmla="val 10000"/>
            </a:avLst>
          </a:prstGeom>
          <a:solidFill>
            <a:srgbClr val="17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8928" y="12618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E200"/>
                </a:solidFill>
                <a:latin typeface="Calibri"/>
              </a:rPr>
              <a:t>NUESTRO POSICIONAMIENTO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1591056"/>
            <a:ext cx="3364992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960" b="0" i="0">
                <a:solidFill>
                  <a:srgbClr val="FFFFFF"/>
                </a:solidFill>
                <a:latin typeface="Calibri"/>
              </a:rPr>
              <a:t>Aplicar la receta madura de PM₂.₅ y la frontera de los gases al territorio chileno completo: </a:t>
            </a:r>
            <a:r>
              <a:rPr sz="960" b="1" i="0">
                <a:solidFill>
                  <a:srgbClr val="FFFFFF"/>
                </a:solidFill>
                <a:latin typeface="Calibri"/>
              </a:rPr>
              <a:t>6 contaminantes, comuna × hora / día, 5 macrozonas</a:t>
            </a:r>
            <a:r>
              <a:rPr sz="960" b="0" i="0">
                <a:solidFill>
                  <a:srgbClr val="FFFFFF"/>
                </a:solidFill>
                <a:latin typeface="Calibri"/>
              </a:rPr>
              <a:t>, con SINCA como única verdad-terreno y validación LOSO por estación.</a:t>
            </a:r>
          </a:p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960" b="0" i="0">
                <a:solidFill>
                  <a:srgbClr val="CDE2FB"/>
                </a:solidFill>
                <a:latin typeface="Calibri"/>
              </a:rPr>
              <a:t>El aporte es la superficie validada y reproducible; la validación epidemiológica queda explícitamente fuera del alcance, según la recomendación docente.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24528"/>
            <a:ext cx="6446520" cy="6675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Wei J. et al. Ground-level gaseous pollutants (NO2, SO2, and CO) in China: daily seamless mapping and spatiotemporal variations. Atmos. Chem. Phys. 23, 1511–1532 (2023). doi:10.5194/acp-23-1511-2023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van Donkelaar A. et al. Monthly global estimates of fine particulate matter and their uncertainty. Environ. Sci. Technol. 55 (2021). doi:10.1021/acs.est.1c05309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Wei J. et al. Ground-level NO2 surveillance from space across China using interpretable spatiotemporally weighted artificial intelligence. Environ. Sci. Technol. 56 (2022). doi:10.1021/acs.est.2c03834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Qué implica para nuestro diseño: decisiones y líneas base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2679192" cy="15910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03504" y="1243584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tellit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" y="1340144"/>
            <a:ext cx="209214" cy="209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261872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Calibri"/>
              </a:rPr>
              <a:t>Predictores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73936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AOD y columnas troposféricas + meteorología + uso de suelo, vías y luces nocturnas: el conjunto que la literatura repite en las cuatro familias.¹ 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115568"/>
            <a:ext cx="2679192" cy="15910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10712" y="1243584"/>
            <a:ext cx="402336" cy="402336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2" y="1340144"/>
            <a:ext cx="209214" cy="2092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04487" y="1261872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66CC"/>
                </a:solidFill>
                <a:latin typeface="Calibri"/>
              </a:rPr>
              <a:t>Validación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773936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CV espacial por estación (LOSO) y reporte por macrozona, porque el desempeño se degrada lejos de la red de monitoreo.³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1115568"/>
            <a:ext cx="2679192" cy="15910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0" y="1243584"/>
            <a:ext cx="402336" cy="402336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ienc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480" y="1340144"/>
            <a:ext cx="209214" cy="2092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11696" y="1261872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7D57"/>
                </a:solidFill>
                <a:latin typeface="Calibri"/>
              </a:rPr>
              <a:t>Motores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1773936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90" b="0" i="0">
                <a:solidFill>
                  <a:srgbClr val="52514E"/>
                </a:solidFill>
                <a:latin typeface="Calibri"/>
              </a:rPr>
              <a:t>GWR², boosting³ y kriging cubren las tres familias estadísticas con mejor evidencia; los comparamos bajo el mismo panel.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89504"/>
            <a:ext cx="8229600" cy="969264"/>
          </a:xfrm>
          <a:prstGeom prst="roundRect">
            <a:avLst>
              <a:gd name="adj" fmla="val 10000"/>
            </a:avLst>
          </a:prstGeom>
          <a:solidFill>
            <a:srgbClr val="17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1752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E200"/>
                </a:solidFill>
                <a:latin typeface="Calibri"/>
              </a:rPr>
              <a:t>LÍNEAS BASE DE DESEMPEÑO QUE FIJA LA LITERATURA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FFFFFF"/>
                </a:solidFill>
                <a:latin typeface="Calibri"/>
              </a:rPr>
              <a:t>PM₂.₅ global con GWR: R² 0.81 en validación cruzada.² </a:t>
            </a:r>
            <a:r>
              <a:rPr sz="930" b="0" i="0">
                <a:solidFill>
                  <a:srgbClr val="FFFFFF"/>
                </a:solidFill>
                <a:latin typeface="Calibri"/>
              </a:rPr>
              <a:t>Gases diarios en China: R² 0.80 a 0.84 en CV y 0.61 a 0.70 fuera de estación.³ </a:t>
            </a:r>
            <a:r>
              <a:rPr sz="930" b="0" i="0">
                <a:solidFill>
                  <a:srgbClr val="CDE2FB"/>
                </a:solidFill>
                <a:latin typeface="Calibri"/>
              </a:rPr>
              <a:t>Esa es la vara realista para evaluar nuestras superficies por contaminante y macrozona.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59936"/>
            <a:ext cx="6446520" cy="832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Hoek G. et al. A review of land-use regression models to assess spatial variation of outdoor air pollution. Atmospheric Environment 42 (2008). doi:10.1016/j.atmosenv.2008.05.057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van Donkelaar A. et al. Global estimates of fine particulate matter using a combined geophysical-statistical method with information from satellites, models, and monitors. Environ. Sci. Technol. 50 (2016). doi:10.1021/acs.est.5b05833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Wei J. et al. Ground-level gaseous pollutants (NO2, SO2, and CO) in China: daily seamless mapping and spatiotemporal variations. Atmos. Chem. Phys. 23, 1511–1532 (2023). doi:10.5194/acp-23-1511-2023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Semana 3: qué hicimos, qué costó y qué viene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5216" y="1243584"/>
            <a:ext cx="384048" cy="384048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ecklis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" y="1335755"/>
            <a:ext cx="199704" cy="199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1F497D"/>
                </a:solidFill>
                <a:latin typeface="Calibri"/>
              </a:rPr>
              <a:t>Objetivos 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810512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Revisar literatura por contaminante y por método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Fijar líneas base de desempeño realistas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Armar el marco para la defensa de tema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78608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06624" y="1243584"/>
            <a:ext cx="384048" cy="384048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ownloa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95" y="1335755"/>
            <a:ext cx="199704" cy="19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63824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3366CC"/>
                </a:solidFill>
                <a:latin typeface="Calibri"/>
              </a:rPr>
              <a:t>Tareas realizadas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1810512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Matriz contaminante × método con referencias verificadas (DOI)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Bibliografía APA del repositorio actualizada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Líneas base: R² 0.8+ en CV; 0.6 a 0.7 fuera de estación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28031" y="1243584"/>
            <a:ext cx="384048" cy="384048"/>
          </a:xfrm>
          <a:prstGeom prst="ellipse">
            <a:avLst/>
          </a:prstGeom>
          <a:solidFill>
            <a:srgbClr val="B24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203" y="1335755"/>
            <a:ext cx="199704" cy="19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85231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B24E1C"/>
                </a:solidFill>
                <a:latin typeface="Calibri"/>
              </a:rPr>
              <a:t>Desafíos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810512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Literatura de SO₂ y CO escasa a nivel global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Métricas no comparables entre estudios (CV muestral vs espacial)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Traducir resoluciones de 1 a 10 km a comunas heterogéneas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21423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49439" y="1243584"/>
            <a:ext cx="384048" cy="384048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1611" y="1335755"/>
            <a:ext cx="199704" cy="1997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06640" y="12252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F7D57"/>
                </a:solidFill>
                <a:latin typeface="Calibri"/>
              </a:rPr>
              <a:t>Próxima semana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7" y="1810512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Defensa de tema (semana 4): presentación formal del problema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Congelar el diseño metodológico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Iniciar los paneles de modelamiento por contaminante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93268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La revisión completa vive
en el repositorio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docs/: bibliografía APA consolidada y trazable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Matriz contaminante × método con cada DOI verificado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Líneas base de desempeño por contaminante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Todo listo para la defensa de tema de la semana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456432"/>
            <a:ext cx="5394960" cy="512064"/>
          </a:xfrm>
          <a:prstGeom prst="roundRect">
            <a:avLst>
              <a:gd name="adj" fmla="val 10000"/>
            </a:avLst>
          </a:prstGeom>
          <a:solidFill>
            <a:srgbClr val="113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584448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3456432"/>
            <a:ext cx="4846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github.com/AmaruSimonAgueroJimenez/Air-Pollution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932688"/>
            <a:ext cx="233172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_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133856"/>
            <a:ext cx="1929384" cy="1929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3127248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17375D"/>
                </a:solidFill>
                <a:latin typeface="Calibri"/>
              </a:rPr>
              <a:t>Escanea para ver la bibliografía, el pipeline y la documentación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DE2FB"/>
                </a:solidFill>
                <a:latin typeface="Calibri"/>
              </a:rPr>
              <a:t>Equipo 2: José J. Romero · Roberto I. Ávila · Amaru S. Agüero · Esteban A. González          ¡Gracias!</a:t>
            </a:r>
          </a:p>
        </p:txBody>
      </p:sp>
    </p:spTree>
    <p:extLst>
      <p:ext uri="{BB962C8B-B14F-4D97-AF65-F5344CB8AC3E}">
        <p14:creationId xmlns:p14="http://schemas.microsoft.com/office/powerpoint/2010/main" val="785384284"/>
      </p:ext>
    </p:extLst>
  </p:cSld>
  <p:clrMapOvr>
    <a:masterClrMapping/>
  </p:clrMapOvr>
</p:sld>
</file>

<file path=ppt/theme/theme1.xml><?xml version="1.0" encoding="utf-8"?>
<a:theme xmlns:a="http://schemas.openxmlformats.org/drawingml/2006/main" name="Plantilla UC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Plantilla UC.potx</Template>
  <TotalTime>280</TotalTime>
  <Words>1</Words>
  <Application>Microsoft Macintosh PowerPoint</Application>
  <PresentationFormat>Presentación en pantalla (16:9)</PresentationFormat>
  <Paragraphs>1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Calibri</vt:lpstr>
      <vt:lpstr>Arial</vt:lpstr>
      <vt:lpstr>Plantilla UC</vt:lpstr>
      <vt:lpstr>Diseño personalizado</vt:lpstr>
      <vt:lpstr>2_Diseño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XX</dc:creator>
  <cp:lastModifiedBy>Usuario de Microsoft Office</cp:lastModifiedBy>
  <cp:revision>33</cp:revision>
  <dcterms:created xsi:type="dcterms:W3CDTF">2013-12-19T15:07:33Z</dcterms:created>
  <dcterms:modified xsi:type="dcterms:W3CDTF">2019-05-23T17:24:28Z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0x0101002A30D13EB03CFA46896655FA61226709</vt:lpwstr>
  </property>
</Properties>
</file>