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slideLayouts/slideLayout10.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rts/chart1.xml" ContentType="application/vnd.openxmlformats-officedocument.drawingml.chart+xml"/>
  <Override PartName="/ppt/notesSlides/notesSlide20.xml" ContentType="application/vnd.openxmlformats-officedocument.presentationml.notesSlide+xml"/>
  <Override PartName="/ppt/charts/chart2.xml" ContentType="application/vnd.openxmlformats-officedocument.drawingml.chart+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7" r:id="rId2"/>
    <p:sldMasterId id="2147483659" r:id="rId3"/>
  </p:sldMasterIdLst>
  <p:notesMasterIdLst>
    <p:notesMasterId r:id="rId40"/>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Lst>
  <p:sldSz cx="9144000" cy="5143500" type="screen16x9"/>
  <p:notesSz cx="6858000" cy="9144000"/>
  <p:defaultText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58"/>
  </p:normalViewPr>
  <p:slideViewPr>
    <p:cSldViewPr snapToGrid="0" snapToObjects="1">
      <p:cViewPr varScale="1">
        <p:scale>
          <a:sx n="160" d="100"/>
          <a:sy n="160" d="100"/>
        </p:scale>
        <p:origin x="784"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viewProps" Target="viewProps.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notesMaster" Target="notesMasters/notesMaster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tableStyles" Target="tableStyle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theme" Target="theme/theme1.xml"/><Relationship Id="rId8" Type="http://schemas.openxmlformats.org/officeDocument/2006/relationships/slide" Target="slides/slide5.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s-MX"/>
  <c:roundedCorners val="1"/>
  <c:style val="2"/>
  <c:chart>
    <c:autoTitleDeleted val="1"/>
    <c:plotArea>
      <c:layout/>
      <c:barChart>
        <c:barDir val="bar"/>
        <c:grouping val="clustered"/>
        <c:varyColors val="0"/>
        <c:ser>
          <c:idx val="0"/>
          <c:order val="0"/>
          <c:tx>
            <c:v>Series por contaminante</c:v>
          </c:tx>
          <c:spPr>
            <a:solidFill>
              <a:srgbClr val="017EDF"/>
            </a:solidFill>
          </c:spPr>
          <c:invertIfNegative val="1"/>
          <c:dLbls>
            <c:spPr>
              <a:noFill/>
              <a:ln>
                <a:noFill/>
              </a:ln>
              <a:effectLst/>
            </c:spPr>
            <c:txPr>
              <a:bodyPr anchorCtr="1"/>
              <a:lstStyle/>
              <a:p>
                <a:pPr>
                  <a:defRPr sz="1275" b="1">
                    <a:solidFill>
                      <a:srgbClr val="17375D"/>
                    </a:solidFill>
                    <a:latin typeface="Calibri"/>
                    <a:ea typeface="Calibri"/>
                    <a:cs typeface="Calibri"/>
                  </a:defRPr>
                </a:pPr>
                <a:endParaRPr lang="es-CL"/>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6"/>
              <c:pt idx="0">
                <c:v>CO</c:v>
              </c:pt>
              <c:pt idx="1">
                <c:v>O₃</c:v>
              </c:pt>
              <c:pt idx="2">
                <c:v>NO₂</c:v>
              </c:pt>
              <c:pt idx="3">
                <c:v>SO₂</c:v>
              </c:pt>
              <c:pt idx="4">
                <c:v>PM₁₀</c:v>
              </c:pt>
              <c:pt idx="5">
                <c:v>PM₂.₅</c:v>
              </c:pt>
            </c:strLit>
          </c:cat>
          <c:val>
            <c:numLit>
              <c:formatCode>0.##</c:formatCode>
              <c:ptCount val="6"/>
              <c:pt idx="0">
                <c:v>46</c:v>
              </c:pt>
              <c:pt idx="1">
                <c:v>50</c:v>
              </c:pt>
              <c:pt idx="2">
                <c:v>54</c:v>
              </c:pt>
              <c:pt idx="3">
                <c:v>59</c:v>
              </c:pt>
              <c:pt idx="4">
                <c:v>87</c:v>
              </c:pt>
              <c:pt idx="5">
                <c:v>107</c:v>
              </c:pt>
            </c:numLit>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C34B-4948-9704-6920562F88E7}"/>
            </c:ext>
          </c:extLst>
        </c:ser>
        <c:dLbls>
          <c:dLblPos val="outEnd"/>
          <c:showLegendKey val="0"/>
          <c:showVal val="1"/>
          <c:showCatName val="0"/>
          <c:showSerName val="0"/>
          <c:showPercent val="0"/>
          <c:showBubbleSize val="0"/>
        </c:dLbls>
        <c:gapWidth val="50"/>
        <c:axId val="48650112"/>
        <c:axId val="48672768"/>
      </c:barChart>
      <c:catAx>
        <c:axId val="48650112"/>
        <c:scaling>
          <c:orientation val="minMax"/>
        </c:scaling>
        <c:delete val="0"/>
        <c:axPos val="l"/>
        <c:numFmt formatCode="General" sourceLinked="1"/>
        <c:majorTickMark val="none"/>
        <c:minorTickMark val="none"/>
        <c:tickLblPos val="nextTo"/>
        <c:spPr>
          <a:ln w="0">
            <a:noFill/>
          </a:ln>
        </c:spPr>
        <c:txPr>
          <a:bodyPr anchorCtr="1"/>
          <a:lstStyle/>
          <a:p>
            <a:pPr>
              <a:defRPr sz="1275">
                <a:solidFill>
                  <a:srgbClr val="1E293B"/>
                </a:solidFill>
                <a:latin typeface="Calibri"/>
                <a:ea typeface="Calibri"/>
                <a:cs typeface="Calibri"/>
              </a:defRPr>
            </a:pPr>
            <a:endParaRPr lang="es-CL"/>
          </a:p>
        </c:txPr>
        <c:crossAx val="48672768"/>
        <c:crosses val="autoZero"/>
        <c:auto val="1"/>
        <c:lblAlgn val="ctr"/>
        <c:lblOffset val="100"/>
        <c:noMultiLvlLbl val="1"/>
      </c:catAx>
      <c:valAx>
        <c:axId val="48672768"/>
        <c:scaling>
          <c:orientation val="minMax"/>
          <c:max val="120"/>
          <c:min val="0"/>
        </c:scaling>
        <c:delete val="0"/>
        <c:axPos val="b"/>
        <c:majorGridlines>
          <c:spPr>
            <a:ln w="6668">
              <a:solidFill>
                <a:srgbClr val="D6DFEB"/>
              </a:solidFill>
            </a:ln>
          </c:spPr>
        </c:majorGridlines>
        <c:title>
          <c:tx>
            <c:rich>
              <a:bodyPr/>
              <a:lstStyle/>
              <a:p>
                <a:r>
                  <a:rPr lang="es-CL" sz="1050">
                    <a:solidFill>
                      <a:srgbClr val="526277"/>
                    </a:solidFill>
                    <a:latin typeface="Calibri"/>
                    <a:ea typeface="Calibri"/>
                    <a:cs typeface="Calibri"/>
                  </a:rPr>
                  <a:t>Series estación–contaminante</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975">
                <a:solidFill>
                  <a:srgbClr val="526277"/>
                </a:solidFill>
                <a:latin typeface="Calibri"/>
                <a:ea typeface="Calibri"/>
                <a:cs typeface="Calibri"/>
              </a:defRPr>
            </a:pPr>
            <a:endParaRPr lang="es-CL"/>
          </a:p>
        </c:txPr>
        <c:crossAx val="48650112"/>
        <c:crosses val="autoZero"/>
        <c:crossBetween val="between"/>
        <c:majorUnit val="20"/>
      </c:valAx>
      <c:spPr>
        <a:noFill/>
        <a:ln w="0">
          <a:noFill/>
        </a:ln>
      </c:spPr>
    </c:plotArea>
    <c:plotVisOnly val="1"/>
    <c:dispBlanksAs val="zero"/>
    <c:showDLblsOverMax val="1"/>
  </c:chart>
  <c:spPr>
    <a:noFill/>
    <a:ln w="0">
      <a:noFill/>
    </a:ln>
  </c:spPr>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s-MX"/>
  <c:roundedCorners val="1"/>
  <c:style val="2"/>
  <c:chart>
    <c:autoTitleDeleted val="1"/>
    <c:plotArea>
      <c:layout/>
      <c:barChart>
        <c:barDir val="bar"/>
        <c:grouping val="clustered"/>
        <c:varyColors val="0"/>
        <c:ser>
          <c:idx val="0"/>
          <c:order val="0"/>
          <c:tx>
            <c:v>Filas por estado (millones)</c:v>
          </c:tx>
          <c:spPr>
            <a:solidFill>
              <a:srgbClr val="017EDF"/>
            </a:solidFill>
          </c:spPr>
          <c:invertIfNegative val="1"/>
          <c:dPt>
            <c:idx val="0"/>
            <c:invertIfNegative val="0"/>
            <c:bubble3D val="0"/>
            <c:spPr>
              <a:solidFill>
                <a:srgbClr val="8999AD"/>
              </a:solidFill>
            </c:spPr>
            <c:extLst>
              <c:ext xmlns:c16="http://schemas.microsoft.com/office/drawing/2014/chart" uri="{C3380CC4-5D6E-409C-BE32-E72D297353CC}">
                <c16:uniqueId val="{00000001-4F23-064C-8690-C555E82153DB}"/>
              </c:ext>
            </c:extLst>
          </c:dPt>
          <c:dPt>
            <c:idx val="1"/>
            <c:invertIfNegative val="0"/>
            <c:bubble3D val="0"/>
            <c:spPr>
              <a:solidFill>
                <a:srgbClr val="88B9EE"/>
              </a:solidFill>
            </c:spPr>
            <c:extLst>
              <c:ext xmlns:c16="http://schemas.microsoft.com/office/drawing/2014/chart" uri="{C3380CC4-5D6E-409C-BE32-E72D297353CC}">
                <c16:uniqueId val="{00000003-4F23-064C-8690-C555E82153DB}"/>
              </c:ext>
            </c:extLst>
          </c:dPt>
          <c:dPt>
            <c:idx val="2"/>
            <c:invertIfNegative val="0"/>
            <c:bubble3D val="0"/>
            <c:spPr>
              <a:solidFill>
                <a:srgbClr val="A7CBF2"/>
              </a:solidFill>
            </c:spPr>
            <c:extLst>
              <c:ext xmlns:c16="http://schemas.microsoft.com/office/drawing/2014/chart" uri="{C3380CC4-5D6E-409C-BE32-E72D297353CC}">
                <c16:uniqueId val="{00000005-4F23-064C-8690-C555E82153DB}"/>
              </c:ext>
            </c:extLst>
          </c:dPt>
          <c:dPt>
            <c:idx val="3"/>
            <c:invertIfNegative val="0"/>
            <c:bubble3D val="0"/>
            <c:spPr>
              <a:solidFill>
                <a:srgbClr val="017EDF"/>
              </a:solidFill>
            </c:spPr>
            <c:extLst>
              <c:ext xmlns:c16="http://schemas.microsoft.com/office/drawing/2014/chart" uri="{C3380CC4-5D6E-409C-BE32-E72D297353CC}">
                <c16:uniqueId val="{00000007-4F23-064C-8690-C555E82153DB}"/>
              </c:ext>
            </c:extLst>
          </c:dPt>
          <c:dLbls>
            <c:dLbl>
              <c:idx val="0"/>
              <c:tx>
                <c:rich>
                  <a:bodyPr/>
                  <a:lstStyle/>
                  <a:p>
                    <a:r>
                      <a:rPr lang="en-US" sz="1200">
                        <a:latin typeface="Calibri"/>
                        <a:ea typeface="Calibri"/>
                        <a:cs typeface="Calibri"/>
                      </a:rPr>
                      <a:t>51,60 M · 54,72%</a:t>
                    </a:r>
                  </a:p>
                </c:rich>
              </c:tx>
              <c:spPr/>
              <c:dLblPos val="out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4F23-064C-8690-C555E82153DB}"/>
                </c:ext>
              </c:extLst>
            </c:dLbl>
            <c:dLbl>
              <c:idx val="1"/>
              <c:tx>
                <c:rich>
                  <a:bodyPr/>
                  <a:lstStyle/>
                  <a:p>
                    <a:r>
                      <a:rPr lang="en-US" sz="1200">
                        <a:latin typeface="Calibri"/>
                        <a:ea typeface="Calibri"/>
                        <a:cs typeface="Calibri"/>
                      </a:rPr>
                      <a:t>14,86 M · 15,75%</a:t>
                    </a:r>
                  </a:p>
                </c:rich>
              </c:tx>
              <c:spPr/>
              <c:dLblPos val="out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4F23-064C-8690-C555E82153DB}"/>
                </c:ext>
              </c:extLst>
            </c:dLbl>
            <c:dLbl>
              <c:idx val="2"/>
              <c:tx>
                <c:rich>
                  <a:bodyPr/>
                  <a:lstStyle/>
                  <a:p>
                    <a:r>
                      <a:rPr lang="en-US" sz="1200">
                        <a:latin typeface="Calibri"/>
                        <a:ea typeface="Calibri"/>
                        <a:cs typeface="Calibri"/>
                      </a:rPr>
                      <a:t>8,12 M · 8,61%</a:t>
                    </a:r>
                  </a:p>
                </c:rich>
              </c:tx>
              <c:spPr/>
              <c:dLblPos val="out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5-4F23-064C-8690-C555E82153DB}"/>
                </c:ext>
              </c:extLst>
            </c:dLbl>
            <c:dLbl>
              <c:idx val="3"/>
              <c:tx>
                <c:rich>
                  <a:bodyPr/>
                  <a:lstStyle/>
                  <a:p>
                    <a:r>
                      <a:rPr lang="en-US" sz="1200">
                        <a:latin typeface="Calibri"/>
                        <a:ea typeface="Calibri"/>
                        <a:cs typeface="Calibri"/>
                      </a:rPr>
                      <a:t>19,74 M · 20,93%</a:t>
                    </a:r>
                  </a:p>
                </c:rich>
              </c:tx>
              <c:spPr/>
              <c:dLblPos val="out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7-4F23-064C-8690-C555E82153DB}"/>
                </c:ext>
              </c:extLst>
            </c:dLbl>
            <c:spPr>
              <a:noFill/>
              <a:ln>
                <a:noFill/>
              </a:ln>
              <a:effectLst/>
            </c:spPr>
            <c:showLegendKey val="1"/>
            <c:showVal val="1"/>
            <c:showCatName val="1"/>
            <c:showSerName val="1"/>
            <c:showPercent val="1"/>
            <c:showBubbleSize val="1"/>
            <c:showLeaderLines val="0"/>
            <c:extLst>
              <c:ext xmlns:c15="http://schemas.microsoft.com/office/drawing/2012/chart" uri="{CE6537A1-D6FC-4f65-9D91-7224C49458BB}">
                <c15:showLeaderLines val="0"/>
              </c:ext>
            </c:extLst>
          </c:dLbls>
          <c:cat>
            <c:strLit>
              <c:ptCount val="4"/>
              <c:pt idx="0">
                <c:v>Faltantes explícitos</c:v>
              </c:pt>
              <c:pt idx="1">
                <c:v>No validadas</c:v>
              </c:pt>
              <c:pt idx="2">
                <c:v>Preliminares</c:v>
              </c:pt>
              <c:pt idx="3">
                <c:v>Validadas</c:v>
              </c:pt>
            </c:strLit>
          </c:cat>
          <c:val>
            <c:numLit>
              <c:formatCode>0.##</c:formatCode>
              <c:ptCount val="4"/>
              <c:pt idx="0">
                <c:v>51.603524999999998</c:v>
              </c:pt>
              <c:pt idx="1">
                <c:v>14.857376</c:v>
              </c:pt>
              <c:pt idx="2">
                <c:v>8.1159210000000002</c:v>
              </c:pt>
              <c:pt idx="3">
                <c:v>19.735047000000002</c:v>
              </c:pt>
            </c:numLit>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8-4F23-064C-8690-C555E82153DB}"/>
            </c:ext>
          </c:extLst>
        </c:ser>
        <c:dLbls>
          <c:dLblPos val="outEnd"/>
          <c:showLegendKey val="0"/>
          <c:showVal val="1"/>
          <c:showCatName val="0"/>
          <c:showSerName val="0"/>
          <c:showPercent val="0"/>
          <c:showBubbleSize val="0"/>
        </c:dLbls>
        <c:gapWidth val="50"/>
        <c:axId val="48650112"/>
        <c:axId val="48672768"/>
      </c:barChart>
      <c:catAx>
        <c:axId val="48650112"/>
        <c:scaling>
          <c:orientation val="minMax"/>
        </c:scaling>
        <c:delete val="0"/>
        <c:axPos val="l"/>
        <c:numFmt formatCode="General" sourceLinked="1"/>
        <c:majorTickMark val="none"/>
        <c:minorTickMark val="none"/>
        <c:tickLblPos val="nextTo"/>
        <c:spPr>
          <a:ln w="0">
            <a:noFill/>
          </a:ln>
        </c:spPr>
        <c:txPr>
          <a:bodyPr anchorCtr="1"/>
          <a:lstStyle/>
          <a:p>
            <a:pPr>
              <a:defRPr sz="1275">
                <a:solidFill>
                  <a:srgbClr val="1E293B"/>
                </a:solidFill>
                <a:latin typeface="Calibri"/>
                <a:ea typeface="Calibri"/>
                <a:cs typeface="Calibri"/>
              </a:defRPr>
            </a:pPr>
            <a:endParaRPr lang="es-CL"/>
          </a:p>
        </c:txPr>
        <c:crossAx val="48672768"/>
        <c:crosses val="autoZero"/>
        <c:auto val="1"/>
        <c:lblAlgn val="ctr"/>
        <c:lblOffset val="100"/>
        <c:noMultiLvlLbl val="1"/>
      </c:catAx>
      <c:valAx>
        <c:axId val="48672768"/>
        <c:scaling>
          <c:orientation val="minMax"/>
          <c:max val="60"/>
          <c:min val="0"/>
        </c:scaling>
        <c:delete val="0"/>
        <c:axPos val="b"/>
        <c:majorGridlines>
          <c:spPr>
            <a:ln w="6668">
              <a:solidFill>
                <a:srgbClr val="D6DFEB"/>
              </a:solidFill>
            </a:ln>
          </c:spPr>
        </c:majorGridlines>
        <c:title>
          <c:tx>
            <c:rich>
              <a:bodyPr/>
              <a:lstStyle/>
              <a:p>
                <a:r>
                  <a:rPr lang="es-CL" sz="1050">
                    <a:solidFill>
                      <a:srgbClr val="526277"/>
                    </a:solidFill>
                    <a:latin typeface="Calibri"/>
                    <a:ea typeface="Calibri"/>
                    <a:cs typeface="Calibri"/>
                  </a:rPr>
                  <a:t>Millones de filas seleccionadas</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975">
                <a:solidFill>
                  <a:srgbClr val="526277"/>
                </a:solidFill>
                <a:latin typeface="Calibri"/>
                <a:ea typeface="Calibri"/>
                <a:cs typeface="Calibri"/>
              </a:defRPr>
            </a:pPr>
            <a:endParaRPr lang="es-CL"/>
          </a:p>
        </c:txPr>
        <c:crossAx val="48650112"/>
        <c:crosses val="autoZero"/>
        <c:crossBetween val="between"/>
        <c:majorUnit val="10"/>
      </c:valAx>
      <c:spPr>
        <a:noFill/>
        <a:ln w="0">
          <a:noFill/>
        </a:ln>
      </c:spPr>
    </c:plotArea>
    <c:plotVisOnly val="1"/>
    <c:dispBlanksAs val="zero"/>
    <c:showDLblsOverMax val="1"/>
  </c:chart>
  <c:spPr>
    <a:noFill/>
    <a:ln w="0">
      <a:noFill/>
    </a:ln>
  </c:spPr>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spcAft>
                <a:spcPts val="500"/>
              </a:spcAft>
              <a:buNone/>
            </a:pPr>
            <a:r>
              <a:rPr sz="1100" b="0">
                <a:solidFill>
                  <a:srgbClr val="000000"/>
                </a:solidFill>
                <a:latin typeface="Calibri"/>
                <a:ea typeface="Calibri"/>
                <a:cs typeface="Calibri"/>
              </a:rPr>
              <a:t>Diapositiva 1 | Guion principal</a:t>
            </a:r>
          </a:p>
          <a:p>
            <a:pPr algn="l">
              <a:spcAft>
                <a:spcPts val="500"/>
              </a:spcAft>
              <a:buNone/>
            </a:pPr>
            <a:r>
              <a:t/>
            </a:r>
            <a:endParaRPr sz="1100" b="0">
              <a:solidFill>
                <a:srgbClr val="000000"/>
              </a:solidFill>
              <a:latin typeface="Calibri"/>
              <a:ea typeface="Calibri"/>
              <a:cs typeface="Calibri"/>
            </a:endParaRPr>
          </a:p>
          <a:p>
            <a:pPr algn="l">
              <a:spcAft>
                <a:spcPts val="500"/>
              </a:spcAft>
              <a:buNone/>
            </a:pPr>
            <a:r>
              <a:rPr sz="1100" b="0">
                <a:solidFill>
                  <a:srgbClr val="000000"/>
                </a:solidFill>
                <a:latin typeface="Calibri"/>
                <a:ea typeface="Calibri"/>
                <a:cs typeface="Calibri"/>
              </a:rPr>
              <a:t>GUION PARA LEER</a:t>
            </a:r>
          </a:p>
          <a:p>
            <a:pPr algn="l">
              <a:spcAft>
                <a:spcPts val="500"/>
              </a:spcAft>
              <a:buNone/>
            </a:pPr>
            <a:r>
              <a:rPr sz="1100" b="0">
                <a:solidFill>
                  <a:srgbClr val="000000"/>
                </a:solidFill>
                <a:latin typeface="Calibri"/>
                <a:ea typeface="Calibri"/>
                <a:cs typeface="Calibri"/>
              </a:rPr>
              <a:t/>
            </a:r>
          </a:p>
          <a:p>
            <a:pPr algn="l">
              <a:spcAft>
                <a:spcPts val="500"/>
              </a:spcAft>
              <a:buNone/>
            </a:pPr>
            <a:r>
              <a:t>El proyecto busca reconstruir la calidad del aire en Chile. Consideramos PM dos coma cinco, material particulado fino de hasta dos coma cinco micrómetros de diámetro, dióxido de nitrógeno y los otros contaminantes. Presentamos la metodología propuesta y la caracterización de sus datos.</a:t>
            </a:r>
            <a:endParaRPr sz="1100" b="0">
              <a:solidFill>
                <a:srgbClr val="000000"/>
              </a:solidFill>
              <a:latin typeface="Calibri"/>
              <a:ea typeface="Calibri"/>
              <a:cs typeface="Calibri"/>
            </a:endParaRPr>
          </a:p>
          <a:p>
            <a:pPr algn="l">
              <a:spcAft>
                <a:spcPts val="500"/>
              </a:spcAft>
              <a:buNone/>
            </a:pPr>
            <a:r>
              <a:rPr sz="1100" b="0">
                <a:solidFill>
                  <a:srgbClr val="000000"/>
                </a:solidFill>
                <a:latin typeface="Calibri"/>
                <a:ea typeface="Calibri"/>
                <a:cs typeface="Calibri"/>
              </a:rPr>
              <a:t/>
            </a:r>
          </a:p>
          <a:p>
            <a:pPr algn="l">
              <a:spcAft>
                <a:spcPts val="500"/>
              </a:spcAft>
              <a:buNone/>
            </a:pPr>
            <a:r>
              <a:rPr sz="1100" b="0">
                <a:solidFill>
                  <a:srgbClr val="000000"/>
                </a:solidFill>
                <a:latin typeface="Calibri"/>
                <a:ea typeface="Calibri"/>
                <a:cs typeface="Calibri"/>
              </a:rPr>
              <a:t>APOYO PARA PREGUNTAS (NO LEER EN LA EXPOSICIÓN)</a:t>
            </a:r>
          </a:p>
          <a:p>
            <a:pPr algn="l">
              <a:spcAft>
                <a:spcPts val="500"/>
              </a:spcAft>
              <a:buNone/>
            </a:pPr>
            <a:r>
              <a:rPr sz="1100" b="0">
                <a:solidFill>
                  <a:srgbClr val="000000"/>
                </a:solidFill>
                <a:latin typeface="Calibri"/>
                <a:ea typeface="Calibri"/>
                <a:cs typeface="Calibri"/>
              </a:rPr>
              <a:t/>
            </a:r>
          </a:p>
          <a:p>
            <a:pPr algn="l">
              <a:spcAft>
                <a:spcPts val="500"/>
              </a:spcAft>
              <a:buNone/>
            </a:pPr>
            <a:r>
              <a:rPr sz="1100" b="0">
                <a:solidFill>
                  <a:srgbClr val="000000"/>
                </a:solidFill>
                <a:latin typeface="Calibri"/>
                <a:ea typeface="Calibri"/>
                <a:cs typeface="Calibri"/>
              </a:rPr>
              <a:t>Lectura: PM₂.₅ se pronuncia «pe eme dos coma cinco». PM significa material particulado; el subíndice representa el diámetro aerodinámico de corte en micrómetros. Se conservan los nombres completos de los gases en el relato. El guion presenta resultados descriptivos de entradas; no resultados de modelos ajustados por el equipo.</a:t>
            </a:r>
          </a:p>
          <a:p>
            <a:pPr algn="l">
              <a:spcAft>
                <a:spcPts val="500"/>
              </a:spcAft>
              <a:buNone/>
            </a:pPr>
            <a:r>
              <a:rPr sz="1100" b="0">
                <a:solidFill>
                  <a:srgbClr val="000000"/>
                </a:solidFill>
                <a:latin typeface="Calibri"/>
                <a:ea typeface="Calibri"/>
                <a:cs typeface="Calibri"/>
              </a:rPr>
              <a:t/>
            </a:r>
          </a:p>
          <a:p>
            <a:pPr algn="l">
              <a:spcAft>
                <a:spcPts val="500"/>
              </a:spcAft>
              <a:buNone/>
            </a:pPr>
            <a:r>
              <a:rPr sz="1100" b="0">
                <a:solidFill>
                  <a:srgbClr val="000000"/>
                </a:solidFill>
                <a:latin typeface="Calibri"/>
                <a:ea typeface="Calibri"/>
                <a:cs typeface="Calibri"/>
              </a:rPr>
              <a:t>FUENTES Y PRECISIONES (NO LEER EN LA EXPOSICIÓN)</a:t>
            </a:r>
          </a:p>
          <a:p>
            <a:pPr algn="l">
              <a:spcAft>
                <a:spcPts val="500"/>
              </a:spcAft>
              <a:buNone/>
            </a:pPr>
            <a:r>
              <a:rPr sz="1100" b="0">
                <a:solidFill>
                  <a:srgbClr val="000000"/>
                </a:solidFill>
                <a:latin typeface="Calibri"/>
                <a:ea typeface="Calibri"/>
                <a:cs typeface="Calibri"/>
              </a:rPr>
              <a:t/>
            </a:r>
          </a:p>
          <a:p>
            <a:pPr algn="l">
              <a:spcAft>
                <a:spcPts val="500"/>
              </a:spcAft>
              <a:buNone/>
            </a:pPr>
            <a:r>
              <a:rPr sz="1100" b="0">
                <a:solidFill>
                  <a:srgbClr val="000000"/>
                </a:solidFill>
                <a:latin typeface="Calibri"/>
                <a:ea typeface="Calibri"/>
                <a:cs typeface="Calibri"/>
              </a:rPr>
              <a:t>Informe del problema y PPT avance 3, portada. Alcance de esta presentación: resultados descriptivos del inventario auditado.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spcAft>
                <a:spcPts val="500"/>
              </a:spcAft>
              <a:buNone/>
            </a:pPr>
            <a:r>
              <a:rPr sz="1100" b="0">
                <a:solidFill>
                  <a:srgbClr val="000000"/>
                </a:solidFill>
                <a:latin typeface="Calibri"/>
                <a:ea typeface="Calibri"/>
                <a:cs typeface="Calibri"/>
              </a:rPr>
              <a:t>Diapositiva 2 | Guion principal</a:t>
            </a:r>
          </a:p>
          <a:p>
            <a:pPr algn="l">
              <a:spcAft>
                <a:spcPts val="500"/>
              </a:spcAft>
              <a:buNone/>
            </a:pPr>
            <a:r>
              <a:t/>
            </a:r>
            <a:endParaRPr sz="1100" b="0">
              <a:solidFill>
                <a:srgbClr val="000000"/>
              </a:solidFill>
              <a:latin typeface="Calibri"/>
              <a:ea typeface="Calibri"/>
              <a:cs typeface="Calibri"/>
            </a:endParaRPr>
          </a:p>
          <a:p>
            <a:pPr algn="l">
              <a:spcAft>
                <a:spcPts val="500"/>
              </a:spcAft>
              <a:buNone/>
            </a:pPr>
            <a:r>
              <a:rPr sz="1100" b="0">
                <a:solidFill>
                  <a:srgbClr val="000000"/>
                </a:solidFill>
                <a:latin typeface="Calibri"/>
                <a:ea typeface="Calibri"/>
                <a:cs typeface="Calibri"/>
              </a:rPr>
              <a:t>GUION PARA LEER</a:t>
            </a:r>
          </a:p>
          <a:p>
            <a:pPr algn="l">
              <a:spcAft>
                <a:spcPts val="500"/>
              </a:spcAft>
              <a:buNone/>
            </a:pPr>
            <a:r>
              <a:rPr sz="1100" b="0">
                <a:solidFill>
                  <a:srgbClr val="000000"/>
                </a:solidFill>
                <a:latin typeface="Calibri"/>
                <a:ea typeface="Calibri"/>
                <a:cs typeface="Calibri"/>
              </a:rPr>
              <a:t/>
            </a:r>
          </a:p>
          <a:p>
            <a:pPr algn="l">
              <a:spcAft>
                <a:spcPts val="500"/>
              </a:spcAft>
              <a:buNone/>
            </a:pPr>
            <a:r>
              <a:t>Incluimos cuatro gases: dióxido de nitrógeno, ozono, dióxido de azufre y monóxido de carbono; y dos fracciones de partículas. PM diez incluye partículas de hasta diez micrómetros, también las finas. SINCA es el Sistema de Información Nacional de Calidad del Aire. Sus estaciones miden en puntos específicos. El mapa muestra esa distribución. Buscamos reconstruir concentraciones en territorios poco monitoreados, explicando su incertidumbre.</a:t>
            </a:r>
            <a:endParaRPr sz="1100" b="0">
              <a:solidFill>
                <a:srgbClr val="000000"/>
              </a:solidFill>
              <a:latin typeface="Calibri"/>
              <a:ea typeface="Calibri"/>
              <a:cs typeface="Calibri"/>
            </a:endParaRPr>
          </a:p>
          <a:p>
            <a:pPr algn="l">
              <a:spcAft>
                <a:spcPts val="500"/>
              </a:spcAft>
              <a:buNone/>
            </a:pPr>
            <a:r>
              <a:rPr sz="1100" b="0">
                <a:solidFill>
                  <a:srgbClr val="000000"/>
                </a:solidFill>
                <a:latin typeface="Calibri"/>
                <a:ea typeface="Calibri"/>
                <a:cs typeface="Calibri"/>
              </a:rPr>
              <a:t/>
            </a:r>
          </a:p>
          <a:p>
            <a:pPr algn="l">
              <a:spcAft>
                <a:spcPts val="500"/>
              </a:spcAft>
              <a:buNone/>
            </a:pPr>
            <a:r>
              <a:rPr sz="1100" b="0">
                <a:solidFill>
                  <a:srgbClr val="000000"/>
                </a:solidFill>
                <a:latin typeface="Calibri"/>
                <a:ea typeface="Calibri"/>
                <a:cs typeface="Calibri"/>
              </a:rPr>
              <a:t>APOYO PARA PREGUNTAS (NO LEER EN LA EXPOSICIÓN)</a:t>
            </a:r>
          </a:p>
          <a:p>
            <a:pPr algn="l">
              <a:spcAft>
                <a:spcPts val="500"/>
              </a:spcAft>
              <a:buNone/>
            </a:pPr>
            <a:r>
              <a:rPr sz="1100" b="0">
                <a:solidFill>
                  <a:srgbClr val="000000"/>
                </a:solidFill>
                <a:latin typeface="Calibri"/>
                <a:ea typeface="Calibri"/>
                <a:cs typeface="Calibri"/>
              </a:rPr>
              <a:t/>
            </a:r>
          </a:p>
          <a:p>
            <a:pPr algn="l">
              <a:spcAft>
                <a:spcPts val="500"/>
              </a:spcAft>
              <a:buNone/>
            </a:pPr>
            <a:r>
              <a:rPr sz="1100" b="0">
                <a:solidFill>
                  <a:srgbClr val="000000"/>
                </a:solidFill>
                <a:latin typeface="Calibri"/>
                <a:ea typeface="Calibri"/>
                <a:cs typeface="Calibri"/>
              </a:rPr>
              <a:t>Correspondencia con símbolos en tablas y figuras: PM₁₀ = material particulado de hasta 10 micrómetros; NO₂ = dióxido de nitrógeno; O₃ = ozono; SO₂ = dióxido de azufre; CO = monóxido de carbono. PM₂.₅ está incluido en PM₁₀; no son fracciones excluyentes. Las partículas no son gases. EPA: https://www.epa.gov/pm-pollution/particulate-matter-pm-basics. SINCA: https://sinca.mma.gob.cl/. El mapa geográfico y el inventario histórico tienen denominadores diferentes, detallados abajo.</a:t>
            </a:r>
          </a:p>
          <a:p>
            <a:pPr algn="l">
              <a:spcAft>
                <a:spcPts val="500"/>
              </a:spcAft>
              <a:buNone/>
            </a:pPr>
            <a:r>
              <a:rPr sz="1100" b="0">
                <a:solidFill>
                  <a:srgbClr val="000000"/>
                </a:solidFill>
                <a:latin typeface="Calibri"/>
                <a:ea typeface="Calibri"/>
                <a:cs typeface="Calibri"/>
              </a:rPr>
              <a:t/>
            </a:r>
          </a:p>
          <a:p>
            <a:pPr algn="l">
              <a:spcAft>
                <a:spcPts val="500"/>
              </a:spcAft>
              <a:buNone/>
            </a:pPr>
            <a:r>
              <a:rPr sz="1100" b="0">
                <a:solidFill>
                  <a:srgbClr val="000000"/>
                </a:solidFill>
                <a:latin typeface="Calibri"/>
                <a:ea typeface="Calibri"/>
                <a:cs typeface="Calibri"/>
              </a:rPr>
              <a:t>FUENTES Y PRECISIONES (NO LEER EN LA EXPOSICIÓN)</a:t>
            </a:r>
          </a:p>
          <a:p>
            <a:pPr algn="l">
              <a:spcAft>
                <a:spcPts val="500"/>
              </a:spcAft>
              <a:buNone/>
            </a:pPr>
            <a:r>
              <a:rPr sz="1100" b="0">
                <a:solidFill>
                  <a:srgbClr val="000000"/>
                </a:solidFill>
                <a:latin typeface="Calibri"/>
                <a:ea typeface="Calibri"/>
                <a:cs typeface="Calibri"/>
              </a:rPr>
              <a:t/>
            </a:r>
          </a:p>
          <a:p>
            <a:pPr algn="l">
              <a:spcAft>
                <a:spcPts val="500"/>
              </a:spcAft>
              <a:buNone/>
            </a:pPr>
            <a:r>
              <a:rPr sz="1100" b="0">
                <a:solidFill>
                  <a:srgbClr val="000000"/>
                </a:solidFill>
                <a:latin typeface="Calibri"/>
                <a:ea typeface="Calibri"/>
                <a:cs typeface="Calibri"/>
              </a:rPr>
              <a:t>/Users/amaruagueroj/Library/CloudStorage/GoogleDrive-amaruaguero2004@gmail.com/Mi unidad/Asesorias/Air-Pollution/docs/modelo_1km_horario.qmd; HTML, grilla_macrozonas.png. El catálogo tiene 109 estaciones con celda y el inventario histórico 107. La utilidad propuesta no equivale a una evaluación sanitaria causal.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spcAft>
                <a:spcPts val="500"/>
              </a:spcAft>
              <a:buNone/>
            </a:pPr>
            <a:r>
              <a:rPr sz="1100" b="0">
                <a:solidFill>
                  <a:srgbClr val="000000"/>
                </a:solidFill>
                <a:latin typeface="Calibri"/>
                <a:ea typeface="Calibri"/>
                <a:cs typeface="Calibri"/>
              </a:rPr>
              <a:t>Diapositiva 3 | Guion principal</a:t>
            </a:r>
          </a:p>
          <a:p>
            <a:pPr algn="l">
              <a:spcAft>
                <a:spcPts val="500"/>
              </a:spcAft>
              <a:buNone/>
            </a:pPr>
            <a:r>
              <a:t/>
            </a:r>
            <a:endParaRPr sz="1100" b="0">
              <a:solidFill>
                <a:srgbClr val="000000"/>
              </a:solidFill>
              <a:latin typeface="Calibri"/>
              <a:ea typeface="Calibri"/>
              <a:cs typeface="Calibri"/>
            </a:endParaRPr>
          </a:p>
          <a:p>
            <a:pPr algn="l">
              <a:spcAft>
                <a:spcPts val="500"/>
              </a:spcAft>
              <a:buNone/>
            </a:pPr>
            <a:r>
              <a:rPr sz="1100" b="0">
                <a:solidFill>
                  <a:srgbClr val="000000"/>
                </a:solidFill>
                <a:latin typeface="Calibri"/>
                <a:ea typeface="Calibri"/>
                <a:cs typeface="Calibri"/>
              </a:rPr>
              <a:t>GUION PARA LEER</a:t>
            </a:r>
          </a:p>
          <a:p>
            <a:pPr algn="l">
              <a:spcAft>
                <a:spcPts val="500"/>
              </a:spcAft>
              <a:buNone/>
            </a:pPr>
            <a:r>
              <a:rPr sz="1100" b="0">
                <a:solidFill>
                  <a:srgbClr val="000000"/>
                </a:solidFill>
                <a:latin typeface="Calibri"/>
                <a:ea typeface="Calibri"/>
                <a:cs typeface="Calibri"/>
              </a:rPr>
              <a:t/>
            </a:r>
          </a:p>
          <a:p>
            <a:pPr algn="l">
              <a:spcAft>
                <a:spcPts val="500"/>
              </a:spcAft>
              <a:buNone/>
            </a:pPr>
            <a:r>
              <a:t>Los antecedentes internacionales muestran cómo combinar fuentes. Van Donkelaar integra satélites, modelos atmosféricos y estaciones para estimar partículas finas. Di combina modelos, lo que se denomina ensamble, y obtiene estimaciones diarias a un kilómetro. Estos trabajos orientan el diseño, pero su desempeño no se traslada automáticamente a Chile, a frecuencia horaria ni a otros contaminantes.</a:t>
            </a:r>
            <a:endParaRPr sz="1100" b="0">
              <a:solidFill>
                <a:srgbClr val="000000"/>
              </a:solidFill>
              <a:latin typeface="Calibri"/>
              <a:ea typeface="Calibri"/>
              <a:cs typeface="Calibri"/>
            </a:endParaRPr>
          </a:p>
          <a:p>
            <a:pPr algn="l">
              <a:spcAft>
                <a:spcPts val="500"/>
              </a:spcAft>
              <a:buNone/>
            </a:pPr>
            <a:r>
              <a:rPr sz="1100" b="0">
                <a:solidFill>
                  <a:srgbClr val="000000"/>
                </a:solidFill>
                <a:latin typeface="Calibri"/>
                <a:ea typeface="Calibri"/>
                <a:cs typeface="Calibri"/>
              </a:rPr>
              <a:t/>
            </a:r>
          </a:p>
          <a:p>
            <a:pPr algn="l">
              <a:spcAft>
                <a:spcPts val="500"/>
              </a:spcAft>
              <a:buNone/>
            </a:pPr>
            <a:r>
              <a:rPr sz="1100" b="0">
                <a:solidFill>
                  <a:srgbClr val="000000"/>
                </a:solidFill>
                <a:latin typeface="Calibri"/>
                <a:ea typeface="Calibri"/>
                <a:cs typeface="Calibri"/>
              </a:rPr>
              <a:t>FUENTES Y PRECISIONES (NO LEER EN LA EXPOSICIÓN)</a:t>
            </a:r>
          </a:p>
          <a:p>
            <a:pPr algn="l">
              <a:spcAft>
                <a:spcPts val="500"/>
              </a:spcAft>
              <a:buNone/>
            </a:pPr>
            <a:r>
              <a:rPr sz="1100" b="0">
                <a:solidFill>
                  <a:srgbClr val="000000"/>
                </a:solidFill>
                <a:latin typeface="Calibri"/>
                <a:ea typeface="Calibri"/>
                <a:cs typeface="Calibri"/>
              </a:rPr>
              <a:t/>
            </a:r>
          </a:p>
          <a:p>
            <a:pPr algn="l">
              <a:spcAft>
                <a:spcPts val="500"/>
              </a:spcAft>
              <a:buNone/>
            </a:pPr>
            <a:r>
              <a:rPr sz="1100" b="0">
                <a:solidFill>
                  <a:srgbClr val="000000"/>
                </a:solidFill>
                <a:latin typeface="Calibri"/>
                <a:ea typeface="Calibri"/>
                <a:cs typeface="Calibri"/>
              </a:rPr>
              <a:t>van Donkelaar et al. (2016), https://doi.org/10.1021/acs.est.5b05833. Di et al. (2019), https://doi.org/10.1016/j.envint.2019.104909.</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spcAft>
                <a:spcPts val="500"/>
              </a:spcAft>
              <a:buNone/>
            </a:pPr>
            <a:r>
              <a:rPr sz="1100" b="0">
                <a:solidFill>
                  <a:srgbClr val="000000"/>
                </a:solidFill>
                <a:latin typeface="Calibri"/>
                <a:ea typeface="Calibri"/>
                <a:cs typeface="Calibri"/>
              </a:rPr>
              <a:t>Diapositiva 4 | Guion principal</a:t>
            </a:r>
          </a:p>
          <a:p>
            <a:pPr algn="l">
              <a:spcAft>
                <a:spcPts val="500"/>
              </a:spcAft>
              <a:buNone/>
            </a:pPr>
            <a:r>
              <a:t/>
            </a:r>
            <a:endParaRPr sz="1100" b="0">
              <a:solidFill>
                <a:srgbClr val="000000"/>
              </a:solidFill>
              <a:latin typeface="Calibri"/>
              <a:ea typeface="Calibri"/>
              <a:cs typeface="Calibri"/>
            </a:endParaRPr>
          </a:p>
          <a:p>
            <a:pPr algn="l">
              <a:spcAft>
                <a:spcPts val="500"/>
              </a:spcAft>
              <a:buNone/>
            </a:pPr>
            <a:r>
              <a:rPr sz="1100" b="0">
                <a:solidFill>
                  <a:srgbClr val="000000"/>
                </a:solidFill>
                <a:latin typeface="Calibri"/>
                <a:ea typeface="Calibri"/>
                <a:cs typeface="Calibri"/>
              </a:rPr>
              <a:t>GUION PARA LEER</a:t>
            </a:r>
          </a:p>
          <a:p>
            <a:pPr algn="l">
              <a:spcAft>
                <a:spcPts val="500"/>
              </a:spcAft>
              <a:buNone/>
            </a:pPr>
            <a:r>
              <a:rPr sz="1100" b="0">
                <a:solidFill>
                  <a:srgbClr val="000000"/>
                </a:solidFill>
                <a:latin typeface="Calibri"/>
                <a:ea typeface="Calibri"/>
                <a:cs typeface="Calibri"/>
              </a:rPr>
              <a:t/>
            </a:r>
          </a:p>
          <a:p>
            <a:pPr algn="l">
              <a:spcAft>
                <a:spcPts val="500"/>
              </a:spcAft>
              <a:buNone/>
            </a:pPr>
            <a:r>
              <a:t>En Chile, Pérez y Gramsch estudiaron el pronóstico horario en Cerro Navia. Peralta usó una red neuronal recurrente LSTM, que aprende relaciones temporales, para predicción espacial en Santiago. Nuestra hipótesis es que integrar fuentes reducirá el error para PM dos coma cinco, dióxido de nitrógeno y los otros contaminantes frente a interpolar estaciones vecinas. Proponemos RMSE, la raíz del error cuadrático medio, que penaliza especialmente los errores grandes.</a:t>
            </a:r>
            <a:endParaRPr sz="1100" b="0">
              <a:solidFill>
                <a:srgbClr val="000000"/>
              </a:solidFill>
              <a:latin typeface="Calibri"/>
              <a:ea typeface="Calibri"/>
              <a:cs typeface="Calibri"/>
            </a:endParaRPr>
          </a:p>
          <a:p>
            <a:pPr algn="l">
              <a:spcAft>
                <a:spcPts val="500"/>
              </a:spcAft>
              <a:buNone/>
            </a:pPr>
            <a:r>
              <a:rPr sz="1100" b="0">
                <a:solidFill>
                  <a:srgbClr val="000000"/>
                </a:solidFill>
                <a:latin typeface="Calibri"/>
                <a:ea typeface="Calibri"/>
                <a:cs typeface="Calibri"/>
              </a:rPr>
              <a:t/>
            </a:r>
          </a:p>
          <a:p>
            <a:pPr algn="l">
              <a:spcAft>
                <a:spcPts val="500"/>
              </a:spcAft>
              <a:buNone/>
            </a:pPr>
            <a:r>
              <a:rPr sz="1100" b="0">
                <a:solidFill>
                  <a:srgbClr val="000000"/>
                </a:solidFill>
                <a:latin typeface="Calibri"/>
                <a:ea typeface="Calibri"/>
                <a:cs typeface="Calibri"/>
              </a:rPr>
              <a:t>APOYO PARA PREGUNTAS (NO LEER EN LA EXPOSICIÓN)</a:t>
            </a:r>
          </a:p>
          <a:p>
            <a:pPr algn="l">
              <a:spcAft>
                <a:spcPts val="500"/>
              </a:spcAft>
              <a:buNone/>
            </a:pPr>
            <a:r>
              <a:rPr sz="1100" b="0">
                <a:solidFill>
                  <a:srgbClr val="000000"/>
                </a:solidFill>
                <a:latin typeface="Calibri"/>
                <a:ea typeface="Calibri"/>
                <a:cs typeface="Calibri"/>
              </a:rPr>
              <a:t/>
            </a:r>
          </a:p>
          <a:p>
            <a:pPr algn="l">
              <a:spcAft>
                <a:spcPts val="500"/>
              </a:spcAft>
              <a:buNone/>
            </a:pPr>
            <a:r>
              <a:rPr sz="1100" b="0">
                <a:solidFill>
                  <a:srgbClr val="000000"/>
                </a:solidFill>
                <a:latin typeface="Calibri"/>
                <a:ea typeface="Calibri"/>
                <a:cs typeface="Calibri"/>
              </a:rPr>
              <a:t>LSTM: Long Short-Term Memory, una arquitectura de red neuronal recurrente. RMSE: Root Mean Squared Error. Se calcula elevando al cuadrado los errores, promediándolos y tomando la raíz; queda en las unidades del contaminante. La hipótesis se evaluará por separado para PM₂.₅, dióxido de nitrógeno y los otros contaminantes, sin trasladar el desempeño de una sustancia a otra.</a:t>
            </a:r>
          </a:p>
          <a:p>
            <a:pPr algn="l">
              <a:spcAft>
                <a:spcPts val="500"/>
              </a:spcAft>
              <a:buNone/>
            </a:pPr>
            <a:r>
              <a:rPr sz="1100" b="0">
                <a:solidFill>
                  <a:srgbClr val="000000"/>
                </a:solidFill>
                <a:latin typeface="Calibri"/>
                <a:ea typeface="Calibri"/>
                <a:cs typeface="Calibri"/>
              </a:rPr>
              <a:t/>
            </a:r>
          </a:p>
          <a:p>
            <a:pPr algn="l">
              <a:spcAft>
                <a:spcPts val="500"/>
              </a:spcAft>
              <a:buNone/>
            </a:pPr>
            <a:r>
              <a:rPr sz="1100" b="0">
                <a:solidFill>
                  <a:srgbClr val="000000"/>
                </a:solidFill>
                <a:latin typeface="Calibri"/>
                <a:ea typeface="Calibri"/>
                <a:cs typeface="Calibri"/>
              </a:rPr>
              <a:t>FUENTES Y PRECISIONES (NO LEER EN LA EXPOSICIÓN)</a:t>
            </a:r>
          </a:p>
          <a:p>
            <a:pPr algn="l">
              <a:spcAft>
                <a:spcPts val="500"/>
              </a:spcAft>
              <a:buNone/>
            </a:pPr>
            <a:r>
              <a:rPr sz="1100" b="0">
                <a:solidFill>
                  <a:srgbClr val="000000"/>
                </a:solidFill>
                <a:latin typeface="Calibri"/>
                <a:ea typeface="Calibri"/>
                <a:cs typeface="Calibri"/>
              </a:rPr>
              <a:t/>
            </a:r>
          </a:p>
          <a:p>
            <a:pPr algn="l">
              <a:spcAft>
                <a:spcPts val="500"/>
              </a:spcAft>
              <a:buNone/>
            </a:pPr>
            <a:r>
              <a:rPr sz="1100" b="0">
                <a:solidFill>
                  <a:srgbClr val="000000"/>
                </a:solidFill>
                <a:latin typeface="Calibri"/>
                <a:ea typeface="Calibri"/>
                <a:cs typeface="Calibri"/>
              </a:rPr>
              <a:t>Perez, P., &amp; Gramsch, E. (2016). Forecasting hourly PM2.5 in Santiago de Chile with emphasis on night episodes. Atmospheric Environment, 124, Part A, 22–27. https://doi.org/10.1016/j.atmosenv.2015.11.016. Método y alcance tomados del resumen editorial y metadatos institucionales: https://fisica.usach.cl/es/publicaciones/forecasting-hourly-pm25-santiago-de-chile-emphasis-night-episodes. Peralta, B., Sepúlveda, T., Nicolis, O., &amp; Caro, L. (2022). Space-Time Prediction of PM2.5 Concentrations in Santiago de Chile Using LSTM Networks. Applied Sciences, 12(22), 11317. https://doi.org/10.3390/app122211317. Texto completo: https://repositoriodigital.uct.cl/server/api/core/bitstreams/a7b70c8e-c370-4182-814c-bf5105cdcb91/content. Peralta sí aborda ubicaciones nuevas y mapas, por lo que no se afirma ausencia de estimación espacial previa en Chile. La hipótesis se contrasta por contaminante sobre los mismos pares válidos sitio-hora. Una mejora en un contaminante no confirma automáticamente el desempeño en los demás. RMSE y protocolo deben acordarse antes de la prueba externa.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spcAft>
                <a:spcPts val="500"/>
              </a:spcAft>
              <a:buNone/>
            </a:pPr>
            <a:r>
              <a:rPr sz="1100" b="0">
                <a:solidFill>
                  <a:srgbClr val="000000"/>
                </a:solidFill>
                <a:latin typeface="Calibri"/>
                <a:ea typeface="Calibri"/>
                <a:cs typeface="Calibri"/>
              </a:rPr>
              <a:t>Diapositiva 5 | Guion principal</a:t>
            </a:r>
          </a:p>
          <a:p>
            <a:pPr algn="l">
              <a:spcAft>
                <a:spcPts val="500"/>
              </a:spcAft>
              <a:buNone/>
            </a:pPr>
            <a:r>
              <a:t/>
            </a:r>
            <a:endParaRPr sz="1100" b="0">
              <a:solidFill>
                <a:srgbClr val="000000"/>
              </a:solidFill>
              <a:latin typeface="Calibri"/>
              <a:ea typeface="Calibri"/>
              <a:cs typeface="Calibri"/>
            </a:endParaRPr>
          </a:p>
          <a:p>
            <a:pPr algn="l">
              <a:spcAft>
                <a:spcPts val="500"/>
              </a:spcAft>
              <a:buNone/>
            </a:pPr>
            <a:r>
              <a:rPr sz="1100" b="0">
                <a:solidFill>
                  <a:srgbClr val="000000"/>
                </a:solidFill>
                <a:latin typeface="Calibri"/>
                <a:ea typeface="Calibri"/>
                <a:cs typeface="Calibri"/>
              </a:rPr>
              <a:t>GUION PARA LEER</a:t>
            </a:r>
          </a:p>
          <a:p>
            <a:pPr algn="l">
              <a:spcAft>
                <a:spcPts val="500"/>
              </a:spcAft>
              <a:buNone/>
            </a:pPr>
            <a:r>
              <a:rPr sz="1100" b="0">
                <a:solidFill>
                  <a:srgbClr val="000000"/>
                </a:solidFill>
                <a:latin typeface="Calibri"/>
                <a:ea typeface="Calibri"/>
                <a:cs typeface="Calibri"/>
              </a:rPr>
              <a:t/>
            </a:r>
          </a:p>
          <a:p>
            <a:pPr algn="l">
              <a:spcAft>
                <a:spcPts val="500"/>
              </a:spcAft>
              <a:buNone/>
            </a:pPr>
            <a:r>
              <a:t>La pregunta compara ambas estrategias en lugares excluidos del entrenamiento. Interpolar significa estimar un lugar a partir de estaciones cercanas. Evaluaremos qué aporta agregar información ambiental, para cada contaminante por separado y sobre las mismas observaciones reservadas.</a:t>
            </a:r>
            <a:endParaRPr sz="1100" b="0">
              <a:solidFill>
                <a:srgbClr val="000000"/>
              </a:solidFill>
              <a:latin typeface="Calibri"/>
              <a:ea typeface="Calibri"/>
              <a:cs typeface="Calibri"/>
            </a:endParaRPr>
          </a:p>
          <a:p>
            <a:pPr algn="l">
              <a:spcAft>
                <a:spcPts val="500"/>
              </a:spcAft>
              <a:buNone/>
            </a:pPr>
            <a:r>
              <a:rPr sz="1100" b="0">
                <a:solidFill>
                  <a:srgbClr val="000000"/>
                </a:solidFill>
                <a:latin typeface="Calibri"/>
                <a:ea typeface="Calibri"/>
                <a:cs typeface="Calibri"/>
              </a:rPr>
              <a:t/>
            </a:r>
          </a:p>
          <a:p>
            <a:pPr algn="l">
              <a:spcAft>
                <a:spcPts val="500"/>
              </a:spcAft>
              <a:buNone/>
            </a:pPr>
            <a:r>
              <a:rPr sz="1100" b="0">
                <a:solidFill>
                  <a:srgbClr val="000000"/>
                </a:solidFill>
                <a:latin typeface="Calibri"/>
                <a:ea typeface="Calibri"/>
                <a:cs typeface="Calibri"/>
              </a:rPr>
              <a:t>FUENTES Y PRECISIONES (NO LEER EN LA EXPOSICIÓN)</a:t>
            </a:r>
          </a:p>
          <a:p>
            <a:pPr algn="l">
              <a:spcAft>
                <a:spcPts val="500"/>
              </a:spcAft>
              <a:buNone/>
            </a:pPr>
            <a:r>
              <a:rPr sz="1100" b="0">
                <a:solidFill>
                  <a:srgbClr val="000000"/>
                </a:solidFill>
                <a:latin typeface="Calibri"/>
                <a:ea typeface="Calibri"/>
                <a:cs typeface="Calibri"/>
              </a:rPr>
              <a:t/>
            </a:r>
          </a:p>
          <a:p>
            <a:pPr algn="l">
              <a:spcAft>
                <a:spcPts val="500"/>
              </a:spcAft>
              <a:buNone/>
            </a:pPr>
            <a:r>
              <a:rPr sz="1100" b="0">
                <a:solidFill>
                  <a:srgbClr val="000000"/>
                </a:solidFill>
                <a:latin typeface="Calibri"/>
                <a:ea typeface="Calibri"/>
                <a:cs typeface="Calibri"/>
              </a:rPr>
              <a:t>/Users/amaruagueroj/Library/CloudStorage/GoogleDrive-amaruaguero2004@gmail.com/Mi unidad/Asesorias/Air-Pollution/docs/modelo_1km_horario.qmd; informe del Equipo 2 y feedback escrito sobre explicitar una línea base. Reformulación de alcance operativo.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spcAft>
                <a:spcPts val="500"/>
              </a:spcAft>
              <a:buNone/>
            </a:pPr>
            <a:r>
              <a:rPr sz="1100" b="0">
                <a:solidFill>
                  <a:srgbClr val="000000"/>
                </a:solidFill>
                <a:latin typeface="Calibri"/>
                <a:ea typeface="Calibri"/>
                <a:cs typeface="Calibri"/>
              </a:rPr>
              <a:t>Diapositiva 6 | Guion principal</a:t>
            </a:r>
          </a:p>
          <a:p>
            <a:pPr algn="l">
              <a:spcAft>
                <a:spcPts val="500"/>
              </a:spcAft>
              <a:buNone/>
            </a:pPr>
            <a:r>
              <a:t/>
            </a:r>
            <a:endParaRPr sz="1100" b="0">
              <a:solidFill>
                <a:srgbClr val="000000"/>
              </a:solidFill>
              <a:latin typeface="Calibri"/>
              <a:ea typeface="Calibri"/>
              <a:cs typeface="Calibri"/>
            </a:endParaRPr>
          </a:p>
          <a:p>
            <a:pPr algn="l">
              <a:spcAft>
                <a:spcPts val="500"/>
              </a:spcAft>
              <a:buNone/>
            </a:pPr>
            <a:r>
              <a:rPr sz="1100" b="0">
                <a:solidFill>
                  <a:srgbClr val="000000"/>
                </a:solidFill>
                <a:latin typeface="Calibri"/>
                <a:ea typeface="Calibri"/>
                <a:cs typeface="Calibri"/>
              </a:rPr>
              <a:t>GUION PARA LEER</a:t>
            </a:r>
          </a:p>
          <a:p>
            <a:pPr algn="l">
              <a:spcAft>
                <a:spcPts val="500"/>
              </a:spcAft>
              <a:buNone/>
            </a:pPr>
            <a:r>
              <a:rPr sz="1100" b="0">
                <a:solidFill>
                  <a:srgbClr val="000000"/>
                </a:solidFill>
                <a:latin typeface="Calibri"/>
                <a:ea typeface="Calibri"/>
                <a:cs typeface="Calibri"/>
              </a:rPr>
              <a:t/>
            </a:r>
          </a:p>
          <a:p>
            <a:pPr algn="l">
              <a:spcAft>
                <a:spcPts val="500"/>
              </a:spcAft>
              <a:buNone/>
            </a:pPr>
            <a:r>
              <a:t>El objetivo es desarrollar esa metodología para PM dos coma cinco, dióxido de nitrógeno y los otros contaminantes en Chile. Buscamos una reconstrucción horaria sobre una grilla de cero coma cero uno grados, aproximadamente un kilómetro, evaluada en sitios reservados.</a:t>
            </a:r>
            <a:endParaRPr sz="1100" b="0">
              <a:solidFill>
                <a:srgbClr val="000000"/>
              </a:solidFill>
              <a:latin typeface="Calibri"/>
              <a:ea typeface="Calibri"/>
              <a:cs typeface="Calibri"/>
            </a:endParaRPr>
          </a:p>
          <a:p>
            <a:pPr algn="l">
              <a:spcAft>
                <a:spcPts val="500"/>
              </a:spcAft>
              <a:buNone/>
            </a:pPr>
            <a:r>
              <a:rPr sz="1100" b="0">
                <a:solidFill>
                  <a:srgbClr val="000000"/>
                </a:solidFill>
                <a:latin typeface="Calibri"/>
                <a:ea typeface="Calibri"/>
                <a:cs typeface="Calibri"/>
              </a:rPr>
              <a:t/>
            </a:r>
          </a:p>
          <a:p>
            <a:pPr algn="l">
              <a:spcAft>
                <a:spcPts val="500"/>
              </a:spcAft>
              <a:buNone/>
            </a:pPr>
            <a:r>
              <a:rPr sz="1100" b="0">
                <a:solidFill>
                  <a:srgbClr val="000000"/>
                </a:solidFill>
                <a:latin typeface="Calibri"/>
                <a:ea typeface="Calibri"/>
                <a:cs typeface="Calibri"/>
              </a:rPr>
              <a:t>FUENTES Y PRECISIONES (NO LEER EN LA EXPOSICIÓN)</a:t>
            </a:r>
          </a:p>
          <a:p>
            <a:pPr algn="l">
              <a:spcAft>
                <a:spcPts val="500"/>
              </a:spcAft>
              <a:buNone/>
            </a:pPr>
            <a:r>
              <a:rPr sz="1100" b="0">
                <a:solidFill>
                  <a:srgbClr val="000000"/>
                </a:solidFill>
                <a:latin typeface="Calibri"/>
                <a:ea typeface="Calibri"/>
                <a:cs typeface="Calibri"/>
              </a:rPr>
              <a:t/>
            </a:r>
          </a:p>
          <a:p>
            <a:pPr algn="l">
              <a:spcAft>
                <a:spcPts val="500"/>
              </a:spcAft>
              <a:buNone/>
            </a:pPr>
            <a:r>
              <a:rPr sz="1100" b="0">
                <a:solidFill>
                  <a:srgbClr val="000000"/>
                </a:solidFill>
                <a:latin typeface="Calibri"/>
                <a:ea typeface="Calibri"/>
                <a:cs typeface="Calibri"/>
              </a:rPr>
              <a:t>/Users/amaruagueroj/Library/CloudStorage/GoogleDrive-amaruaguero2004@gmail.com/Mi unidad/Asesorias/Air-Pollution/docs/modelo_1km_horario.qmd; informe original y feedback 3, 05:16–05:59.</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spcAft>
                <a:spcPts val="500"/>
              </a:spcAft>
              <a:buNone/>
            </a:pPr>
            <a:r>
              <a:rPr sz="1100" b="0">
                <a:solidFill>
                  <a:srgbClr val="000000"/>
                </a:solidFill>
                <a:latin typeface="Calibri"/>
                <a:ea typeface="Calibri"/>
                <a:cs typeface="Calibri"/>
              </a:rPr>
              <a:t>Diapositiva 7 | Guion principal</a:t>
            </a:r>
          </a:p>
          <a:p>
            <a:pPr algn="l">
              <a:spcAft>
                <a:spcPts val="500"/>
              </a:spcAft>
              <a:buNone/>
            </a:pPr>
            <a:r>
              <a:t/>
            </a:r>
            <a:endParaRPr sz="1100" b="0">
              <a:solidFill>
                <a:srgbClr val="000000"/>
              </a:solidFill>
              <a:latin typeface="Calibri"/>
              <a:ea typeface="Calibri"/>
              <a:cs typeface="Calibri"/>
            </a:endParaRPr>
          </a:p>
          <a:p>
            <a:pPr algn="l">
              <a:spcAft>
                <a:spcPts val="500"/>
              </a:spcAft>
              <a:buNone/>
            </a:pPr>
            <a:r>
              <a:rPr sz="1100" b="0">
                <a:solidFill>
                  <a:srgbClr val="000000"/>
                </a:solidFill>
                <a:latin typeface="Calibri"/>
                <a:ea typeface="Calibri"/>
                <a:cs typeface="Calibri"/>
              </a:rPr>
              <a:t>GUION PARA LEER</a:t>
            </a:r>
          </a:p>
          <a:p>
            <a:pPr algn="l">
              <a:spcAft>
                <a:spcPts val="500"/>
              </a:spcAft>
              <a:buNone/>
            </a:pPr>
            <a:r>
              <a:rPr sz="1100" b="0">
                <a:solidFill>
                  <a:srgbClr val="000000"/>
                </a:solidFill>
                <a:latin typeface="Calibri"/>
                <a:ea typeface="Calibri"/>
                <a:cs typeface="Calibri"/>
              </a:rPr>
              <a:t/>
            </a:r>
          </a:p>
          <a:p>
            <a:pPr algn="l">
              <a:spcAft>
                <a:spcPts val="500"/>
              </a:spcAft>
              <a:buNone/>
            </a:pPr>
            <a:r>
              <a:t>Los objetivos organizan el trabajo. Integrar supone reunir datos con calidad y procedencia conocidas. Comparar establece qué aporta cada método frente a la interpolación. Evaluar la generalización significa comprobar cómo funciona en lugares y periodos nuevos para el modelo. Definir el producto territorial incluye su cobertura y limitaciones.</a:t>
            </a:r>
            <a:endParaRPr sz="1100" b="0">
              <a:solidFill>
                <a:srgbClr val="000000"/>
              </a:solidFill>
              <a:latin typeface="Calibri"/>
              <a:ea typeface="Calibri"/>
              <a:cs typeface="Calibri"/>
            </a:endParaRPr>
          </a:p>
          <a:p>
            <a:pPr algn="l">
              <a:spcAft>
                <a:spcPts val="500"/>
              </a:spcAft>
              <a:buNone/>
            </a:pPr>
            <a:r>
              <a:rPr sz="1100" b="0">
                <a:solidFill>
                  <a:srgbClr val="000000"/>
                </a:solidFill>
                <a:latin typeface="Calibri"/>
                <a:ea typeface="Calibri"/>
                <a:cs typeface="Calibri"/>
              </a:rPr>
              <a:t/>
            </a:r>
          </a:p>
          <a:p>
            <a:pPr algn="l">
              <a:spcAft>
                <a:spcPts val="500"/>
              </a:spcAft>
              <a:buNone/>
            </a:pPr>
            <a:r>
              <a:rPr sz="1100" b="0">
                <a:solidFill>
                  <a:srgbClr val="000000"/>
                </a:solidFill>
                <a:latin typeface="Calibri"/>
                <a:ea typeface="Calibri"/>
                <a:cs typeface="Calibri"/>
              </a:rPr>
              <a:t>FUENTES Y PRECISIONES (NO LEER EN LA EXPOSICIÓN)</a:t>
            </a:r>
          </a:p>
          <a:p>
            <a:pPr algn="l">
              <a:spcAft>
                <a:spcPts val="500"/>
              </a:spcAft>
              <a:buNone/>
            </a:pPr>
            <a:r>
              <a:rPr sz="1100" b="0">
                <a:solidFill>
                  <a:srgbClr val="000000"/>
                </a:solidFill>
                <a:latin typeface="Calibri"/>
                <a:ea typeface="Calibri"/>
                <a:cs typeface="Calibri"/>
              </a:rPr>
              <a:t/>
            </a:r>
          </a:p>
          <a:p>
            <a:pPr algn="l">
              <a:spcAft>
                <a:spcPts val="500"/>
              </a:spcAft>
              <a:buNone/>
            </a:pPr>
            <a:r>
              <a:rPr sz="1100" b="0">
                <a:solidFill>
                  <a:srgbClr val="000000"/>
                </a:solidFill>
                <a:latin typeface="Calibri"/>
                <a:ea typeface="Calibri"/>
                <a:cs typeface="Calibri"/>
              </a:rPr>
              <a:t>/Users/amaruagueroj/Library/CloudStorage/GoogleDrive-amaruaguero2004@gmail.com/Mi unidad/Asesorias/Air-Pollution/docs/modelo_1km_horario.qmd; feedback escrito y video de avance 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spcAft>
                <a:spcPts val="500"/>
              </a:spcAft>
              <a:buNone/>
            </a:pPr>
            <a:r>
              <a:rPr sz="1100" b="0">
                <a:solidFill>
                  <a:srgbClr val="000000"/>
                </a:solidFill>
                <a:latin typeface="Calibri"/>
                <a:ea typeface="Calibri"/>
                <a:cs typeface="Calibri"/>
              </a:rPr>
              <a:t>Diapositiva 8 | Guion principal</a:t>
            </a:r>
          </a:p>
          <a:p>
            <a:pPr algn="l">
              <a:spcAft>
                <a:spcPts val="500"/>
              </a:spcAft>
              <a:buNone/>
            </a:pPr>
            <a:r>
              <a:t/>
            </a:r>
            <a:endParaRPr sz="1100" b="0">
              <a:solidFill>
                <a:srgbClr val="000000"/>
              </a:solidFill>
              <a:latin typeface="Calibri"/>
              <a:ea typeface="Calibri"/>
              <a:cs typeface="Calibri"/>
            </a:endParaRPr>
          </a:p>
          <a:p>
            <a:pPr algn="l">
              <a:spcAft>
                <a:spcPts val="500"/>
              </a:spcAft>
              <a:buNone/>
            </a:pPr>
            <a:r>
              <a:rPr sz="1100" b="0">
                <a:solidFill>
                  <a:srgbClr val="000000"/>
                </a:solidFill>
                <a:latin typeface="Calibri"/>
                <a:ea typeface="Calibri"/>
                <a:cs typeface="Calibri"/>
              </a:rPr>
              <a:t>GUION PARA LEER</a:t>
            </a:r>
          </a:p>
          <a:p>
            <a:pPr algn="l">
              <a:spcAft>
                <a:spcPts val="500"/>
              </a:spcAft>
              <a:buNone/>
            </a:pPr>
            <a:r>
              <a:rPr sz="1100" b="0">
                <a:solidFill>
                  <a:srgbClr val="000000"/>
                </a:solidFill>
                <a:latin typeface="Calibri"/>
                <a:ea typeface="Calibri"/>
                <a:cs typeface="Calibri"/>
              </a:rPr>
              <a:t/>
            </a:r>
          </a:p>
          <a:p>
            <a:pPr algn="l">
              <a:spcAft>
                <a:spcPts val="500"/>
              </a:spcAft>
              <a:buNone/>
            </a:pPr>
            <a:r>
              <a:t>Buscamos una concentración por celda, hora y contaminante, entre dos mil y septiembre de dos mil veintiséis. Usamos UTC, tiempo universal coordinado, como reloj común. Las unidades dependen de la sustancia: microgramos por metro cúbico para partículas y partes por mil millones, o ppb, para el dióxido de nitrógeno mostrado. La disponibilidad varía entre series. Las unidades de cada serie deben verificarse antes de integrarla.</a:t>
            </a:r>
            <a:endParaRPr sz="1100" b="0">
              <a:solidFill>
                <a:srgbClr val="000000"/>
              </a:solidFill>
              <a:latin typeface="Calibri"/>
              <a:ea typeface="Calibri"/>
              <a:cs typeface="Calibri"/>
            </a:endParaRPr>
          </a:p>
          <a:p>
            <a:pPr algn="l">
              <a:spcAft>
                <a:spcPts val="500"/>
              </a:spcAft>
              <a:buNone/>
            </a:pPr>
            <a:r>
              <a:rPr sz="1100" b="0">
                <a:solidFill>
                  <a:srgbClr val="000000"/>
                </a:solidFill>
                <a:latin typeface="Calibri"/>
                <a:ea typeface="Calibri"/>
                <a:cs typeface="Calibri"/>
              </a:rPr>
              <a:t/>
            </a:r>
          </a:p>
          <a:p>
            <a:pPr algn="l">
              <a:spcAft>
                <a:spcPts val="500"/>
              </a:spcAft>
              <a:buNone/>
            </a:pPr>
            <a:r>
              <a:rPr sz="1100" b="0">
                <a:solidFill>
                  <a:srgbClr val="000000"/>
                </a:solidFill>
                <a:latin typeface="Calibri"/>
                <a:ea typeface="Calibri"/>
                <a:cs typeface="Calibri"/>
              </a:rPr>
              <a:t>APOYO PARA PREGUNTAS (NO LEER EN LA EXPOSICIÓN)</a:t>
            </a:r>
          </a:p>
          <a:p>
            <a:pPr algn="l">
              <a:spcAft>
                <a:spcPts val="500"/>
              </a:spcAft>
              <a:buNone/>
            </a:pPr>
            <a:r>
              <a:rPr sz="1100" b="0">
                <a:solidFill>
                  <a:srgbClr val="000000"/>
                </a:solidFill>
                <a:latin typeface="Calibri"/>
                <a:ea typeface="Calibri"/>
                <a:cs typeface="Calibri"/>
              </a:rPr>
              <a:t/>
            </a:r>
          </a:p>
          <a:p>
            <a:pPr algn="l">
              <a:spcAft>
                <a:spcPts val="500"/>
              </a:spcAft>
              <a:buNone/>
            </a:pPr>
            <a:r>
              <a:rPr sz="1100" b="0">
                <a:solidFill>
                  <a:srgbClr val="000000"/>
                </a:solidFill>
                <a:latin typeface="Calibri"/>
                <a:ea typeface="Calibri"/>
                <a:cs typeface="Calibri"/>
              </a:rPr>
              <a:t>Periodo objetivo: 1 de enero de 2000 a 13 de septiembre de 2026. La fecha objetivo no garantiza que cada fuente o contaminante esté disponible durante todo ese intervalo. µg/m³ = microgramos por metro cúbico; ppb = partes por mil millones. La unidad final y cualquier conversión deben verificarse por serie antes de comparar o integrar. Grilla de 0,01°: aproximadamente 1 km; no es una resolución uniforme exacta en ambas direcciones.</a:t>
            </a:r>
          </a:p>
          <a:p>
            <a:pPr algn="l">
              <a:spcAft>
                <a:spcPts val="500"/>
              </a:spcAft>
              <a:buNone/>
            </a:pPr>
            <a:r>
              <a:rPr sz="1100" b="0">
                <a:solidFill>
                  <a:srgbClr val="000000"/>
                </a:solidFill>
                <a:latin typeface="Calibri"/>
                <a:ea typeface="Calibri"/>
                <a:cs typeface="Calibri"/>
              </a:rPr>
              <a:t/>
            </a:r>
          </a:p>
          <a:p>
            <a:pPr algn="l">
              <a:spcAft>
                <a:spcPts val="500"/>
              </a:spcAft>
              <a:buNone/>
            </a:pPr>
            <a:r>
              <a:rPr sz="1100" b="0">
                <a:solidFill>
                  <a:srgbClr val="000000"/>
                </a:solidFill>
                <a:latin typeface="Calibri"/>
                <a:ea typeface="Calibri"/>
                <a:cs typeface="Calibri"/>
              </a:rPr>
              <a:t>FUENTES Y PRECISIONES (NO LEER EN LA EXPOSICIÓN)</a:t>
            </a:r>
          </a:p>
          <a:p>
            <a:pPr algn="l">
              <a:spcAft>
                <a:spcPts val="500"/>
              </a:spcAft>
              <a:buNone/>
            </a:pPr>
            <a:r>
              <a:rPr sz="1100" b="0">
                <a:solidFill>
                  <a:srgbClr val="000000"/>
                </a:solidFill>
                <a:latin typeface="Calibri"/>
                <a:ea typeface="Calibri"/>
                <a:cs typeface="Calibri"/>
              </a:rPr>
              <a:t/>
            </a:r>
          </a:p>
          <a:p>
            <a:pPr algn="l">
              <a:spcAft>
                <a:spcPts val="500"/>
              </a:spcAft>
              <a:buNone/>
            </a:pPr>
            <a:r>
              <a:rPr sz="1100" b="0">
                <a:solidFill>
                  <a:srgbClr val="000000"/>
                </a:solidFill>
                <a:latin typeface="Calibri"/>
                <a:ea typeface="Calibri"/>
                <a:cs typeface="Calibri"/>
              </a:rPr>
              <a:t>/Users/amaruagueroj/Library/CloudStorage/GoogleDrive-amaruaguero2004@gmail.com/Mi unidad/Asesorias/Air-Pollution/docs/modelo_1km_horario.qmd; producto propuesto. PM₂.₅ en µg/m³, NO₂ en ppb. La grilla de 0,01° no añade información a la resolución nativa de los predictores. La concentración ambiental no equivale a exposición individual ni a pronóstico.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spcAft>
                <a:spcPts val="500"/>
              </a:spcAft>
              <a:buNone/>
            </a:pPr>
            <a:r>
              <a:rPr sz="1100" b="0">
                <a:solidFill>
                  <a:srgbClr val="000000"/>
                </a:solidFill>
                <a:latin typeface="Calibri"/>
                <a:ea typeface="Calibri"/>
                <a:cs typeface="Calibri"/>
              </a:rPr>
              <a:t>Diapositiva 9 | Guion principal</a:t>
            </a:r>
          </a:p>
          <a:p>
            <a:pPr algn="l">
              <a:spcAft>
                <a:spcPts val="500"/>
              </a:spcAft>
              <a:buNone/>
            </a:pPr>
            <a:r>
              <a:t/>
            </a:r>
            <a:endParaRPr sz="1100" b="0">
              <a:solidFill>
                <a:srgbClr val="000000"/>
              </a:solidFill>
              <a:latin typeface="Calibri"/>
              <a:ea typeface="Calibri"/>
              <a:cs typeface="Calibri"/>
            </a:endParaRPr>
          </a:p>
          <a:p>
            <a:pPr algn="l">
              <a:spcAft>
                <a:spcPts val="500"/>
              </a:spcAft>
              <a:buNone/>
            </a:pPr>
            <a:r>
              <a:rPr sz="1100" b="0">
                <a:solidFill>
                  <a:srgbClr val="000000"/>
                </a:solidFill>
                <a:latin typeface="Calibri"/>
                <a:ea typeface="Calibri"/>
                <a:cs typeface="Calibri"/>
              </a:rPr>
              <a:t>GUION PARA LEER</a:t>
            </a:r>
          </a:p>
          <a:p>
            <a:pPr algn="l">
              <a:spcAft>
                <a:spcPts val="500"/>
              </a:spcAft>
              <a:buNone/>
            </a:pPr>
            <a:r>
              <a:rPr sz="1100" b="0">
                <a:solidFill>
                  <a:srgbClr val="000000"/>
                </a:solidFill>
                <a:latin typeface="Calibri"/>
                <a:ea typeface="Calibri"/>
                <a:cs typeface="Calibri"/>
              </a:rPr>
              <a:t/>
            </a:r>
          </a:p>
          <a:p>
            <a:pPr algn="l">
              <a:spcAft>
                <a:spcPts val="500"/>
              </a:spcAft>
              <a:buNone/>
            </a:pPr>
            <a:r>
              <a:t>El flujo conecta datos y producto. Conservamos los originales y revisamos calidad, unidades y fechas. Describimos cada fuente con mapas y series. La siguiente etapa enlazará ubicaciones y tiempos en una tabla común, conservando faltantes y documentando pérdidas. Sobre esa integración compararemos métodos y generaremos superficies de PM dos coma cinco, dióxido de nitrógeno y los otros contaminantes.</a:t>
            </a:r>
            <a:endParaRPr sz="1100" b="0">
              <a:solidFill>
                <a:srgbClr val="000000"/>
              </a:solidFill>
              <a:latin typeface="Calibri"/>
              <a:ea typeface="Calibri"/>
              <a:cs typeface="Calibri"/>
            </a:endParaRPr>
          </a:p>
          <a:p>
            <a:pPr algn="l">
              <a:spcAft>
                <a:spcPts val="500"/>
              </a:spcAft>
              <a:buNone/>
            </a:pPr>
            <a:r>
              <a:rPr sz="1100" b="0">
                <a:solidFill>
                  <a:srgbClr val="000000"/>
                </a:solidFill>
                <a:latin typeface="Calibri"/>
                <a:ea typeface="Calibri"/>
                <a:cs typeface="Calibri"/>
              </a:rPr>
              <a:t/>
            </a:r>
          </a:p>
          <a:p>
            <a:pPr algn="l">
              <a:spcAft>
                <a:spcPts val="500"/>
              </a:spcAft>
              <a:buNone/>
            </a:pPr>
            <a:r>
              <a:rPr sz="1100" b="0">
                <a:solidFill>
                  <a:srgbClr val="000000"/>
                </a:solidFill>
                <a:latin typeface="Calibri"/>
                <a:ea typeface="Calibri"/>
                <a:cs typeface="Calibri"/>
              </a:rPr>
              <a:t>FUENTES Y PRECISIONES (NO LEER EN LA EXPOSICIÓN)</a:t>
            </a:r>
          </a:p>
          <a:p>
            <a:pPr algn="l">
              <a:spcAft>
                <a:spcPts val="500"/>
              </a:spcAft>
              <a:buNone/>
            </a:pPr>
            <a:r>
              <a:rPr sz="1100" b="0">
                <a:solidFill>
                  <a:srgbClr val="000000"/>
                </a:solidFill>
                <a:latin typeface="Calibri"/>
                <a:ea typeface="Calibri"/>
                <a:cs typeface="Calibri"/>
              </a:rPr>
              <a:t/>
            </a:r>
          </a:p>
          <a:p>
            <a:pPr algn="l">
              <a:spcAft>
                <a:spcPts val="500"/>
              </a:spcAft>
              <a:buNone/>
            </a:pPr>
            <a:r>
              <a:rPr sz="1100" b="0">
                <a:solidFill>
                  <a:srgbClr val="000000"/>
                </a:solidFill>
                <a:latin typeface="Calibri"/>
                <a:ea typeface="Calibri"/>
                <a:cs typeface="Calibri"/>
              </a:rPr>
              <a:t>/Users/amaruagueroj/Library/CloudStorage/GoogleDrive-amaruaguero2004@gmail.com/Mi unidad/Asesorias/Air-Pollution/docs/modelo_1km_horario.qmd; PREPARACION_MODELADO.md. Etapas del diseño, no certificación de panel final cerrado. Las pérdidas deben medirse antes y después de cada unión por contaminante y periodo.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spcAft>
                <a:spcPts val="500"/>
              </a:spcAft>
              <a:buNone/>
            </a:pPr>
            <a:r>
              <a:rPr sz="1100" b="0">
                <a:solidFill>
                  <a:srgbClr val="000000"/>
                </a:solidFill>
                <a:latin typeface="Calibri"/>
                <a:ea typeface="Calibri"/>
                <a:cs typeface="Calibri"/>
              </a:rPr>
              <a:t>Diapositiva 10 | Guion principal</a:t>
            </a:r>
          </a:p>
          <a:p>
            <a:pPr algn="l">
              <a:spcAft>
                <a:spcPts val="500"/>
              </a:spcAft>
              <a:buNone/>
            </a:pPr>
            <a:r>
              <a:t/>
            </a:r>
            <a:endParaRPr sz="1100" b="0">
              <a:solidFill>
                <a:srgbClr val="000000"/>
              </a:solidFill>
              <a:latin typeface="Calibri"/>
              <a:ea typeface="Calibri"/>
              <a:cs typeface="Calibri"/>
            </a:endParaRPr>
          </a:p>
          <a:p>
            <a:pPr algn="l">
              <a:spcAft>
                <a:spcPts val="500"/>
              </a:spcAft>
              <a:buNone/>
            </a:pPr>
            <a:r>
              <a:rPr sz="1100" b="0">
                <a:solidFill>
                  <a:srgbClr val="000000"/>
                </a:solidFill>
                <a:latin typeface="Calibri"/>
                <a:ea typeface="Calibri"/>
                <a:cs typeface="Calibri"/>
              </a:rPr>
              <a:t>GUION PARA LEER</a:t>
            </a:r>
          </a:p>
          <a:p>
            <a:pPr algn="l">
              <a:spcAft>
                <a:spcPts val="500"/>
              </a:spcAft>
              <a:buNone/>
            </a:pPr>
            <a:r>
              <a:rPr sz="1100" b="0">
                <a:solidFill>
                  <a:srgbClr val="000000"/>
                </a:solidFill>
                <a:latin typeface="Calibri"/>
                <a:ea typeface="Calibri"/>
                <a:cs typeface="Calibri"/>
              </a:rPr>
              <a:t/>
            </a:r>
          </a:p>
          <a:p>
            <a:pPr algn="l">
              <a:spcAft>
                <a:spcPts val="500"/>
              </a:spcAft>
              <a:buNone/>
            </a:pPr>
            <a:r>
              <a:t>Las estaciones aportan la referencia superficial. SNIFA, el Sistema Nacional de Información de Fiscalización Ambiental, complementa algunas series. MAIAC aporta AOD, el espesor óptico de aerosoles: cuánto atenúan la luz las partículas de la columna atmosférica. TROPOMI es un instrumento que observa gases atmosféricos. ACAG, el Grupo de Análisis de la Composición Atmosférica, estima partículas finas. La tabla muestra periodos distintos, que pueden contener vacíos.</a:t>
            </a:r>
            <a:endParaRPr sz="1100" b="0">
              <a:solidFill>
                <a:srgbClr val="000000"/>
              </a:solidFill>
              <a:latin typeface="Calibri"/>
              <a:ea typeface="Calibri"/>
              <a:cs typeface="Calibri"/>
            </a:endParaRPr>
          </a:p>
          <a:p>
            <a:pPr algn="l">
              <a:spcAft>
                <a:spcPts val="500"/>
              </a:spcAft>
              <a:buNone/>
            </a:pPr>
            <a:r>
              <a:rPr sz="1100" b="0">
                <a:solidFill>
                  <a:srgbClr val="000000"/>
                </a:solidFill>
                <a:latin typeface="Calibri"/>
                <a:ea typeface="Calibri"/>
                <a:cs typeface="Calibri"/>
              </a:rPr>
              <a:t/>
            </a:r>
          </a:p>
          <a:p>
            <a:pPr algn="l">
              <a:spcAft>
                <a:spcPts val="500"/>
              </a:spcAft>
              <a:buNone/>
            </a:pPr>
            <a:r>
              <a:rPr sz="1100" b="0">
                <a:solidFill>
                  <a:srgbClr val="000000"/>
                </a:solidFill>
                <a:latin typeface="Calibri"/>
                <a:ea typeface="Calibri"/>
                <a:cs typeface="Calibri"/>
              </a:rPr>
              <a:t>APOYO PARA PREGUNTAS (NO LEER EN LA EXPOSICIÓN)</a:t>
            </a:r>
          </a:p>
          <a:p>
            <a:pPr algn="l">
              <a:spcAft>
                <a:spcPts val="500"/>
              </a:spcAft>
              <a:buNone/>
            </a:pPr>
            <a:r>
              <a:rPr sz="1100" b="0">
                <a:solidFill>
                  <a:srgbClr val="000000"/>
                </a:solidFill>
                <a:latin typeface="Calibri"/>
                <a:ea typeface="Calibri"/>
                <a:cs typeface="Calibri"/>
              </a:rPr>
              <a:t/>
            </a:r>
          </a:p>
          <a:p>
            <a:pPr algn="l">
              <a:spcAft>
                <a:spcPts val="500"/>
              </a:spcAft>
              <a:buNone/>
            </a:pPr>
            <a:r>
              <a:rPr sz="1100" b="0">
                <a:solidFill>
                  <a:srgbClr val="000000"/>
                </a:solidFill>
                <a:latin typeface="Calibri"/>
                <a:ea typeface="Calibri"/>
                <a:cs typeface="Calibri"/>
              </a:rPr>
              <a:t>AOD: Aerosol Optical Depth; adimensional. MAIAC: Multi-Angle Implementation of Atmospheric Correction; algoritmo aplicado a MODIS, no nombre de un satélite. MCD19A2 identifica el producto. TROPOMI: TROPOspheric Monitoring Instrument, a bordo de Sentinel-5P. L2 significa nivel de procesamiento 2. ACAG: Atmospheric Composition Analysis Group; V6GL03 identifica la versión local. SNIFA es un sistema oficial de información y no una red instrumental independiente. Fuentes de nomenclatura: https://snifa.sma.gob.cl/; https://ladsweb.modaps.eosdis.nasa.gov/missions-and-measurements/science-domain/maiac/; https://www.knmi.nl/kennis-en-datacentrum/project/tropospheric-monitoring-instrument-tropomi.</a:t>
            </a:r>
          </a:p>
          <a:p>
            <a:pPr algn="l">
              <a:spcAft>
                <a:spcPts val="500"/>
              </a:spcAft>
              <a:buNone/>
            </a:pPr>
            <a:r>
              <a:rPr sz="1100" b="0">
                <a:solidFill>
                  <a:srgbClr val="000000"/>
                </a:solidFill>
                <a:latin typeface="Calibri"/>
                <a:ea typeface="Calibri"/>
                <a:cs typeface="Calibri"/>
              </a:rPr>
              <a:t/>
            </a:r>
          </a:p>
          <a:p>
            <a:pPr algn="l">
              <a:spcAft>
                <a:spcPts val="500"/>
              </a:spcAft>
              <a:buNone/>
            </a:pPr>
            <a:r>
              <a:rPr sz="1100" b="0">
                <a:solidFill>
                  <a:srgbClr val="000000"/>
                </a:solidFill>
                <a:latin typeface="Calibri"/>
                <a:ea typeface="Calibri"/>
                <a:cs typeface="Calibri"/>
              </a:rPr>
              <a:t>FUENTES Y PRECISIONES (NO LEER EN LA EXPOSICIÓN)</a:t>
            </a:r>
          </a:p>
          <a:p>
            <a:pPr algn="l">
              <a:spcAft>
                <a:spcPts val="500"/>
              </a:spcAft>
              <a:buNone/>
            </a:pPr>
            <a:r>
              <a:rPr sz="1100" b="0">
                <a:solidFill>
                  <a:srgbClr val="000000"/>
                </a:solidFill>
                <a:latin typeface="Calibri"/>
                <a:ea typeface="Calibri"/>
                <a:cs typeface="Calibri"/>
              </a:rPr>
              <a:t/>
            </a:r>
          </a:p>
          <a:p>
            <a:pPr algn="l">
              <a:spcAft>
                <a:spcPts val="500"/>
              </a:spcAft>
              <a:buNone/>
            </a:pPr>
            <a:r>
              <a:rPr sz="1100" b="0">
                <a:solidFill>
                  <a:srgbClr val="000000"/>
                </a:solidFill>
                <a:latin typeface="Calibri"/>
                <a:ea typeface="Calibri"/>
                <a:cs typeface="Calibri"/>
              </a:rPr>
              <a:t>/Users/amaruagueroj/Library/CloudStorage/GoogleDrive-amaruaguero2004@gmail.com/Mi unidad/Asesorias/Air-Pollution/docs/modelo_1km_horario.qmd; inventario local al 26-sep-2026. AOD significa espesor óptico de aerosoles. TROPOMI L2 conserva observaciones por órbita y píxel. SNIFA complementa tres estaciones, sin sumarlas automáticamente al inventario SINCA. ACAG termina en 2024 y su climatología posterior debe identificarse.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spcAft>
                <a:spcPts val="500"/>
              </a:spcAft>
              <a:buNone/>
            </a:pPr>
            <a:r>
              <a:rPr sz="1100" b="0">
                <a:solidFill>
                  <a:srgbClr val="000000"/>
                </a:solidFill>
                <a:latin typeface="Calibri"/>
                <a:ea typeface="Calibri"/>
                <a:cs typeface="Calibri"/>
              </a:rPr>
              <a:t>Diapositiva 11 | Guion principal</a:t>
            </a:r>
          </a:p>
          <a:p>
            <a:pPr algn="l">
              <a:spcAft>
                <a:spcPts val="500"/>
              </a:spcAft>
              <a:buNone/>
            </a:pPr>
            <a:r>
              <a:t/>
            </a:r>
            <a:endParaRPr sz="1100" b="0">
              <a:solidFill>
                <a:srgbClr val="000000"/>
              </a:solidFill>
              <a:latin typeface="Calibri"/>
              <a:ea typeface="Calibri"/>
              <a:cs typeface="Calibri"/>
            </a:endParaRPr>
          </a:p>
          <a:p>
            <a:pPr algn="l">
              <a:spcAft>
                <a:spcPts val="500"/>
              </a:spcAft>
              <a:buNone/>
            </a:pPr>
            <a:r>
              <a:rPr sz="1100" b="0">
                <a:solidFill>
                  <a:srgbClr val="000000"/>
                </a:solidFill>
                <a:latin typeface="Calibri"/>
                <a:ea typeface="Calibri"/>
                <a:cs typeface="Calibri"/>
              </a:rPr>
              <a:t>GUION PARA LEER</a:t>
            </a:r>
          </a:p>
          <a:p>
            <a:pPr algn="l">
              <a:spcAft>
                <a:spcPts val="500"/>
              </a:spcAft>
              <a:buNone/>
            </a:pPr>
            <a:r>
              <a:rPr sz="1100" b="0">
                <a:solidFill>
                  <a:srgbClr val="000000"/>
                </a:solidFill>
                <a:latin typeface="Calibri"/>
                <a:ea typeface="Calibri"/>
                <a:cs typeface="Calibri"/>
              </a:rPr>
              <a:t/>
            </a:r>
          </a:p>
          <a:p>
            <a:pPr algn="l">
              <a:spcAft>
                <a:spcPts val="500"/>
              </a:spcAft>
              <a:buNone/>
            </a:pPr>
            <a:r>
              <a:t>Los reanálisis combinan observaciones y modelos para describir el pasado. ERA5 y su producto terrestre, ERA5-Land, aportan meteorología. MERRA dos es otro reanálisis. CAMS es el Servicio de Monitoreo de la Atmósfera de Copernicus. GEOS-CF es un producto del modelo de composición atmosférica de NASA. Estas entradas conservan su resolución nativa aunque se lleven a una grilla más fina.</a:t>
            </a:r>
            <a:endParaRPr sz="1100" b="0">
              <a:solidFill>
                <a:srgbClr val="000000"/>
              </a:solidFill>
              <a:latin typeface="Calibri"/>
              <a:ea typeface="Calibri"/>
              <a:cs typeface="Calibri"/>
            </a:endParaRPr>
          </a:p>
          <a:p>
            <a:pPr algn="l">
              <a:spcAft>
                <a:spcPts val="500"/>
              </a:spcAft>
              <a:buNone/>
            </a:pPr>
            <a:r>
              <a:rPr sz="1100" b="0">
                <a:solidFill>
                  <a:srgbClr val="000000"/>
                </a:solidFill>
                <a:latin typeface="Calibri"/>
                <a:ea typeface="Calibri"/>
                <a:cs typeface="Calibri"/>
              </a:rPr>
              <a:t/>
            </a:r>
          </a:p>
          <a:p>
            <a:pPr algn="l">
              <a:spcAft>
                <a:spcPts val="500"/>
              </a:spcAft>
              <a:buNone/>
            </a:pPr>
            <a:r>
              <a:rPr sz="1100" b="0">
                <a:solidFill>
                  <a:srgbClr val="000000"/>
                </a:solidFill>
                <a:latin typeface="Calibri"/>
                <a:ea typeface="Calibri"/>
                <a:cs typeface="Calibri"/>
              </a:rPr>
              <a:t>APOYO PARA PREGUNTAS (NO LEER EN LA EXPOSICIÓN)</a:t>
            </a:r>
          </a:p>
          <a:p>
            <a:pPr algn="l">
              <a:spcAft>
                <a:spcPts val="500"/>
              </a:spcAft>
              <a:buNone/>
            </a:pPr>
            <a:r>
              <a:rPr sz="1100" b="0">
                <a:solidFill>
                  <a:srgbClr val="000000"/>
                </a:solidFill>
                <a:latin typeface="Calibri"/>
                <a:ea typeface="Calibri"/>
                <a:cs typeface="Calibri"/>
              </a:rPr>
              <a:t/>
            </a:r>
          </a:p>
          <a:p>
            <a:pPr algn="l">
              <a:spcAft>
                <a:spcPts val="500"/>
              </a:spcAft>
              <a:buNone/>
            </a:pPr>
            <a:r>
              <a:rPr sz="1100" b="0">
                <a:solidFill>
                  <a:srgbClr val="000000"/>
                </a:solidFill>
                <a:latin typeface="Calibri"/>
                <a:ea typeface="Calibri"/>
                <a:cs typeface="Calibri"/>
              </a:rPr>
              <a:t>ERA5 se lee «era cinco»; ERA5-Land, «era cinco land». ERA5-Land recibe el forzamiento atmosférico de ERA5, por lo que las observaciones influyen de manera indirecta. BLH = Boundary Layer Height, altura de la capa límite; t2m = temperatura a dos metros. MERRA-2 = Modern-Era Retrospective analysis for Research and Applications, Version 2. CAMS = Copernicus Atmosphere Monitoring Service; EAC4 identifica su reanálisis global de composición. GEOS-CF = Goddard Earth Observing System Composition Forecast; es un producto de modelo y no debe describirse automáticamente como otro reanálisis. https://cds.climate.copernicus.eu/datasets/reanalysis-era5-land?tab=overview; https://gmao.gsfc.nasa.gov/gmao-products/merra-2/; https://ads.atmosphere.copernicus.eu/datasets/cams-global-reanalysis-eac4?tab=overview; https://gs6101-gmao.gsfc.nasa.gov/gmao-products/geos-cf/documentation_geos-cf/.</a:t>
            </a:r>
          </a:p>
          <a:p>
            <a:pPr algn="l">
              <a:spcAft>
                <a:spcPts val="500"/>
              </a:spcAft>
              <a:buNone/>
            </a:pPr>
            <a:r>
              <a:rPr sz="1100" b="0">
                <a:solidFill>
                  <a:srgbClr val="000000"/>
                </a:solidFill>
                <a:latin typeface="Calibri"/>
                <a:ea typeface="Calibri"/>
                <a:cs typeface="Calibri"/>
              </a:rPr>
              <a:t/>
            </a:r>
          </a:p>
          <a:p>
            <a:pPr algn="l">
              <a:spcAft>
                <a:spcPts val="500"/>
              </a:spcAft>
              <a:buNone/>
            </a:pPr>
            <a:r>
              <a:rPr sz="1100" b="0">
                <a:solidFill>
                  <a:srgbClr val="000000"/>
                </a:solidFill>
                <a:latin typeface="Calibri"/>
                <a:ea typeface="Calibri"/>
                <a:cs typeface="Calibri"/>
              </a:rPr>
              <a:t>FUENTES Y PRECISIONES (NO LEER EN LA EXPOSICIÓN)</a:t>
            </a:r>
          </a:p>
          <a:p>
            <a:pPr algn="l">
              <a:spcAft>
                <a:spcPts val="500"/>
              </a:spcAft>
              <a:buNone/>
            </a:pPr>
            <a:r>
              <a:rPr sz="1100" b="0">
                <a:solidFill>
                  <a:srgbClr val="000000"/>
                </a:solidFill>
                <a:latin typeface="Calibri"/>
                <a:ea typeface="Calibri"/>
                <a:cs typeface="Calibri"/>
              </a:rPr>
              <a:t/>
            </a:r>
          </a:p>
          <a:p>
            <a:pPr algn="l">
              <a:spcAft>
                <a:spcPts val="500"/>
              </a:spcAft>
              <a:buNone/>
            </a:pPr>
            <a:r>
              <a:rPr sz="1100" b="0">
                <a:solidFill>
                  <a:srgbClr val="000000"/>
                </a:solidFill>
                <a:latin typeface="Calibri"/>
                <a:ea typeface="Calibri"/>
                <a:cs typeface="Calibri"/>
              </a:rPr>
              <a:t>/Users/amaruagueroj/Library/CloudStorage/GoogleDrive-amaruaguero2004@gmail.com/Mi unidad/Asesorias/Air-Pollution/docs/modelo_1km_horario.qmd; manifiestos locales. ERA5-Land nativo hasta 15-sep-2026 23 UTC. Precipitación derivada auditada hasta 14-sep 23 UTC. GEOS-CF se representa mediante archivos legados 2019–2024.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spcAft>
                <a:spcPts val="500"/>
              </a:spcAft>
              <a:buNone/>
            </a:pPr>
            <a:r>
              <a:rPr sz="1100" b="0">
                <a:solidFill>
                  <a:srgbClr val="000000"/>
                </a:solidFill>
                <a:latin typeface="Calibri"/>
                <a:ea typeface="Calibri"/>
                <a:cs typeface="Calibri"/>
              </a:rPr>
              <a:t>Diapositiva 12 | Guion principal</a:t>
            </a:r>
          </a:p>
          <a:p>
            <a:pPr algn="l">
              <a:spcAft>
                <a:spcPts val="500"/>
              </a:spcAft>
              <a:buNone/>
            </a:pPr>
            <a:r>
              <a:t/>
            </a:r>
            <a:endParaRPr sz="1100" b="0">
              <a:solidFill>
                <a:srgbClr val="000000"/>
              </a:solidFill>
              <a:latin typeface="Calibri"/>
              <a:ea typeface="Calibri"/>
              <a:cs typeface="Calibri"/>
            </a:endParaRPr>
          </a:p>
          <a:p>
            <a:pPr algn="l">
              <a:spcAft>
                <a:spcPts val="500"/>
              </a:spcAft>
              <a:buNone/>
            </a:pPr>
            <a:r>
              <a:rPr sz="1100" b="0">
                <a:solidFill>
                  <a:srgbClr val="000000"/>
                </a:solidFill>
                <a:latin typeface="Calibri"/>
                <a:ea typeface="Calibri"/>
                <a:cs typeface="Calibri"/>
              </a:rPr>
              <a:t>GUION PARA LEER</a:t>
            </a:r>
          </a:p>
          <a:p>
            <a:pPr algn="l">
              <a:spcAft>
                <a:spcPts val="500"/>
              </a:spcAft>
              <a:buNone/>
            </a:pPr>
            <a:r>
              <a:rPr sz="1100" b="0">
                <a:solidFill>
                  <a:srgbClr val="000000"/>
                </a:solidFill>
                <a:latin typeface="Calibri"/>
                <a:ea typeface="Calibri"/>
                <a:cs typeface="Calibri"/>
              </a:rPr>
              <a:t/>
            </a:r>
          </a:p>
          <a:p>
            <a:pPr algn="l">
              <a:spcAft>
                <a:spcPts val="500"/>
              </a:spcAft>
              <a:buNone/>
            </a:pPr>
            <a:r>
              <a:t>El territorio aporta información. La cobertura de suelo procede de la iniciativa climática de la Agencia Espacial Europea, identificada como ESA CCI. La población caracteriza cada área y OpenStreetMap, u OSM, aporta cartografía vial. Reutilizar años disponibles, como el suelo de dos mil veintidós, exige identificar esas sustituciones para distinguirlas de observaciones nuevas.</a:t>
            </a:r>
            <a:endParaRPr sz="1100" b="0">
              <a:solidFill>
                <a:srgbClr val="000000"/>
              </a:solidFill>
              <a:latin typeface="Calibri"/>
              <a:ea typeface="Calibri"/>
              <a:cs typeface="Calibri"/>
            </a:endParaRPr>
          </a:p>
          <a:p>
            <a:pPr algn="l">
              <a:spcAft>
                <a:spcPts val="500"/>
              </a:spcAft>
              <a:buNone/>
            </a:pPr>
            <a:r>
              <a:rPr sz="1100" b="0">
                <a:solidFill>
                  <a:srgbClr val="000000"/>
                </a:solidFill>
                <a:latin typeface="Calibri"/>
                <a:ea typeface="Calibri"/>
                <a:cs typeface="Calibri"/>
              </a:rPr>
              <a:t/>
            </a:r>
          </a:p>
          <a:p>
            <a:pPr algn="l">
              <a:spcAft>
                <a:spcPts val="500"/>
              </a:spcAft>
              <a:buNone/>
            </a:pPr>
            <a:r>
              <a:rPr sz="1100" b="0">
                <a:solidFill>
                  <a:srgbClr val="000000"/>
                </a:solidFill>
                <a:latin typeface="Calibri"/>
                <a:ea typeface="Calibri"/>
                <a:cs typeface="Calibri"/>
              </a:rPr>
              <a:t>APOYO PARA PREGUNTAS (NO LEER EN LA EXPOSICIÓN)</a:t>
            </a:r>
          </a:p>
          <a:p>
            <a:pPr algn="l">
              <a:spcAft>
                <a:spcPts val="500"/>
              </a:spcAft>
              <a:buNone/>
            </a:pPr>
            <a:r>
              <a:rPr sz="1100" b="0">
                <a:solidFill>
                  <a:srgbClr val="000000"/>
                </a:solidFill>
                <a:latin typeface="Calibri"/>
                <a:ea typeface="Calibri"/>
                <a:cs typeface="Calibri"/>
              </a:rPr>
              <a:t/>
            </a:r>
          </a:p>
          <a:p>
            <a:pPr algn="l">
              <a:spcAft>
                <a:spcPts val="500"/>
              </a:spcAft>
              <a:buNone/>
            </a:pPr>
            <a:r>
              <a:rPr sz="1100" b="0">
                <a:solidFill>
                  <a:srgbClr val="000000"/>
                </a:solidFill>
                <a:latin typeface="Calibri"/>
                <a:ea typeface="Calibri"/>
                <a:cs typeface="Calibri"/>
              </a:rPr>
              <a:t>ESA = European Space Agency, Agencia Espacial Europea; CCI = Climate Change Initiative, iniciativa sobre el cambio climático. OSM = OpenStreetMap. NASADEM es un producto de elevación ausente del inventario; no se presenta como integrado. Leña: insumo previsto, sin valores útiles. https://climate.esa.int/en/projects/land-cover/.</a:t>
            </a:r>
          </a:p>
          <a:p>
            <a:pPr algn="l">
              <a:spcAft>
                <a:spcPts val="500"/>
              </a:spcAft>
              <a:buNone/>
            </a:pPr>
            <a:r>
              <a:rPr sz="1100" b="0">
                <a:solidFill>
                  <a:srgbClr val="000000"/>
                </a:solidFill>
                <a:latin typeface="Calibri"/>
                <a:ea typeface="Calibri"/>
                <a:cs typeface="Calibri"/>
              </a:rPr>
              <a:t/>
            </a:r>
          </a:p>
          <a:p>
            <a:pPr algn="l">
              <a:spcAft>
                <a:spcPts val="500"/>
              </a:spcAft>
              <a:buNone/>
            </a:pPr>
            <a:r>
              <a:rPr sz="1100" b="0">
                <a:solidFill>
                  <a:srgbClr val="000000"/>
                </a:solidFill>
                <a:latin typeface="Calibri"/>
                <a:ea typeface="Calibri"/>
                <a:cs typeface="Calibri"/>
              </a:rPr>
              <a:t>FUENTES Y PRECISIONES (NO LEER EN LA EXPOSICIÓN)</a:t>
            </a:r>
          </a:p>
          <a:p>
            <a:pPr algn="l">
              <a:spcAft>
                <a:spcPts val="500"/>
              </a:spcAft>
              <a:buNone/>
            </a:pPr>
            <a:r>
              <a:rPr sz="1100" b="0">
                <a:solidFill>
                  <a:srgbClr val="000000"/>
                </a:solidFill>
                <a:latin typeface="Calibri"/>
                <a:ea typeface="Calibri"/>
                <a:cs typeface="Calibri"/>
              </a:rPr>
              <a:t/>
            </a:r>
          </a:p>
          <a:p>
            <a:pPr algn="l">
              <a:spcAft>
                <a:spcPts val="500"/>
              </a:spcAft>
              <a:buNone/>
            </a:pPr>
            <a:r>
              <a:rPr sz="1100" b="0">
                <a:solidFill>
                  <a:srgbClr val="000000"/>
                </a:solidFill>
                <a:latin typeface="Calibri"/>
                <a:ea typeface="Calibri"/>
                <a:cs typeface="Calibri"/>
              </a:rPr>
              <a:t>/Users/amaruagueroj/Library/CloudStorage/GoogleDrive-amaruaguero2004@gmail.com/Mi unidad/Asesorias/Air-Pollution/docs/modelo_1km_horario.qmd; inventario local. ESA CCI 2000–2022. Población 2002–2035 incluye proyecciones. NASADEM ausente. La elevación efectiva proviene de insumos comunales y de vecinos.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spcAft>
                <a:spcPts val="500"/>
              </a:spcAft>
              <a:buNone/>
            </a:pPr>
            <a:r>
              <a:rPr sz="1100" b="0">
                <a:solidFill>
                  <a:srgbClr val="000000"/>
                </a:solidFill>
                <a:latin typeface="Calibri"/>
                <a:ea typeface="Calibri"/>
                <a:cs typeface="Calibri"/>
              </a:rPr>
              <a:t>Diapositiva 13 | Guion principal</a:t>
            </a:r>
          </a:p>
          <a:p>
            <a:pPr algn="l">
              <a:spcAft>
                <a:spcPts val="500"/>
              </a:spcAft>
              <a:buNone/>
            </a:pPr>
            <a:r>
              <a:t/>
            </a:r>
            <a:endParaRPr sz="1100" b="0">
              <a:solidFill>
                <a:srgbClr val="000000"/>
              </a:solidFill>
              <a:latin typeface="Calibri"/>
              <a:ea typeface="Calibri"/>
              <a:cs typeface="Calibri"/>
            </a:endParaRPr>
          </a:p>
          <a:p>
            <a:pPr algn="l">
              <a:spcAft>
                <a:spcPts val="500"/>
              </a:spcAft>
              <a:buNone/>
            </a:pPr>
            <a:r>
              <a:rPr sz="1100" b="0">
                <a:solidFill>
                  <a:srgbClr val="000000"/>
                </a:solidFill>
                <a:latin typeface="Calibri"/>
                <a:ea typeface="Calibri"/>
                <a:cs typeface="Calibri"/>
              </a:rPr>
              <a:t>GUION PARA LEER</a:t>
            </a:r>
          </a:p>
          <a:p>
            <a:pPr algn="l">
              <a:spcAft>
                <a:spcPts val="500"/>
              </a:spcAft>
              <a:buNone/>
            </a:pPr>
            <a:r>
              <a:rPr sz="1100" b="0">
                <a:solidFill>
                  <a:srgbClr val="000000"/>
                </a:solidFill>
                <a:latin typeface="Calibri"/>
                <a:ea typeface="Calibri"/>
                <a:cs typeface="Calibri"/>
              </a:rPr>
              <a:t/>
            </a:r>
          </a:p>
          <a:p>
            <a:pPr algn="l">
              <a:spcAft>
                <a:spcPts val="500"/>
              </a:spcAft>
              <a:buNone/>
            </a:pPr>
            <a:r>
              <a:t>Los archivos tienen funciones distintas: CSV y Parquet almacenan tablas; NetCDF organiza variables por espacio y tiempo. Las capas geográficas representan el territorio. La clave común combina celda y hora. Los registros de entrenamiento conservan además la estación de origen, para rastrear su procedencia y evitar mezclar registros incompatibles. Los originales se conservan separados de los archivos preparados para el análisis.</a:t>
            </a:r>
            <a:endParaRPr sz="1100" b="0">
              <a:solidFill>
                <a:srgbClr val="000000"/>
              </a:solidFill>
              <a:latin typeface="Calibri"/>
              <a:ea typeface="Calibri"/>
              <a:cs typeface="Calibri"/>
            </a:endParaRPr>
          </a:p>
          <a:p>
            <a:pPr algn="l">
              <a:spcAft>
                <a:spcPts val="500"/>
              </a:spcAft>
              <a:buNone/>
            </a:pPr>
            <a:r>
              <a:rPr sz="1100" b="0">
                <a:solidFill>
                  <a:srgbClr val="000000"/>
                </a:solidFill>
                <a:latin typeface="Calibri"/>
                <a:ea typeface="Calibri"/>
                <a:cs typeface="Calibri"/>
              </a:rPr>
              <a:t/>
            </a:r>
          </a:p>
          <a:p>
            <a:pPr algn="l">
              <a:spcAft>
                <a:spcPts val="500"/>
              </a:spcAft>
              <a:buNone/>
            </a:pPr>
            <a:r>
              <a:rPr sz="1100" b="0">
                <a:solidFill>
                  <a:srgbClr val="000000"/>
                </a:solidFill>
                <a:latin typeface="Calibri"/>
                <a:ea typeface="Calibri"/>
                <a:cs typeface="Calibri"/>
              </a:rPr>
              <a:t>APOYO PARA PREGUNTAS (NO LEER EN LA EXPOSICIÓN)</a:t>
            </a:r>
          </a:p>
          <a:p>
            <a:pPr algn="l">
              <a:spcAft>
                <a:spcPts val="500"/>
              </a:spcAft>
              <a:buNone/>
            </a:pPr>
            <a:r>
              <a:rPr sz="1100" b="0">
                <a:solidFill>
                  <a:srgbClr val="000000"/>
                </a:solidFill>
                <a:latin typeface="Calibri"/>
                <a:ea typeface="Calibri"/>
                <a:cs typeface="Calibri"/>
              </a:rPr>
              <a:t/>
            </a:r>
          </a:p>
          <a:p>
            <a:pPr algn="l">
              <a:spcAft>
                <a:spcPts val="500"/>
              </a:spcAft>
              <a:buNone/>
            </a:pPr>
            <a:r>
              <a:rPr sz="1100" b="0">
                <a:solidFill>
                  <a:srgbClr val="000000"/>
                </a:solidFill>
                <a:latin typeface="Calibri"/>
                <a:ea typeface="Calibri"/>
                <a:cs typeface="Calibri"/>
              </a:rPr>
              <a:t>CSV: tabla de texto con valores separados por comas. Parquet: formato tabular organizado por columnas. NetCDF: Network Common Data Form, para variables multidimensionales con coordenadas y metadatos. GeoTIFF: imagen raster con referencia geográfica. Shapefile: geometrías vectoriales y sus atributos. JSON: archivo estructurado para catálogos y metadatos. PDF y Excel contienen parte de los documentos originales. No es necesario leer los nombres ingleses de los formatos.</a:t>
            </a:r>
          </a:p>
          <a:p>
            <a:pPr algn="l">
              <a:spcAft>
                <a:spcPts val="500"/>
              </a:spcAft>
              <a:buNone/>
            </a:pPr>
            <a:r>
              <a:rPr sz="1100" b="0">
                <a:solidFill>
                  <a:srgbClr val="000000"/>
                </a:solidFill>
                <a:latin typeface="Calibri"/>
                <a:ea typeface="Calibri"/>
                <a:cs typeface="Calibri"/>
              </a:rPr>
              <a:t/>
            </a:r>
          </a:p>
          <a:p>
            <a:pPr algn="l">
              <a:spcAft>
                <a:spcPts val="500"/>
              </a:spcAft>
              <a:buNone/>
            </a:pPr>
            <a:r>
              <a:rPr sz="1100" b="0">
                <a:solidFill>
                  <a:srgbClr val="000000"/>
                </a:solidFill>
                <a:latin typeface="Calibri"/>
                <a:ea typeface="Calibri"/>
                <a:cs typeface="Calibri"/>
              </a:rPr>
              <a:t>FUENTES Y PRECISIONES (NO LEER EN LA EXPOSICIÓN)</a:t>
            </a:r>
          </a:p>
          <a:p>
            <a:pPr algn="l">
              <a:spcAft>
                <a:spcPts val="500"/>
              </a:spcAft>
              <a:buNone/>
            </a:pPr>
            <a:r>
              <a:rPr sz="1100" b="0">
                <a:solidFill>
                  <a:srgbClr val="000000"/>
                </a:solidFill>
                <a:latin typeface="Calibri"/>
                <a:ea typeface="Calibri"/>
                <a:cs typeface="Calibri"/>
              </a:rPr>
              <a:t/>
            </a:r>
          </a:p>
          <a:p>
            <a:pPr algn="l">
              <a:spcAft>
                <a:spcPts val="500"/>
              </a:spcAft>
              <a:buNone/>
            </a:pPr>
            <a:r>
              <a:rPr sz="1100" b="0">
                <a:solidFill>
                  <a:srgbClr val="000000"/>
                </a:solidFill>
                <a:latin typeface="Calibri"/>
                <a:ea typeface="Calibri"/>
                <a:cs typeface="Calibri"/>
              </a:rPr>
              <a:t>/Users/amaruagueroj/Library/CloudStorage/GoogleDrive-amaruaguero2004@gmail.com/Mi unidad/Asesorias/Air-Pollution/docs/modelo_1km_horario.qmd; scripts_modelo_1km/README.md; scripts_modelo_1km/_comun_modelo.py; docs/PREPARACION_MODELADO.md. SINCA: CSV originales, observaciones y solapamientos Parquet, manifiestos JSON. SNIFA: PDF/XLS/XLSX originales y processed/observaciones_horarias.parquet. MAIAC: MCD19A2.061/pixeles_horario/observaciones/*.parquet, derivado local de observaciones con QA. TROPOMI L2: NetCDF en S5P_TROPOMI/NO2/raw_chile, marcadores .nc.vacio no son observaciones. ACAG V6GL03: NetCDF mensual. ERA5/Land, MERRA-2 y CAMS: NetCDF tiempo × píxel, catálogos/enlaces Parquet. GEOS-CF: NetCDF legado, normalización mensual nativa pendiente. ESA CCI: GeoTIFF anual y fracciones Parquet. Población: Parquet comunal anual. Comunas, regiones y OSM: Shapefile. Relieve: CSV. Un panel de entrenamiento con filas observadas no equivale a un rectángulo completo de todas las celdas y horas. Varias estaciones pueden compartir celda y deben reservarse juntas.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spcAft>
                <a:spcPts val="500"/>
              </a:spcAft>
              <a:buNone/>
            </a:pPr>
            <a:r>
              <a:rPr sz="1100" b="0">
                <a:solidFill>
                  <a:srgbClr val="000000"/>
                </a:solidFill>
                <a:latin typeface="Calibri"/>
                <a:ea typeface="Calibri"/>
                <a:cs typeface="Calibri"/>
              </a:rPr>
              <a:t>Diapositiva 14 | Guion principal</a:t>
            </a:r>
          </a:p>
          <a:p>
            <a:pPr algn="l">
              <a:spcAft>
                <a:spcPts val="500"/>
              </a:spcAft>
              <a:buNone/>
            </a:pPr>
            <a:r>
              <a:t/>
            </a:r>
            <a:endParaRPr sz="1100" b="0">
              <a:solidFill>
                <a:srgbClr val="000000"/>
              </a:solidFill>
              <a:latin typeface="Calibri"/>
              <a:ea typeface="Calibri"/>
              <a:cs typeface="Calibri"/>
            </a:endParaRPr>
          </a:p>
          <a:p>
            <a:pPr algn="l">
              <a:spcAft>
                <a:spcPts val="500"/>
              </a:spcAft>
              <a:buNone/>
            </a:pPr>
            <a:r>
              <a:rPr sz="1100" b="0">
                <a:solidFill>
                  <a:srgbClr val="000000"/>
                </a:solidFill>
                <a:latin typeface="Calibri"/>
                <a:ea typeface="Calibri"/>
                <a:cs typeface="Calibri"/>
              </a:rPr>
              <a:t>GUION PARA LEER</a:t>
            </a:r>
          </a:p>
          <a:p>
            <a:pPr algn="l">
              <a:spcAft>
                <a:spcPts val="500"/>
              </a:spcAft>
              <a:buNone/>
            </a:pPr>
            <a:r>
              <a:rPr sz="1100" b="0">
                <a:solidFill>
                  <a:srgbClr val="000000"/>
                </a:solidFill>
                <a:latin typeface="Calibri"/>
                <a:ea typeface="Calibri"/>
                <a:cs typeface="Calibri"/>
              </a:rPr>
              <a:t/>
            </a:r>
          </a:p>
          <a:p>
            <a:pPr algn="l">
              <a:spcAft>
                <a:spcPts val="500"/>
              </a:spcAft>
              <a:buNone/>
            </a:pPr>
            <a:r>
              <a:t>La integración respeta la frecuencia original. CAMS aporta bloques de tres horas; los satélites se resumen por día y ACAG aporta valores mensuales. Compartir un valor mensual entre horas entrega contexto, pero no crea variación horaria observada. Debemos registrar la distancia entre celda y píxel asociado, y las pérdidas de cada unión.</a:t>
            </a:r>
            <a:endParaRPr sz="1100" b="0">
              <a:solidFill>
                <a:srgbClr val="000000"/>
              </a:solidFill>
              <a:latin typeface="Calibri"/>
              <a:ea typeface="Calibri"/>
              <a:cs typeface="Calibri"/>
            </a:endParaRPr>
          </a:p>
          <a:p>
            <a:pPr algn="l">
              <a:spcAft>
                <a:spcPts val="500"/>
              </a:spcAft>
              <a:buNone/>
            </a:pPr>
            <a:r>
              <a:rPr sz="1100" b="0">
                <a:solidFill>
                  <a:srgbClr val="000000"/>
                </a:solidFill>
                <a:latin typeface="Calibri"/>
                <a:ea typeface="Calibri"/>
                <a:cs typeface="Calibri"/>
              </a:rPr>
              <a:t/>
            </a:r>
          </a:p>
          <a:p>
            <a:pPr algn="l">
              <a:spcAft>
                <a:spcPts val="500"/>
              </a:spcAft>
              <a:buNone/>
            </a:pPr>
            <a:r>
              <a:rPr sz="1100" b="0">
                <a:solidFill>
                  <a:srgbClr val="000000"/>
                </a:solidFill>
                <a:latin typeface="Calibri"/>
                <a:ea typeface="Calibri"/>
                <a:cs typeface="Calibri"/>
              </a:rPr>
              <a:t>APOYO PARA PREGUNTAS (NO LEER EN LA EXPOSICIÓN)</a:t>
            </a:r>
          </a:p>
          <a:p>
            <a:pPr algn="l">
              <a:spcAft>
                <a:spcPts val="500"/>
              </a:spcAft>
              <a:buNone/>
            </a:pPr>
            <a:r>
              <a:rPr sz="1100" b="0">
                <a:solidFill>
                  <a:srgbClr val="000000"/>
                </a:solidFill>
                <a:latin typeface="Calibri"/>
                <a:ea typeface="Calibri"/>
                <a:cs typeface="Calibri"/>
              </a:rPr>
              <a:t/>
            </a:r>
          </a:p>
          <a:p>
            <a:pPr algn="l">
              <a:spcAft>
                <a:spcPts val="500"/>
              </a:spcAft>
              <a:buNone/>
            </a:pPr>
            <a:r>
              <a:rPr sz="1100" b="0">
                <a:solidFill>
                  <a:srgbClr val="000000"/>
                </a:solidFill>
                <a:latin typeface="Calibri"/>
                <a:ea typeface="Calibri"/>
                <a:cs typeface="Calibri"/>
              </a:rPr>
              <a:t>QA = Quality Assurance, indicador o filtro de calidad del producto. Una unión enlaza registros de distintas fuentes mediante claves compatibles de espacio y tiempo. Se debe contar cuántos registros siguen disponibles después de cada unión y distinguir ausencia original, descarte por calidad y falta de correspondencia. Las reglas detalladas abajo están identificadas en el código; su aplicación completa al panel final todavía debe verificarse.</a:t>
            </a:r>
          </a:p>
          <a:p>
            <a:pPr algn="l">
              <a:spcAft>
                <a:spcPts val="500"/>
              </a:spcAft>
              <a:buNone/>
            </a:pPr>
            <a:r>
              <a:rPr sz="1100" b="0">
                <a:solidFill>
                  <a:srgbClr val="000000"/>
                </a:solidFill>
                <a:latin typeface="Calibri"/>
                <a:ea typeface="Calibri"/>
                <a:cs typeface="Calibri"/>
              </a:rPr>
              <a:t/>
            </a:r>
          </a:p>
          <a:p>
            <a:pPr algn="l">
              <a:spcAft>
                <a:spcPts val="500"/>
              </a:spcAft>
              <a:buNone/>
            </a:pPr>
            <a:r>
              <a:rPr sz="1100" b="0">
                <a:solidFill>
                  <a:srgbClr val="000000"/>
                </a:solidFill>
                <a:latin typeface="Calibri"/>
                <a:ea typeface="Calibri"/>
                <a:cs typeface="Calibri"/>
              </a:rPr>
              <a:t>FUENTES Y PRECISIONES (NO LEER EN LA EXPOSICIÓN)</a:t>
            </a:r>
          </a:p>
          <a:p>
            <a:pPr algn="l">
              <a:spcAft>
                <a:spcPts val="500"/>
              </a:spcAft>
              <a:buNone/>
            </a:pPr>
            <a:r>
              <a:rPr sz="1100" b="0">
                <a:solidFill>
                  <a:srgbClr val="000000"/>
                </a:solidFill>
                <a:latin typeface="Calibri"/>
                <a:ea typeface="Calibri"/>
                <a:cs typeface="Calibri"/>
              </a:rPr>
              <a:t/>
            </a:r>
          </a:p>
          <a:p>
            <a:pPr algn="l">
              <a:spcAft>
                <a:spcPts val="500"/>
              </a:spcAft>
              <a:buNone/>
            </a:pPr>
            <a:r>
              <a:rPr sz="1100" b="0">
                <a:solidFill>
                  <a:srgbClr val="000000"/>
                </a:solidFill>
                <a:latin typeface="Calibri"/>
                <a:ea typeface="Calibri"/>
                <a:cs typeface="Calibri"/>
              </a:rPr>
              <a:t>/Users/amaruagueroj/Library/CloudStorage/GoogleDrive-amaruaguero2004@gmail.com/Mi unidad/Asesorias/Air-Pollution/docs/modelo_1km_horario.qmd; scripts_modelo_1km/_comun_modelo.py:97,373; scripts_modelo_1km/_features.py:137,289; covariables_estaticas.py:86. Reglas identificadas por lectura del código, sin acreditar regeneración de todos los artefactos. SINCA: lector adopta hora local UTC−4 y etiqueta de fin de intervalo, transformando t_local +4h −1h a inicio UTC. Esta decisión no certifica la semántica de todas las series históricas. MERRA-2/GEOS-CF: cuando todas las marcas son HH:30, resta 30 min. CAMS: piso al bloque de 3h. Precipitación: acumulados requieren diferencias y revisión de límites de intervalo/mes. MAIAC y TROPOMI se agregan por día y celda, enlazando por fecha local UTC−4. Los resúmenes y ventanas incluyen el día actual, por tanto sirven a reconstrucción retrospectiva, no acreditan disponibilidad a cada hora en tiempo real. MAIAC: píxel cercano hasta 1,5 km, QA estricta. TROPOMI: píxel válido hasta 5 km por órbita, qa≥0,75, con precisión y hora de pasada. ACAG entra 1:1 a la grilla. ERA5-Land puede sustituir píxel sin valor por tierra válida hasta16 km, con bandera. ACAG desde2025 usa climatología2018–2024. Suelo2023–2026 conserva2022, población2000–2001 usa2002. Propuesta de cierre: tabla de trazabilidad con fuente/versión, QA, reloj, distancia, sustitución y pérdidas por unión. No todas las banderas existentes se propagan actualmente al panel. Comparar conteos antes/después por contaminante y periodo, sin descartar silenciosamente toda fila con algún predictor ausente.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spcAft>
                <a:spcPts val="500"/>
              </a:spcAft>
              <a:buNone/>
            </a:pPr>
            <a:r>
              <a:rPr sz="1100" b="0">
                <a:solidFill>
                  <a:srgbClr val="000000"/>
                </a:solidFill>
                <a:latin typeface="Calibri"/>
                <a:ea typeface="Calibri"/>
                <a:cs typeface="Calibri"/>
              </a:rPr>
              <a:t>Diapositiva 15 | Guion principal</a:t>
            </a:r>
          </a:p>
          <a:p>
            <a:pPr algn="l">
              <a:spcAft>
                <a:spcPts val="500"/>
              </a:spcAft>
              <a:buNone/>
            </a:pPr>
            <a:r>
              <a:t/>
            </a:r>
            <a:endParaRPr sz="1100" b="0">
              <a:solidFill>
                <a:srgbClr val="000000"/>
              </a:solidFill>
              <a:latin typeface="Calibri"/>
              <a:ea typeface="Calibri"/>
              <a:cs typeface="Calibri"/>
            </a:endParaRPr>
          </a:p>
          <a:p>
            <a:pPr algn="l">
              <a:spcAft>
                <a:spcPts val="500"/>
              </a:spcAft>
              <a:buNone/>
            </a:pPr>
            <a:r>
              <a:rPr sz="1100" b="0">
                <a:solidFill>
                  <a:srgbClr val="000000"/>
                </a:solidFill>
                <a:latin typeface="Calibri"/>
                <a:ea typeface="Calibri"/>
                <a:cs typeface="Calibri"/>
              </a:rPr>
              <a:t>GUION PARA LEER</a:t>
            </a:r>
          </a:p>
          <a:p>
            <a:pPr algn="l">
              <a:spcAft>
                <a:spcPts val="500"/>
              </a:spcAft>
              <a:buNone/>
            </a:pPr>
            <a:r>
              <a:rPr sz="1100" b="0">
                <a:solidFill>
                  <a:srgbClr val="000000"/>
                </a:solidFill>
                <a:latin typeface="Calibri"/>
                <a:ea typeface="Calibri"/>
                <a:cs typeface="Calibri"/>
              </a:rPr>
              <a:t/>
            </a:r>
          </a:p>
          <a:p>
            <a:pPr algn="l">
              <a:spcAft>
                <a:spcPts val="500"/>
              </a:spcAft>
              <a:buNone/>
            </a:pPr>
            <a:r>
              <a:t>Compararemos diez enfoques por contaminante. Los métodos flexibles, como bosques aleatorios y redes neuronales, representan relaciones complejas. Los espaciales consideran semejanzas entre lugares cercanos. Los ensambles combinan estimaciones; las alertas abordan valores altos y requieren criterios propios. Además del error, examinaremos qué variables aportan información, cuánto cuesta cada método y dónde falla.</a:t>
            </a:r>
            <a:endParaRPr sz="1100" b="0">
              <a:solidFill>
                <a:srgbClr val="000000"/>
              </a:solidFill>
              <a:latin typeface="Calibri"/>
              <a:ea typeface="Calibri"/>
              <a:cs typeface="Calibri"/>
            </a:endParaRPr>
          </a:p>
          <a:p>
            <a:pPr algn="l">
              <a:spcAft>
                <a:spcPts val="500"/>
              </a:spcAft>
              <a:buNone/>
            </a:pPr>
            <a:r>
              <a:rPr sz="1100" b="0">
                <a:solidFill>
                  <a:srgbClr val="000000"/>
                </a:solidFill>
                <a:latin typeface="Calibri"/>
                <a:ea typeface="Calibri"/>
                <a:cs typeface="Calibri"/>
              </a:rPr>
              <a:t/>
            </a:r>
          </a:p>
          <a:p>
            <a:pPr algn="l">
              <a:spcAft>
                <a:spcPts val="500"/>
              </a:spcAft>
              <a:buNone/>
            </a:pPr>
            <a:r>
              <a:rPr sz="1100" b="0">
                <a:solidFill>
                  <a:srgbClr val="000000"/>
                </a:solidFill>
                <a:latin typeface="Calibri"/>
                <a:ea typeface="Calibri"/>
                <a:cs typeface="Calibri"/>
              </a:rPr>
              <a:t>APOYO PARA PREGUNTAS (NO LEER EN LA EXPOSICIÓN)</a:t>
            </a:r>
          </a:p>
          <a:p>
            <a:pPr algn="l">
              <a:spcAft>
                <a:spcPts val="500"/>
              </a:spcAft>
              <a:buNone/>
            </a:pPr>
            <a:r>
              <a:rPr sz="1100" b="0">
                <a:solidFill>
                  <a:srgbClr val="000000"/>
                </a:solidFill>
                <a:latin typeface="Calibri"/>
                <a:ea typeface="Calibri"/>
                <a:cs typeface="Calibri"/>
              </a:rPr>
              <a:t/>
            </a:r>
          </a:p>
          <a:p>
            <a:pPr algn="l">
              <a:spcAft>
                <a:spcPts val="500"/>
              </a:spcAft>
              <a:buNone/>
            </a:pPr>
            <a:r>
              <a:rPr sz="1100" b="0">
                <a:solidFill>
                  <a:srgbClr val="000000"/>
                </a:solidFill>
                <a:latin typeface="Calibri"/>
                <a:ea typeface="Calibri"/>
                <a:cs typeface="Calibri"/>
              </a:rPr>
              <a:t>LightGBM: árboles que se combinan secuencialmente, corrigiendo errores de etapas anteriores; ajuste log indica transformación logarítmica documentada. RF = Random Forest, bosques aleatorios. MLP = Multi-Layer Perceptron, perceptrón multicapa. GP = Gaussian Process, proceso gaussiano; Matérn describe una estructura de covarianza. GWR = Geographically Weighted Regression, regresión geográficamente ponderada. Kriging aprovecha la dependencia espacial de los residuos. Modelo mixto combina efectos generales y efectos por grupo. Apilado combina predicciones mediante otro modelo; ridge es regresión con penalización. El cuantil 0,80 deja aproximadamente 80% de los valores de referencia por debajo. Las alertas y la estimación de concentración tienen objetivos distintos; los criterios deben fijarse antes de evaluar.</a:t>
            </a:r>
          </a:p>
          <a:p>
            <a:pPr algn="l">
              <a:spcAft>
                <a:spcPts val="500"/>
              </a:spcAft>
              <a:buNone/>
            </a:pPr>
            <a:r>
              <a:rPr sz="1100" b="0">
                <a:solidFill>
                  <a:srgbClr val="000000"/>
                </a:solidFill>
                <a:latin typeface="Calibri"/>
                <a:ea typeface="Calibri"/>
                <a:cs typeface="Calibri"/>
              </a:rPr>
              <a:t/>
            </a:r>
          </a:p>
          <a:p>
            <a:pPr algn="l">
              <a:spcAft>
                <a:spcPts val="500"/>
              </a:spcAft>
              <a:buNone/>
            </a:pPr>
            <a:r>
              <a:rPr sz="1100" b="0">
                <a:solidFill>
                  <a:srgbClr val="000000"/>
                </a:solidFill>
                <a:latin typeface="Calibri"/>
                <a:ea typeface="Calibri"/>
                <a:cs typeface="Calibri"/>
              </a:rPr>
              <a:t>FUENTES Y PRECISIONES (NO LEER EN LA EXPOSICIÓN)</a:t>
            </a:r>
          </a:p>
          <a:p>
            <a:pPr algn="l">
              <a:spcAft>
                <a:spcPts val="500"/>
              </a:spcAft>
              <a:buNone/>
            </a:pPr>
            <a:r>
              <a:rPr sz="1100" b="0">
                <a:solidFill>
                  <a:srgbClr val="000000"/>
                </a:solidFill>
                <a:latin typeface="Calibri"/>
                <a:ea typeface="Calibri"/>
                <a:cs typeface="Calibri"/>
              </a:rPr>
              <a:t/>
            </a:r>
          </a:p>
          <a:p>
            <a:pPr algn="l">
              <a:spcAft>
                <a:spcPts val="500"/>
              </a:spcAft>
              <a:buNone/>
            </a:pPr>
            <a:r>
              <a:rPr sz="1100" b="0">
                <a:solidFill>
                  <a:srgbClr val="000000"/>
                </a:solidFill>
                <a:latin typeface="Calibri"/>
                <a:ea typeface="Calibri"/>
                <a:cs typeface="Calibri"/>
              </a:rPr>
              <a:t>PPT avance 3, D5 y notas; scripts_modelo_1km/README.md, decisiones; feedback 3, 03:15–04:33. Orden en PPT previa: LGBM, RF, MLP, GP, GWR, regresión-kriging, mixto, interpolación, LGBM alertas, apilado. GP: Matérn; mixto: efectos por hora local; apilado: ridge sobre LGBM + RF + MLP. No afirmar validación anidada completa de bases ni ganador.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spcAft>
                <a:spcPts val="500"/>
              </a:spcAft>
              <a:buNone/>
            </a:pPr>
            <a:r>
              <a:rPr sz="1100" b="0">
                <a:solidFill>
                  <a:srgbClr val="000000"/>
                </a:solidFill>
                <a:latin typeface="Calibri"/>
                <a:ea typeface="Calibri"/>
                <a:cs typeface="Calibri"/>
              </a:rPr>
              <a:t>Diapositiva 16 | Guion principal</a:t>
            </a:r>
          </a:p>
          <a:p>
            <a:pPr algn="l">
              <a:spcAft>
                <a:spcPts val="500"/>
              </a:spcAft>
              <a:buNone/>
            </a:pPr>
            <a:r>
              <a:t/>
            </a:r>
            <a:endParaRPr sz="1100" b="0">
              <a:solidFill>
                <a:srgbClr val="000000"/>
              </a:solidFill>
              <a:latin typeface="Calibri"/>
              <a:ea typeface="Calibri"/>
              <a:cs typeface="Calibri"/>
            </a:endParaRPr>
          </a:p>
          <a:p>
            <a:pPr algn="l">
              <a:spcAft>
                <a:spcPts val="500"/>
              </a:spcAft>
              <a:buNone/>
            </a:pPr>
            <a:r>
              <a:rPr sz="1100" b="0">
                <a:solidFill>
                  <a:srgbClr val="000000"/>
                </a:solidFill>
                <a:latin typeface="Calibri"/>
                <a:ea typeface="Calibri"/>
                <a:cs typeface="Calibri"/>
              </a:rPr>
              <a:t>GUION PARA LEER</a:t>
            </a:r>
          </a:p>
          <a:p>
            <a:pPr algn="l">
              <a:spcAft>
                <a:spcPts val="500"/>
              </a:spcAft>
              <a:buNone/>
            </a:pPr>
            <a:r>
              <a:rPr sz="1100" b="0">
                <a:solidFill>
                  <a:srgbClr val="000000"/>
                </a:solidFill>
                <a:latin typeface="Calibri"/>
                <a:ea typeface="Calibri"/>
                <a:cs typeface="Calibri"/>
              </a:rPr>
              <a:t/>
            </a:r>
          </a:p>
          <a:p>
            <a:pPr algn="l">
              <a:spcAft>
                <a:spcPts val="500"/>
              </a:spcAft>
              <a:buNone/>
            </a:pPr>
            <a:r>
              <a:t>La evaluación debe representar el uso del producto. Reservaremos sitios, entornos de diez kilómetros, regiones y bloques de cuatro años para examinar lugares y periodos nuevos. Ajustes, imputación y escalamiento usarán solo el entrenamiento, con particiones internas para seleccionar modelos; conservaremos una prueba externa. Junto con RMSE proponemos MAE, el error absoluto medio, que resume la magnitud de los errores, y sesgo, que indica sobreestimación o subestimación. También evaluaremos extremos e incertidumbre territorial.</a:t>
            </a:r>
            <a:endParaRPr sz="1100" b="0">
              <a:solidFill>
                <a:srgbClr val="000000"/>
              </a:solidFill>
              <a:latin typeface="Calibri"/>
              <a:ea typeface="Calibri"/>
              <a:cs typeface="Calibri"/>
            </a:endParaRPr>
          </a:p>
          <a:p>
            <a:pPr algn="l">
              <a:spcAft>
                <a:spcPts val="500"/>
              </a:spcAft>
              <a:buNone/>
            </a:pPr>
            <a:r>
              <a:rPr sz="1100" b="0">
                <a:solidFill>
                  <a:srgbClr val="000000"/>
                </a:solidFill>
                <a:latin typeface="Calibri"/>
                <a:ea typeface="Calibri"/>
                <a:cs typeface="Calibri"/>
              </a:rPr>
              <a:t/>
            </a:r>
          </a:p>
          <a:p>
            <a:pPr algn="l">
              <a:spcAft>
                <a:spcPts val="500"/>
              </a:spcAft>
              <a:buNone/>
            </a:pPr>
            <a:r>
              <a:rPr sz="1100" b="0">
                <a:solidFill>
                  <a:srgbClr val="000000"/>
                </a:solidFill>
                <a:latin typeface="Calibri"/>
                <a:ea typeface="Calibri"/>
                <a:cs typeface="Calibri"/>
              </a:rPr>
              <a:t>APOYO PARA PREGUNTAS (NO LEER EN LA EXPOSICIÓN)</a:t>
            </a:r>
          </a:p>
          <a:p>
            <a:pPr algn="l">
              <a:spcAft>
                <a:spcPts val="500"/>
              </a:spcAft>
              <a:buNone/>
            </a:pPr>
            <a:r>
              <a:rPr sz="1100" b="0">
                <a:solidFill>
                  <a:srgbClr val="000000"/>
                </a:solidFill>
                <a:latin typeface="Calibri"/>
                <a:ea typeface="Calibri"/>
                <a:cs typeface="Calibri"/>
              </a:rPr>
              <a:t/>
            </a:r>
          </a:p>
          <a:p>
            <a:pPr algn="l">
              <a:spcAft>
                <a:spcPts val="500"/>
              </a:spcAft>
              <a:buNone/>
            </a:pPr>
            <a:r>
              <a:rPr sz="1100" b="0">
                <a:solidFill>
                  <a:srgbClr val="000000"/>
                </a:solidFill>
                <a:latin typeface="Calibri"/>
                <a:ea typeface="Calibri"/>
                <a:cs typeface="Calibri"/>
              </a:rPr>
              <a:t>Las siglas se explican por su operación en este proyecto: LOSO reserva el sitio y todas las estaciones de su celda; LBO reserva además estaciones del entorno de 10 km; LRO reserva una región completa; LPO reserva bloques históricos de cuatro años. La partición interna permite seleccionar modelos sin consultar la prueba externa. MAE = Mean Absolute Error: promedio del valor absoluto de las diferencias entre estimación y observación; mismas unidades del contaminante. Sesgo positivo indica sobreestimación cuando se define como estimación menos observación. Imputación significa completar entradas faltantes mediante una regla; escalamiento transforma la escala numérica. Ambos se ajustan solo con entrenamiento. https://scikit-learn.org/stable/modules/model_evaluation.html.</a:t>
            </a:r>
          </a:p>
          <a:p>
            <a:pPr algn="l">
              <a:spcAft>
                <a:spcPts val="500"/>
              </a:spcAft>
              <a:buNone/>
            </a:pPr>
            <a:r>
              <a:rPr sz="1100" b="0">
                <a:solidFill>
                  <a:srgbClr val="000000"/>
                </a:solidFill>
                <a:latin typeface="Calibri"/>
                <a:ea typeface="Calibri"/>
                <a:cs typeface="Calibri"/>
              </a:rPr>
              <a:t/>
            </a:r>
          </a:p>
          <a:p>
            <a:pPr algn="l">
              <a:spcAft>
                <a:spcPts val="500"/>
              </a:spcAft>
              <a:buNone/>
            </a:pPr>
            <a:r>
              <a:rPr sz="1100" b="0">
                <a:solidFill>
                  <a:srgbClr val="000000"/>
                </a:solidFill>
                <a:latin typeface="Calibri"/>
                <a:ea typeface="Calibri"/>
                <a:cs typeface="Calibri"/>
              </a:rPr>
              <a:t>FUENTES Y PRECISIONES (NO LEER EN LA EXPOSICIÓN)</a:t>
            </a:r>
          </a:p>
          <a:p>
            <a:pPr algn="l">
              <a:spcAft>
                <a:spcPts val="500"/>
              </a:spcAft>
              <a:buNone/>
            </a:pPr>
            <a:r>
              <a:rPr sz="1100" b="0">
                <a:solidFill>
                  <a:srgbClr val="000000"/>
                </a:solidFill>
                <a:latin typeface="Calibri"/>
                <a:ea typeface="Calibri"/>
                <a:cs typeface="Calibri"/>
              </a:rPr>
              <a:t/>
            </a:r>
          </a:p>
          <a:p>
            <a:pPr algn="l">
              <a:spcAft>
                <a:spcPts val="500"/>
              </a:spcAft>
              <a:buNone/>
            </a:pPr>
            <a:r>
              <a:rPr sz="1100" b="0">
                <a:solidFill>
                  <a:srgbClr val="000000"/>
                </a:solidFill>
                <a:latin typeface="Calibri"/>
                <a:ea typeface="Calibri"/>
                <a:cs typeface="Calibri"/>
              </a:rPr>
              <a:t>/Users/amaruagueroj/Library/CloudStorage/GoogleDrive-amaruaguero2004@gmail.com/Mi unidad/Asesorias/Air-Pollution/docs/modelo_1km_horario.qmd; Roberts et al. (2017), https://doi.org/10.1111/ecog.02881. Varma y Simon (2006), https://doi.org/10.1186/1471-2105-7-91. RMSE es la raíz del error cuadrático medio, en unidades del contaminante. Su énfasis en errores grandes motiva la propuesta, pero debe acompañarse con MAE y sesgo y acordarse antes de la prueba externa. Comparación de los mismos pares observación-predicción por contaminante. El protocolo requiere verificar la exclusión de la estación reservada en el vecindario de todas las filas, también en el caso de una sola estación. La independencia frente a monitores usados por productos externos debe examinarse. LPO histórico evalúa reconstrucción retrospectiva, no pronóstico.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spcAft>
                <a:spcPts val="500"/>
              </a:spcAft>
              <a:buNone/>
            </a:pPr>
            <a:r>
              <a:rPr sz="1100" b="0">
                <a:solidFill>
                  <a:srgbClr val="000000"/>
                </a:solidFill>
                <a:latin typeface="Calibri"/>
                <a:ea typeface="Calibri"/>
                <a:cs typeface="Calibri"/>
              </a:rPr>
              <a:t>Diapositiva 17 | Guion principal</a:t>
            </a:r>
          </a:p>
          <a:p>
            <a:pPr algn="l">
              <a:spcAft>
                <a:spcPts val="500"/>
              </a:spcAft>
              <a:buNone/>
            </a:pPr>
            <a:r>
              <a:t/>
            </a:r>
            <a:endParaRPr sz="1100" b="0">
              <a:solidFill>
                <a:srgbClr val="000000"/>
              </a:solidFill>
              <a:latin typeface="Calibri"/>
              <a:ea typeface="Calibri"/>
              <a:cs typeface="Calibri"/>
            </a:endParaRPr>
          </a:p>
          <a:p>
            <a:pPr algn="l">
              <a:spcAft>
                <a:spcPts val="500"/>
              </a:spcAft>
              <a:buNone/>
            </a:pPr>
            <a:r>
              <a:rPr sz="1100" b="0">
                <a:solidFill>
                  <a:srgbClr val="000000"/>
                </a:solidFill>
                <a:latin typeface="Calibri"/>
                <a:ea typeface="Calibri"/>
                <a:cs typeface="Calibri"/>
              </a:rPr>
              <a:t>GUION PARA LEER</a:t>
            </a:r>
          </a:p>
          <a:p>
            <a:pPr algn="l">
              <a:spcAft>
                <a:spcPts val="500"/>
              </a:spcAft>
              <a:buNone/>
            </a:pPr>
            <a:r>
              <a:rPr sz="1100" b="0">
                <a:solidFill>
                  <a:srgbClr val="000000"/>
                </a:solidFill>
                <a:latin typeface="Calibri"/>
                <a:ea typeface="Calibri"/>
                <a:cs typeface="Calibri"/>
              </a:rPr>
              <a:t/>
            </a:r>
          </a:p>
          <a:p>
            <a:pPr algn="l">
              <a:spcAft>
                <a:spcPts val="500"/>
              </a:spcAft>
              <a:buNone/>
            </a:pPr>
            <a:r>
              <a:t>Para cada contaminante y hora proponemos resumir una comuna ponderando cada celda por el área que ocupa dentro de ella. Mayor superficie implica mayor aporte al promedio. Usaremos solo áreas con estimación e informaremos qué proporción de la comuna representan. Sin estimaciones, queda sin dato. Esta medida describe concentración territorial, no exposición individual. La cobertura mínima aún debe acordarse antes de publicar.</a:t>
            </a:r>
            <a:endParaRPr sz="1100" b="0">
              <a:solidFill>
                <a:srgbClr val="000000"/>
              </a:solidFill>
              <a:latin typeface="Calibri"/>
              <a:ea typeface="Calibri"/>
              <a:cs typeface="Calibri"/>
            </a:endParaRPr>
          </a:p>
          <a:p>
            <a:pPr algn="l">
              <a:spcAft>
                <a:spcPts val="500"/>
              </a:spcAft>
              <a:buNone/>
            </a:pPr>
            <a:r>
              <a:rPr sz="1100" b="0">
                <a:solidFill>
                  <a:srgbClr val="000000"/>
                </a:solidFill>
                <a:latin typeface="Calibri"/>
                <a:ea typeface="Calibri"/>
                <a:cs typeface="Calibri"/>
              </a:rPr>
              <a:t/>
            </a:r>
          </a:p>
          <a:p>
            <a:pPr algn="l">
              <a:spcAft>
                <a:spcPts val="500"/>
              </a:spcAft>
              <a:buNone/>
            </a:pPr>
            <a:r>
              <a:rPr sz="1100" b="0">
                <a:solidFill>
                  <a:srgbClr val="000000"/>
                </a:solidFill>
                <a:latin typeface="Calibri"/>
                <a:ea typeface="Calibri"/>
                <a:cs typeface="Calibri"/>
              </a:rPr>
              <a:t>FUENTES Y PRECISIONES (NO LEER EN LA EXPOSICIÓN)</a:t>
            </a:r>
          </a:p>
          <a:p>
            <a:pPr algn="l">
              <a:spcAft>
                <a:spcPts val="500"/>
              </a:spcAft>
              <a:buNone/>
            </a:pPr>
            <a:r>
              <a:rPr sz="1100" b="0">
                <a:solidFill>
                  <a:srgbClr val="000000"/>
                </a:solidFill>
                <a:latin typeface="Calibri"/>
                <a:ea typeface="Calibri"/>
                <a:cs typeface="Calibri"/>
              </a:rPr>
              <a:t/>
            </a:r>
          </a:p>
          <a:p>
            <a:pPr algn="l">
              <a:spcAft>
                <a:spcPts val="500"/>
              </a:spcAft>
              <a:buNone/>
            </a:pPr>
            <a:r>
              <a:rPr sz="1100" b="0">
                <a:solidFill>
                  <a:srgbClr val="000000"/>
                </a:solidFill>
                <a:latin typeface="Calibri"/>
                <a:ea typeface="Calibri"/>
                <a:cs typeface="Calibri"/>
              </a:rPr>
              <a:t>/Users/amaruagueroj/Library/CloudStorage/GoogleDrive-amaruaguero2004@gmail.com/Mi unidad/Asesorias/Air-Pollution/docs/modelo_1km_horario.qmd; formulación del producto propuesto. C_comuna,t = sum(A_intersección,i × C_i,t) / sum(A_intersección,i) para celdas con estimación. Fracción cubierta = sum(A_intersección con estimación) / área comunal. Usar áreas geodésicas o de igual área y evitar duplicación de intersecciones. Agregar a día solo después de definir completitud horaria, dominio y reloj. La regla representa concentración por superficie. Una media ponderada por población respondería a otro estimando. La incertidumbre comunal no se obtiene promediando errores independientes: la dependencia espacial debe considerarse.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spcAft>
                <a:spcPts val="500"/>
              </a:spcAft>
              <a:buNone/>
            </a:pPr>
            <a:r>
              <a:rPr sz="1100" b="0">
                <a:solidFill>
                  <a:srgbClr val="000000"/>
                </a:solidFill>
                <a:latin typeface="Calibri"/>
                <a:ea typeface="Calibri"/>
                <a:cs typeface="Calibri"/>
              </a:rPr>
              <a:t>Diapositiva 18 | Guion principal</a:t>
            </a:r>
          </a:p>
          <a:p>
            <a:pPr algn="l">
              <a:spcAft>
                <a:spcPts val="500"/>
              </a:spcAft>
              <a:buNone/>
            </a:pPr>
            <a:r>
              <a:t/>
            </a:r>
            <a:endParaRPr sz="1100" b="0">
              <a:solidFill>
                <a:srgbClr val="000000"/>
              </a:solidFill>
              <a:latin typeface="Calibri"/>
              <a:ea typeface="Calibri"/>
              <a:cs typeface="Calibri"/>
            </a:endParaRPr>
          </a:p>
          <a:p>
            <a:pPr algn="l">
              <a:spcAft>
                <a:spcPts val="500"/>
              </a:spcAft>
              <a:buNone/>
            </a:pPr>
            <a:r>
              <a:rPr sz="1100" b="0">
                <a:solidFill>
                  <a:srgbClr val="000000"/>
                </a:solidFill>
                <a:latin typeface="Calibri"/>
                <a:ea typeface="Calibri"/>
                <a:cs typeface="Calibri"/>
              </a:rPr>
              <a:t>GUION PARA LEER</a:t>
            </a:r>
          </a:p>
          <a:p>
            <a:pPr algn="l">
              <a:spcAft>
                <a:spcPts val="500"/>
              </a:spcAft>
              <a:buNone/>
            </a:pPr>
            <a:r>
              <a:rPr sz="1100" b="0">
                <a:solidFill>
                  <a:srgbClr val="000000"/>
                </a:solidFill>
                <a:latin typeface="Calibri"/>
                <a:ea typeface="Calibri"/>
                <a:cs typeface="Calibri"/>
              </a:rPr>
              <a:t/>
            </a:r>
          </a:p>
          <a:p>
            <a:pPr algn="l">
              <a:spcAft>
                <a:spcPts val="500"/>
              </a:spcAft>
              <a:buNone/>
            </a:pPr>
            <a:r>
              <a:t>Comunidades y municipios podrían utilizar estos mapas. Una zona con pocos monitores puede tener mayor incertidumbre, aunque se vea igual de detallada. Debemos informar cobertura y límites, distinguir observaciones de estimaciones y evaluar episodios extremos. Conservar la procedencia permite revisar cómo se obtuvo cada resultado. El objetivo es evitar una falsa sensación de precisión territorial.</a:t>
            </a:r>
            <a:endParaRPr sz="1100" b="0">
              <a:solidFill>
                <a:srgbClr val="000000"/>
              </a:solidFill>
              <a:latin typeface="Calibri"/>
              <a:ea typeface="Calibri"/>
              <a:cs typeface="Calibri"/>
            </a:endParaRPr>
          </a:p>
          <a:p>
            <a:pPr algn="l">
              <a:spcAft>
                <a:spcPts val="500"/>
              </a:spcAft>
              <a:buNone/>
            </a:pPr>
            <a:r>
              <a:rPr sz="1100" b="0">
                <a:solidFill>
                  <a:srgbClr val="000000"/>
                </a:solidFill>
                <a:latin typeface="Calibri"/>
                <a:ea typeface="Calibri"/>
                <a:cs typeface="Calibri"/>
              </a:rPr>
              <a:t/>
            </a:r>
          </a:p>
          <a:p>
            <a:pPr algn="l">
              <a:spcAft>
                <a:spcPts val="500"/>
              </a:spcAft>
              <a:buNone/>
            </a:pPr>
            <a:r>
              <a:rPr sz="1100" b="0">
                <a:solidFill>
                  <a:srgbClr val="000000"/>
                </a:solidFill>
                <a:latin typeface="Calibri"/>
                <a:ea typeface="Calibri"/>
                <a:cs typeface="Calibri"/>
              </a:rPr>
              <a:t>FUENTES Y PRECISIONES (NO LEER EN LA EXPOSICIÓN)</a:t>
            </a:r>
          </a:p>
          <a:p>
            <a:pPr algn="l">
              <a:spcAft>
                <a:spcPts val="500"/>
              </a:spcAft>
              <a:buNone/>
            </a:pPr>
            <a:r>
              <a:rPr sz="1100" b="0">
                <a:solidFill>
                  <a:srgbClr val="000000"/>
                </a:solidFill>
                <a:latin typeface="Calibri"/>
                <a:ea typeface="Calibri"/>
                <a:cs typeface="Calibri"/>
              </a:rPr>
              <a:t/>
            </a:r>
          </a:p>
          <a:p>
            <a:pPr algn="l">
              <a:spcAft>
                <a:spcPts val="500"/>
              </a:spcAft>
              <a:buNone/>
            </a:pPr>
            <a:r>
              <a:rPr sz="1100" b="0">
                <a:solidFill>
                  <a:srgbClr val="000000"/>
                </a:solidFill>
                <a:latin typeface="Calibri"/>
                <a:ea typeface="Calibri"/>
                <a:cs typeface="Calibri"/>
              </a:rPr>
              <a:t>Semana 6: Clase 4 Alcances éticos, análisis por etapas y principios; Semana 7: Ética de IA y datos y Directrices para ciencia de datos responsable. Feedback 3, 05:16–05:40. Mitigaciones descritas como propuestas, sin afirmar equidad de desempeño ni privacidad certificada.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spcAft>
                <a:spcPts val="500"/>
              </a:spcAft>
              <a:buNone/>
            </a:pPr>
            <a:r>
              <a:rPr sz="1100" b="0">
                <a:solidFill>
                  <a:srgbClr val="000000"/>
                </a:solidFill>
                <a:latin typeface="Calibri"/>
                <a:ea typeface="Calibri"/>
                <a:cs typeface="Calibri"/>
              </a:rPr>
              <a:t>Diapositiva 19 | Guion principal</a:t>
            </a:r>
          </a:p>
          <a:p>
            <a:pPr algn="l">
              <a:spcAft>
                <a:spcPts val="500"/>
              </a:spcAft>
              <a:buNone/>
            </a:pPr>
            <a:r>
              <a:t/>
            </a:r>
            <a:endParaRPr sz="1100" b="0">
              <a:solidFill>
                <a:srgbClr val="000000"/>
              </a:solidFill>
              <a:latin typeface="Calibri"/>
              <a:ea typeface="Calibri"/>
              <a:cs typeface="Calibri"/>
            </a:endParaRPr>
          </a:p>
          <a:p>
            <a:pPr algn="l">
              <a:spcAft>
                <a:spcPts val="500"/>
              </a:spcAft>
              <a:buNone/>
            </a:pPr>
            <a:r>
              <a:rPr sz="1100" b="0">
                <a:solidFill>
                  <a:srgbClr val="000000"/>
                </a:solidFill>
                <a:latin typeface="Calibri"/>
                <a:ea typeface="Calibri"/>
                <a:cs typeface="Calibri"/>
              </a:rPr>
              <a:t>GUION PARA LEER</a:t>
            </a:r>
          </a:p>
          <a:p>
            <a:pPr algn="l">
              <a:spcAft>
                <a:spcPts val="500"/>
              </a:spcAft>
              <a:buNone/>
            </a:pPr>
            <a:r>
              <a:rPr sz="1100" b="0">
                <a:solidFill>
                  <a:srgbClr val="000000"/>
                </a:solidFill>
                <a:latin typeface="Calibri"/>
                <a:ea typeface="Calibri"/>
                <a:cs typeface="Calibri"/>
              </a:rPr>
              <a:t/>
            </a:r>
          </a:p>
          <a:p>
            <a:pPr algn="l">
              <a:spcAft>
                <a:spcPts val="500"/>
              </a:spcAft>
              <a:buNone/>
            </a:pPr>
            <a:r>
              <a:t>El inventario contiene ciento siete estaciones y cuatrocientas tres series. Cada serie corresponde a una estación y un contaminante; una estación puede aportar varias. El gráfico muestra diferencias de disponibilidad entre partículas y gases. Estos conteos no equivalen al porcentaje de Chile cubierto.</a:t>
            </a:r>
            <a:endParaRPr sz="1100" b="0">
              <a:solidFill>
                <a:srgbClr val="000000"/>
              </a:solidFill>
              <a:latin typeface="Calibri"/>
              <a:ea typeface="Calibri"/>
              <a:cs typeface="Calibri"/>
            </a:endParaRPr>
          </a:p>
          <a:p>
            <a:pPr algn="l">
              <a:spcAft>
                <a:spcPts val="500"/>
              </a:spcAft>
              <a:buNone/>
            </a:pPr>
            <a:r>
              <a:rPr sz="1100" b="0">
                <a:solidFill>
                  <a:srgbClr val="000000"/>
                </a:solidFill>
                <a:latin typeface="Calibri"/>
                <a:ea typeface="Calibri"/>
                <a:cs typeface="Calibri"/>
              </a:rPr>
              <a:t/>
            </a:r>
          </a:p>
          <a:p>
            <a:pPr algn="l">
              <a:spcAft>
                <a:spcPts val="500"/>
              </a:spcAft>
              <a:buNone/>
            </a:pPr>
            <a:r>
              <a:rPr sz="1100" b="0">
                <a:solidFill>
                  <a:srgbClr val="000000"/>
                </a:solidFill>
                <a:latin typeface="Calibri"/>
                <a:ea typeface="Calibri"/>
                <a:cs typeface="Calibri"/>
              </a:rPr>
              <a:t>FUENTES Y PRECISIONES (NO LEER EN LA EXPOSICIÓN)</a:t>
            </a:r>
          </a:p>
          <a:p>
            <a:pPr algn="l">
              <a:spcAft>
                <a:spcPts val="500"/>
              </a:spcAft>
              <a:buNone/>
            </a:pPr>
            <a:r>
              <a:rPr sz="1100" b="0">
                <a:solidFill>
                  <a:srgbClr val="000000"/>
                </a:solidFill>
                <a:latin typeface="Calibri"/>
                <a:ea typeface="Calibri"/>
                <a:cs typeface="Calibri"/>
              </a:rPr>
              <a:t/>
            </a:r>
          </a:p>
          <a:p>
            <a:pPr algn="l">
              <a:spcAft>
                <a:spcPts val="500"/>
              </a:spcAft>
              <a:buNone/>
            </a:pPr>
            <a:r>
              <a:rPr sz="1100" b="0">
                <a:solidFill>
                  <a:srgbClr val="000000"/>
                </a:solidFill>
                <a:latin typeface="Calibri"/>
                <a:ea typeface="Calibri"/>
                <a:cs typeface="Calibri"/>
              </a:rPr>
              <a:t>Air-Pollution/logs/control_preparacion_modelado_20260915.json y docs/PREPARACION_MODELADO.md; resumen auditado: series_by_pollutant. Series PM2.5=107, PM10=87, SO2=59, NO2=54, O3=50, CO=46; total: 403. Denominador de estaciones únicas: 107. No es indicador de cobertura territorial.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spcAft>
                <a:spcPts val="500"/>
              </a:spcAft>
              <a:buNone/>
            </a:pPr>
            <a:r>
              <a:rPr sz="1100" b="0">
                <a:solidFill>
                  <a:srgbClr val="000000"/>
                </a:solidFill>
                <a:latin typeface="Calibri"/>
                <a:ea typeface="Calibri"/>
                <a:cs typeface="Calibri"/>
              </a:rPr>
              <a:t>Diapositiva 20 | Guion principal</a:t>
            </a:r>
          </a:p>
          <a:p>
            <a:pPr algn="l">
              <a:spcAft>
                <a:spcPts val="500"/>
              </a:spcAft>
              <a:buNone/>
            </a:pPr>
            <a:r>
              <a:t/>
            </a:r>
            <a:endParaRPr sz="1100" b="0">
              <a:solidFill>
                <a:srgbClr val="000000"/>
              </a:solidFill>
              <a:latin typeface="Calibri"/>
              <a:ea typeface="Calibri"/>
              <a:cs typeface="Calibri"/>
            </a:endParaRPr>
          </a:p>
          <a:p>
            <a:pPr algn="l">
              <a:spcAft>
                <a:spcPts val="500"/>
              </a:spcAft>
              <a:buNone/>
            </a:pPr>
            <a:r>
              <a:rPr sz="1100" b="0">
                <a:solidFill>
                  <a:srgbClr val="000000"/>
                </a:solidFill>
                <a:latin typeface="Calibri"/>
                <a:ea typeface="Calibri"/>
                <a:cs typeface="Calibri"/>
              </a:rPr>
              <a:t>GUION PARA LEER</a:t>
            </a:r>
          </a:p>
          <a:p>
            <a:pPr algn="l">
              <a:spcAft>
                <a:spcPts val="500"/>
              </a:spcAft>
              <a:buNone/>
            </a:pPr>
            <a:r>
              <a:rPr sz="1100" b="0">
                <a:solidFill>
                  <a:srgbClr val="000000"/>
                </a:solidFill>
                <a:latin typeface="Calibri"/>
                <a:ea typeface="Calibri"/>
                <a:cs typeface="Calibri"/>
              </a:rPr>
              <a:t/>
            </a:r>
          </a:p>
          <a:p>
            <a:pPr algn="l">
              <a:spcAft>
                <a:spcPts val="500"/>
              </a:spcAft>
              <a:buNone/>
            </a:pPr>
            <a:r>
              <a:t>El volumen no equivale a información utilizable. De noventa y cuatro coma tres millones de filas, el cuarenta y cinco coma veintiocho por ciento tiene medición. El resto son faltantes explícitos. Las mediciones tienen distintos estados de validación. Estos porcentajes describen el inventario seleccionado, no las pérdidas al integrar fuentes. Usar estas mediciones en modelos requiere una regla de calidad explícita.</a:t>
            </a:r>
            <a:endParaRPr sz="1100" b="0">
              <a:solidFill>
                <a:srgbClr val="000000"/>
              </a:solidFill>
              <a:latin typeface="Calibri"/>
              <a:ea typeface="Calibri"/>
              <a:cs typeface="Calibri"/>
            </a:endParaRPr>
          </a:p>
          <a:p>
            <a:pPr algn="l">
              <a:spcAft>
                <a:spcPts val="500"/>
              </a:spcAft>
              <a:buNone/>
            </a:pPr>
            <a:r>
              <a:rPr sz="1100" b="0">
                <a:solidFill>
                  <a:srgbClr val="000000"/>
                </a:solidFill>
                <a:latin typeface="Calibri"/>
                <a:ea typeface="Calibri"/>
                <a:cs typeface="Calibri"/>
              </a:rPr>
              <a:t/>
            </a:r>
          </a:p>
          <a:p>
            <a:pPr algn="l">
              <a:spcAft>
                <a:spcPts val="500"/>
              </a:spcAft>
              <a:buNone/>
            </a:pPr>
            <a:r>
              <a:rPr sz="1100" b="0">
                <a:solidFill>
                  <a:srgbClr val="000000"/>
                </a:solidFill>
                <a:latin typeface="Calibri"/>
                <a:ea typeface="Calibri"/>
                <a:cs typeface="Calibri"/>
              </a:rPr>
              <a:t>FUENTES Y PRECISIONES (NO LEER EN LA EXPOSICIÓN)</a:t>
            </a:r>
          </a:p>
          <a:p>
            <a:pPr algn="l">
              <a:spcAft>
                <a:spcPts val="500"/>
              </a:spcAft>
              <a:buNone/>
            </a:pPr>
            <a:r>
              <a:rPr sz="1100" b="0">
                <a:solidFill>
                  <a:srgbClr val="000000"/>
                </a:solidFill>
                <a:latin typeface="Calibri"/>
                <a:ea typeface="Calibri"/>
                <a:cs typeface="Calibri"/>
              </a:rPr>
              <a:t/>
            </a:r>
          </a:p>
          <a:p>
            <a:pPr algn="l">
              <a:spcAft>
                <a:spcPts val="500"/>
              </a:spcAft>
              <a:buNone/>
            </a:pPr>
            <a:r>
              <a:rPr sz="1100" b="0">
                <a:solidFill>
                  <a:srgbClr val="000000"/>
                </a:solidFill>
                <a:latin typeface="Calibri"/>
                <a:ea typeface="Calibri"/>
                <a:cs typeface="Calibri"/>
              </a:rPr>
              <a:t>/Users/amaruagueroj/Library/CloudStorage/GoogleDrive-amaruaguero2004@gmail.com/Mi unidad/Asesorias/Air-Pollution/docs/modelo_1km_horario.qmd; inventario SINCA con corte 15-sep-2026. 403 series. 94.311.869 filas seleccionadas, 42.708.344 con medición y 51.603.525 faltantes explícitos. Denominador común: filas seleccionadas del inventario. 19,74 M validadas, 8,12 M preliminares y 14,86 M no validadas, cantidades redondeadas. El inventario no representa todas las horas teóricas de todo el territorio. Los descriptivos del HTML aplican filtros propios. Propuesta para entrenamiento: referencia principal con registros validados y análisis de sensibilidad a otros estados. No se recalcularon aquí las fuentes.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spcAft>
                <a:spcPts val="500"/>
              </a:spcAft>
              <a:buNone/>
            </a:pPr>
            <a:r>
              <a:rPr sz="1100" b="0">
                <a:solidFill>
                  <a:srgbClr val="000000"/>
                </a:solidFill>
                <a:latin typeface="Calibri"/>
                <a:ea typeface="Calibri"/>
                <a:cs typeface="Calibri"/>
              </a:rPr>
              <a:t>Diapositiva 21 | Guion principal</a:t>
            </a:r>
          </a:p>
          <a:p>
            <a:pPr algn="l">
              <a:spcAft>
                <a:spcPts val="500"/>
              </a:spcAft>
              <a:buNone/>
            </a:pPr>
            <a:r>
              <a:t/>
            </a:r>
            <a:endParaRPr sz="1100" b="0">
              <a:solidFill>
                <a:srgbClr val="000000"/>
              </a:solidFill>
              <a:latin typeface="Calibri"/>
              <a:ea typeface="Calibri"/>
              <a:cs typeface="Calibri"/>
            </a:endParaRPr>
          </a:p>
          <a:p>
            <a:pPr algn="l">
              <a:spcAft>
                <a:spcPts val="500"/>
              </a:spcAft>
              <a:buNone/>
            </a:pPr>
            <a:r>
              <a:rPr sz="1100" b="0">
                <a:solidFill>
                  <a:srgbClr val="000000"/>
                </a:solidFill>
                <a:latin typeface="Calibri"/>
                <a:ea typeface="Calibri"/>
                <a:cs typeface="Calibri"/>
              </a:rPr>
              <a:t>GUION PARA LEER</a:t>
            </a:r>
          </a:p>
          <a:p>
            <a:pPr algn="l">
              <a:spcAft>
                <a:spcPts val="500"/>
              </a:spcAft>
              <a:buNone/>
            </a:pPr>
            <a:r>
              <a:rPr sz="1100" b="0">
                <a:solidFill>
                  <a:srgbClr val="000000"/>
                </a:solidFill>
                <a:latin typeface="Calibri"/>
                <a:ea typeface="Calibri"/>
                <a:cs typeface="Calibri"/>
              </a:rPr>
              <a:t/>
            </a:r>
          </a:p>
          <a:p>
            <a:pPr algn="l">
              <a:spcAft>
                <a:spcPts val="500"/>
              </a:spcAft>
              <a:buNone/>
            </a:pPr>
            <a:r>
              <a:t>Este es el ejemplo de PM dos coma cinco. Cada punto es una estación; el color resume su concentración media observada. Hay noventa y siete estaciones después de los filtros. El detalle central ayuda a ubicarlas. Son observaciones puntuales del periodo mostrado, que termina parcialmente en septiembre.</a:t>
            </a:r>
            <a:endParaRPr sz="1100" b="0">
              <a:solidFill>
                <a:srgbClr val="000000"/>
              </a:solidFill>
              <a:latin typeface="Calibri"/>
              <a:ea typeface="Calibri"/>
              <a:cs typeface="Calibri"/>
            </a:endParaRPr>
          </a:p>
          <a:p>
            <a:pPr algn="l">
              <a:spcAft>
                <a:spcPts val="500"/>
              </a:spcAft>
              <a:buNone/>
            </a:pPr>
            <a:r>
              <a:rPr sz="1100" b="0">
                <a:solidFill>
                  <a:srgbClr val="000000"/>
                </a:solidFill>
                <a:latin typeface="Calibri"/>
                <a:ea typeface="Calibri"/>
                <a:cs typeface="Calibri"/>
              </a:rPr>
              <a:t/>
            </a:r>
          </a:p>
          <a:p>
            <a:pPr algn="l">
              <a:spcAft>
                <a:spcPts val="500"/>
              </a:spcAft>
              <a:buNone/>
            </a:pPr>
            <a:r>
              <a:rPr sz="1100" b="0">
                <a:solidFill>
                  <a:srgbClr val="000000"/>
                </a:solidFill>
                <a:latin typeface="Calibri"/>
                <a:ea typeface="Calibri"/>
                <a:cs typeface="Calibri"/>
              </a:rPr>
              <a:t>APOYO PARA PREGUNTAS (NO LEER EN LA EXPOSICIÓN)</a:t>
            </a:r>
          </a:p>
          <a:p>
            <a:pPr algn="l">
              <a:spcAft>
                <a:spcPts val="500"/>
              </a:spcAft>
              <a:buNone/>
            </a:pPr>
            <a:r>
              <a:rPr sz="1100" b="0">
                <a:solidFill>
                  <a:srgbClr val="000000"/>
                </a:solidFill>
                <a:latin typeface="Calibri"/>
                <a:ea typeface="Calibri"/>
                <a:cs typeface="Calibri"/>
              </a:rPr>
              <a:t/>
            </a:r>
          </a:p>
          <a:p>
            <a:pPr algn="l">
              <a:spcAft>
                <a:spcPts val="500"/>
              </a:spcAft>
              <a:buNone/>
            </a:pPr>
            <a:r>
              <a:rPr sz="1100" b="0">
                <a:solidFill>
                  <a:srgbClr val="000000"/>
                </a:solidFill>
                <a:latin typeface="Calibri"/>
                <a:ea typeface="Calibri"/>
                <a:cs typeface="Calibri"/>
              </a:rPr>
              <a:t>Para relatar el gráfico: primero ubicar los puntos, luego leer la escala de concentración y finalmente comentar cobertura. El periodo mostrado es 2024 a septiembre de 2026, parcial; no representa una media anual completa de 2026.</a:t>
            </a:r>
          </a:p>
          <a:p>
            <a:pPr algn="l">
              <a:spcAft>
                <a:spcPts val="500"/>
              </a:spcAft>
              <a:buNone/>
            </a:pPr>
            <a:r>
              <a:rPr sz="1100" b="0">
                <a:solidFill>
                  <a:srgbClr val="000000"/>
                </a:solidFill>
                <a:latin typeface="Calibri"/>
                <a:ea typeface="Calibri"/>
                <a:cs typeface="Calibri"/>
              </a:rPr>
              <a:t/>
            </a:r>
          </a:p>
          <a:p>
            <a:pPr algn="l">
              <a:spcAft>
                <a:spcPts val="500"/>
              </a:spcAft>
              <a:buNone/>
            </a:pPr>
            <a:r>
              <a:rPr sz="1100" b="0">
                <a:solidFill>
                  <a:srgbClr val="000000"/>
                </a:solidFill>
                <a:latin typeface="Calibri"/>
                <a:ea typeface="Calibri"/>
                <a:cs typeface="Calibri"/>
              </a:rPr>
              <a:t>FUENTES Y PRECISIONES (NO LEER EN LA EXPOSICIÓN)</a:t>
            </a:r>
          </a:p>
          <a:p>
            <a:pPr algn="l">
              <a:spcAft>
                <a:spcPts val="500"/>
              </a:spcAft>
              <a:buNone/>
            </a:pPr>
            <a:r>
              <a:rPr sz="1100" b="0">
                <a:solidFill>
                  <a:srgbClr val="000000"/>
                </a:solidFill>
                <a:latin typeface="Calibri"/>
                <a:ea typeface="Calibri"/>
                <a:cs typeface="Calibri"/>
              </a:rPr>
              <a:t/>
            </a:r>
          </a:p>
          <a:p>
            <a:pPr algn="l">
              <a:spcAft>
                <a:spcPts val="500"/>
              </a:spcAft>
              <a:buNone/>
            </a:pPr>
            <a:r>
              <a:rPr sz="1100" b="0">
                <a:solidFill>
                  <a:srgbClr val="000000"/>
                </a:solidFill>
                <a:latin typeface="Calibri"/>
                <a:ea typeface="Calibri"/>
                <a:cs typeface="Calibri"/>
              </a:rPr>
              <a:t>Air-Pollution/docs/modelo_1km_horario.html, sección 2, figuras descriptivas nacional y centro de PM₂.₅. Recortes del panel 2024–2026 y escala original. 97 estaciones en la vista nacional. El HTML define mes válido con ≥75% de horas, promedio de climatología mensual y ≥9 de 12 meses calendario representados. Filtra rango físico y rachas ≥24 repeticiones; utiliza UTC−4 fijo y etiqueta al final del intervalo. Se reproducen como descriptivos del HTML existente, sin afirmar cierre de validación de unidades/reloj. El período final es parcial y la composición de estaciones cambia. Se excluyeron del recorte los rótulos de umbrales de referencia; no se evalúa cumplimiento normativo. No son mapas de predicción.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spcAft>
                <a:spcPts val="500"/>
              </a:spcAft>
              <a:buNone/>
            </a:pPr>
            <a:r>
              <a:rPr sz="1100" b="0">
                <a:solidFill>
                  <a:srgbClr val="000000"/>
                </a:solidFill>
                <a:latin typeface="Calibri"/>
                <a:ea typeface="Calibri"/>
                <a:cs typeface="Calibri"/>
              </a:rPr>
              <a:t>Diapositiva 22 | Guion principal</a:t>
            </a:r>
          </a:p>
          <a:p>
            <a:pPr algn="l">
              <a:spcAft>
                <a:spcPts val="500"/>
              </a:spcAft>
              <a:buNone/>
            </a:pPr>
            <a:r>
              <a:t/>
            </a:r>
            <a:endParaRPr sz="1100" b="0">
              <a:solidFill>
                <a:srgbClr val="000000"/>
              </a:solidFill>
              <a:latin typeface="Calibri"/>
              <a:ea typeface="Calibri"/>
              <a:cs typeface="Calibri"/>
            </a:endParaRPr>
          </a:p>
          <a:p>
            <a:pPr algn="l">
              <a:spcAft>
                <a:spcPts val="500"/>
              </a:spcAft>
              <a:buNone/>
            </a:pPr>
            <a:r>
              <a:rPr sz="1100" b="0">
                <a:solidFill>
                  <a:srgbClr val="000000"/>
                </a:solidFill>
                <a:latin typeface="Calibri"/>
                <a:ea typeface="Calibri"/>
                <a:cs typeface="Calibri"/>
              </a:rPr>
              <a:t>GUION PARA LEER</a:t>
            </a:r>
          </a:p>
          <a:p>
            <a:pPr algn="l">
              <a:spcAft>
                <a:spcPts val="500"/>
              </a:spcAft>
              <a:buNone/>
            </a:pPr>
            <a:r>
              <a:rPr sz="1100" b="0">
                <a:solidFill>
                  <a:srgbClr val="000000"/>
                </a:solidFill>
                <a:latin typeface="Calibri"/>
                <a:ea typeface="Calibri"/>
                <a:cs typeface="Calibri"/>
              </a:rPr>
              <a:t/>
            </a:r>
          </a:p>
          <a:p>
            <a:pPr algn="l">
              <a:spcAft>
                <a:spcPts val="500"/>
              </a:spcAft>
              <a:buNone/>
            </a:pPr>
            <a:r>
              <a:t>Para dióxido de nitrógeno quedan cuarenta y una estaciones, lo que plantea otro desafío de reconstrucción. El mapa tiene su propia unidad y escala de colores. Debemos interpretar cada contaminante con su muestra y unidades, sin comparar directamente los colores entre mapas.</a:t>
            </a:r>
            <a:endParaRPr sz="1100" b="0">
              <a:solidFill>
                <a:srgbClr val="000000"/>
              </a:solidFill>
              <a:latin typeface="Calibri"/>
              <a:ea typeface="Calibri"/>
              <a:cs typeface="Calibri"/>
            </a:endParaRPr>
          </a:p>
          <a:p>
            <a:pPr algn="l">
              <a:spcAft>
                <a:spcPts val="500"/>
              </a:spcAft>
              <a:buNone/>
            </a:pPr>
            <a:r>
              <a:rPr sz="1100" b="0">
                <a:solidFill>
                  <a:srgbClr val="000000"/>
                </a:solidFill>
                <a:latin typeface="Calibri"/>
                <a:ea typeface="Calibri"/>
                <a:cs typeface="Calibri"/>
              </a:rPr>
              <a:t/>
            </a:r>
          </a:p>
          <a:p>
            <a:pPr algn="l">
              <a:spcAft>
                <a:spcPts val="500"/>
              </a:spcAft>
              <a:buNone/>
            </a:pPr>
            <a:r>
              <a:rPr sz="1100" b="0">
                <a:solidFill>
                  <a:srgbClr val="000000"/>
                </a:solidFill>
                <a:latin typeface="Calibri"/>
                <a:ea typeface="Calibri"/>
                <a:cs typeface="Calibri"/>
              </a:rPr>
              <a:t>APOYO PARA PREGUNTAS (NO LEER EN LA EXPOSICIÓN)</a:t>
            </a:r>
          </a:p>
          <a:p>
            <a:pPr algn="l">
              <a:spcAft>
                <a:spcPts val="500"/>
              </a:spcAft>
              <a:buNone/>
            </a:pPr>
            <a:r>
              <a:rPr sz="1100" b="0">
                <a:solidFill>
                  <a:srgbClr val="000000"/>
                </a:solidFill>
                <a:latin typeface="Calibri"/>
                <a:ea typeface="Calibri"/>
                <a:cs typeface="Calibri"/>
              </a:rPr>
              <a:t/>
            </a:r>
          </a:p>
          <a:p>
            <a:pPr algn="l">
              <a:spcAft>
                <a:spcPts val="500"/>
              </a:spcAft>
              <a:buNone/>
            </a:pPr>
            <a:r>
              <a:rPr sz="1100" b="0">
                <a:solidFill>
                  <a:srgbClr val="000000"/>
                </a:solidFill>
                <a:latin typeface="Calibri"/>
                <a:ea typeface="Calibri"/>
                <a:cs typeface="Calibri"/>
              </a:rPr>
              <a:t>La muestra de 41 estaciones pertenece a este descriptivo filtrado; es distinta de las 54 series históricas de dióxido de nitrógeno del inventario. Los colores representan concentraciones en la escala propia de la figura.</a:t>
            </a:r>
          </a:p>
          <a:p>
            <a:pPr algn="l">
              <a:spcAft>
                <a:spcPts val="500"/>
              </a:spcAft>
              <a:buNone/>
            </a:pPr>
            <a:r>
              <a:rPr sz="1100" b="0">
                <a:solidFill>
                  <a:srgbClr val="000000"/>
                </a:solidFill>
                <a:latin typeface="Calibri"/>
                <a:ea typeface="Calibri"/>
                <a:cs typeface="Calibri"/>
              </a:rPr>
              <a:t/>
            </a:r>
          </a:p>
          <a:p>
            <a:pPr algn="l">
              <a:spcAft>
                <a:spcPts val="500"/>
              </a:spcAft>
              <a:buNone/>
            </a:pPr>
            <a:r>
              <a:rPr sz="1100" b="0">
                <a:solidFill>
                  <a:srgbClr val="000000"/>
                </a:solidFill>
                <a:latin typeface="Calibri"/>
                <a:ea typeface="Calibri"/>
                <a:cs typeface="Calibri"/>
              </a:rPr>
              <a:t>FUENTES Y PRECISIONES (NO LEER EN LA EXPOSICIÓN)</a:t>
            </a:r>
          </a:p>
          <a:p>
            <a:pPr algn="l">
              <a:spcAft>
                <a:spcPts val="500"/>
              </a:spcAft>
              <a:buNone/>
            </a:pPr>
            <a:r>
              <a:rPr sz="1100" b="0">
                <a:solidFill>
                  <a:srgbClr val="000000"/>
                </a:solidFill>
                <a:latin typeface="Calibri"/>
                <a:ea typeface="Calibri"/>
                <a:cs typeface="Calibri"/>
              </a:rPr>
              <a:t/>
            </a:r>
          </a:p>
          <a:p>
            <a:pPr algn="l">
              <a:spcAft>
                <a:spcPts val="500"/>
              </a:spcAft>
              <a:buNone/>
            </a:pPr>
            <a:r>
              <a:rPr sz="1100" b="0">
                <a:solidFill>
                  <a:srgbClr val="000000"/>
                </a:solidFill>
                <a:latin typeface="Calibri"/>
                <a:ea typeface="Calibri"/>
                <a:cs typeface="Calibri"/>
              </a:rPr>
              <a:t>Air-Pollution/docs/modelo_1km_horario.html, sección 2, figuras descriptivas nacional y centro de NO₂. Recortes del panel 2024–2026 y escala original. 41 estaciones en la vista nacional. El HTML define mes válido con ≥75% de horas, promedio de climatología mensual y ≥9 de 12 meses calendario representados. Filtra rango físico y rachas ≥24 repeticiones; utiliza UTC−4 fijo y etiqueta al final del intervalo. Se reproducen como descriptivos del HTML existente, sin afirmar cierre de validación de unidades/reloj. El período final es parcial y la composición de estaciones cambia. Se excluyeron del recorte los rótulos de umbrales de referencia; no se evalúa cumplimiento normativo. No son mapas de predicción.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spcAft>
                <a:spcPts val="500"/>
              </a:spcAft>
              <a:buNone/>
            </a:pPr>
            <a:r>
              <a:rPr sz="1100" b="0">
                <a:solidFill>
                  <a:srgbClr val="000000"/>
                </a:solidFill>
                <a:latin typeface="Calibri"/>
                <a:ea typeface="Calibri"/>
                <a:cs typeface="Calibri"/>
              </a:rPr>
              <a:t>Diapositiva 23 | Guion principal</a:t>
            </a:r>
          </a:p>
          <a:p>
            <a:pPr algn="l">
              <a:spcAft>
                <a:spcPts val="500"/>
              </a:spcAft>
              <a:buNone/>
            </a:pPr>
            <a:r>
              <a:t/>
            </a:r>
            <a:endParaRPr sz="1100" b="0">
              <a:solidFill>
                <a:srgbClr val="000000"/>
              </a:solidFill>
              <a:latin typeface="Calibri"/>
              <a:ea typeface="Calibri"/>
              <a:cs typeface="Calibri"/>
            </a:endParaRPr>
          </a:p>
          <a:p>
            <a:pPr algn="l">
              <a:spcAft>
                <a:spcPts val="500"/>
              </a:spcAft>
              <a:buNone/>
            </a:pPr>
            <a:r>
              <a:rPr sz="1100" b="0">
                <a:solidFill>
                  <a:srgbClr val="000000"/>
                </a:solidFill>
                <a:latin typeface="Calibri"/>
                <a:ea typeface="Calibri"/>
                <a:cs typeface="Calibri"/>
              </a:rPr>
              <a:t>GUION PARA LEER</a:t>
            </a:r>
          </a:p>
          <a:p>
            <a:pPr algn="l">
              <a:spcAft>
                <a:spcPts val="500"/>
              </a:spcAft>
              <a:buNone/>
            </a:pPr>
            <a:r>
              <a:rPr sz="1100" b="0">
                <a:solidFill>
                  <a:srgbClr val="000000"/>
                </a:solidFill>
                <a:latin typeface="Calibri"/>
                <a:ea typeface="Calibri"/>
                <a:cs typeface="Calibri"/>
              </a:rPr>
              <a:t/>
            </a:r>
          </a:p>
          <a:p>
            <a:pPr algn="l">
              <a:spcAft>
                <a:spcPts val="500"/>
              </a:spcAft>
              <a:buNone/>
            </a:pPr>
            <a:r>
              <a:t>ERA5-Land aporta temperatura a dos metros. Los mapas resumen los años seleccionados y las curvas muestran la variación anual por macrozona. El gradiente territorial y la estacionalidad aportan contexto meteorológico a la reconstrucción de la calidad del aire.</a:t>
            </a:r>
            <a:endParaRPr sz="1100" b="0">
              <a:solidFill>
                <a:srgbClr val="000000"/>
              </a:solidFill>
              <a:latin typeface="Calibri"/>
              <a:ea typeface="Calibri"/>
              <a:cs typeface="Calibri"/>
            </a:endParaRPr>
          </a:p>
          <a:p>
            <a:pPr algn="l">
              <a:spcAft>
                <a:spcPts val="500"/>
              </a:spcAft>
              <a:buNone/>
            </a:pPr>
            <a:r>
              <a:rPr sz="1100" b="0">
                <a:solidFill>
                  <a:srgbClr val="000000"/>
                </a:solidFill>
                <a:latin typeface="Calibri"/>
                <a:ea typeface="Calibri"/>
                <a:cs typeface="Calibri"/>
              </a:rPr>
              <a:t/>
            </a:r>
          </a:p>
          <a:p>
            <a:pPr algn="l">
              <a:spcAft>
                <a:spcPts val="500"/>
              </a:spcAft>
              <a:buNone/>
            </a:pPr>
            <a:r>
              <a:rPr sz="1100" b="0">
                <a:solidFill>
                  <a:srgbClr val="000000"/>
                </a:solidFill>
                <a:latin typeface="Calibri"/>
                <a:ea typeface="Calibri"/>
                <a:cs typeface="Calibri"/>
              </a:rPr>
              <a:t>APOYO PARA PREGUNTAS (NO LEER EN LA EXPOSICIÓN)</a:t>
            </a:r>
          </a:p>
          <a:p>
            <a:pPr algn="l">
              <a:spcAft>
                <a:spcPts val="500"/>
              </a:spcAft>
              <a:buNone/>
            </a:pPr>
            <a:r>
              <a:rPr sz="1100" b="0">
                <a:solidFill>
                  <a:srgbClr val="000000"/>
                </a:solidFill>
                <a:latin typeface="Calibri"/>
                <a:ea typeface="Calibri"/>
                <a:cs typeface="Calibri"/>
              </a:rPr>
              <a:t/>
            </a:r>
          </a:p>
          <a:p>
            <a:pPr algn="l">
              <a:spcAft>
                <a:spcPts val="500"/>
              </a:spcAft>
              <a:buNone/>
            </a:pPr>
            <a:r>
              <a:rPr sz="1100" b="0">
                <a:solidFill>
                  <a:srgbClr val="000000"/>
                </a:solidFill>
                <a:latin typeface="Calibri"/>
                <a:ea typeface="Calibri"/>
                <a:cs typeface="Calibri"/>
              </a:rPr>
              <a:t>Los dos mapas seleccionados corresponden a 2020 y 2024. Las curvas por macrozona son series de la fuente meteorológica, no resultados de un modelo del equipo. Un reanálisis es una entrada estimada externa, no una medición directa de estación.</a:t>
            </a:r>
          </a:p>
          <a:p>
            <a:pPr algn="l">
              <a:spcAft>
                <a:spcPts val="500"/>
              </a:spcAft>
              <a:buNone/>
            </a:pPr>
            <a:r>
              <a:rPr sz="1100" b="0">
                <a:solidFill>
                  <a:srgbClr val="000000"/>
                </a:solidFill>
                <a:latin typeface="Calibri"/>
                <a:ea typeface="Calibri"/>
                <a:cs typeface="Calibri"/>
              </a:rPr>
              <a:t/>
            </a:r>
          </a:p>
          <a:p>
            <a:pPr algn="l">
              <a:spcAft>
                <a:spcPts val="500"/>
              </a:spcAft>
              <a:buNone/>
            </a:pPr>
            <a:r>
              <a:rPr sz="1100" b="0">
                <a:solidFill>
                  <a:srgbClr val="000000"/>
                </a:solidFill>
                <a:latin typeface="Calibri"/>
                <a:ea typeface="Calibri"/>
                <a:cs typeface="Calibri"/>
              </a:rPr>
              <a:t>FUENTES Y PRECISIONES (NO LEER EN LA EXPOSICIÓN)</a:t>
            </a:r>
          </a:p>
          <a:p>
            <a:pPr algn="l">
              <a:spcAft>
                <a:spcPts val="500"/>
              </a:spcAft>
              <a:buNone/>
            </a:pPr>
            <a:r>
              <a:rPr sz="1100" b="0">
                <a:solidFill>
                  <a:srgbClr val="000000"/>
                </a:solidFill>
                <a:latin typeface="Calibri"/>
                <a:ea typeface="Calibri"/>
                <a:cs typeface="Calibri"/>
              </a:rPr>
              <a:t/>
            </a:r>
          </a:p>
          <a:p>
            <a:pPr algn="l">
              <a:spcAft>
                <a:spcPts val="500"/>
              </a:spcAft>
              <a:buNone/>
            </a:pPr>
            <a:r>
              <a:rPr sz="1100" b="0">
                <a:solidFill>
                  <a:srgbClr val="000000"/>
                </a:solidFill>
                <a:latin typeface="Calibri"/>
                <a:ea typeface="Calibri"/>
                <a:cs typeface="Calibri"/>
              </a:rPr>
              <a:t>/Users/amaruagueroj/Library/CloudStorage/GoogleDrive-amaruaguero2004@gmail.com/Mi unidad/Asesorias/Air-Pollution/docs/modelo_1km_horario.html, sección 3, figura 17. Original fuente_era5land_t2m_1aa480c9.png. Reanálisis meteorológico. Disponibilidad local: ene-2000–15-sep-2026, parcial. Mapas media anual por píxel, sin añadir resolución. Años individuales seleccionados 2020 y 2024, no promedios cuatrienales. Series ponderadas por área de territorio, reloj UTC−4 fijo, media móvil centrada de 7 días. Figura archivada del HTML, no recalculada al 26-sep. No es una estimación entrenada por el equipo.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spcAft>
                <a:spcPts val="500"/>
              </a:spcAft>
              <a:buNone/>
            </a:pPr>
            <a:r>
              <a:rPr sz="1100" b="0">
                <a:solidFill>
                  <a:srgbClr val="000000"/>
                </a:solidFill>
                <a:latin typeface="Calibri"/>
                <a:ea typeface="Calibri"/>
                <a:cs typeface="Calibri"/>
              </a:rPr>
              <a:t>Diapositiva 24 | Guion principal</a:t>
            </a:r>
          </a:p>
          <a:p>
            <a:pPr algn="l">
              <a:spcAft>
                <a:spcPts val="500"/>
              </a:spcAft>
              <a:buNone/>
            </a:pPr>
            <a:r>
              <a:t/>
            </a:r>
            <a:endParaRPr sz="1100" b="0">
              <a:solidFill>
                <a:srgbClr val="000000"/>
              </a:solidFill>
              <a:latin typeface="Calibri"/>
              <a:ea typeface="Calibri"/>
              <a:cs typeface="Calibri"/>
            </a:endParaRPr>
          </a:p>
          <a:p>
            <a:pPr algn="l">
              <a:spcAft>
                <a:spcPts val="500"/>
              </a:spcAft>
              <a:buNone/>
            </a:pPr>
            <a:r>
              <a:rPr sz="1100" b="0">
                <a:solidFill>
                  <a:srgbClr val="000000"/>
                </a:solidFill>
                <a:latin typeface="Calibri"/>
                <a:ea typeface="Calibri"/>
                <a:cs typeface="Calibri"/>
              </a:rPr>
              <a:t>GUION PARA LEER</a:t>
            </a:r>
          </a:p>
          <a:p>
            <a:pPr algn="l">
              <a:spcAft>
                <a:spcPts val="500"/>
              </a:spcAft>
              <a:buNone/>
            </a:pPr>
            <a:r>
              <a:rPr sz="1100" b="0">
                <a:solidFill>
                  <a:srgbClr val="000000"/>
                </a:solidFill>
                <a:latin typeface="Calibri"/>
                <a:ea typeface="Calibri"/>
                <a:cs typeface="Calibri"/>
              </a:rPr>
              <a:t/>
            </a:r>
          </a:p>
          <a:p>
            <a:pPr algn="l">
              <a:spcAft>
                <a:spcPts val="500"/>
              </a:spcAft>
              <a:buNone/>
            </a:pPr>
            <a:r>
              <a:t>MAIAC describe aerosoles a partir de observaciones satelitales. Los mapas y curvas muestran su variación espacial y temporal. Esta señal complementa las mediciones superficiales, pero no equivale a su concentración. Los vacíos satelitales deben considerarse en la integración.</a:t>
            </a:r>
            <a:endParaRPr sz="1100" b="0">
              <a:solidFill>
                <a:srgbClr val="000000"/>
              </a:solidFill>
              <a:latin typeface="Calibri"/>
              <a:ea typeface="Calibri"/>
              <a:cs typeface="Calibri"/>
            </a:endParaRPr>
          </a:p>
          <a:p>
            <a:pPr algn="l">
              <a:spcAft>
                <a:spcPts val="500"/>
              </a:spcAft>
              <a:buNone/>
            </a:pPr>
            <a:r>
              <a:rPr sz="1100" b="0">
                <a:solidFill>
                  <a:srgbClr val="000000"/>
                </a:solidFill>
                <a:latin typeface="Calibri"/>
                <a:ea typeface="Calibri"/>
                <a:cs typeface="Calibri"/>
              </a:rPr>
              <a:t/>
            </a:r>
          </a:p>
          <a:p>
            <a:pPr algn="l">
              <a:spcAft>
                <a:spcPts val="500"/>
              </a:spcAft>
              <a:buNone/>
            </a:pPr>
            <a:r>
              <a:rPr sz="1100" b="0">
                <a:solidFill>
                  <a:srgbClr val="000000"/>
                </a:solidFill>
                <a:latin typeface="Calibri"/>
                <a:ea typeface="Calibri"/>
                <a:cs typeface="Calibri"/>
              </a:rPr>
              <a:t>APOYO PARA PREGUNTAS (NO LEER EN LA EXPOSICIÓN)</a:t>
            </a:r>
          </a:p>
          <a:p>
            <a:pPr algn="l">
              <a:spcAft>
                <a:spcPts val="500"/>
              </a:spcAft>
              <a:buNone/>
            </a:pPr>
            <a:r>
              <a:rPr sz="1100" b="0">
                <a:solidFill>
                  <a:srgbClr val="000000"/>
                </a:solidFill>
                <a:latin typeface="Calibri"/>
                <a:ea typeface="Calibri"/>
                <a:cs typeface="Calibri"/>
              </a:rPr>
              <a:t/>
            </a:r>
          </a:p>
          <a:p>
            <a:pPr algn="l">
              <a:spcAft>
                <a:spcPts val="500"/>
              </a:spcAft>
              <a:buNone/>
            </a:pPr>
            <a:r>
              <a:rPr sz="1100" b="0">
                <a:solidFill>
                  <a:srgbClr val="000000"/>
                </a:solidFill>
                <a:latin typeface="Calibri"/>
                <a:ea typeface="Calibri"/>
                <a:cs typeface="Calibri"/>
              </a:rPr>
              <a:t>Leer el mapa como variación del espesor óptico de aerosoles a 550 nanómetros, sin convertir colores en concentración de partículas al nivel del suelo. Se conservan los vacíos del producto y la escala original.</a:t>
            </a:r>
          </a:p>
          <a:p>
            <a:pPr algn="l">
              <a:spcAft>
                <a:spcPts val="500"/>
              </a:spcAft>
              <a:buNone/>
            </a:pPr>
            <a:r>
              <a:rPr sz="1100" b="0">
                <a:solidFill>
                  <a:srgbClr val="000000"/>
                </a:solidFill>
                <a:latin typeface="Calibri"/>
                <a:ea typeface="Calibri"/>
                <a:cs typeface="Calibri"/>
              </a:rPr>
              <a:t/>
            </a:r>
          </a:p>
          <a:p>
            <a:pPr algn="l">
              <a:spcAft>
                <a:spcPts val="500"/>
              </a:spcAft>
              <a:buNone/>
            </a:pPr>
            <a:r>
              <a:rPr sz="1100" b="0">
                <a:solidFill>
                  <a:srgbClr val="000000"/>
                </a:solidFill>
                <a:latin typeface="Calibri"/>
                <a:ea typeface="Calibri"/>
                <a:cs typeface="Calibri"/>
              </a:rPr>
              <a:t>FUENTES Y PRECISIONES (NO LEER EN LA EXPOSICIÓN)</a:t>
            </a:r>
          </a:p>
          <a:p>
            <a:pPr algn="l">
              <a:spcAft>
                <a:spcPts val="500"/>
              </a:spcAft>
              <a:buNone/>
            </a:pPr>
            <a:r>
              <a:rPr sz="1100" b="0">
                <a:solidFill>
                  <a:srgbClr val="000000"/>
                </a:solidFill>
                <a:latin typeface="Calibri"/>
                <a:ea typeface="Calibri"/>
                <a:cs typeface="Calibri"/>
              </a:rPr>
              <a:t/>
            </a:r>
          </a:p>
          <a:p>
            <a:pPr algn="l">
              <a:spcAft>
                <a:spcPts val="500"/>
              </a:spcAft>
              <a:buNone/>
            </a:pPr>
            <a:r>
              <a:rPr sz="1100" b="0">
                <a:solidFill>
                  <a:srgbClr val="000000"/>
                </a:solidFill>
                <a:latin typeface="Calibri"/>
                <a:ea typeface="Calibri"/>
                <a:cs typeface="Calibri"/>
              </a:rPr>
              <a:t>/Users/amaruagueroj/Library/CloudStorage/GoogleDrive-amaruaguero2004@gmail.com/Mi unidad/Asesorias/Air-Pollution/docs/modelo_1km_horario.html, sección 3, figura 37. Original fuente_maiac_aod_98e2029c.png. Producto satelital MODIS. Disponibilidad local: 24-feb-2000–18-sep-2026, incompleta. Mapas media anual por píxel, sin añadir resolución. Años individuales seleccionados 2020 y 2024, no promedios cuatrienales. Series ponderadas por área de territorio, reloj UTC−4 fijo, media móvil centrada de 7 días. Figura archivada del HTML, no recalculada al 26-sep. No es una estimación entrenada por el equipo.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spcAft>
                <a:spcPts val="500"/>
              </a:spcAft>
              <a:buNone/>
            </a:pPr>
            <a:r>
              <a:rPr sz="1100" b="0">
                <a:solidFill>
                  <a:srgbClr val="000000"/>
                </a:solidFill>
                <a:latin typeface="Calibri"/>
                <a:ea typeface="Calibri"/>
                <a:cs typeface="Calibri"/>
              </a:rPr>
              <a:t>Diapositiva 25 | Guion principal</a:t>
            </a:r>
          </a:p>
          <a:p>
            <a:pPr algn="l">
              <a:spcAft>
                <a:spcPts val="500"/>
              </a:spcAft>
              <a:buNone/>
            </a:pPr>
            <a:r>
              <a:t/>
            </a:r>
            <a:endParaRPr sz="1100" b="0">
              <a:solidFill>
                <a:srgbClr val="000000"/>
              </a:solidFill>
              <a:latin typeface="Calibri"/>
              <a:ea typeface="Calibri"/>
              <a:cs typeface="Calibri"/>
            </a:endParaRPr>
          </a:p>
          <a:p>
            <a:pPr algn="l">
              <a:spcAft>
                <a:spcPts val="500"/>
              </a:spcAft>
              <a:buNone/>
            </a:pPr>
            <a:r>
              <a:rPr sz="1100" b="0">
                <a:solidFill>
                  <a:srgbClr val="000000"/>
                </a:solidFill>
                <a:latin typeface="Calibri"/>
                <a:ea typeface="Calibri"/>
                <a:cs typeface="Calibri"/>
              </a:rPr>
              <a:t>GUION PARA LEER</a:t>
            </a:r>
          </a:p>
          <a:p>
            <a:pPr algn="l">
              <a:spcAft>
                <a:spcPts val="500"/>
              </a:spcAft>
              <a:buNone/>
            </a:pPr>
            <a:r>
              <a:rPr sz="1100" b="0">
                <a:solidFill>
                  <a:srgbClr val="000000"/>
                </a:solidFill>
                <a:latin typeface="Calibri"/>
                <a:ea typeface="Calibri"/>
                <a:cs typeface="Calibri"/>
              </a:rPr>
              <a:t/>
            </a:r>
          </a:p>
          <a:p>
            <a:pPr algn="l">
              <a:spcAft>
                <a:spcPts val="500"/>
              </a:spcAft>
              <a:buNone/>
            </a:pPr>
            <a:r>
              <a:t>TROPOMI muestra la cantidad de dióxido de nitrógeno a lo largo de una columna de la parte baja de la atmósfera. Los mapas y curvas describen su variación territorial y temporal. Ese contenido vertical es distinto de la concentración junto al suelo. Debemos relacionarlo con mediciones superficiales y otras variables.</a:t>
            </a:r>
            <a:endParaRPr sz="1100" b="0">
              <a:solidFill>
                <a:srgbClr val="000000"/>
              </a:solidFill>
              <a:latin typeface="Calibri"/>
              <a:ea typeface="Calibri"/>
              <a:cs typeface="Calibri"/>
            </a:endParaRPr>
          </a:p>
          <a:p>
            <a:pPr algn="l">
              <a:spcAft>
                <a:spcPts val="500"/>
              </a:spcAft>
              <a:buNone/>
            </a:pPr>
            <a:r>
              <a:rPr sz="1100" b="0">
                <a:solidFill>
                  <a:srgbClr val="000000"/>
                </a:solidFill>
                <a:latin typeface="Calibri"/>
                <a:ea typeface="Calibri"/>
                <a:cs typeface="Calibri"/>
              </a:rPr>
              <a:t/>
            </a:r>
          </a:p>
          <a:p>
            <a:pPr algn="l">
              <a:spcAft>
                <a:spcPts val="500"/>
              </a:spcAft>
              <a:buNone/>
            </a:pPr>
            <a:r>
              <a:rPr sz="1100" b="0">
                <a:solidFill>
                  <a:srgbClr val="000000"/>
                </a:solidFill>
                <a:latin typeface="Calibri"/>
                <a:ea typeface="Calibri"/>
                <a:cs typeface="Calibri"/>
              </a:rPr>
              <a:t>APOYO PARA PREGUNTAS (NO LEER EN LA EXPOSICIÓN)</a:t>
            </a:r>
          </a:p>
          <a:p>
            <a:pPr algn="l">
              <a:spcAft>
                <a:spcPts val="500"/>
              </a:spcAft>
              <a:buNone/>
            </a:pPr>
            <a:r>
              <a:rPr sz="1100" b="0">
                <a:solidFill>
                  <a:srgbClr val="000000"/>
                </a:solidFill>
                <a:latin typeface="Calibri"/>
                <a:ea typeface="Calibri"/>
                <a:cs typeface="Calibri"/>
              </a:rPr>
              <a:t/>
            </a:r>
          </a:p>
          <a:p>
            <a:pPr algn="l">
              <a:spcAft>
                <a:spcPts val="500"/>
              </a:spcAft>
              <a:buNone/>
            </a:pPr>
            <a:r>
              <a:rPr sz="1100" b="0">
                <a:solidFill>
                  <a:srgbClr val="000000"/>
                </a:solidFill>
                <a:latin typeface="Calibri"/>
                <a:ea typeface="Calibri"/>
                <a:cs typeface="Calibri"/>
              </a:rPr>
              <a:t>La troposfera es la capa inferior de la atmósfera. La columna integra el contenido vertical; no se interpreta como ppb superficiales. Las unidades originales del gráfico deben conservarse.</a:t>
            </a:r>
          </a:p>
          <a:p>
            <a:pPr algn="l">
              <a:spcAft>
                <a:spcPts val="500"/>
              </a:spcAft>
              <a:buNone/>
            </a:pPr>
            <a:r>
              <a:rPr sz="1100" b="0">
                <a:solidFill>
                  <a:srgbClr val="000000"/>
                </a:solidFill>
                <a:latin typeface="Calibri"/>
                <a:ea typeface="Calibri"/>
                <a:cs typeface="Calibri"/>
              </a:rPr>
              <a:t/>
            </a:r>
          </a:p>
          <a:p>
            <a:pPr algn="l">
              <a:spcAft>
                <a:spcPts val="500"/>
              </a:spcAft>
              <a:buNone/>
            </a:pPr>
            <a:r>
              <a:rPr sz="1100" b="0">
                <a:solidFill>
                  <a:srgbClr val="000000"/>
                </a:solidFill>
                <a:latin typeface="Calibri"/>
                <a:ea typeface="Calibri"/>
                <a:cs typeface="Calibri"/>
              </a:rPr>
              <a:t>FUENTES Y PRECISIONES (NO LEER EN LA EXPOSICIÓN)</a:t>
            </a:r>
          </a:p>
          <a:p>
            <a:pPr algn="l">
              <a:spcAft>
                <a:spcPts val="500"/>
              </a:spcAft>
              <a:buNone/>
            </a:pPr>
            <a:r>
              <a:rPr sz="1100" b="0">
                <a:solidFill>
                  <a:srgbClr val="000000"/>
                </a:solidFill>
                <a:latin typeface="Calibri"/>
                <a:ea typeface="Calibri"/>
                <a:cs typeface="Calibri"/>
              </a:rPr>
              <a:t/>
            </a:r>
          </a:p>
          <a:p>
            <a:pPr algn="l">
              <a:spcAft>
                <a:spcPts val="500"/>
              </a:spcAft>
              <a:buNone/>
            </a:pPr>
            <a:r>
              <a:rPr sz="1100" b="0">
                <a:solidFill>
                  <a:srgbClr val="000000"/>
                </a:solidFill>
                <a:latin typeface="Calibri"/>
                <a:ea typeface="Calibri"/>
                <a:cs typeface="Calibri"/>
              </a:rPr>
              <a:t>/Users/amaruagueroj/Library/CloudStorage/GoogleDrive-amaruaguero2004@gmail.com/Mi unidad/Asesorias/Air-Pollution/docs/modelo_1km_horario.html, sección 3, figura 39. Original fuente_tropomi_no2_trop_a2a56401.png. Producto satelital Sentinel-5P. Disponibilidad local: 2019–2024. Mapas media anual por píxel, sin añadir resolución. Años individuales seleccionados 2020 y 2024, no promedios cuatrienales. Series ponderadas por área de territorio, reloj UTC−4 fijo, media móvil centrada de 7 días. Figura archivada del HTML, no recalculada al 26-sep. No es una estimación entrenada por el equipo.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spcAft>
                <a:spcPts val="500"/>
              </a:spcAft>
              <a:buNone/>
            </a:pPr>
            <a:r>
              <a:rPr sz="1100" b="0">
                <a:solidFill>
                  <a:srgbClr val="000000"/>
                </a:solidFill>
                <a:latin typeface="Calibri"/>
                <a:ea typeface="Calibri"/>
                <a:cs typeface="Calibri"/>
              </a:rPr>
              <a:t>Diapositiva 26 | Guion principal</a:t>
            </a:r>
          </a:p>
          <a:p>
            <a:pPr algn="l">
              <a:spcAft>
                <a:spcPts val="500"/>
              </a:spcAft>
              <a:buNone/>
            </a:pPr>
            <a:r>
              <a:t/>
            </a:r>
            <a:endParaRPr sz="1100" b="0">
              <a:solidFill>
                <a:srgbClr val="000000"/>
              </a:solidFill>
              <a:latin typeface="Calibri"/>
              <a:ea typeface="Calibri"/>
              <a:cs typeface="Calibri"/>
            </a:endParaRPr>
          </a:p>
          <a:p>
            <a:pPr algn="l">
              <a:spcAft>
                <a:spcPts val="500"/>
              </a:spcAft>
              <a:buNone/>
            </a:pPr>
            <a:r>
              <a:rPr sz="1100" b="0">
                <a:solidFill>
                  <a:srgbClr val="000000"/>
                </a:solidFill>
                <a:latin typeface="Calibri"/>
                <a:ea typeface="Calibri"/>
                <a:cs typeface="Calibri"/>
              </a:rPr>
              <a:t>GUION PARA LEER</a:t>
            </a:r>
          </a:p>
          <a:p>
            <a:pPr algn="l">
              <a:spcAft>
                <a:spcPts val="500"/>
              </a:spcAft>
              <a:buNone/>
            </a:pPr>
            <a:r>
              <a:rPr sz="1100" b="0">
                <a:solidFill>
                  <a:srgbClr val="000000"/>
                </a:solidFill>
                <a:latin typeface="Calibri"/>
                <a:ea typeface="Calibri"/>
                <a:cs typeface="Calibri"/>
              </a:rPr>
              <a:t/>
            </a:r>
          </a:p>
          <a:p>
            <a:pPr algn="l">
              <a:spcAft>
                <a:spcPts val="500"/>
              </a:spcAft>
              <a:buNone/>
            </a:pPr>
            <a:r>
              <a:t>ACAG aporta una estimación externa mensual de PM dos coma cinco, construida con satélites, modelos y monitores. Su patrón espacial y variación mensual sirven como entrada. Revisaremos los posibles artefactos del extremo sur y los monitores usados en su construcción, para evaluar su independencia respecto de nuestra prueba.</a:t>
            </a:r>
            <a:endParaRPr sz="1100" b="0">
              <a:solidFill>
                <a:srgbClr val="000000"/>
              </a:solidFill>
              <a:latin typeface="Calibri"/>
              <a:ea typeface="Calibri"/>
              <a:cs typeface="Calibri"/>
            </a:endParaRPr>
          </a:p>
          <a:p>
            <a:pPr algn="l">
              <a:spcAft>
                <a:spcPts val="500"/>
              </a:spcAft>
              <a:buNone/>
            </a:pPr>
            <a:r>
              <a:rPr sz="1100" b="0">
                <a:solidFill>
                  <a:srgbClr val="000000"/>
                </a:solidFill>
                <a:latin typeface="Calibri"/>
                <a:ea typeface="Calibri"/>
                <a:cs typeface="Calibri"/>
              </a:rPr>
              <a:t/>
            </a:r>
          </a:p>
          <a:p>
            <a:pPr algn="l">
              <a:spcAft>
                <a:spcPts val="500"/>
              </a:spcAft>
              <a:buNone/>
            </a:pPr>
            <a:r>
              <a:rPr sz="1100" b="0">
                <a:solidFill>
                  <a:srgbClr val="000000"/>
                </a:solidFill>
                <a:latin typeface="Calibri"/>
                <a:ea typeface="Calibri"/>
                <a:cs typeface="Calibri"/>
              </a:rPr>
              <a:t>APOYO PARA PREGUNTAS (NO LEER EN LA EXPOSICIÓN)</a:t>
            </a:r>
          </a:p>
          <a:p>
            <a:pPr algn="l">
              <a:spcAft>
                <a:spcPts val="500"/>
              </a:spcAft>
              <a:buNone/>
            </a:pPr>
            <a:r>
              <a:rPr sz="1100" b="0">
                <a:solidFill>
                  <a:srgbClr val="000000"/>
                </a:solidFill>
                <a:latin typeface="Calibri"/>
                <a:ea typeface="Calibri"/>
                <a:cs typeface="Calibri"/>
              </a:rPr>
              <a:t/>
            </a:r>
          </a:p>
          <a:p>
            <a:pPr algn="l">
              <a:spcAft>
                <a:spcPts val="500"/>
              </a:spcAft>
              <a:buNone/>
            </a:pPr>
            <a:r>
              <a:rPr sz="1100" b="0">
                <a:solidFill>
                  <a:srgbClr val="000000"/>
                </a:solidFill>
                <a:latin typeface="Calibri"/>
                <a:ea typeface="Calibri"/>
                <a:cs typeface="Calibri"/>
              </a:rPr>
              <a:t>Una climatología resume el comportamiento típico de varios años. Para fechas posteriores a 2024, reutilizar una climatología no agrega observaciones de esos años. La posible dependencia respecto de monitores externos es una revisión pendiente, no una filtración demostrada.</a:t>
            </a:r>
          </a:p>
          <a:p>
            <a:pPr algn="l">
              <a:spcAft>
                <a:spcPts val="500"/>
              </a:spcAft>
              <a:buNone/>
            </a:pPr>
            <a:r>
              <a:rPr sz="1100" b="0">
                <a:solidFill>
                  <a:srgbClr val="000000"/>
                </a:solidFill>
                <a:latin typeface="Calibri"/>
                <a:ea typeface="Calibri"/>
                <a:cs typeface="Calibri"/>
              </a:rPr>
              <a:t/>
            </a:r>
          </a:p>
          <a:p>
            <a:pPr algn="l">
              <a:spcAft>
                <a:spcPts val="500"/>
              </a:spcAft>
              <a:buNone/>
            </a:pPr>
            <a:r>
              <a:rPr sz="1100" b="0">
                <a:solidFill>
                  <a:srgbClr val="000000"/>
                </a:solidFill>
                <a:latin typeface="Calibri"/>
                <a:ea typeface="Calibri"/>
                <a:cs typeface="Calibri"/>
              </a:rPr>
              <a:t>FUENTES Y PRECISIONES (NO LEER EN LA EXPOSICIÓN)</a:t>
            </a:r>
          </a:p>
          <a:p>
            <a:pPr algn="l">
              <a:spcAft>
                <a:spcPts val="500"/>
              </a:spcAft>
              <a:buNone/>
            </a:pPr>
            <a:r>
              <a:rPr sz="1100" b="0">
                <a:solidFill>
                  <a:srgbClr val="000000"/>
                </a:solidFill>
                <a:latin typeface="Calibri"/>
                <a:ea typeface="Calibri"/>
                <a:cs typeface="Calibri"/>
              </a:rPr>
              <a:t/>
            </a:r>
          </a:p>
          <a:p>
            <a:pPr algn="l">
              <a:spcAft>
                <a:spcPts val="500"/>
              </a:spcAft>
              <a:buNone/>
            </a:pPr>
            <a:r>
              <a:rPr sz="1100" b="0">
                <a:solidFill>
                  <a:srgbClr val="000000"/>
                </a:solidFill>
                <a:latin typeface="Calibri"/>
                <a:ea typeface="Calibri"/>
                <a:cs typeface="Calibri"/>
              </a:rPr>
              <a:t>/Users/amaruagueroj/Library/CloudStorage/GoogleDrive-amaruaguero2004@gmail.com/Mi unidad/Asesorias/Air-Pollution/docs/modelo_1km_horario.html, sección 3, figura 40. Original fuente_acag_pm25_46bbb047.png. Producto integrado de satélites, modelos y monitores. Disponibilidad local: 2000–2024. Mapas media anual por píxel, sin añadir resolución. Años individuales seleccionados 2020 y 2024, no promedios cuatrienales. ACAG mensual. Figura archivada del HTML, no recalculada al 26-sep. No es una estimación entrenada por el equipo.</a:t>
            </a:r>
          </a:p>
          <a:p>
            <a:pPr algn="l">
              <a:spcAft>
                <a:spcPts val="500"/>
              </a:spcAft>
              <a:buNone/>
            </a:pPr>
            <a:r>
              <a:rPr sz="1100" b="0">
                <a:solidFill>
                  <a:srgbClr val="000000"/>
                </a:solidFill>
                <a:latin typeface="Calibri"/>
                <a:ea typeface="Calibri"/>
                <a:cs typeface="Calibri"/>
              </a:rPr>
              <a:t>ACAG: https://sites.wustl.edu/acag/surface-pm2-5/ documenta fusión de satélites, simulación y monitores para la familiaV6, y calibración con red residualCNN. La página consultada describeV6.GL.02.04, no certifica la composición exacta deV6.GL.03 local. Verificar estaciones/periodos de calibración externa y comparar con/sinACAG. No se ha demostrado aquí solapamiento concreto. Shen etal.(2024), https://doi.org/10.1021/acsestair.3c00054.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spcAft>
                <a:spcPts val="500"/>
              </a:spcAft>
              <a:buNone/>
            </a:pPr>
            <a:r>
              <a:rPr sz="1100" b="0">
                <a:solidFill>
                  <a:srgbClr val="000000"/>
                </a:solidFill>
                <a:latin typeface="Calibri"/>
                <a:ea typeface="Calibri"/>
                <a:cs typeface="Calibri"/>
              </a:rPr>
              <a:t>Diapositiva 27 | Guion principal</a:t>
            </a:r>
          </a:p>
          <a:p>
            <a:pPr algn="l">
              <a:spcAft>
                <a:spcPts val="500"/>
              </a:spcAft>
              <a:buNone/>
            </a:pPr>
            <a:r>
              <a:t/>
            </a:r>
            <a:endParaRPr sz="1100" b="0">
              <a:solidFill>
                <a:srgbClr val="000000"/>
              </a:solidFill>
              <a:latin typeface="Calibri"/>
              <a:ea typeface="Calibri"/>
              <a:cs typeface="Calibri"/>
            </a:endParaRPr>
          </a:p>
          <a:p>
            <a:pPr algn="l">
              <a:spcAft>
                <a:spcPts val="500"/>
              </a:spcAft>
              <a:buNone/>
            </a:pPr>
            <a:r>
              <a:rPr sz="1100" b="0">
                <a:solidFill>
                  <a:srgbClr val="000000"/>
                </a:solidFill>
                <a:latin typeface="Calibri"/>
                <a:ea typeface="Calibri"/>
                <a:cs typeface="Calibri"/>
              </a:rPr>
              <a:t>GUION PARA LEER</a:t>
            </a:r>
          </a:p>
          <a:p>
            <a:pPr algn="l">
              <a:spcAft>
                <a:spcPts val="500"/>
              </a:spcAft>
              <a:buNone/>
            </a:pPr>
            <a:r>
              <a:rPr sz="1100" b="0">
                <a:solidFill>
                  <a:srgbClr val="000000"/>
                </a:solidFill>
                <a:latin typeface="Calibri"/>
                <a:ea typeface="Calibri"/>
                <a:cs typeface="Calibri"/>
              </a:rPr>
              <a:t/>
            </a:r>
          </a:p>
          <a:p>
            <a:pPr algn="l">
              <a:spcAft>
                <a:spcPts val="500"/>
              </a:spcAft>
              <a:buNone/>
            </a:pPr>
            <a:r>
              <a:t>Tenemos fuentes complementarias, con coberturas y calidades desiguales. Debemos cerrar la integración y fijar el protocolo antes de comparar modelos. Buscamos reconstruir PM dos coma cinco, dióxido de nitrógeno y los otros contaminantes, con resultados territoriales cuya precisión y límites podamos explicar.</a:t>
            </a:r>
            <a:endParaRPr sz="1100" b="0">
              <a:solidFill>
                <a:srgbClr val="000000"/>
              </a:solidFill>
              <a:latin typeface="Calibri"/>
              <a:ea typeface="Calibri"/>
              <a:cs typeface="Calibri"/>
            </a:endParaRPr>
          </a:p>
          <a:p>
            <a:pPr algn="l">
              <a:spcAft>
                <a:spcPts val="500"/>
              </a:spcAft>
              <a:buNone/>
            </a:pPr>
            <a:r>
              <a:rPr sz="1100" b="0">
                <a:solidFill>
                  <a:srgbClr val="000000"/>
                </a:solidFill>
                <a:latin typeface="Calibri"/>
                <a:ea typeface="Calibri"/>
                <a:cs typeface="Calibri"/>
              </a:rPr>
              <a:t/>
            </a:r>
          </a:p>
          <a:p>
            <a:pPr algn="l">
              <a:spcAft>
                <a:spcPts val="500"/>
              </a:spcAft>
              <a:buNone/>
            </a:pPr>
            <a:r>
              <a:rPr sz="1100" b="0">
                <a:solidFill>
                  <a:srgbClr val="000000"/>
                </a:solidFill>
                <a:latin typeface="Calibri"/>
                <a:ea typeface="Calibri"/>
                <a:cs typeface="Calibri"/>
              </a:rPr>
              <a:t>FUENTES Y PRECISIONES (NO LEER EN LA EXPOSICIÓN)</a:t>
            </a:r>
          </a:p>
          <a:p>
            <a:pPr algn="l">
              <a:spcAft>
                <a:spcPts val="500"/>
              </a:spcAft>
              <a:buNone/>
            </a:pPr>
            <a:r>
              <a:rPr sz="1100" b="0">
                <a:solidFill>
                  <a:srgbClr val="000000"/>
                </a:solidFill>
                <a:latin typeface="Calibri"/>
                <a:ea typeface="Calibri"/>
                <a:cs typeface="Calibri"/>
              </a:rPr>
              <a:t/>
            </a:r>
          </a:p>
          <a:p>
            <a:pPr algn="l">
              <a:spcAft>
                <a:spcPts val="500"/>
              </a:spcAft>
              <a:buNone/>
            </a:pPr>
            <a:r>
              <a:rPr sz="1100" b="0">
                <a:solidFill>
                  <a:srgbClr val="000000"/>
                </a:solidFill>
                <a:latin typeface="Calibri"/>
                <a:ea typeface="Calibri"/>
                <a:cs typeface="Calibri"/>
              </a:rPr>
              <a:t>/Users/amaruagueroj/Library/CloudStorage/GoogleDrive-amaruaguero2004@gmail.com/Mi unidad/Asesorias/Air-Pollution/docs/modelo_1km_horario.qmd; secuencia de trabajo propuesta. El calendario de ejecución debe acordarse con el equipo. Criterio de cierre de integración: unidades/reloj verificados, llaves únicas y pérdidas documentadas. Cierre de protocolo: particiones, métrica, extremos, incertidumbre y cobertura comunal predefinidos. Aplicación por contaminante: referencias observadas suficientes por periodo y territorio, y evaluación reservada adecuada para el uso previsto.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spcAft>
                <a:spcPts val="500"/>
              </a:spcAft>
              <a:buNone/>
            </a:pPr>
            <a:r>
              <a:rPr sz="1100" b="0">
                <a:solidFill>
                  <a:srgbClr val="000000"/>
                </a:solidFill>
                <a:latin typeface="Calibri"/>
                <a:ea typeface="Calibri"/>
                <a:cs typeface="Calibri"/>
              </a:rPr>
              <a:t>Diapositiva 28 | Guion principal</a:t>
            </a:r>
          </a:p>
          <a:p>
            <a:pPr algn="l">
              <a:spcAft>
                <a:spcPts val="500"/>
              </a:spcAft>
              <a:buNone/>
            </a:pPr>
            <a:r>
              <a:t/>
            </a:r>
            <a:endParaRPr sz="1100" b="0">
              <a:solidFill>
                <a:srgbClr val="000000"/>
              </a:solidFill>
              <a:latin typeface="Calibri"/>
              <a:ea typeface="Calibri"/>
              <a:cs typeface="Calibri"/>
            </a:endParaRPr>
          </a:p>
          <a:p>
            <a:pPr algn="l">
              <a:spcAft>
                <a:spcPts val="500"/>
              </a:spcAft>
              <a:buNone/>
            </a:pPr>
            <a:r>
              <a:rPr sz="1100" b="0">
                <a:solidFill>
                  <a:srgbClr val="000000"/>
                </a:solidFill>
                <a:latin typeface="Calibri"/>
                <a:ea typeface="Calibri"/>
                <a:cs typeface="Calibri"/>
              </a:rPr>
              <a:t>GUION PARA LEER</a:t>
            </a:r>
          </a:p>
          <a:p>
            <a:pPr algn="l">
              <a:spcAft>
                <a:spcPts val="500"/>
              </a:spcAft>
              <a:buNone/>
            </a:pPr>
            <a:r>
              <a:rPr sz="1100" b="0">
                <a:solidFill>
                  <a:srgbClr val="000000"/>
                </a:solidFill>
                <a:latin typeface="Calibri"/>
                <a:ea typeface="Calibri"/>
                <a:cs typeface="Calibri"/>
              </a:rPr>
              <a:t/>
            </a:r>
          </a:p>
          <a:p>
            <a:pPr algn="l">
              <a:spcAft>
                <a:spcPts val="500"/>
              </a:spcAft>
              <a:buNone/>
            </a:pPr>
            <a:r>
              <a:t>Estas son las referencias que sustentan los antecedentes y la evaluación propuesta. Muchas gracias.</a:t>
            </a:r>
            <a:endParaRPr sz="1100" b="0">
              <a:solidFill>
                <a:srgbClr val="000000"/>
              </a:solidFill>
              <a:latin typeface="Calibri"/>
              <a:ea typeface="Calibri"/>
              <a:cs typeface="Calibri"/>
            </a:endParaRPr>
          </a:p>
          <a:p>
            <a:pPr algn="l">
              <a:spcAft>
                <a:spcPts val="500"/>
              </a:spcAft>
              <a:buNone/>
            </a:pPr>
            <a:r>
              <a:rPr sz="1100" b="0">
                <a:solidFill>
                  <a:srgbClr val="000000"/>
                </a:solidFill>
                <a:latin typeface="Calibri"/>
                <a:ea typeface="Calibri"/>
                <a:cs typeface="Calibri"/>
              </a:rPr>
              <a:t/>
            </a:r>
          </a:p>
          <a:p>
            <a:pPr algn="l">
              <a:spcAft>
                <a:spcPts val="500"/>
              </a:spcAft>
              <a:buNone/>
            </a:pPr>
            <a:r>
              <a:rPr sz="1100" b="0">
                <a:solidFill>
                  <a:srgbClr val="000000"/>
                </a:solidFill>
                <a:latin typeface="Calibri"/>
                <a:ea typeface="Calibri"/>
                <a:cs typeface="Calibri"/>
              </a:rPr>
              <a:t>FUENTES Y PRECISIONES (NO LEER EN LA EXPOSICIÓN)</a:t>
            </a:r>
          </a:p>
          <a:p>
            <a:pPr algn="l">
              <a:spcAft>
                <a:spcPts val="500"/>
              </a:spcAft>
              <a:buNone/>
            </a:pPr>
            <a:r>
              <a:t/>
            </a:r>
            <a:endParaRPr sz="1100" b="0">
              <a:solidFill>
                <a:srgbClr val="000000"/>
              </a:solidFill>
              <a:latin typeface="Calibri"/>
              <a:ea typeface="Calibri"/>
              <a:cs typeface="Calibri"/>
            </a:endParaRPr>
          </a:p>
          <a:p>
            <a:pPr algn="l">
              <a:spcAft>
                <a:spcPts val="500"/>
              </a:spcAft>
              <a:buNone/>
            </a:pPr>
            <a:r>
              <a:rPr sz="1100" b="0">
                <a:solidFill>
                  <a:srgbClr val="000000"/>
                </a:solidFill>
                <a:latin typeface="Calibri"/>
                <a:ea typeface="Calibri"/>
                <a:cs typeface="Calibri"/>
              </a:rPr>
              <a:t>van Donkelaar et al. (2016), DOI 10.1021/acs.est.5b05833; Di et al. (2019), DOI 10.1016/j.envint.2019.104909; Roberts et al. (2017), DOI 10.1111/ecog.02881; Varma y Simon (2006), DOI 10.1186/1471-2105-7-91. Referencias y enlaces completos en esta diapositiva.</a:t>
            </a:r>
          </a:p>
          <a:p>
            <a:pPr algn="l">
              <a:spcAft>
                <a:spcPts val="500"/>
              </a:spcAft>
              <a:buNone/>
            </a:pPr>
            <a:r>
              <a:rPr sz="1100" b="0">
                <a:solidFill>
                  <a:srgbClr val="000000"/>
                </a:solidFill>
                <a:latin typeface="Calibri"/>
                <a:ea typeface="Calibri"/>
                <a:cs typeface="Calibri"/>
              </a:rPr>
              <a:t>Perez, P., &amp; Gramsch, E. (2016). Forecasting hourly PM2.5 in Santiago de Chile with emphasis on night episodes. Atmospheric Environment, 124, Part A, 22–27. https://doi.org/10.1016/j.atmosenv.2015.11.016. Método y alcance tomados del resumen editorial y metadatos institucionales: https://fisica.usach.cl/es/publicaciones/forecasting-hourly-pm25-santiago-de-chile-emphasis-night-episodes. Peralta, B., Sepúlveda, T., Nicolis, O., &amp; Caro, L. (2022). Space-Time Prediction of PM2.5 Concentrations in Santiago de Chile Using LSTM Networks. Applied Sciences, 12(22), 11317. https://doi.org/10.3390/app122211317. Texto completo: https://repositoriodigital.uct.cl/server/api/core/bitstreams/a7b70c8e-c370-4182-814c-bf5105cdcb91/content. Peralta sí aborda ubicaciones nuevas y mapas, por lo que no se afirma ausencia de estimación espacial previa en Chile. La hipótesis se contrasta por contaminante sobre los mismos pares válidos sitio-hora. Una mejora en un contaminante no confirma automáticamente el desempeño en los demás. RMSE y protocolo deben acordarse antes de la prueba externa.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spcAft>
                <a:spcPts val="500"/>
              </a:spcAft>
              <a:buNone/>
            </a:pPr>
            <a:r>
              <a:rPr sz="1100" b="0">
                <a:solidFill>
                  <a:srgbClr val="000000"/>
                </a:solidFill>
                <a:latin typeface="Calibri"/>
                <a:ea typeface="Calibri"/>
                <a:cs typeface="Calibri"/>
              </a:rPr>
              <a:t>Anexo 1 | Apoyo opcional, fuera del guion principal</a:t>
            </a:r>
          </a:p>
          <a:p>
            <a:pPr algn="l">
              <a:spcAft>
                <a:spcPts val="500"/>
              </a:spcAft>
              <a:buNone/>
            </a:pPr>
            <a:r>
              <a:t/>
            </a:r>
            <a:endParaRPr sz="1100" b="0">
              <a:solidFill>
                <a:srgbClr val="000000"/>
              </a:solidFill>
              <a:latin typeface="Calibri"/>
              <a:ea typeface="Calibri"/>
              <a:cs typeface="Calibri"/>
            </a:endParaRPr>
          </a:p>
          <a:p>
            <a:pPr algn="l">
              <a:spcAft>
                <a:spcPts val="500"/>
              </a:spcAft>
              <a:buNone/>
            </a:pPr>
            <a:r>
              <a:rPr sz="1100" b="0">
                <a:solidFill>
                  <a:srgbClr val="000000"/>
                </a:solidFill>
                <a:latin typeface="Calibri"/>
                <a:ea typeface="Calibri"/>
                <a:cs typeface="Calibri"/>
              </a:rPr>
              <a:t>GUION PARA LEER</a:t>
            </a:r>
          </a:p>
          <a:p>
            <a:pPr algn="l">
              <a:spcAft>
                <a:spcPts val="500"/>
              </a:spcAft>
              <a:buNone/>
            </a:pPr>
            <a:r>
              <a:rPr sz="1100" b="0">
                <a:solidFill>
                  <a:srgbClr val="000000"/>
                </a:solidFill>
                <a:latin typeface="Calibri"/>
                <a:ea typeface="Calibri"/>
                <a:cs typeface="Calibri"/>
              </a:rPr>
              <a:t/>
            </a:r>
          </a:p>
          <a:p>
            <a:pPr algn="l">
              <a:spcAft>
                <a:spcPts val="500"/>
              </a:spcAft>
              <a:buNone/>
            </a:pPr>
            <a:r>
              <a:rPr sz="1100" b="0">
                <a:solidFill>
                  <a:srgbClr val="000000"/>
                </a:solidFill>
                <a:latin typeface="Calibri"/>
                <a:ea typeface="Calibri"/>
                <a:cs typeface="Calibri"/>
              </a:rPr>
              <a:t>Este anexo muestra la fracción de bosque obtenida de la cobertura de suelo. Una fracción indica qué parte de cada celda corresponde a bosque y no tiene unidades. El producto nativo tiene trescientos metros de resolución y se resume en la grilla del proyecto. Los datos disponibles llegan a dos mil veintidós; por eso el panel rotulado dos mil veinticuatro reutiliza esa cobertura. Es una sustitución identificada, no una observación nueva.</a:t>
            </a:r>
          </a:p>
          <a:p>
            <a:pPr algn="l">
              <a:spcAft>
                <a:spcPts val="500"/>
              </a:spcAft>
              <a:buNone/>
            </a:pPr>
            <a:r>
              <a:rPr sz="1100" b="0">
                <a:solidFill>
                  <a:srgbClr val="000000"/>
                </a:solidFill>
                <a:latin typeface="Calibri"/>
                <a:ea typeface="Calibri"/>
                <a:cs typeface="Calibri"/>
              </a:rPr>
              <a:t/>
            </a:r>
          </a:p>
          <a:p>
            <a:pPr algn="l">
              <a:spcAft>
                <a:spcPts val="500"/>
              </a:spcAft>
              <a:buNone/>
            </a:pPr>
            <a:r>
              <a:rPr sz="1100" b="0">
                <a:solidFill>
                  <a:srgbClr val="000000"/>
                </a:solidFill>
                <a:latin typeface="Calibri"/>
                <a:ea typeface="Calibri"/>
                <a:cs typeface="Calibri"/>
              </a:rPr>
              <a:t>FUENTES Y PRECISIONES (NO LEER EN LA EXPOSICIÓN)</a:t>
            </a:r>
          </a:p>
          <a:p>
            <a:pPr algn="l">
              <a:spcAft>
                <a:spcPts val="500"/>
              </a:spcAft>
              <a:buNone/>
            </a:pPr>
            <a:r>
              <a:rPr sz="1100" b="0">
                <a:solidFill>
                  <a:srgbClr val="000000"/>
                </a:solidFill>
                <a:latin typeface="Calibri"/>
                <a:ea typeface="Calibri"/>
                <a:cs typeface="Calibri"/>
              </a:rPr>
              <a:t/>
            </a:r>
          </a:p>
          <a:p>
            <a:pPr algn="l">
              <a:spcAft>
                <a:spcPts val="500"/>
              </a:spcAft>
              <a:buNone/>
            </a:pPr>
            <a:r>
              <a:rPr sz="1100" b="0">
                <a:solidFill>
                  <a:srgbClr val="000000"/>
                </a:solidFill>
                <a:latin typeface="Calibri"/>
                <a:ea typeface="Calibri"/>
                <a:cs typeface="Calibri"/>
              </a:rPr>
              <a:t>/Users/amaruagueroj/Library/CloudStorage/GoogleDrive-amaruaguero2004@gmail.com/Mi unidad/Asesorias/Air-Pollution/docs/modelo_1km_horario.html, sección 3, figura 43. fuente_lulc_lulc_bosque_bad8e868.png. Cobertura de suelo a partir de satélites. Disponibilidad: 2000–2022; se conserva 2022 hasta 2026. Figura archivada, no recalculada al 26-sep.</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spcAft>
                <a:spcPts val="500"/>
              </a:spcAft>
              <a:buNone/>
            </a:pPr>
            <a:r>
              <a:rPr sz="1100" b="0">
                <a:solidFill>
                  <a:srgbClr val="000000"/>
                </a:solidFill>
                <a:latin typeface="Calibri"/>
                <a:ea typeface="Calibri"/>
                <a:cs typeface="Calibri"/>
              </a:rPr>
              <a:t>Anexo 2 | Apoyo opcional, fuera del guion principal</a:t>
            </a:r>
          </a:p>
          <a:p>
            <a:pPr algn="l">
              <a:spcAft>
                <a:spcPts val="500"/>
              </a:spcAft>
              <a:buNone/>
            </a:pPr>
            <a:r>
              <a:t/>
            </a:r>
            <a:endParaRPr sz="1100" b="0">
              <a:solidFill>
                <a:srgbClr val="000000"/>
              </a:solidFill>
              <a:latin typeface="Calibri"/>
              <a:ea typeface="Calibri"/>
              <a:cs typeface="Calibri"/>
            </a:endParaRPr>
          </a:p>
          <a:p>
            <a:pPr algn="l">
              <a:spcAft>
                <a:spcPts val="500"/>
              </a:spcAft>
              <a:buNone/>
            </a:pPr>
            <a:r>
              <a:rPr sz="1100" b="0">
                <a:solidFill>
                  <a:srgbClr val="000000"/>
                </a:solidFill>
                <a:latin typeface="Calibri"/>
                <a:ea typeface="Calibri"/>
                <a:cs typeface="Calibri"/>
              </a:rPr>
              <a:t>GUION PARA LEER</a:t>
            </a:r>
          </a:p>
          <a:p>
            <a:pPr algn="l">
              <a:spcAft>
                <a:spcPts val="500"/>
              </a:spcAft>
              <a:buNone/>
            </a:pPr>
            <a:r>
              <a:rPr sz="1100" b="0">
                <a:solidFill>
                  <a:srgbClr val="000000"/>
                </a:solidFill>
                <a:latin typeface="Calibri"/>
                <a:ea typeface="Calibri"/>
                <a:cs typeface="Calibri"/>
              </a:rPr>
              <a:t/>
            </a:r>
          </a:p>
          <a:p>
            <a:pPr algn="l">
              <a:spcAft>
                <a:spcPts val="500"/>
              </a:spcAft>
              <a:buNone/>
            </a:pPr>
            <a:r>
              <a:rPr sz="1100" b="0">
                <a:solidFill>
                  <a:srgbClr val="000000"/>
                </a:solidFill>
                <a:latin typeface="Calibri"/>
                <a:ea typeface="Calibri"/>
                <a:cs typeface="Calibri"/>
              </a:rPr>
              <a:t>MERRA dos aporta otro ejemplo de espesor óptico de aerosoles, esta vez procedente de un reanálisis. Los bloques visibles corresponden a su resolución espacial original, más gruesa que la grilla objetivo. Los mapas resumen cada año seleccionado y las curvas describen la variación diaria suavizada por macrozona. Esta entrada complementa el contexto atmosférico; sus valores no equivalen directamente a concentraciones superficiales de partículas.</a:t>
            </a:r>
          </a:p>
          <a:p>
            <a:pPr algn="l">
              <a:spcAft>
                <a:spcPts val="500"/>
              </a:spcAft>
              <a:buNone/>
            </a:pPr>
            <a:r>
              <a:rPr sz="1100" b="0">
                <a:solidFill>
                  <a:srgbClr val="000000"/>
                </a:solidFill>
                <a:latin typeface="Calibri"/>
                <a:ea typeface="Calibri"/>
                <a:cs typeface="Calibri"/>
              </a:rPr>
              <a:t/>
            </a:r>
          </a:p>
          <a:p>
            <a:pPr algn="l">
              <a:spcAft>
                <a:spcPts val="500"/>
              </a:spcAft>
              <a:buNone/>
            </a:pPr>
            <a:r>
              <a:rPr sz="1100" b="0">
                <a:solidFill>
                  <a:srgbClr val="000000"/>
                </a:solidFill>
                <a:latin typeface="Calibri"/>
                <a:ea typeface="Calibri"/>
                <a:cs typeface="Calibri"/>
              </a:rPr>
              <a:t>FUENTES Y PRECISIONES (NO LEER EN LA EXPOSICIÓN)</a:t>
            </a:r>
          </a:p>
          <a:p>
            <a:pPr algn="l">
              <a:spcAft>
                <a:spcPts val="500"/>
              </a:spcAft>
              <a:buNone/>
            </a:pPr>
            <a:r>
              <a:rPr sz="1100" b="0">
                <a:solidFill>
                  <a:srgbClr val="000000"/>
                </a:solidFill>
                <a:latin typeface="Calibri"/>
                <a:ea typeface="Calibri"/>
                <a:cs typeface="Calibri"/>
              </a:rPr>
              <a:t/>
            </a:r>
          </a:p>
          <a:p>
            <a:pPr algn="l">
              <a:spcAft>
                <a:spcPts val="500"/>
              </a:spcAft>
              <a:buNone/>
            </a:pPr>
            <a:r>
              <a:rPr sz="1100" b="0">
                <a:solidFill>
                  <a:srgbClr val="000000"/>
                </a:solidFill>
                <a:latin typeface="Calibri"/>
                <a:ea typeface="Calibri"/>
                <a:cs typeface="Calibri"/>
              </a:rPr>
              <a:t>/Users/amaruagueroj/Library/CloudStorage/GoogleDrive-amaruaguero2004@gmail.com/Mi unidad/Asesorias/Air-Pollution/docs/modelo_1km_horario.html, sección 3, figura 27. Original fuente_merra2_aod_3e1ea473.png. Reanálisis atmosférico. Disponibilidad local: ene-2000–may-2026. Mapas media anual por píxel, sin añadir resolución. Años individuales seleccionados 2020 y 2024, no promedios cuatrienales. Series ponderadas por área de territorio, reloj UTC−4 fijo, media móvil centrada de 7 días. Figura archivada del HTML, no recalculada al 26-sep. No es una estimación entrenada por el equipo.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spcAft>
                <a:spcPts val="500"/>
              </a:spcAft>
              <a:buNone/>
            </a:pPr>
            <a:r>
              <a:rPr sz="1100" b="0">
                <a:solidFill>
                  <a:srgbClr val="000000"/>
                </a:solidFill>
                <a:latin typeface="Calibri"/>
                <a:ea typeface="Calibri"/>
                <a:cs typeface="Calibri"/>
              </a:rPr>
              <a:t>Anexo 3 | Apoyo opcional, fuera del guion principal</a:t>
            </a:r>
          </a:p>
          <a:p>
            <a:pPr algn="l">
              <a:spcAft>
                <a:spcPts val="500"/>
              </a:spcAft>
              <a:buNone/>
            </a:pPr>
            <a:r>
              <a:t/>
            </a:r>
            <a:endParaRPr sz="1100" b="0">
              <a:solidFill>
                <a:srgbClr val="000000"/>
              </a:solidFill>
              <a:latin typeface="Calibri"/>
              <a:ea typeface="Calibri"/>
              <a:cs typeface="Calibri"/>
            </a:endParaRPr>
          </a:p>
          <a:p>
            <a:pPr algn="l">
              <a:spcAft>
                <a:spcPts val="500"/>
              </a:spcAft>
              <a:buNone/>
            </a:pPr>
            <a:r>
              <a:rPr sz="1100" b="0">
                <a:solidFill>
                  <a:srgbClr val="000000"/>
                </a:solidFill>
                <a:latin typeface="Calibri"/>
                <a:ea typeface="Calibri"/>
                <a:cs typeface="Calibri"/>
              </a:rPr>
              <a:t>GUION PARA LEER</a:t>
            </a:r>
          </a:p>
          <a:p>
            <a:pPr algn="l">
              <a:spcAft>
                <a:spcPts val="500"/>
              </a:spcAft>
              <a:buNone/>
            </a:pPr>
            <a:r>
              <a:rPr sz="1100" b="0">
                <a:solidFill>
                  <a:srgbClr val="000000"/>
                </a:solidFill>
                <a:latin typeface="Calibri"/>
                <a:ea typeface="Calibri"/>
                <a:cs typeface="Calibri"/>
              </a:rPr>
              <a:t/>
            </a:r>
          </a:p>
          <a:p>
            <a:pPr algn="l">
              <a:spcAft>
                <a:spcPts val="500"/>
              </a:spcAft>
              <a:buNone/>
            </a:pPr>
            <a:r>
              <a:rPr sz="1100" b="0">
                <a:solidFill>
                  <a:srgbClr val="000000"/>
                </a:solidFill>
                <a:latin typeface="Calibri"/>
                <a:ea typeface="Calibri"/>
                <a:cs typeface="Calibri"/>
              </a:rPr>
              <a:t>ERA5 aporta la altura de la capa límite atmosférica, expresada en metros. Esta es la zona inferior de la atmósfera donde el contacto con la superficie influye en la mezcla del aire. Su profundidad ayuda a caracterizar condiciones de dispersión de contaminantes. Los mapas y curvas describen esta variable meteorológica de entrada; todavía no muestran el efecto estimado por nuestros modelos.</a:t>
            </a:r>
          </a:p>
          <a:p>
            <a:pPr algn="l">
              <a:spcAft>
                <a:spcPts val="500"/>
              </a:spcAft>
              <a:buNone/>
            </a:pPr>
            <a:r>
              <a:rPr sz="1100" b="0">
                <a:solidFill>
                  <a:srgbClr val="000000"/>
                </a:solidFill>
                <a:latin typeface="Calibri"/>
                <a:ea typeface="Calibri"/>
                <a:cs typeface="Calibri"/>
              </a:rPr>
              <a:t/>
            </a:r>
          </a:p>
          <a:p>
            <a:pPr algn="l">
              <a:spcAft>
                <a:spcPts val="500"/>
              </a:spcAft>
              <a:buNone/>
            </a:pPr>
            <a:r>
              <a:rPr sz="1100" b="0">
                <a:solidFill>
                  <a:srgbClr val="000000"/>
                </a:solidFill>
                <a:latin typeface="Calibri"/>
                <a:ea typeface="Calibri"/>
                <a:cs typeface="Calibri"/>
              </a:rPr>
              <a:t>FUENTES Y PRECISIONES (NO LEER EN LA EXPOSICIÓN)</a:t>
            </a:r>
          </a:p>
          <a:p>
            <a:pPr algn="l">
              <a:spcAft>
                <a:spcPts val="500"/>
              </a:spcAft>
              <a:buNone/>
            </a:pPr>
            <a:r>
              <a:rPr sz="1100" b="0">
                <a:solidFill>
                  <a:srgbClr val="000000"/>
                </a:solidFill>
                <a:latin typeface="Calibri"/>
                <a:ea typeface="Calibri"/>
                <a:cs typeface="Calibri"/>
              </a:rPr>
              <a:t/>
            </a:r>
          </a:p>
          <a:p>
            <a:pPr algn="l">
              <a:spcAft>
                <a:spcPts val="500"/>
              </a:spcAft>
              <a:buNone/>
            </a:pPr>
            <a:r>
              <a:rPr sz="1100" b="0">
                <a:solidFill>
                  <a:srgbClr val="000000"/>
                </a:solidFill>
                <a:latin typeface="Calibri"/>
                <a:ea typeface="Calibri"/>
                <a:cs typeface="Calibri"/>
              </a:rPr>
              <a:t>/Users/amaruagueroj/Library/CloudStorage/GoogleDrive-amaruaguero2004@gmail.com/Mi unidad/Asesorias/Air-Pollution/docs/modelo_1km_horario.html, sección 3, figura 22. Original fuente_era5blh_blh_99969ab0.png. Reanálisis meteorológico. Disponibilidad local: ene-2000–jun-2026. Mapas media anual por píxel, sin añadir resolución. Años individuales seleccionados 2020 y 2024, no promedios cuatrienales. Series ponderadas por área de territorio, reloj UTC−4 fijo, media móvil centrada de 7 días. Figura archivada del HTML, no recalculada al 26-sep. No es una estimación entrenada por el equipo.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spcAft>
                <a:spcPts val="500"/>
              </a:spcAft>
              <a:buNone/>
            </a:pPr>
            <a:r>
              <a:rPr sz="1100" b="0">
                <a:solidFill>
                  <a:srgbClr val="000000"/>
                </a:solidFill>
                <a:latin typeface="Calibri"/>
                <a:ea typeface="Calibri"/>
                <a:cs typeface="Calibri"/>
              </a:rPr>
              <a:t>Anexo 4 | Apoyo opcional, fuera del guion principal</a:t>
            </a:r>
          </a:p>
          <a:p>
            <a:pPr algn="l">
              <a:spcAft>
                <a:spcPts val="500"/>
              </a:spcAft>
              <a:buNone/>
            </a:pPr>
            <a:r>
              <a:t/>
            </a:r>
            <a:endParaRPr sz="1100" b="0">
              <a:solidFill>
                <a:srgbClr val="000000"/>
              </a:solidFill>
              <a:latin typeface="Calibri"/>
              <a:ea typeface="Calibri"/>
              <a:cs typeface="Calibri"/>
            </a:endParaRPr>
          </a:p>
          <a:p>
            <a:pPr algn="l">
              <a:spcAft>
                <a:spcPts val="500"/>
              </a:spcAft>
              <a:buNone/>
            </a:pPr>
            <a:r>
              <a:rPr sz="1100" b="0">
                <a:solidFill>
                  <a:srgbClr val="000000"/>
                </a:solidFill>
                <a:latin typeface="Calibri"/>
                <a:ea typeface="Calibri"/>
                <a:cs typeface="Calibri"/>
              </a:rPr>
              <a:t>GUION PARA LEER</a:t>
            </a:r>
          </a:p>
          <a:p>
            <a:pPr algn="l">
              <a:spcAft>
                <a:spcPts val="500"/>
              </a:spcAft>
              <a:buNone/>
            </a:pPr>
            <a:r>
              <a:rPr sz="1100" b="0">
                <a:solidFill>
                  <a:srgbClr val="000000"/>
                </a:solidFill>
                <a:latin typeface="Calibri"/>
                <a:ea typeface="Calibri"/>
                <a:cs typeface="Calibri"/>
              </a:rPr>
              <a:t/>
            </a:r>
          </a:p>
          <a:p>
            <a:pPr algn="l">
              <a:spcAft>
                <a:spcPts val="500"/>
              </a:spcAft>
              <a:buNone/>
            </a:pPr>
            <a:r>
              <a:rPr sz="1100" b="0">
                <a:solidFill>
                  <a:srgbClr val="000000"/>
                </a:solidFill>
                <a:latin typeface="Calibri"/>
                <a:ea typeface="Calibri"/>
                <a:cs typeface="Calibri"/>
              </a:rPr>
              <a:t>CAMS aporta una estimación externa de PM dos coma cinco superficial, disponible cada tres horas y en una grilla de cero coma setenta y cinco grados. La serie local comienza en dos mil tres. El ejemplo muestra patrones a escala regional; llevarlo a una grilla más fina no crea detalle medido adicional. Se utilizará como una entrada cuyo aporte debe evaluarse frente a las estaciones.</a:t>
            </a:r>
          </a:p>
          <a:p>
            <a:pPr algn="l">
              <a:spcAft>
                <a:spcPts val="500"/>
              </a:spcAft>
              <a:buNone/>
            </a:pPr>
            <a:r>
              <a:rPr sz="1100" b="0">
                <a:solidFill>
                  <a:srgbClr val="000000"/>
                </a:solidFill>
                <a:latin typeface="Calibri"/>
                <a:ea typeface="Calibri"/>
                <a:cs typeface="Calibri"/>
              </a:rPr>
              <a:t/>
            </a:r>
          </a:p>
          <a:p>
            <a:pPr algn="l">
              <a:spcAft>
                <a:spcPts val="500"/>
              </a:spcAft>
              <a:buNone/>
            </a:pPr>
            <a:r>
              <a:rPr sz="1100" b="0">
                <a:solidFill>
                  <a:srgbClr val="000000"/>
                </a:solidFill>
                <a:latin typeface="Calibri"/>
                <a:ea typeface="Calibri"/>
                <a:cs typeface="Calibri"/>
              </a:rPr>
              <a:t>FUENTES Y PRECISIONES (NO LEER EN LA EXPOSICIÓN)</a:t>
            </a:r>
          </a:p>
          <a:p>
            <a:pPr algn="l">
              <a:spcAft>
                <a:spcPts val="500"/>
              </a:spcAft>
              <a:buNone/>
            </a:pPr>
            <a:r>
              <a:rPr sz="1100" b="0">
                <a:solidFill>
                  <a:srgbClr val="000000"/>
                </a:solidFill>
                <a:latin typeface="Calibri"/>
                <a:ea typeface="Calibri"/>
                <a:cs typeface="Calibri"/>
              </a:rPr>
              <a:t/>
            </a:r>
          </a:p>
          <a:p>
            <a:pPr algn="l">
              <a:spcAft>
                <a:spcPts val="500"/>
              </a:spcAft>
              <a:buNone/>
            </a:pPr>
            <a:r>
              <a:rPr sz="1100" b="0">
                <a:solidFill>
                  <a:srgbClr val="000000"/>
                </a:solidFill>
                <a:latin typeface="Calibri"/>
                <a:ea typeface="Calibri"/>
                <a:cs typeface="Calibri"/>
              </a:rPr>
              <a:t>/Users/amaruagueroj/Library/CloudStorage/GoogleDrive-amaruaguero2004@gmail.com/Mi unidad/Asesorias/Air-Pollution/docs/modelo_1km_horario.html, sección 3, figura 30. Original fuente_cams_pm25_c3f419e1.png. Reanálisis de composición atmosférica. Disponibilidad local: ene-2003–dic-2025. Mapas media anual por píxel, sin añadir resolución. Años individuales seleccionados 2020 y 2024, no promedios cuatrienales. Series ponderadas por área de territorio, reloj UTC−4 fijo, media móvil centrada de 7 días. Figura archivada del HTML, no recalculada al 26-sep. No es una estimación entrenada por el equipo.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spcAft>
                <a:spcPts val="500"/>
              </a:spcAft>
              <a:buNone/>
            </a:pPr>
            <a:r>
              <a:rPr sz="1100" b="0">
                <a:solidFill>
                  <a:srgbClr val="000000"/>
                </a:solidFill>
                <a:latin typeface="Calibri"/>
                <a:ea typeface="Calibri"/>
                <a:cs typeface="Calibri"/>
              </a:rPr>
              <a:t>Anexo 5 | Apoyo opcional, fuera del guion principal</a:t>
            </a:r>
          </a:p>
          <a:p>
            <a:pPr algn="l">
              <a:spcAft>
                <a:spcPts val="500"/>
              </a:spcAft>
              <a:buNone/>
            </a:pPr>
            <a:r>
              <a:t/>
            </a:r>
            <a:endParaRPr sz="1100" b="0">
              <a:solidFill>
                <a:srgbClr val="000000"/>
              </a:solidFill>
              <a:latin typeface="Calibri"/>
              <a:ea typeface="Calibri"/>
              <a:cs typeface="Calibri"/>
            </a:endParaRPr>
          </a:p>
          <a:p>
            <a:pPr algn="l">
              <a:spcAft>
                <a:spcPts val="500"/>
              </a:spcAft>
              <a:buNone/>
            </a:pPr>
            <a:r>
              <a:rPr sz="1100" b="0">
                <a:solidFill>
                  <a:srgbClr val="000000"/>
                </a:solidFill>
                <a:latin typeface="Calibri"/>
                <a:ea typeface="Calibri"/>
                <a:cs typeface="Calibri"/>
              </a:rPr>
              <a:t>GUION PARA LEER</a:t>
            </a:r>
          </a:p>
          <a:p>
            <a:pPr algn="l">
              <a:spcAft>
                <a:spcPts val="500"/>
              </a:spcAft>
              <a:buNone/>
            </a:pPr>
            <a:r>
              <a:rPr sz="1100" b="0">
                <a:solidFill>
                  <a:srgbClr val="000000"/>
                </a:solidFill>
                <a:latin typeface="Calibri"/>
                <a:ea typeface="Calibri"/>
                <a:cs typeface="Calibri"/>
              </a:rPr>
              <a:t/>
            </a:r>
          </a:p>
          <a:p>
            <a:pPr algn="l">
              <a:spcAft>
                <a:spcPts val="500"/>
              </a:spcAft>
              <a:buNone/>
            </a:pPr>
            <a:r>
              <a:rPr sz="1100" b="0">
                <a:solidFill>
                  <a:srgbClr val="000000"/>
                </a:solidFill>
                <a:latin typeface="Calibri"/>
                <a:ea typeface="Calibri"/>
                <a:cs typeface="Calibri"/>
              </a:rPr>
              <a:t>GEOS-CF aporta este ejemplo de dióxido de nitrógeno superficial procedente de un modelo atmosférico de NASA. Se expresa en partes por mil millones y tiene frecuencia horaria. Los archivos locales cubren desde dos mil diecinueve hasta dos mil veinticuatro. Los mapas anuales y las curvas muestran su comportamiento espacial y temporal. Es información externa de entrada, no un resultado entrenado por el equipo.</a:t>
            </a:r>
          </a:p>
          <a:p>
            <a:pPr algn="l">
              <a:spcAft>
                <a:spcPts val="500"/>
              </a:spcAft>
              <a:buNone/>
            </a:pPr>
            <a:r>
              <a:rPr sz="1100" b="0">
                <a:solidFill>
                  <a:srgbClr val="000000"/>
                </a:solidFill>
                <a:latin typeface="Calibri"/>
                <a:ea typeface="Calibri"/>
                <a:cs typeface="Calibri"/>
              </a:rPr>
              <a:t/>
            </a:r>
          </a:p>
          <a:p>
            <a:pPr algn="l">
              <a:spcAft>
                <a:spcPts val="500"/>
              </a:spcAft>
              <a:buNone/>
            </a:pPr>
            <a:r>
              <a:rPr sz="1100" b="0">
                <a:solidFill>
                  <a:srgbClr val="000000"/>
                </a:solidFill>
                <a:latin typeface="Calibri"/>
                <a:ea typeface="Calibri"/>
                <a:cs typeface="Calibri"/>
              </a:rPr>
              <a:t>FUENTES Y PRECISIONES (NO LEER EN LA EXPOSICIÓN)</a:t>
            </a:r>
          </a:p>
          <a:p>
            <a:pPr algn="l">
              <a:spcAft>
                <a:spcPts val="500"/>
              </a:spcAft>
              <a:buNone/>
            </a:pPr>
            <a:r>
              <a:rPr sz="1100" b="0">
                <a:solidFill>
                  <a:srgbClr val="000000"/>
                </a:solidFill>
                <a:latin typeface="Calibri"/>
                <a:ea typeface="Calibri"/>
                <a:cs typeface="Calibri"/>
              </a:rPr>
              <a:t/>
            </a:r>
          </a:p>
          <a:p>
            <a:pPr algn="l">
              <a:spcAft>
                <a:spcPts val="500"/>
              </a:spcAft>
              <a:buNone/>
            </a:pPr>
            <a:r>
              <a:rPr sz="1100" b="0">
                <a:solidFill>
                  <a:srgbClr val="000000"/>
                </a:solidFill>
                <a:latin typeface="Calibri"/>
                <a:ea typeface="Calibri"/>
                <a:cs typeface="Calibri"/>
              </a:rPr>
              <a:t>/Users/amaruagueroj/Library/CloudStorage/GoogleDrive-amaruaguero2004@gmail.com/Mi unidad/Asesorias/Air-Pollution/docs/modelo_1km_horario.html, sección 3, figura 33. Original fuente_geoscf_no2_7b2426a4.png. Producto de modelo atmosférico. Disponibilidad local: ene-2019–dic-2024, archivos legados. Mapas media anual por píxel, sin añadir resolución. Años individuales seleccionados 2020 y 2024, no promedios cuatrienales. Series ponderadas por área de territorio, reloj UTC−4 fijo, media móvil centrada de 7 días. Figura archivada del HTML, no recalculada al 26-sep. No es una estimación entrenada por el equipo.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spcAft>
                <a:spcPts val="500"/>
              </a:spcAft>
              <a:buNone/>
            </a:pPr>
            <a:r>
              <a:rPr sz="1100" b="0">
                <a:solidFill>
                  <a:srgbClr val="000000"/>
                </a:solidFill>
                <a:latin typeface="Calibri"/>
                <a:ea typeface="Calibri"/>
                <a:cs typeface="Calibri"/>
              </a:rPr>
              <a:t>Anexo 6 | Apoyo opcional, fuera del guion principal</a:t>
            </a:r>
          </a:p>
          <a:p>
            <a:pPr algn="l">
              <a:spcAft>
                <a:spcPts val="500"/>
              </a:spcAft>
              <a:buNone/>
            </a:pPr>
            <a:r>
              <a:t/>
            </a:r>
            <a:endParaRPr sz="1100" b="0">
              <a:solidFill>
                <a:srgbClr val="000000"/>
              </a:solidFill>
              <a:latin typeface="Calibri"/>
              <a:ea typeface="Calibri"/>
              <a:cs typeface="Calibri"/>
            </a:endParaRPr>
          </a:p>
          <a:p>
            <a:pPr algn="l">
              <a:spcAft>
                <a:spcPts val="500"/>
              </a:spcAft>
              <a:buNone/>
            </a:pPr>
            <a:r>
              <a:rPr sz="1100" b="0">
                <a:solidFill>
                  <a:srgbClr val="000000"/>
                </a:solidFill>
                <a:latin typeface="Calibri"/>
                <a:ea typeface="Calibri"/>
                <a:cs typeface="Calibri"/>
              </a:rPr>
              <a:t>GUION PARA LEER</a:t>
            </a:r>
          </a:p>
          <a:p>
            <a:pPr algn="l">
              <a:spcAft>
                <a:spcPts val="500"/>
              </a:spcAft>
              <a:buNone/>
            </a:pPr>
            <a:r>
              <a:rPr sz="1100" b="0">
                <a:solidFill>
                  <a:srgbClr val="000000"/>
                </a:solidFill>
                <a:latin typeface="Calibri"/>
                <a:ea typeface="Calibri"/>
                <a:cs typeface="Calibri"/>
              </a:rPr>
              <a:t/>
            </a:r>
          </a:p>
          <a:p>
            <a:pPr algn="l">
              <a:spcAft>
                <a:spcPts val="500"/>
              </a:spcAft>
              <a:buNone/>
            </a:pPr>
            <a:r>
              <a:rPr sz="1100" b="0">
                <a:solidFill>
                  <a:srgbClr val="000000"/>
                </a:solidFill>
                <a:latin typeface="Calibri"/>
                <a:ea typeface="Calibri"/>
                <a:cs typeface="Calibri"/>
              </a:rPr>
              <a:t>La densidad de población expresa cuántos habitantes corresponden a cada kilómetro cuadrado. Se obtiene de información comunal distribuida sobre la grilla. Su función es caracterizar el territorio. El periodo de la fuente incluye estimaciones y proyecciones, por lo que no equivale a censos observados en todos los años. Para dos mil y dos mil uno se reutiliza la información de dos mil dos.</a:t>
            </a:r>
          </a:p>
          <a:p>
            <a:pPr algn="l">
              <a:spcAft>
                <a:spcPts val="500"/>
              </a:spcAft>
              <a:buNone/>
            </a:pPr>
            <a:r>
              <a:rPr sz="1100" b="0">
                <a:solidFill>
                  <a:srgbClr val="000000"/>
                </a:solidFill>
                <a:latin typeface="Calibri"/>
                <a:ea typeface="Calibri"/>
                <a:cs typeface="Calibri"/>
              </a:rPr>
              <a:t/>
            </a:r>
          </a:p>
          <a:p>
            <a:pPr algn="l">
              <a:spcAft>
                <a:spcPts val="500"/>
              </a:spcAft>
              <a:buNone/>
            </a:pPr>
            <a:r>
              <a:rPr sz="1100" b="0">
                <a:solidFill>
                  <a:srgbClr val="000000"/>
                </a:solidFill>
                <a:latin typeface="Calibri"/>
                <a:ea typeface="Calibri"/>
                <a:cs typeface="Calibri"/>
              </a:rPr>
              <a:t>FUENTES Y PRECISIONES (NO LEER EN LA EXPOSICIÓN)</a:t>
            </a:r>
          </a:p>
          <a:p>
            <a:pPr algn="l">
              <a:spcAft>
                <a:spcPts val="500"/>
              </a:spcAft>
              <a:buNone/>
            </a:pPr>
            <a:r>
              <a:rPr sz="1100" b="0">
                <a:solidFill>
                  <a:srgbClr val="000000"/>
                </a:solidFill>
                <a:latin typeface="Calibri"/>
                <a:ea typeface="Calibri"/>
                <a:cs typeface="Calibri"/>
              </a:rPr>
              <a:t/>
            </a:r>
          </a:p>
          <a:p>
            <a:pPr algn="l">
              <a:spcAft>
                <a:spcPts val="500"/>
              </a:spcAft>
              <a:buNone/>
            </a:pPr>
            <a:r>
              <a:rPr sz="1100" b="0">
                <a:solidFill>
                  <a:srgbClr val="000000"/>
                </a:solidFill>
                <a:latin typeface="Calibri"/>
                <a:ea typeface="Calibri"/>
                <a:cs typeface="Calibri"/>
              </a:rPr>
              <a:t>/Users/amaruagueroj/Library/CloudStorage/GoogleDrive-amaruaguero2004@gmail.com/Mi unidad/Asesorias/Air-Pollution/docs/modelo_1km_horario.html, sección 3, figura 45. fuente_lulc_pob_dens_bad8e868.png. Producto demográfico territorial. Disponibilidad: 2002–2035; se usa 2002 para 2000–2001. Figura archivada, no recalculada al 26-sep.</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spcAft>
                <a:spcPts val="500"/>
              </a:spcAft>
              <a:buNone/>
            </a:pPr>
            <a:r>
              <a:rPr sz="1100" b="0">
                <a:solidFill>
                  <a:srgbClr val="000000"/>
                </a:solidFill>
                <a:latin typeface="Calibri"/>
                <a:ea typeface="Calibri"/>
                <a:cs typeface="Calibri"/>
              </a:rPr>
              <a:t>Anexo 7 | Apoyo opcional, fuera del guion principal</a:t>
            </a:r>
          </a:p>
          <a:p>
            <a:pPr algn="l">
              <a:spcAft>
                <a:spcPts val="500"/>
              </a:spcAft>
              <a:buNone/>
            </a:pPr>
            <a:r>
              <a:t/>
            </a:r>
            <a:endParaRPr sz="1100" b="0">
              <a:solidFill>
                <a:srgbClr val="000000"/>
              </a:solidFill>
              <a:latin typeface="Calibri"/>
              <a:ea typeface="Calibri"/>
              <a:cs typeface="Calibri"/>
            </a:endParaRPr>
          </a:p>
          <a:p>
            <a:pPr algn="l">
              <a:spcAft>
                <a:spcPts val="500"/>
              </a:spcAft>
              <a:buNone/>
            </a:pPr>
            <a:r>
              <a:rPr sz="1100" b="0">
                <a:solidFill>
                  <a:srgbClr val="000000"/>
                </a:solidFill>
                <a:latin typeface="Calibri"/>
                <a:ea typeface="Calibri"/>
                <a:cs typeface="Calibri"/>
              </a:rPr>
              <a:t>GUION PARA LEER</a:t>
            </a:r>
          </a:p>
          <a:p>
            <a:pPr algn="l">
              <a:spcAft>
                <a:spcPts val="500"/>
              </a:spcAft>
              <a:buNone/>
            </a:pPr>
            <a:r>
              <a:rPr sz="1100" b="0">
                <a:solidFill>
                  <a:srgbClr val="000000"/>
                </a:solidFill>
                <a:latin typeface="Calibri"/>
                <a:ea typeface="Calibri"/>
                <a:cs typeface="Calibri"/>
              </a:rPr>
              <a:t/>
            </a:r>
          </a:p>
          <a:p>
            <a:pPr algn="l">
              <a:spcAft>
                <a:spcPts val="500"/>
              </a:spcAft>
              <a:buNone/>
            </a:pPr>
            <a:r>
              <a:t>La selección de configuraciones del modelo utilizará particiones internas y dejará una prueba externa para la evaluación final. Para cada contaminante, compararemos los modelos sobre las mismas observaciones reservadas. Los extremos y los grupos territoriales se definirán antes de revisar esa prueba. Debemos distinguir la incertidumbre de una métrica de error de la incertidumbre de una concentración estimada: necesitan procedimientos específicos y no son intercambiables. El método de los intervalos predictivos todavía debe definirse.</a:t>
            </a:r>
            <a:endParaRPr sz="1100" b="0">
              <a:solidFill>
                <a:srgbClr val="000000"/>
              </a:solidFill>
              <a:latin typeface="Calibri"/>
              <a:ea typeface="Calibri"/>
              <a:cs typeface="Calibri"/>
            </a:endParaRPr>
          </a:p>
          <a:p>
            <a:pPr algn="l">
              <a:spcAft>
                <a:spcPts val="500"/>
              </a:spcAft>
              <a:buNone/>
            </a:pPr>
            <a:r>
              <a:rPr sz="1100" b="0">
                <a:solidFill>
                  <a:srgbClr val="000000"/>
                </a:solidFill>
                <a:latin typeface="Calibri"/>
                <a:ea typeface="Calibri"/>
                <a:cs typeface="Calibri"/>
              </a:rPr>
              <a:t/>
            </a:r>
          </a:p>
          <a:p>
            <a:pPr algn="l">
              <a:spcAft>
                <a:spcPts val="500"/>
              </a:spcAft>
              <a:buNone/>
            </a:pPr>
            <a:r>
              <a:rPr sz="1100" b="0">
                <a:solidFill>
                  <a:srgbClr val="000000"/>
                </a:solidFill>
                <a:latin typeface="Calibri"/>
                <a:ea typeface="Calibri"/>
                <a:cs typeface="Calibri"/>
              </a:rPr>
              <a:t>FUENTES Y PRECISIONES (NO LEER EN LA EXPOSICIÓN)</a:t>
            </a:r>
          </a:p>
          <a:p>
            <a:pPr algn="l">
              <a:spcAft>
                <a:spcPts val="500"/>
              </a:spcAft>
              <a:buNone/>
            </a:pPr>
            <a:r>
              <a:rPr sz="1100" b="0">
                <a:solidFill>
                  <a:srgbClr val="000000"/>
                </a:solidFill>
                <a:latin typeface="Calibri"/>
                <a:ea typeface="Calibri"/>
                <a:cs typeface="Calibri"/>
              </a:rPr>
              <a:t/>
            </a:r>
          </a:p>
          <a:p>
            <a:pPr algn="l">
              <a:spcAft>
                <a:spcPts val="500"/>
              </a:spcAft>
              <a:buNone/>
            </a:pPr>
            <a:r>
              <a:rPr sz="1100" b="0">
                <a:solidFill>
                  <a:srgbClr val="000000"/>
                </a:solidFill>
                <a:latin typeface="Calibri"/>
                <a:ea typeface="Calibri"/>
                <a:cs typeface="Calibri"/>
              </a:rPr>
              <a:t>Protocolo propuesto. Extremos: umbral y ventana por contaminante a fijar con criterio ambiental o cuantiles del entrenamiento, sin selección sobre la prueba final. Evaluación por estación, macrozona, temporada y distancia a monitores. Incertidumbre de las métricas: propuesta de remuestreo por bloques espaciales y temporales, respetando la unidad reservada. Intervalos predictivos de concentración: método y procedimiento de calibración por definir, con cobertura y amplitud evaluadas en sitios reservados. La variación del RMSE no constituye por sí sola un intervalo predictivo de concentración. Tampoco garantiza validez en zonas extrapoladas. La selección y calibración deben quedar dentro del bucle interno. ACAG incorpora información de monitores externos a este entrenamiento: comparar con y sin ACAG y documentar la dependencia potencial. Apilado completo anidado y decisiones finales pendientes.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spcAft>
                <a:spcPts val="500"/>
              </a:spcAft>
              <a:buNone/>
            </a:pPr>
            <a:r>
              <a:rPr sz="1100" b="0">
                <a:solidFill>
                  <a:srgbClr val="000000"/>
                </a:solidFill>
                <a:latin typeface="Calibri"/>
                <a:ea typeface="Calibri"/>
                <a:cs typeface="Calibri"/>
              </a:rPr>
              <a:t>Anexo 8 | Apoyo opcional, fuera del guion principal</a:t>
            </a:r>
          </a:p>
          <a:p>
            <a:pPr algn="l">
              <a:spcAft>
                <a:spcPts val="500"/>
              </a:spcAft>
              <a:buNone/>
            </a:pPr>
            <a:r>
              <a:t/>
            </a:r>
            <a:endParaRPr sz="1100" b="0">
              <a:solidFill>
                <a:srgbClr val="000000"/>
              </a:solidFill>
              <a:latin typeface="Calibri"/>
              <a:ea typeface="Calibri"/>
              <a:cs typeface="Calibri"/>
            </a:endParaRPr>
          </a:p>
          <a:p>
            <a:pPr algn="l">
              <a:spcAft>
                <a:spcPts val="500"/>
              </a:spcAft>
              <a:buNone/>
            </a:pPr>
            <a:r>
              <a:rPr sz="1100" b="0">
                <a:solidFill>
                  <a:srgbClr val="000000"/>
                </a:solidFill>
                <a:latin typeface="Calibri"/>
                <a:ea typeface="Calibri"/>
                <a:cs typeface="Calibri"/>
              </a:rPr>
              <a:t>GUION PARA LEER</a:t>
            </a:r>
          </a:p>
          <a:p>
            <a:pPr algn="l">
              <a:spcAft>
                <a:spcPts val="500"/>
              </a:spcAft>
              <a:buNone/>
            </a:pPr>
            <a:r>
              <a:rPr sz="1100" b="0">
                <a:solidFill>
                  <a:srgbClr val="000000"/>
                </a:solidFill>
                <a:latin typeface="Calibri"/>
                <a:ea typeface="Calibri"/>
                <a:cs typeface="Calibri"/>
              </a:rPr>
              <a:t/>
            </a:r>
          </a:p>
          <a:p>
            <a:pPr algn="l">
              <a:spcAft>
                <a:spcPts val="500"/>
              </a:spcAft>
              <a:buNone/>
            </a:pPr>
            <a:r>
              <a:rPr sz="1100" b="0">
                <a:solidFill>
                  <a:srgbClr val="000000"/>
                </a:solidFill>
                <a:latin typeface="Calibri"/>
                <a:ea typeface="Calibri"/>
                <a:cs typeface="Calibri"/>
              </a:rPr>
              <a:t>Este resumen utiliza una instantánea auditada al quince de septiembre de dos mil veintiséis. SINCA reúne ciento siete estaciones y cuatrocientas tres series de estación y contaminante. MERRA dos meteorológico contiene trescientos diecisiete meses completos, entre enero de dos mil y mayo de dos mil veintiséis. El derivado de precipitación de ERA5-Land tiene trescientos veinte meses completos y septiembre parcial, con doscientas dieciséis horas. Estos conteos corresponden a ese corte y no al estado de las descargas de hoy.</a:t>
            </a:r>
          </a:p>
          <a:p>
            <a:pPr algn="l">
              <a:spcAft>
                <a:spcPts val="500"/>
              </a:spcAft>
              <a:buNone/>
            </a:pPr>
            <a:r>
              <a:rPr sz="1100" b="0">
                <a:solidFill>
                  <a:srgbClr val="000000"/>
                </a:solidFill>
                <a:latin typeface="Calibri"/>
                <a:ea typeface="Calibri"/>
                <a:cs typeface="Calibri"/>
              </a:rPr>
              <a:t/>
            </a:r>
          </a:p>
          <a:p>
            <a:pPr algn="l">
              <a:spcAft>
                <a:spcPts val="500"/>
              </a:spcAft>
              <a:buNone/>
            </a:pPr>
            <a:r>
              <a:rPr sz="1100" b="0">
                <a:solidFill>
                  <a:srgbClr val="000000"/>
                </a:solidFill>
                <a:latin typeface="Calibri"/>
                <a:ea typeface="Calibri"/>
                <a:cs typeface="Calibri"/>
              </a:rPr>
              <a:t>FUENTES Y PRECISIONES (NO LEER EN LA EXPOSICIÓN)</a:t>
            </a:r>
          </a:p>
          <a:p>
            <a:pPr algn="l">
              <a:spcAft>
                <a:spcPts val="500"/>
              </a:spcAft>
              <a:buNone/>
            </a:pPr>
            <a:r>
              <a:rPr sz="1100" b="0">
                <a:solidFill>
                  <a:srgbClr val="000000"/>
                </a:solidFill>
                <a:latin typeface="Calibri"/>
                <a:ea typeface="Calibri"/>
                <a:cs typeface="Calibri"/>
              </a:rPr>
              <a:t/>
            </a:r>
          </a:p>
          <a:p>
            <a:pPr algn="l">
              <a:spcAft>
                <a:spcPts val="500"/>
              </a:spcAft>
              <a:buNone/>
            </a:pPr>
            <a:r>
              <a:rPr sz="1100" b="0">
                <a:solidFill>
                  <a:srgbClr val="000000"/>
                </a:solidFill>
                <a:latin typeface="Calibri"/>
                <a:ea typeface="Calibri"/>
                <a:cs typeface="Calibri"/>
              </a:rPr>
              <a:t>Air-Pollution/logs/control_preparacion_modelado_20260915.json y docs/PREPARACION_MODELADO.md; resumen auditado: sources_table y sinca_inventory. Instantánea auditada el 15-sep-2026. MERRA-2: enero 2000 a mayo 2026, 317 meses; ERA5-Land precipitación derivada: enero 2000 a agosto 2026, 320 meses más 216 horas de septiembre. No mezclar estos conteos con la actualización de ERA5-Land del 16-sep.</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1_Diseño personalizado">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11D74EF3-F3C4-4518-9850-4AC98F847821}"/>
              </a:ext>
            </a:extLst>
          </p:cNvPr>
          <p:cNvSpPr>
            <a:spLocks noGrp="1"/>
          </p:cNvSpPr>
          <p:nvPr/>
        </p:nvSpPr>
        <p:spPr>
          <a:xfrm>
            <a:off x="169334" y="1007195"/>
            <a:ext cx="8974667" cy="2385786"/>
          </a:xfrm>
          <a:prstGeom prst="rect">
            <a:avLst/>
          </a:prstGeom>
          <a:solidFill>
            <a:schemeClr val="tx1">
              <a:lumMod val="50000"/>
              <a:lumOff val="50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 name="Título 1">
            <a:extLst>
              <a:ext uri="{FF2B5EF4-FFF2-40B4-BE49-F238E27FC236}">
                <a16:creationId xmlns:a16="http://schemas.microsoft.com/office/drawing/2014/main" id="{5D5024FA-933B-4411-9DA3-B0823AB355A1}"/>
              </a:ext>
            </a:extLst>
          </p:cNvPr>
          <p:cNvSpPr>
            <a:spLocks noGrp="1"/>
          </p:cNvSpPr>
          <p:nvPr>
            <p:ph type="title" hasCustomPrompt="1"/>
          </p:nvPr>
        </p:nvSpPr>
        <p:spPr>
          <a:xfrm>
            <a:off x="457200" y="1755587"/>
            <a:ext cx="8229600" cy="857250"/>
          </a:xfrm>
        </p:spPr>
        <p:txBody>
          <a:bodyPr/>
          <a:lstStyle/>
          <a:p>
            <a:r>
              <a:t>Clic para editar nombre de capítulo</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Desarrollo de tem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386E501-FF66-43BB-AED5-13B49DEF795C}"/>
              </a:ext>
            </a:extLst>
          </p:cNvPr>
          <p:cNvSpPr>
            <a:spLocks noGrp="1"/>
          </p:cNvSpPr>
          <p:nvPr>
            <p:ph type="title"/>
          </p:nvPr>
        </p:nvSpPr>
        <p:spPr/>
        <p:txBody>
          <a:bodyPr/>
          <a:lstStyle/>
          <a:p>
            <a:r>
              <a:t>Clic para editar título</a:t>
            </a:r>
          </a:p>
        </p:txBody>
      </p:sp>
      <p:sp>
        <p:nvSpPr>
          <p:cNvPr id="3" name="Marcador de contenido 2">
            <a:extLst>
              <a:ext uri="{FF2B5EF4-FFF2-40B4-BE49-F238E27FC236}">
                <a16:creationId xmlns:a16="http://schemas.microsoft.com/office/drawing/2014/main" id="{81632413-7143-4900-AB27-B9BCA8D681E1}"/>
              </a:ext>
            </a:extLst>
          </p:cNvPr>
          <p:cNvSpPr>
            <a:spLocks noGrp="1"/>
          </p:cNvSpPr>
          <p:nvPr>
            <p:ph idx="1"/>
          </p:nvPr>
        </p:nvSpPr>
        <p:spPr>
          <a:xfrm>
            <a:off x="457200" y="1200150"/>
            <a:ext cx="8229600" cy="3081338"/>
          </a:xfrm>
        </p:spPr>
        <p:txBody>
          <a:bodyPr/>
          <a:lstStyle>
            <a:lvl1pPr>
              <a:buNone/>
              <a:defRPr sz="2600"/>
            </a:lvl1pPr>
            <a:lvl2pPr>
              <a:buNone/>
              <a:defRPr sz="2600"/>
            </a:lvl2pPr>
          </a:lstStyle>
          <a:p>
            <a:pPr lvl="0">
              <a:buNone/>
            </a:pPr>
            <a:r>
              <a:t>Haga clic para modificar el estilo de texto del patrón</a:t>
            </a:r>
          </a:p>
          <a:p>
            <a:pPr lvl="1">
              <a:buNone/>
            </a:pPr>
            <a:r>
              <a:t>Segundo nivel</a:t>
            </a:r>
          </a:p>
          <a:p>
            <a:pPr lvl="2">
              <a:buNone/>
            </a:pPr>
            <a:r>
              <a:t>Tercer nivel</a:t>
            </a:r>
          </a:p>
          <a:p>
            <a:pPr lvl="3">
              <a:buNone/>
            </a:pPr>
            <a:r>
              <a:t>Cuarto nivel</a:t>
            </a:r>
          </a:p>
          <a:p>
            <a:pPr lvl="4">
              <a:buNone/>
            </a:pPr>
            <a:r>
              <a:t>Quinto nivel</a:t>
            </a:r>
          </a:p>
        </p:txBody>
      </p:sp>
      <p:sp>
        <p:nvSpPr>
          <p:cNvPr id="4" name="Marcador de fecha 3">
            <a:extLst>
              <a:ext uri="{FF2B5EF4-FFF2-40B4-BE49-F238E27FC236}">
                <a16:creationId xmlns:a16="http://schemas.microsoft.com/office/drawing/2014/main" id="{B93365C3-E196-4611-B9AD-B16A44D9B260}"/>
              </a:ext>
            </a:extLst>
          </p:cNvPr>
          <p:cNvSpPr>
            <a:spLocks noGrp="1"/>
          </p:cNvSpPr>
          <p:nvPr>
            <p:ph type="dt" idx="10"/>
          </p:nvPr>
        </p:nvSpPr>
        <p:spPr>
          <a:xfrm>
            <a:off x="170818" y="4767263"/>
            <a:ext cx="800392" cy="273844"/>
          </a:xfrm>
          <a:prstGeom prst="rect">
            <a:avLst/>
          </a:prstGeom>
        </p:spPr>
        <p:txBody>
          <a:bodyPr/>
          <a:lstStyle/>
          <a:p>
            <a:fld id="{64248F72-65B5-4A4E-B82F-2E1A76141EF9}" type="datetimeFigureOut">
              <a:t>26-09-26</a:t>
            </a:fld>
            <a:endParaRPr/>
          </a:p>
        </p:txBody>
      </p:sp>
      <p:sp>
        <p:nvSpPr>
          <p:cNvPr id="5" name="Marcador de pie de página 4">
            <a:extLst>
              <a:ext uri="{FF2B5EF4-FFF2-40B4-BE49-F238E27FC236}">
                <a16:creationId xmlns:a16="http://schemas.microsoft.com/office/drawing/2014/main" id="{ABE03A30-47E3-4E49-BD07-2378B4BF7593}"/>
              </a:ext>
            </a:extLst>
          </p:cNvPr>
          <p:cNvSpPr>
            <a:spLocks noGrp="1"/>
          </p:cNvSpPr>
          <p:nvPr>
            <p:ph type="ftr" idx="11"/>
          </p:nvPr>
        </p:nvSpPr>
        <p:spPr>
          <a:xfrm>
            <a:off x="1627373" y="4767263"/>
            <a:ext cx="2895600" cy="273844"/>
          </a:xfrm>
          <a:prstGeom prst="rect">
            <a:avLst/>
          </a:prstGeom>
        </p:spPr>
        <p:txBody>
          <a:bodyPr/>
          <a:lstStyle/>
          <a:p>
            <a:endParaRPr/>
          </a:p>
        </p:txBody>
      </p:sp>
      <p:sp>
        <p:nvSpPr>
          <p:cNvPr id="6" name="Marcador de número de diapositiva 5">
            <a:extLst>
              <a:ext uri="{FF2B5EF4-FFF2-40B4-BE49-F238E27FC236}">
                <a16:creationId xmlns:a16="http://schemas.microsoft.com/office/drawing/2014/main" id="{7D990DB9-3863-408D-BAED-BB09377A1FD8}"/>
              </a:ext>
            </a:extLst>
          </p:cNvPr>
          <p:cNvSpPr>
            <a:spLocks noGrp="1"/>
          </p:cNvSpPr>
          <p:nvPr>
            <p:ph type="sldNum" idx="12"/>
          </p:nvPr>
        </p:nvSpPr>
        <p:spPr>
          <a:xfrm>
            <a:off x="971211" y="4767263"/>
            <a:ext cx="656163" cy="273844"/>
          </a:xfrm>
          <a:prstGeom prst="rect">
            <a:avLst/>
          </a:prstGeom>
        </p:spPr>
        <p:txBody>
          <a:bodyPr/>
          <a:lstStyle/>
          <a:p>
            <a:fld id="{4637D2F8-05A4-FD4C-AF87-1FA0BA229BE2}" type="slidenum">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FD1FBB2-33A0-484C-A1CB-E5F093C91A04}"/>
              </a:ext>
            </a:extLst>
          </p:cNvPr>
          <p:cNvSpPr>
            <a:spLocks noGrp="1"/>
          </p:cNvSpPr>
          <p:nvPr>
            <p:ph type="title"/>
          </p:nvPr>
        </p:nvSpPr>
        <p:spPr/>
        <p:txBody>
          <a:bodyPr/>
          <a:lstStyle/>
          <a:p>
            <a:r>
              <a:t>Clic para editar título</a:t>
            </a:r>
          </a:p>
        </p:txBody>
      </p:sp>
      <p:sp>
        <p:nvSpPr>
          <p:cNvPr id="3" name="Marcador de contenido 2">
            <a:extLst>
              <a:ext uri="{FF2B5EF4-FFF2-40B4-BE49-F238E27FC236}">
                <a16:creationId xmlns:a16="http://schemas.microsoft.com/office/drawing/2014/main" id="{ADD5C3E8-87CE-42E8-A594-938374B09CCF}"/>
              </a:ext>
            </a:extLst>
          </p:cNvPr>
          <p:cNvSpPr>
            <a:spLocks noGrp="1"/>
          </p:cNvSpPr>
          <p:nvPr>
            <p:ph idx="1"/>
          </p:nvPr>
        </p:nvSpPr>
        <p:spPr>
          <a:xfrm>
            <a:off x="457200" y="1200150"/>
            <a:ext cx="4038600" cy="3087291"/>
          </a:xfrm>
        </p:spPr>
        <p:txBody>
          <a:bodyPr/>
          <a:lstStyle>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a:pPr lvl="0">
              <a:buNone/>
            </a:pPr>
            <a:r>
              <a:t>Haga clic para modificar el estilo de texto del patrón</a:t>
            </a:r>
          </a:p>
          <a:p>
            <a:pPr lvl="1">
              <a:buNone/>
            </a:pPr>
            <a:r>
              <a:t>Segundo nivel</a:t>
            </a:r>
          </a:p>
          <a:p>
            <a:pPr lvl="2">
              <a:buNone/>
            </a:pPr>
            <a:r>
              <a:t>Tercer nivel</a:t>
            </a:r>
          </a:p>
          <a:p>
            <a:pPr lvl="3">
              <a:buNone/>
            </a:pPr>
            <a:r>
              <a:t>Cuarto nivel</a:t>
            </a:r>
          </a:p>
          <a:p>
            <a:pPr lvl="4">
              <a:buNone/>
            </a:pPr>
            <a:r>
              <a:t>Quinto nivel</a:t>
            </a:r>
          </a:p>
        </p:txBody>
      </p:sp>
      <p:sp>
        <p:nvSpPr>
          <p:cNvPr id="4" name="Marcador de contenido 3">
            <a:extLst>
              <a:ext uri="{FF2B5EF4-FFF2-40B4-BE49-F238E27FC236}">
                <a16:creationId xmlns:a16="http://schemas.microsoft.com/office/drawing/2014/main" id="{14F58E0A-A176-4353-8301-226F0FD12614}"/>
              </a:ext>
            </a:extLst>
          </p:cNvPr>
          <p:cNvSpPr>
            <a:spLocks noGrp="1"/>
          </p:cNvSpPr>
          <p:nvPr>
            <p:ph idx="2"/>
          </p:nvPr>
        </p:nvSpPr>
        <p:spPr>
          <a:xfrm>
            <a:off x="4648200" y="1200151"/>
            <a:ext cx="4038600" cy="3087290"/>
          </a:xfrm>
        </p:spPr>
        <p:txBody>
          <a:bodyPr/>
          <a:lstStyle>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a:pPr lvl="0">
              <a:buNone/>
            </a:pPr>
            <a:r>
              <a:t>Haga clic para modificar el estilo de texto del patrón</a:t>
            </a:r>
          </a:p>
          <a:p>
            <a:pPr lvl="1">
              <a:buNone/>
            </a:pPr>
            <a:r>
              <a:t>Segundo nivel</a:t>
            </a:r>
          </a:p>
          <a:p>
            <a:pPr lvl="2">
              <a:buNone/>
            </a:pPr>
            <a:r>
              <a:t>Tercer nivel</a:t>
            </a:r>
          </a:p>
          <a:p>
            <a:pPr lvl="3">
              <a:buNone/>
            </a:pPr>
            <a:r>
              <a:t>Cuarto nivel</a:t>
            </a:r>
          </a:p>
          <a:p>
            <a:pPr lvl="4">
              <a:buNone/>
            </a:pPr>
            <a:r>
              <a:t>Quinto nivel</a:t>
            </a:r>
          </a:p>
        </p:txBody>
      </p:sp>
      <p:sp>
        <p:nvSpPr>
          <p:cNvPr id="5" name="Marcador de fecha 4">
            <a:extLst>
              <a:ext uri="{FF2B5EF4-FFF2-40B4-BE49-F238E27FC236}">
                <a16:creationId xmlns:a16="http://schemas.microsoft.com/office/drawing/2014/main" id="{303EA75D-8561-4AFF-A458-CD853CAA3F3B}"/>
              </a:ext>
            </a:extLst>
          </p:cNvPr>
          <p:cNvSpPr>
            <a:spLocks noGrp="1"/>
          </p:cNvSpPr>
          <p:nvPr>
            <p:ph type="dt" idx="10"/>
          </p:nvPr>
        </p:nvSpPr>
        <p:spPr>
          <a:xfrm>
            <a:off x="170818" y="4767263"/>
            <a:ext cx="800392" cy="273844"/>
          </a:xfrm>
          <a:prstGeom prst="rect">
            <a:avLst/>
          </a:prstGeom>
        </p:spPr>
        <p:txBody>
          <a:bodyPr/>
          <a:lstStyle/>
          <a:p>
            <a:fld id="{64248F72-65B5-4A4E-B82F-2E1A76141EF9}" type="datetimeFigureOut">
              <a:t>26-09-26</a:t>
            </a:fld>
            <a:endParaRPr/>
          </a:p>
        </p:txBody>
      </p:sp>
      <p:sp>
        <p:nvSpPr>
          <p:cNvPr id="6" name="Marcador de pie de página 5">
            <a:extLst>
              <a:ext uri="{FF2B5EF4-FFF2-40B4-BE49-F238E27FC236}">
                <a16:creationId xmlns:a16="http://schemas.microsoft.com/office/drawing/2014/main" id="{B542DD47-223B-432E-85CD-A82852A3E557}"/>
              </a:ext>
            </a:extLst>
          </p:cNvPr>
          <p:cNvSpPr>
            <a:spLocks noGrp="1"/>
          </p:cNvSpPr>
          <p:nvPr>
            <p:ph type="ftr" idx="11"/>
          </p:nvPr>
        </p:nvSpPr>
        <p:spPr>
          <a:xfrm>
            <a:off x="1627373" y="4767263"/>
            <a:ext cx="2895600" cy="273844"/>
          </a:xfrm>
          <a:prstGeom prst="rect">
            <a:avLst/>
          </a:prstGeom>
        </p:spPr>
        <p:txBody>
          <a:bodyPr/>
          <a:lstStyle/>
          <a:p>
            <a:endParaRPr/>
          </a:p>
        </p:txBody>
      </p:sp>
      <p:sp>
        <p:nvSpPr>
          <p:cNvPr id="7" name="Marcador de número de diapositiva 6">
            <a:extLst>
              <a:ext uri="{FF2B5EF4-FFF2-40B4-BE49-F238E27FC236}">
                <a16:creationId xmlns:a16="http://schemas.microsoft.com/office/drawing/2014/main" id="{833CAC4E-5896-4641-870A-E64CC1D29EE5}"/>
              </a:ext>
            </a:extLst>
          </p:cNvPr>
          <p:cNvSpPr>
            <a:spLocks noGrp="1"/>
          </p:cNvSpPr>
          <p:nvPr>
            <p:ph type="sldNum" idx="12"/>
          </p:nvPr>
        </p:nvSpPr>
        <p:spPr>
          <a:xfrm>
            <a:off x="971211" y="4767263"/>
            <a:ext cx="656163" cy="273844"/>
          </a:xfrm>
          <a:prstGeom prst="rect">
            <a:avLst/>
          </a:prstGeom>
        </p:spPr>
        <p:txBody>
          <a:bodyPr/>
          <a:lstStyle/>
          <a:p>
            <a:fld id="{4637D2F8-05A4-FD4C-AF87-1FA0BA229BE2}" type="slidenum">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exto y objet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2866A36-1CC3-4C07-91AA-5B40DD8028A4}"/>
              </a:ext>
            </a:extLst>
          </p:cNvPr>
          <p:cNvSpPr>
            <a:spLocks noGrp="1"/>
          </p:cNvSpPr>
          <p:nvPr>
            <p:ph type="title"/>
          </p:nvPr>
        </p:nvSpPr>
        <p:spPr/>
        <p:txBody>
          <a:bodyPr/>
          <a:lstStyle>
            <a:lvl1pPr>
              <a:buNone/>
              <a:defRPr/>
            </a:lvl1pPr>
          </a:lstStyle>
          <a:p>
            <a:r>
              <a:t>Clic para editar título</a:t>
            </a:r>
          </a:p>
        </p:txBody>
      </p:sp>
      <p:sp>
        <p:nvSpPr>
          <p:cNvPr id="3" name="Marcador de texto 2">
            <a:extLst>
              <a:ext uri="{FF2B5EF4-FFF2-40B4-BE49-F238E27FC236}">
                <a16:creationId xmlns:a16="http://schemas.microsoft.com/office/drawing/2014/main" id="{44309B57-39E6-4A52-9195-79983AA68D91}"/>
              </a:ext>
            </a:extLst>
          </p:cNvPr>
          <p:cNvSpPr>
            <a:spLocks noGrp="1"/>
          </p:cNvSpPr>
          <p:nvPr>
            <p:ph type="body" idx="1"/>
          </p:nvPr>
        </p:nvSpPr>
        <p:spPr>
          <a:xfrm>
            <a:off x="457200" y="1151335"/>
            <a:ext cx="4040188" cy="97742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Haga clic para modificar el estilo de texto del patrón</a:t>
            </a:r>
          </a:p>
        </p:txBody>
      </p:sp>
      <p:sp>
        <p:nvSpPr>
          <p:cNvPr id="4" name="Marcador de contenido 3">
            <a:extLst>
              <a:ext uri="{FF2B5EF4-FFF2-40B4-BE49-F238E27FC236}">
                <a16:creationId xmlns:a16="http://schemas.microsoft.com/office/drawing/2014/main" id="{19B2B9D6-3F56-49A2-A1BE-0E449A705055}"/>
              </a:ext>
            </a:extLst>
          </p:cNvPr>
          <p:cNvSpPr>
            <a:spLocks noGrp="1"/>
          </p:cNvSpPr>
          <p:nvPr>
            <p:ph idx="2"/>
          </p:nvPr>
        </p:nvSpPr>
        <p:spPr>
          <a:xfrm>
            <a:off x="457200" y="2176006"/>
            <a:ext cx="4040188" cy="2111435"/>
          </a:xfrm>
        </p:spPr>
        <p:txBody>
          <a:bodyPr/>
          <a:lstStyle>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a:pPr lvl="0">
              <a:buNone/>
            </a:pPr>
            <a:r>
              <a:t>Haga clic para modificar el estilo de texto del patrón</a:t>
            </a:r>
          </a:p>
          <a:p>
            <a:pPr lvl="1">
              <a:buNone/>
            </a:pPr>
            <a:r>
              <a:t>Segundo nivel</a:t>
            </a:r>
          </a:p>
          <a:p>
            <a:pPr lvl="2">
              <a:buNone/>
            </a:pPr>
            <a:r>
              <a:t>Tercer nivel</a:t>
            </a:r>
          </a:p>
          <a:p>
            <a:pPr lvl="3">
              <a:buNone/>
            </a:pPr>
            <a:r>
              <a:t>Cuarto nivel</a:t>
            </a:r>
          </a:p>
          <a:p>
            <a:pPr lvl="4">
              <a:buNone/>
            </a:pPr>
            <a:r>
              <a:t>Quinto nivel</a:t>
            </a:r>
          </a:p>
        </p:txBody>
      </p:sp>
      <p:sp>
        <p:nvSpPr>
          <p:cNvPr id="7" name="Marcador de fecha 6">
            <a:extLst>
              <a:ext uri="{FF2B5EF4-FFF2-40B4-BE49-F238E27FC236}">
                <a16:creationId xmlns:a16="http://schemas.microsoft.com/office/drawing/2014/main" id="{C4B2FF24-EBA1-44F1-92B7-23EE3C27FEF4}"/>
              </a:ext>
            </a:extLst>
          </p:cNvPr>
          <p:cNvSpPr>
            <a:spLocks noGrp="1"/>
          </p:cNvSpPr>
          <p:nvPr>
            <p:ph type="dt" idx="10"/>
          </p:nvPr>
        </p:nvSpPr>
        <p:spPr>
          <a:xfrm>
            <a:off x="170818" y="4767263"/>
            <a:ext cx="800392" cy="273844"/>
          </a:xfrm>
          <a:prstGeom prst="rect">
            <a:avLst/>
          </a:prstGeom>
        </p:spPr>
        <p:txBody>
          <a:bodyPr/>
          <a:lstStyle/>
          <a:p>
            <a:fld id="{64248F72-65B5-4A4E-B82F-2E1A76141EF9}" type="datetimeFigureOut">
              <a:t>26-09-26</a:t>
            </a:fld>
            <a:endParaRPr/>
          </a:p>
        </p:txBody>
      </p:sp>
      <p:sp>
        <p:nvSpPr>
          <p:cNvPr id="8" name="Marcador de pie de página 7">
            <a:extLst>
              <a:ext uri="{FF2B5EF4-FFF2-40B4-BE49-F238E27FC236}">
                <a16:creationId xmlns:a16="http://schemas.microsoft.com/office/drawing/2014/main" id="{FE3F1C2E-48B4-4D04-934C-5C3904A481D6}"/>
              </a:ext>
            </a:extLst>
          </p:cNvPr>
          <p:cNvSpPr>
            <a:spLocks noGrp="1"/>
          </p:cNvSpPr>
          <p:nvPr>
            <p:ph type="ftr" idx="11"/>
          </p:nvPr>
        </p:nvSpPr>
        <p:spPr>
          <a:xfrm>
            <a:off x="1627373" y="4767263"/>
            <a:ext cx="2895600" cy="273844"/>
          </a:xfrm>
          <a:prstGeom prst="rect">
            <a:avLst/>
          </a:prstGeom>
        </p:spPr>
        <p:txBody>
          <a:bodyPr/>
          <a:lstStyle/>
          <a:p>
            <a:endParaRPr/>
          </a:p>
        </p:txBody>
      </p:sp>
      <p:sp>
        <p:nvSpPr>
          <p:cNvPr id="9" name="Marcador de número de diapositiva 8">
            <a:extLst>
              <a:ext uri="{FF2B5EF4-FFF2-40B4-BE49-F238E27FC236}">
                <a16:creationId xmlns:a16="http://schemas.microsoft.com/office/drawing/2014/main" id="{C2BA8734-6282-4694-9B7E-EDE58D4FF587}"/>
              </a:ext>
            </a:extLst>
          </p:cNvPr>
          <p:cNvSpPr>
            <a:spLocks noGrp="1"/>
          </p:cNvSpPr>
          <p:nvPr>
            <p:ph type="sldNum" idx="12"/>
          </p:nvPr>
        </p:nvSpPr>
        <p:spPr>
          <a:xfrm>
            <a:off x="971211" y="4767263"/>
            <a:ext cx="656163" cy="273844"/>
          </a:xfrm>
          <a:prstGeom prst="rect">
            <a:avLst/>
          </a:prstGeom>
        </p:spPr>
        <p:txBody>
          <a:bodyPr/>
          <a:lstStyle/>
          <a:p>
            <a:fld id="{4637D2F8-05A4-FD4C-AF87-1FA0BA229BE2}" type="slidenum">
              <a:t>‹Nº›</a:t>
            </a:fld>
            <a:endParaRPr/>
          </a:p>
        </p:txBody>
      </p:sp>
      <p:sp>
        <p:nvSpPr>
          <p:cNvPr id="11" name="Marcador de SmartArt 10">
            <a:extLst>
              <a:ext uri="{FF2B5EF4-FFF2-40B4-BE49-F238E27FC236}">
                <a16:creationId xmlns:a16="http://schemas.microsoft.com/office/drawing/2014/main" id="{8E8D14A6-C242-4177-A9FB-88085EE02D51}"/>
              </a:ext>
            </a:extLst>
          </p:cNvPr>
          <p:cNvSpPr>
            <a:spLocks noGrp="1"/>
          </p:cNvSpPr>
          <p:nvPr>
            <p:ph type="dgm" idx="13"/>
          </p:nvPr>
        </p:nvSpPr>
        <p:spPr>
          <a:xfrm>
            <a:off x="4559300" y="1151335"/>
            <a:ext cx="4127500" cy="3136106"/>
          </a:xfrm>
        </p:spPr>
        <p:txBody>
          <a:bodyPr/>
          <a:lstStyle/>
          <a:p>
            <a:r>
              <a:t>Haga clic en el icono para agregar un gráfico SmartArt</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Diseño con gráfic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D2C7A89-0720-4008-8CBD-329E1BFC4CF7}"/>
              </a:ext>
            </a:extLst>
          </p:cNvPr>
          <p:cNvSpPr>
            <a:spLocks noGrp="1"/>
          </p:cNvSpPr>
          <p:nvPr>
            <p:ph type="title"/>
          </p:nvPr>
        </p:nvSpPr>
        <p:spPr/>
        <p:txBody>
          <a:bodyPr/>
          <a:lstStyle/>
          <a:p>
            <a:r>
              <a:t>Clic para editar título</a:t>
            </a:r>
          </a:p>
        </p:txBody>
      </p:sp>
      <p:sp>
        <p:nvSpPr>
          <p:cNvPr id="3" name="Marcador de fecha 2">
            <a:extLst>
              <a:ext uri="{FF2B5EF4-FFF2-40B4-BE49-F238E27FC236}">
                <a16:creationId xmlns:a16="http://schemas.microsoft.com/office/drawing/2014/main" id="{C342D720-67E1-46F3-BB3F-7423AC5347C7}"/>
              </a:ext>
            </a:extLst>
          </p:cNvPr>
          <p:cNvSpPr>
            <a:spLocks noGrp="1"/>
          </p:cNvSpPr>
          <p:nvPr>
            <p:ph type="dt" idx="10"/>
          </p:nvPr>
        </p:nvSpPr>
        <p:spPr>
          <a:xfrm>
            <a:off x="170818" y="4767263"/>
            <a:ext cx="800392" cy="273844"/>
          </a:xfrm>
          <a:prstGeom prst="rect">
            <a:avLst/>
          </a:prstGeom>
        </p:spPr>
        <p:txBody>
          <a:bodyPr/>
          <a:lstStyle/>
          <a:p>
            <a:fld id="{64248F72-65B5-4A4E-B82F-2E1A76141EF9}" type="datetimeFigureOut">
              <a:t>26-09-26</a:t>
            </a:fld>
            <a:endParaRPr/>
          </a:p>
        </p:txBody>
      </p:sp>
      <p:sp>
        <p:nvSpPr>
          <p:cNvPr id="4" name="Marcador de pie de página 3">
            <a:extLst>
              <a:ext uri="{FF2B5EF4-FFF2-40B4-BE49-F238E27FC236}">
                <a16:creationId xmlns:a16="http://schemas.microsoft.com/office/drawing/2014/main" id="{0FB557D1-C712-4743-9F7A-38D7663BA1BA}"/>
              </a:ext>
            </a:extLst>
          </p:cNvPr>
          <p:cNvSpPr>
            <a:spLocks noGrp="1"/>
          </p:cNvSpPr>
          <p:nvPr>
            <p:ph type="ftr" idx="11"/>
          </p:nvPr>
        </p:nvSpPr>
        <p:spPr>
          <a:xfrm>
            <a:off x="1627373" y="4767263"/>
            <a:ext cx="2895600" cy="273844"/>
          </a:xfrm>
          <a:prstGeom prst="rect">
            <a:avLst/>
          </a:prstGeom>
        </p:spPr>
        <p:txBody>
          <a:bodyPr/>
          <a:lstStyle/>
          <a:p>
            <a:endParaRPr/>
          </a:p>
        </p:txBody>
      </p:sp>
      <p:sp>
        <p:nvSpPr>
          <p:cNvPr id="5" name="Marcador de número de diapositiva 4">
            <a:extLst>
              <a:ext uri="{FF2B5EF4-FFF2-40B4-BE49-F238E27FC236}">
                <a16:creationId xmlns:a16="http://schemas.microsoft.com/office/drawing/2014/main" id="{4288DF9F-267C-44B6-8C8F-F76B9C9C5300}"/>
              </a:ext>
            </a:extLst>
          </p:cNvPr>
          <p:cNvSpPr>
            <a:spLocks noGrp="1"/>
          </p:cNvSpPr>
          <p:nvPr>
            <p:ph type="sldNum" idx="12"/>
          </p:nvPr>
        </p:nvSpPr>
        <p:spPr>
          <a:xfrm>
            <a:off x="971211" y="4767263"/>
            <a:ext cx="656163" cy="273844"/>
          </a:xfrm>
          <a:prstGeom prst="rect">
            <a:avLst/>
          </a:prstGeom>
        </p:spPr>
        <p:txBody>
          <a:bodyPr/>
          <a:lstStyle/>
          <a:p>
            <a:fld id="{4637D2F8-05A4-FD4C-AF87-1FA0BA229BE2}" type="slidenum">
              <a:t>‹Nº›</a:t>
            </a:fld>
            <a:endParaRPr/>
          </a:p>
        </p:txBody>
      </p:sp>
      <p:sp>
        <p:nvSpPr>
          <p:cNvPr id="7" name="Marcador de gráfico 6">
            <a:extLst>
              <a:ext uri="{FF2B5EF4-FFF2-40B4-BE49-F238E27FC236}">
                <a16:creationId xmlns:a16="http://schemas.microsoft.com/office/drawing/2014/main" id="{B5052C0B-9611-4630-A98D-CB9955F51E9D}"/>
              </a:ext>
            </a:extLst>
          </p:cNvPr>
          <p:cNvSpPr>
            <a:spLocks noGrp="1"/>
          </p:cNvSpPr>
          <p:nvPr>
            <p:ph type="chart" idx="13"/>
          </p:nvPr>
        </p:nvSpPr>
        <p:spPr>
          <a:xfrm>
            <a:off x="457200" y="1316811"/>
            <a:ext cx="8229600" cy="2970631"/>
          </a:xfrm>
        </p:spPr>
        <p:txBody>
          <a:bodyPr/>
          <a:lstStyle/>
          <a:p>
            <a:r>
              <a:t>Haga clic en el icono para agregar un gráfico</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ó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2AC514E-B4B5-49AA-B533-BF5C2C1AB2BA}"/>
              </a:ext>
            </a:extLst>
          </p:cNvPr>
          <p:cNvSpPr>
            <a:spLocks noGrp="1"/>
          </p:cNvSpPr>
          <p:nvPr>
            <p:ph type="title"/>
          </p:nvPr>
        </p:nvSpPr>
        <p:spPr/>
        <p:txBody>
          <a:bodyPr/>
          <a:lstStyle/>
          <a:p>
            <a:r>
              <a:t>Clic para editar título</a:t>
            </a:r>
          </a:p>
        </p:txBody>
      </p:sp>
      <p:sp>
        <p:nvSpPr>
          <p:cNvPr id="3" name="Marcador de fecha 2">
            <a:extLst>
              <a:ext uri="{FF2B5EF4-FFF2-40B4-BE49-F238E27FC236}">
                <a16:creationId xmlns:a16="http://schemas.microsoft.com/office/drawing/2014/main" id="{28E59C0D-C6AD-415E-8A27-DCDC187E3804}"/>
              </a:ext>
            </a:extLst>
          </p:cNvPr>
          <p:cNvSpPr>
            <a:spLocks noGrp="1"/>
          </p:cNvSpPr>
          <p:nvPr>
            <p:ph type="dt" idx="10"/>
          </p:nvPr>
        </p:nvSpPr>
        <p:spPr>
          <a:xfrm>
            <a:off x="170818" y="4767263"/>
            <a:ext cx="800392" cy="273844"/>
          </a:xfrm>
          <a:prstGeom prst="rect">
            <a:avLst/>
          </a:prstGeom>
        </p:spPr>
        <p:txBody>
          <a:bodyPr/>
          <a:lstStyle/>
          <a:p>
            <a:fld id="{64248F72-65B5-4A4E-B82F-2E1A76141EF9}" type="datetimeFigureOut">
              <a:t>26-09-26</a:t>
            </a:fld>
            <a:endParaRPr/>
          </a:p>
        </p:txBody>
      </p:sp>
      <p:sp>
        <p:nvSpPr>
          <p:cNvPr id="4" name="Marcador de pie de página 3">
            <a:extLst>
              <a:ext uri="{FF2B5EF4-FFF2-40B4-BE49-F238E27FC236}">
                <a16:creationId xmlns:a16="http://schemas.microsoft.com/office/drawing/2014/main" id="{F2959088-1DF3-4070-908D-EED021A1E79B}"/>
              </a:ext>
            </a:extLst>
          </p:cNvPr>
          <p:cNvSpPr>
            <a:spLocks noGrp="1"/>
          </p:cNvSpPr>
          <p:nvPr>
            <p:ph type="ftr" idx="11"/>
          </p:nvPr>
        </p:nvSpPr>
        <p:spPr>
          <a:xfrm>
            <a:off x="1627373" y="4767263"/>
            <a:ext cx="2895600" cy="273844"/>
          </a:xfrm>
          <a:prstGeom prst="rect">
            <a:avLst/>
          </a:prstGeom>
        </p:spPr>
        <p:txBody>
          <a:bodyPr/>
          <a:lstStyle/>
          <a:p>
            <a:endParaRPr/>
          </a:p>
        </p:txBody>
      </p:sp>
      <p:sp>
        <p:nvSpPr>
          <p:cNvPr id="5" name="Marcador de número de diapositiva 4">
            <a:extLst>
              <a:ext uri="{FF2B5EF4-FFF2-40B4-BE49-F238E27FC236}">
                <a16:creationId xmlns:a16="http://schemas.microsoft.com/office/drawing/2014/main" id="{422FAE53-95CF-4657-9D7C-893C3D515C4F}"/>
              </a:ext>
            </a:extLst>
          </p:cNvPr>
          <p:cNvSpPr>
            <a:spLocks noGrp="1"/>
          </p:cNvSpPr>
          <p:nvPr>
            <p:ph type="sldNum" idx="12"/>
          </p:nvPr>
        </p:nvSpPr>
        <p:spPr>
          <a:xfrm>
            <a:off x="971211" y="4767263"/>
            <a:ext cx="656163" cy="273844"/>
          </a:xfrm>
          <a:prstGeom prst="rect">
            <a:avLst/>
          </a:prstGeom>
        </p:spPr>
        <p:txBody>
          <a:bodyPr/>
          <a:lstStyle/>
          <a:p>
            <a:fld id="{4637D2F8-05A4-FD4C-AF87-1FA0BA229BE2}" type="slidenum">
              <a:t>‹Nº›</a:t>
            </a:fld>
            <a:endParaRPr/>
          </a:p>
        </p:txBody>
      </p:sp>
      <p:sp>
        <p:nvSpPr>
          <p:cNvPr id="6" name="Marcador de posición de imagen 2">
            <a:extLst>
              <a:ext uri="{FF2B5EF4-FFF2-40B4-BE49-F238E27FC236}">
                <a16:creationId xmlns:a16="http://schemas.microsoft.com/office/drawing/2014/main" id="{0BA1E3E2-D5B0-482A-94A0-33B0A6AE125B}"/>
              </a:ext>
            </a:extLst>
          </p:cNvPr>
          <p:cNvSpPr>
            <a:spLocks noGrp="1"/>
          </p:cNvSpPr>
          <p:nvPr>
            <p:ph type="pic" idx="1"/>
          </p:nvPr>
        </p:nvSpPr>
        <p:spPr>
          <a:xfrm>
            <a:off x="457200" y="1214080"/>
            <a:ext cx="8229600" cy="2689657"/>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t>Arrastre la imagen al marcador de posición o haga clic en el icono para agregar</a:t>
            </a:r>
          </a:p>
        </p:txBody>
      </p:sp>
      <p:sp>
        <p:nvSpPr>
          <p:cNvPr id="7" name="Marcador de texto 3">
            <a:extLst>
              <a:ext uri="{FF2B5EF4-FFF2-40B4-BE49-F238E27FC236}">
                <a16:creationId xmlns:a16="http://schemas.microsoft.com/office/drawing/2014/main" id="{4AB946F6-DDC4-407A-A037-A87B716AF59E}"/>
              </a:ext>
            </a:extLst>
          </p:cNvPr>
          <p:cNvSpPr>
            <a:spLocks noGrp="1"/>
          </p:cNvSpPr>
          <p:nvPr>
            <p:ph type="body" idx="2"/>
          </p:nvPr>
        </p:nvSpPr>
        <p:spPr>
          <a:xfrm>
            <a:off x="457200" y="4025504"/>
            <a:ext cx="8229600" cy="261938"/>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buNone/>
            </a:pPr>
            <a:r>
              <a:t>Haga clic para modificar el estilo de texto del patrón</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Diseño personaliza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F727F49-3A08-4B8B-A2FC-44AAF06DCE80}"/>
              </a:ext>
            </a:extLst>
          </p:cNvPr>
          <p:cNvSpPr>
            <a:spLocks noGrp="1"/>
          </p:cNvSpPr>
          <p:nvPr>
            <p:ph type="title"/>
          </p:nvPr>
        </p:nvSpPr>
        <p:spPr/>
        <p:txBody>
          <a:bodyPr/>
          <a:lstStyle/>
          <a:p>
            <a:r>
              <a:t>Clic para editar título</a:t>
            </a:r>
          </a:p>
        </p:txBody>
      </p:sp>
      <p:sp>
        <p:nvSpPr>
          <p:cNvPr id="3" name="Marcador de fecha 2">
            <a:extLst>
              <a:ext uri="{FF2B5EF4-FFF2-40B4-BE49-F238E27FC236}">
                <a16:creationId xmlns:a16="http://schemas.microsoft.com/office/drawing/2014/main" id="{47AE233A-0EB3-43F8-97A6-F6D3C7500ED4}"/>
              </a:ext>
            </a:extLst>
          </p:cNvPr>
          <p:cNvSpPr>
            <a:spLocks noGrp="1"/>
          </p:cNvSpPr>
          <p:nvPr>
            <p:ph type="dt" idx="10"/>
          </p:nvPr>
        </p:nvSpPr>
        <p:spPr>
          <a:xfrm>
            <a:off x="170818" y="4767263"/>
            <a:ext cx="800392" cy="273844"/>
          </a:xfrm>
          <a:prstGeom prst="rect">
            <a:avLst/>
          </a:prstGeom>
        </p:spPr>
        <p:txBody>
          <a:bodyPr/>
          <a:lstStyle/>
          <a:p>
            <a:fld id="{64248F72-65B5-4A4E-B82F-2E1A76141EF9}" type="datetimeFigureOut">
              <a:t>26-09-26</a:t>
            </a:fld>
            <a:endParaRPr/>
          </a:p>
        </p:txBody>
      </p:sp>
      <p:sp>
        <p:nvSpPr>
          <p:cNvPr id="4" name="Marcador de pie de página 3">
            <a:extLst>
              <a:ext uri="{FF2B5EF4-FFF2-40B4-BE49-F238E27FC236}">
                <a16:creationId xmlns:a16="http://schemas.microsoft.com/office/drawing/2014/main" id="{9F14E201-C8C6-46F4-A3C9-CF979A5A5C44}"/>
              </a:ext>
            </a:extLst>
          </p:cNvPr>
          <p:cNvSpPr>
            <a:spLocks noGrp="1"/>
          </p:cNvSpPr>
          <p:nvPr>
            <p:ph type="ftr" idx="11"/>
          </p:nvPr>
        </p:nvSpPr>
        <p:spPr>
          <a:xfrm>
            <a:off x="1627373" y="4767263"/>
            <a:ext cx="2895600" cy="273844"/>
          </a:xfrm>
          <a:prstGeom prst="rect">
            <a:avLst/>
          </a:prstGeom>
        </p:spPr>
        <p:txBody>
          <a:bodyPr/>
          <a:lstStyle/>
          <a:p>
            <a:endParaRPr/>
          </a:p>
        </p:txBody>
      </p:sp>
      <p:sp>
        <p:nvSpPr>
          <p:cNvPr id="5" name="Marcador de número de diapositiva 4">
            <a:extLst>
              <a:ext uri="{FF2B5EF4-FFF2-40B4-BE49-F238E27FC236}">
                <a16:creationId xmlns:a16="http://schemas.microsoft.com/office/drawing/2014/main" id="{EBA2BF01-BF3F-4417-A047-D668F846D9DA}"/>
              </a:ext>
            </a:extLst>
          </p:cNvPr>
          <p:cNvSpPr>
            <a:spLocks noGrp="1"/>
          </p:cNvSpPr>
          <p:nvPr>
            <p:ph type="sldNum" idx="12"/>
          </p:nvPr>
        </p:nvSpPr>
        <p:spPr>
          <a:xfrm>
            <a:off x="971211" y="4767263"/>
            <a:ext cx="656163" cy="273844"/>
          </a:xfrm>
          <a:prstGeom prst="rect">
            <a:avLst/>
          </a:prstGeom>
        </p:spPr>
        <p:txBody>
          <a:bodyPr/>
          <a:lstStyle/>
          <a:p>
            <a:fld id="{4637D2F8-05A4-FD4C-AF87-1FA0BA229BE2}" type="slidenum">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Final">
    <p:spTree>
      <p:nvGrpSpPr>
        <p:cNvPr id="1" name=""/>
        <p:cNvGrpSpPr/>
        <p:nvPr/>
      </p:nvGrpSpPr>
      <p:grpSpPr>
        <a:xfrm>
          <a:off x="0" y="0"/>
          <a:ext cx="0" cy="0"/>
          <a:chOff x="0" y="0"/>
          <a:chExt cx="0" cy="0"/>
        </a:xfrm>
      </p:grpSpPr>
      <p:pic>
        <p:nvPicPr>
          <p:cNvPr id="2" name="Imagen 4"/>
          <p:cNvPicPr>
            <a:picLocks noChangeAspect="1"/>
          </p:cNvPicPr>
          <p:nvPr/>
        </p:nvPicPr>
        <p:blipFill>
          <a:blip r:embed="rId2"/>
          <a:stretch>
            <a:fillRect/>
          </a:stretch>
        </p:blipFill>
        <p:spPr>
          <a:xfrm>
            <a:off x="0" y="784483"/>
            <a:ext cx="9144000" cy="3492818"/>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Diapositiva de título">
    <p:spTree>
      <p:nvGrpSpPr>
        <p:cNvPr id="1" name=""/>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84CC2EC-A626-4AD1-BB98-E32085625592}"/>
              </a:ext>
            </a:extLst>
          </p:cNvPr>
          <p:cNvSpPr>
            <a:spLocks noGrp="1"/>
          </p:cNvSpPr>
          <p:nvPr>
            <p:ph type="ctrTitle"/>
          </p:nvPr>
        </p:nvSpPr>
        <p:spPr>
          <a:xfrm>
            <a:off x="685800" y="1598613"/>
            <a:ext cx="7772400" cy="1101725"/>
          </a:xfrm>
        </p:spPr>
        <p:txBody>
          <a:bodyPr/>
          <a:lstStyle/>
          <a:p>
            <a:r>
              <a:t>Clic para editar título</a:t>
            </a:r>
          </a:p>
        </p:txBody>
      </p:sp>
      <p:sp>
        <p:nvSpPr>
          <p:cNvPr id="3" name="Subtítulo 2">
            <a:extLst>
              <a:ext uri="{FF2B5EF4-FFF2-40B4-BE49-F238E27FC236}">
                <a16:creationId xmlns:a16="http://schemas.microsoft.com/office/drawing/2014/main" id="{E08223CB-0C16-46F8-A726-6214D5D031A5}"/>
              </a:ext>
            </a:extLst>
          </p:cNvPr>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t>Haga clic para modificar el estilo de subtítulo del patrón</a:t>
            </a:r>
          </a:p>
        </p:txBody>
      </p:sp>
      <p:sp>
        <p:nvSpPr>
          <p:cNvPr id="4" name="Marcador de fecha 3">
            <a:extLst>
              <a:ext uri="{FF2B5EF4-FFF2-40B4-BE49-F238E27FC236}">
                <a16:creationId xmlns:a16="http://schemas.microsoft.com/office/drawing/2014/main" id="{49E7A68E-2417-4007-9862-0170F79BB406}"/>
              </a:ext>
            </a:extLst>
          </p:cNvPr>
          <p:cNvSpPr>
            <a:spLocks noGrp="1"/>
          </p:cNvSpPr>
          <p:nvPr>
            <p:ph type="dt" idx="10"/>
          </p:nvPr>
        </p:nvSpPr>
        <p:spPr>
          <a:xfrm>
            <a:off x="457200" y="4767263"/>
            <a:ext cx="2133600" cy="274637"/>
          </a:xfrm>
          <a:prstGeom prst="rect">
            <a:avLst/>
          </a:prstGeom>
        </p:spPr>
        <p:txBody>
          <a:bodyPr/>
          <a:lstStyle/>
          <a:p>
            <a:fld id="{CC73C310-44D8-D44E-9500-41BAE48D6C1F}" type="datetimeFigureOut">
              <a:t>26-09-26</a:t>
            </a:fld>
            <a:endParaRPr/>
          </a:p>
        </p:txBody>
      </p:sp>
      <p:sp>
        <p:nvSpPr>
          <p:cNvPr id="5" name="Marcador de pie de página 4">
            <a:extLst>
              <a:ext uri="{FF2B5EF4-FFF2-40B4-BE49-F238E27FC236}">
                <a16:creationId xmlns:a16="http://schemas.microsoft.com/office/drawing/2014/main" id="{22B4B1B2-D0EF-48CE-92DF-D5F787D18CA6}"/>
              </a:ext>
            </a:extLst>
          </p:cNvPr>
          <p:cNvSpPr>
            <a:spLocks noGrp="1"/>
          </p:cNvSpPr>
          <p:nvPr>
            <p:ph type="ftr" idx="11"/>
          </p:nvPr>
        </p:nvSpPr>
        <p:spPr>
          <a:xfrm>
            <a:off x="3124200" y="4767263"/>
            <a:ext cx="2895600" cy="274637"/>
          </a:xfrm>
          <a:prstGeom prst="rect">
            <a:avLst/>
          </a:prstGeom>
        </p:spPr>
        <p:txBody>
          <a:bodyPr/>
          <a:lstStyle/>
          <a:p>
            <a:endParaRPr/>
          </a:p>
        </p:txBody>
      </p:sp>
      <p:sp>
        <p:nvSpPr>
          <p:cNvPr id="6" name="Marcador de número de diapositiva 5">
            <a:extLst>
              <a:ext uri="{FF2B5EF4-FFF2-40B4-BE49-F238E27FC236}">
                <a16:creationId xmlns:a16="http://schemas.microsoft.com/office/drawing/2014/main" id="{938EAECA-7236-4AE5-B2EA-50CAADCEA487}"/>
              </a:ext>
            </a:extLst>
          </p:cNvPr>
          <p:cNvSpPr>
            <a:spLocks noGrp="1"/>
          </p:cNvSpPr>
          <p:nvPr>
            <p:ph type="sldNum" idx="12"/>
          </p:nvPr>
        </p:nvSpPr>
        <p:spPr>
          <a:xfrm>
            <a:off x="6553200" y="4767263"/>
            <a:ext cx="2133600" cy="274637"/>
          </a:xfrm>
          <a:prstGeom prst="rect">
            <a:avLst/>
          </a:prstGeom>
        </p:spPr>
        <p:txBody>
          <a:bodyPr/>
          <a:lstStyle/>
          <a:p>
            <a:fld id="{F152EED2-0F54-FF4E-878C-CD5E3782BC09}" type="slidenum">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1.emf"/><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theme" Target="../theme/theme2.xml"/><Relationship Id="rId1" Type="http://schemas.openxmlformats.org/officeDocument/2006/relationships/slideLayout" Target="../slideLayouts/slideLayout9.xml"/></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theme" Target="../theme/theme3.xml"/><Relationship Id="rId1" Type="http://schemas.openxmlformats.org/officeDocument/2006/relationships/slideLayout" Target="../slideLayouts/slideLayout10.xml"/><Relationship Id="rId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3" name="Imagen 6"/>
          <p:cNvPicPr>
            <a:picLocks noChangeAspect="1"/>
          </p:cNvPicPr>
          <p:nvPr/>
        </p:nvPicPr>
        <p:blipFill>
          <a:blip r:embed="rId10"/>
          <a:stretch>
            <a:fillRect/>
          </a:stretch>
        </p:blipFill>
        <p:spPr>
          <a:xfrm>
            <a:off x="158742" y="0"/>
            <a:ext cx="8985258" cy="1007195"/>
          </a:xfrm>
          <a:prstGeom prst="rect">
            <a:avLst/>
          </a:prstGeom>
        </p:spPr>
      </p:pic>
      <p:sp>
        <p:nvSpPr>
          <p:cNvPr id="2" name="Marcador de título 1">
            <a:extLst>
              <a:ext uri="{FF2B5EF4-FFF2-40B4-BE49-F238E27FC236}">
                <a16:creationId xmlns:a16="http://schemas.microsoft.com/office/drawing/2014/main" id="{2070292F-7CFF-470D-913D-1E6BDE8FD92F}"/>
              </a:ext>
            </a:extLst>
          </p:cNvPr>
          <p:cNvSpPr>
            <a:spLocks noGrp="1"/>
          </p:cNvSpPr>
          <p:nvPr>
            <p:ph type="title"/>
          </p:nvPr>
        </p:nvSpPr>
        <p:spPr>
          <a:xfrm>
            <a:off x="457200" y="149945"/>
            <a:ext cx="8229600" cy="857250"/>
          </a:xfrm>
          <a:prstGeom prst="rect">
            <a:avLst/>
          </a:prstGeom>
        </p:spPr>
        <p:txBody>
          <a:bodyPr vert="horz" lIns="91440" tIns="45720" rIns="91440" bIns="45720" anchor="ctr">
            <a:normAutofit/>
          </a:bodyPr>
          <a:lstStyle/>
          <a:p>
            <a:r>
              <a:t>Clic para editar título</a:t>
            </a:r>
          </a:p>
        </p:txBody>
      </p:sp>
      <p:sp>
        <p:nvSpPr>
          <p:cNvPr id="3" name="Marcador de texto 2">
            <a:extLst>
              <a:ext uri="{FF2B5EF4-FFF2-40B4-BE49-F238E27FC236}">
                <a16:creationId xmlns:a16="http://schemas.microsoft.com/office/drawing/2014/main" id="{E4A36189-524E-4255-AFC0-7A55E4DCB605}"/>
              </a:ext>
            </a:extLst>
          </p:cNvPr>
          <p:cNvSpPr>
            <a:spLocks noGrp="1"/>
          </p:cNvSpPr>
          <p:nvPr>
            <p:ph type="body" idx="1"/>
          </p:nvPr>
        </p:nvSpPr>
        <p:spPr>
          <a:xfrm>
            <a:off x="457200" y="1200151"/>
            <a:ext cx="8229600" cy="3081337"/>
          </a:xfrm>
          <a:prstGeom prst="rect">
            <a:avLst/>
          </a:prstGeom>
        </p:spPr>
        <p:txBody>
          <a:bodyPr vert="horz" lIns="91440" tIns="45720" rIns="91440" bIns="45720">
            <a:normAutofit/>
          </a:bodyPr>
          <a:lstStyle/>
          <a:p>
            <a:pPr lvl="0">
              <a:buNone/>
            </a:pPr>
            <a:r>
              <a:t>Haga clic para modificar el estilo de texto del patrón</a:t>
            </a:r>
          </a:p>
          <a:p>
            <a:pPr lvl="1">
              <a:buNone/>
            </a:pPr>
            <a:r>
              <a:t>Segundo nivel</a:t>
            </a:r>
          </a:p>
          <a:p>
            <a:pPr lvl="2">
              <a:buNone/>
            </a:pPr>
            <a:r>
              <a:t>Tercer nivel</a:t>
            </a:r>
          </a:p>
          <a:p>
            <a:pPr lvl="3">
              <a:buNone/>
            </a:pPr>
            <a:r>
              <a:t>Cuarto nivel</a:t>
            </a:r>
          </a:p>
          <a:p>
            <a:pPr lvl="4">
              <a:buNone/>
            </a:pPr>
            <a:r>
              <a:t>Quinto nivel</a:t>
            </a:r>
          </a:p>
        </p:txBody>
      </p:sp>
      <p:sp>
        <p:nvSpPr>
          <p:cNvPr id="10" name="Rectángulo 9">
            <a:extLst>
              <a:ext uri="{FF2B5EF4-FFF2-40B4-BE49-F238E27FC236}">
                <a16:creationId xmlns:a16="http://schemas.microsoft.com/office/drawing/2014/main" id="{0C62F43A-D755-471C-8B38-05011B6FB72E}"/>
              </a:ext>
            </a:extLst>
          </p:cNvPr>
          <p:cNvSpPr>
            <a:spLocks noGrp="1"/>
          </p:cNvSpPr>
          <p:nvPr/>
        </p:nvSpPr>
        <p:spPr>
          <a:xfrm>
            <a:off x="0" y="149945"/>
            <a:ext cx="158742" cy="857250"/>
          </a:xfrm>
          <a:prstGeom prst="rect">
            <a:avLst/>
          </a:prstGeom>
          <a:solidFill>
            <a:srgbClr val="FFE2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Rectángulo 7">
            <a:extLst>
              <a:ext uri="{FF2B5EF4-FFF2-40B4-BE49-F238E27FC236}">
                <a16:creationId xmlns:a16="http://schemas.microsoft.com/office/drawing/2014/main" id="{83609EC7-A296-4965-8074-FF46BB0AD78E}"/>
              </a:ext>
            </a:extLst>
          </p:cNvPr>
          <p:cNvSpPr>
            <a:spLocks noGrp="1"/>
          </p:cNvSpPr>
          <p:nvPr/>
        </p:nvSpPr>
        <p:spPr>
          <a:xfrm flipV="1">
            <a:off x="169334" y="4871120"/>
            <a:ext cx="8815911" cy="177311"/>
          </a:xfrm>
          <a:prstGeom prst="rect">
            <a:avLst/>
          </a:prstGeom>
          <a:solidFill>
            <a:schemeClr val="bg1">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r>
              <a:t> </a:t>
            </a:r>
          </a:p>
        </p:txBody>
      </p:sp>
      <p:sp>
        <p:nvSpPr>
          <p:cNvPr id="11" name="Rectángulo 10">
            <a:extLst>
              <a:ext uri="{FF2B5EF4-FFF2-40B4-BE49-F238E27FC236}">
                <a16:creationId xmlns:a16="http://schemas.microsoft.com/office/drawing/2014/main" id="{6B30BCA3-C1A5-408D-A965-11C39031B93E}"/>
              </a:ext>
            </a:extLst>
          </p:cNvPr>
          <p:cNvSpPr>
            <a:spLocks noGrp="1"/>
          </p:cNvSpPr>
          <p:nvPr/>
        </p:nvSpPr>
        <p:spPr>
          <a:xfrm flipV="1">
            <a:off x="7200957" y="4871118"/>
            <a:ext cx="1119038" cy="177313"/>
          </a:xfrm>
          <a:prstGeom prst="rect">
            <a:avLst/>
          </a:prstGeom>
          <a:solidFill>
            <a:srgbClr val="3366CC"/>
          </a:solidFill>
        </p:spPr>
        <p:style>
          <a:lnRef idx="1">
            <a:schemeClr val="accent1"/>
          </a:lnRef>
          <a:fillRef idx="3">
            <a:schemeClr val="accent1"/>
          </a:fillRef>
          <a:effectRef idx="2">
            <a:schemeClr val="accent1"/>
          </a:effectRef>
          <a:fontRef idx="minor">
            <a:schemeClr val="lt1"/>
          </a:fontRef>
        </p:style>
        <p:txBody>
          <a:bodyPr anchor="ctr"/>
          <a:lstStyle/>
          <a:p>
            <a:pPr algn="ctr">
              <a:buNone/>
            </a:pPr>
            <a:r>
              <a:t> </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txStyles>
    <p:titleStyle>
      <a:lvl1pPr algn="l" defTabSz="457200">
        <a:spcBef>
          <a:spcPct val="0"/>
        </a:spcBef>
        <a:buNone/>
        <a:defRPr sz="3200" b="1" kern="1200">
          <a:solidFill>
            <a:schemeClr val="bg1"/>
          </a:solidFill>
          <a:latin typeface="Arial"/>
          <a:ea typeface="Arial"/>
          <a:cs typeface="Arial"/>
        </a:defRPr>
      </a:lvl1pPr>
    </p:titleStyle>
    <p:bodyStyle>
      <a:lvl1pPr marL="342900" indent="-342900" algn="l" defTabSz="457200">
        <a:spcBef>
          <a:spcPct val="20000"/>
        </a:spcBef>
        <a:buFont typeface="Arial"/>
        <a:buChar char="•"/>
        <a:defRPr sz="2800" b="0" kern="1200">
          <a:solidFill>
            <a:schemeClr val="tx1"/>
          </a:solidFill>
          <a:latin typeface="Arial"/>
          <a:ea typeface="Arial"/>
          <a:cs typeface="Arial"/>
        </a:defRPr>
      </a:lvl1pPr>
      <a:lvl2pPr marL="365125" indent="0" algn="l" defTabSz="457200">
        <a:spcBef>
          <a:spcPct val="20000"/>
        </a:spcBef>
        <a:buFontTx/>
        <a:buNone/>
        <a:defRPr sz="2800" kern="1200">
          <a:solidFill>
            <a:schemeClr val="tx1"/>
          </a:solidFill>
          <a:latin typeface="Arial"/>
          <a:ea typeface="Arial"/>
          <a:cs typeface="Arial"/>
        </a:defRPr>
      </a:lvl2pPr>
      <a:lvl3pPr marL="630238" indent="-241300" algn="l" defTabSz="457200">
        <a:spcBef>
          <a:spcPct val="20000"/>
        </a:spcBef>
        <a:buFont typeface="Arial"/>
        <a:buChar char="•"/>
        <a:defRPr sz="2400" kern="1200">
          <a:solidFill>
            <a:schemeClr val="tx1"/>
          </a:solidFill>
          <a:latin typeface="Arial"/>
          <a:ea typeface="Arial"/>
          <a:cs typeface="Arial"/>
        </a:defRPr>
      </a:lvl3pPr>
      <a:lvl4pPr marL="982663" indent="-268288" algn="l" defTabSz="457200">
        <a:spcBef>
          <a:spcPct val="20000"/>
        </a:spcBef>
        <a:buFont typeface="Arial"/>
        <a:buChar char="–"/>
        <a:defRPr sz="2000" kern="1200">
          <a:solidFill>
            <a:schemeClr val="tx1"/>
          </a:solidFill>
          <a:latin typeface="Arial"/>
          <a:ea typeface="Arial"/>
          <a:cs typeface="Arial"/>
        </a:defRPr>
      </a:lvl4pPr>
      <a:lvl5pPr marL="982662" indent="0" algn="l" defTabSz="457200">
        <a:spcBef>
          <a:spcPct val="20000"/>
        </a:spcBef>
        <a:buFontTx/>
        <a:buNone/>
        <a:defRPr sz="2000" kern="1200">
          <a:solidFill>
            <a:schemeClr val="tx1"/>
          </a:solidFill>
          <a:latin typeface="Arial"/>
          <a:ea typeface="Arial"/>
          <a:cs typeface="Arial"/>
        </a:defRPr>
      </a:lvl5pPr>
      <a:lvl6pPr marL="2514600" indent="-228600" algn="l" defTabSz="457200">
        <a:spcBef>
          <a:spcPct val="20000"/>
        </a:spcBef>
        <a:buFont typeface="Arial"/>
        <a:buChar char="•"/>
        <a:defRPr sz="2000" kern="1200">
          <a:solidFill>
            <a:schemeClr val="tx1"/>
          </a:solidFill>
          <a:latin typeface="+mn-lt"/>
          <a:ea typeface="+mn-lt"/>
          <a:cs typeface="+mn-lt"/>
        </a:defRPr>
      </a:lvl6pPr>
      <a:lvl7pPr marL="2971800" indent="-228600" algn="l" defTabSz="457200">
        <a:spcBef>
          <a:spcPct val="20000"/>
        </a:spcBef>
        <a:buFont typeface="Arial"/>
        <a:buChar char="•"/>
        <a:defRPr sz="2000" kern="1200">
          <a:solidFill>
            <a:schemeClr val="tx1"/>
          </a:solidFill>
          <a:latin typeface="+mn-lt"/>
          <a:ea typeface="+mn-lt"/>
          <a:cs typeface="+mn-lt"/>
        </a:defRPr>
      </a:lvl7pPr>
      <a:lvl8pPr marL="3429000" indent="-228600" algn="l" defTabSz="457200">
        <a:spcBef>
          <a:spcPct val="20000"/>
        </a:spcBef>
        <a:buFont typeface="Arial"/>
        <a:buChar char="•"/>
        <a:defRPr sz="2000" kern="1200">
          <a:solidFill>
            <a:schemeClr val="tx1"/>
          </a:solidFill>
          <a:latin typeface="+mn-lt"/>
          <a:ea typeface="+mn-lt"/>
          <a:cs typeface="+mn-lt"/>
        </a:defRPr>
      </a:lvl8pPr>
      <a:lvl9pPr marL="3886200" indent="-228600" algn="l" defTabSz="457200">
        <a:spcBef>
          <a:spcPct val="20000"/>
        </a:spcBef>
        <a:buFont typeface="Arial"/>
        <a:buChar char="•"/>
        <a:defRPr sz="2000" kern="1200">
          <a:solidFill>
            <a:schemeClr val="tx1"/>
          </a:solidFill>
          <a:latin typeface="+mn-lt"/>
          <a:ea typeface="+mn-lt"/>
          <a:cs typeface="+mn-lt"/>
        </a:defRPr>
      </a:lvl9pPr>
    </p:bodyStyle>
    <p:otherStyle>
      <a:lvl1pPr marL="0" algn="l" defTabSz="457200">
        <a:buNone/>
        <a:defRPr sz="1800" kern="1200">
          <a:solidFill>
            <a:schemeClr val="tx1"/>
          </a:solidFill>
          <a:latin typeface="+mn-lt"/>
          <a:ea typeface="+mn-lt"/>
          <a:cs typeface="+mn-lt"/>
        </a:defRPr>
      </a:lvl1pPr>
      <a:lvl2pPr marL="457200" algn="l" defTabSz="457200">
        <a:buNone/>
        <a:defRPr sz="1800" kern="1200">
          <a:solidFill>
            <a:schemeClr val="tx1"/>
          </a:solidFill>
          <a:latin typeface="+mn-lt"/>
          <a:ea typeface="+mn-lt"/>
          <a:cs typeface="+mn-lt"/>
        </a:defRPr>
      </a:lvl2pPr>
      <a:lvl3pPr marL="914400" algn="l" defTabSz="457200">
        <a:buNone/>
        <a:defRPr sz="1800" kern="1200">
          <a:solidFill>
            <a:schemeClr val="tx1"/>
          </a:solidFill>
          <a:latin typeface="+mn-lt"/>
          <a:ea typeface="+mn-lt"/>
          <a:cs typeface="+mn-lt"/>
        </a:defRPr>
      </a:lvl3pPr>
      <a:lvl4pPr marL="1371600" algn="l" defTabSz="457200">
        <a:buNone/>
        <a:defRPr sz="1800" kern="1200">
          <a:solidFill>
            <a:schemeClr val="tx1"/>
          </a:solidFill>
          <a:latin typeface="+mn-lt"/>
          <a:ea typeface="+mn-lt"/>
          <a:cs typeface="+mn-lt"/>
        </a:defRPr>
      </a:lvl4pPr>
      <a:lvl5pPr marL="1828800" algn="l" defTabSz="457200">
        <a:buNone/>
        <a:defRPr sz="1800" kern="1200">
          <a:solidFill>
            <a:schemeClr val="tx1"/>
          </a:solidFill>
          <a:latin typeface="+mn-lt"/>
          <a:ea typeface="+mn-lt"/>
          <a:cs typeface="+mn-lt"/>
        </a:defRPr>
      </a:lvl5pPr>
      <a:lvl6pPr marL="2286000" algn="l" defTabSz="457200">
        <a:buNone/>
        <a:defRPr sz="1800" kern="1200">
          <a:solidFill>
            <a:schemeClr val="tx1"/>
          </a:solidFill>
          <a:latin typeface="+mn-lt"/>
          <a:ea typeface="+mn-lt"/>
          <a:cs typeface="+mn-lt"/>
        </a:defRPr>
      </a:lvl6pPr>
      <a:lvl7pPr marL="2743200" algn="l" defTabSz="457200">
        <a:buNone/>
        <a:defRPr sz="1800" kern="1200">
          <a:solidFill>
            <a:schemeClr val="tx1"/>
          </a:solidFill>
          <a:latin typeface="+mn-lt"/>
          <a:ea typeface="+mn-lt"/>
          <a:cs typeface="+mn-lt"/>
        </a:defRPr>
      </a:lvl7pPr>
      <a:lvl8pPr marL="3200400" algn="l" defTabSz="457200">
        <a:buNone/>
        <a:defRPr sz="1800" kern="1200">
          <a:solidFill>
            <a:schemeClr val="tx1"/>
          </a:solidFill>
          <a:latin typeface="+mn-lt"/>
          <a:ea typeface="+mn-lt"/>
          <a:cs typeface="+mn-lt"/>
        </a:defRPr>
      </a:lvl8pPr>
      <a:lvl9pPr marL="3657600" algn="l" defTabSz="457200">
        <a:buNone/>
        <a:defRPr sz="1800" kern="1200">
          <a:solidFill>
            <a:schemeClr val="tx1"/>
          </a:solidFill>
          <a:latin typeface="+mn-lt"/>
          <a:ea typeface="+mn-lt"/>
          <a:cs typeface="+mn-lt"/>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2" name="Imagen 2"/>
          <p:cNvPicPr>
            <a:picLocks noChangeAspect="1"/>
          </p:cNvPicPr>
          <p:nvPr/>
        </p:nvPicPr>
        <p:blipFill>
          <a:blip r:embed="rId3"/>
          <a:stretch>
            <a:fillRect/>
          </a:stretch>
        </p:blipFill>
        <p:spPr>
          <a:xfrm>
            <a:off x="1320800" y="698500"/>
            <a:ext cx="6480264" cy="3733925"/>
          </a:xfrm>
          <a:prstGeom prst="rect">
            <a:avLst/>
          </a:prstGeom>
        </p:spPr>
      </p:pic>
    </p:spTree>
  </p:cSld>
  <p:clrMap bg1="lt1" tx1="dk1" bg2="lt2" tx2="dk2" accent1="accent1" accent2="accent2" accent3="accent3" accent4="accent4" accent5="accent5" accent6="accent6" hlink="hlink" folHlink="folHlink"/>
  <p:sldLayoutIdLst>
    <p:sldLayoutId id="2147483658" r:id="rId1"/>
  </p:sldLayoutIdLst>
  <p:txStyles>
    <p:titleStyle>
      <a:lvl1pPr algn="ctr" defTabSz="457200">
        <a:spcBef>
          <a:spcPct val="0"/>
        </a:spcBef>
        <a:buNone/>
        <a:defRPr sz="4400" kern="1200">
          <a:solidFill>
            <a:schemeClr val="tx1"/>
          </a:solidFill>
          <a:latin typeface="+mj-lt"/>
          <a:ea typeface="+mj-lt"/>
          <a:cs typeface="+mj-lt"/>
        </a:defRPr>
      </a:lvl1pPr>
    </p:titleStyle>
    <p:bodyStyle>
      <a:lvl1pPr marL="342900" indent="-342900" algn="l" defTabSz="457200">
        <a:spcBef>
          <a:spcPct val="20000"/>
        </a:spcBef>
        <a:buFont typeface="Arial"/>
        <a:buChar char="•"/>
        <a:defRPr sz="3200" kern="1200">
          <a:solidFill>
            <a:schemeClr val="tx1"/>
          </a:solidFill>
          <a:latin typeface="+mn-lt"/>
          <a:ea typeface="+mn-lt"/>
          <a:cs typeface="+mn-lt"/>
        </a:defRPr>
      </a:lvl1pPr>
      <a:lvl2pPr marL="742950" indent="-285750" algn="l" defTabSz="457200">
        <a:spcBef>
          <a:spcPct val="20000"/>
        </a:spcBef>
        <a:buFont typeface="Arial"/>
        <a:buChar char="–"/>
        <a:defRPr sz="2800" kern="1200">
          <a:solidFill>
            <a:schemeClr val="tx1"/>
          </a:solidFill>
          <a:latin typeface="+mn-lt"/>
          <a:ea typeface="+mn-lt"/>
          <a:cs typeface="+mn-lt"/>
        </a:defRPr>
      </a:lvl2pPr>
      <a:lvl3pPr marL="1143000" indent="-228600" algn="l" defTabSz="457200">
        <a:spcBef>
          <a:spcPct val="20000"/>
        </a:spcBef>
        <a:buFont typeface="Arial"/>
        <a:buChar char="•"/>
        <a:defRPr sz="2400" kern="1200">
          <a:solidFill>
            <a:schemeClr val="tx1"/>
          </a:solidFill>
          <a:latin typeface="+mn-lt"/>
          <a:ea typeface="+mn-lt"/>
          <a:cs typeface="+mn-lt"/>
        </a:defRPr>
      </a:lvl3pPr>
      <a:lvl4pPr marL="1600200" indent="-228600" algn="l" defTabSz="457200">
        <a:spcBef>
          <a:spcPct val="20000"/>
        </a:spcBef>
        <a:buFont typeface="Arial"/>
        <a:buChar char="–"/>
        <a:defRPr sz="2000" kern="1200">
          <a:solidFill>
            <a:schemeClr val="tx1"/>
          </a:solidFill>
          <a:latin typeface="+mn-lt"/>
          <a:ea typeface="+mn-lt"/>
          <a:cs typeface="+mn-lt"/>
        </a:defRPr>
      </a:lvl4pPr>
      <a:lvl5pPr marL="2057400" indent="-228600" algn="l" defTabSz="457200">
        <a:spcBef>
          <a:spcPct val="20000"/>
        </a:spcBef>
        <a:buFont typeface="Arial"/>
        <a:buChar char="»"/>
        <a:defRPr sz="2000" kern="1200">
          <a:solidFill>
            <a:schemeClr val="tx1"/>
          </a:solidFill>
          <a:latin typeface="+mn-lt"/>
          <a:ea typeface="+mn-lt"/>
          <a:cs typeface="+mn-lt"/>
        </a:defRPr>
      </a:lvl5pPr>
      <a:lvl6pPr marL="2514600" indent="-228600" algn="l" defTabSz="457200">
        <a:spcBef>
          <a:spcPct val="20000"/>
        </a:spcBef>
        <a:buFont typeface="Arial"/>
        <a:buChar char="•"/>
        <a:defRPr sz="2000" kern="1200">
          <a:solidFill>
            <a:schemeClr val="tx1"/>
          </a:solidFill>
          <a:latin typeface="+mn-lt"/>
          <a:ea typeface="+mn-lt"/>
          <a:cs typeface="+mn-lt"/>
        </a:defRPr>
      </a:lvl6pPr>
      <a:lvl7pPr marL="2971800" indent="-228600" algn="l" defTabSz="457200">
        <a:spcBef>
          <a:spcPct val="20000"/>
        </a:spcBef>
        <a:buFont typeface="Arial"/>
        <a:buChar char="•"/>
        <a:defRPr sz="2000" kern="1200">
          <a:solidFill>
            <a:schemeClr val="tx1"/>
          </a:solidFill>
          <a:latin typeface="+mn-lt"/>
          <a:ea typeface="+mn-lt"/>
          <a:cs typeface="+mn-lt"/>
        </a:defRPr>
      </a:lvl7pPr>
      <a:lvl8pPr marL="3429000" indent="-228600" algn="l" defTabSz="457200">
        <a:spcBef>
          <a:spcPct val="20000"/>
        </a:spcBef>
        <a:buFont typeface="Arial"/>
        <a:buChar char="•"/>
        <a:defRPr sz="2000" kern="1200">
          <a:solidFill>
            <a:schemeClr val="tx1"/>
          </a:solidFill>
          <a:latin typeface="+mn-lt"/>
          <a:ea typeface="+mn-lt"/>
          <a:cs typeface="+mn-lt"/>
        </a:defRPr>
      </a:lvl8pPr>
      <a:lvl9pPr marL="3886200" indent="-228600" algn="l" defTabSz="457200">
        <a:spcBef>
          <a:spcPct val="20000"/>
        </a:spcBef>
        <a:buFont typeface="Arial"/>
        <a:buChar char="•"/>
        <a:defRPr sz="2000" kern="1200">
          <a:solidFill>
            <a:schemeClr val="tx1"/>
          </a:solidFill>
          <a:latin typeface="+mn-lt"/>
          <a:ea typeface="+mn-lt"/>
          <a:cs typeface="+mn-lt"/>
        </a:defRPr>
      </a:lvl9pPr>
    </p:bodyStyle>
    <p:otherStyle>
      <a:lvl1pPr marL="0" algn="l" defTabSz="457200">
        <a:buNone/>
        <a:defRPr sz="1800" kern="1200">
          <a:solidFill>
            <a:schemeClr val="tx1"/>
          </a:solidFill>
          <a:latin typeface="+mn-lt"/>
          <a:ea typeface="+mn-lt"/>
          <a:cs typeface="+mn-lt"/>
        </a:defRPr>
      </a:lvl1pPr>
      <a:lvl2pPr marL="457200" algn="l" defTabSz="457200">
        <a:buNone/>
        <a:defRPr sz="1800" kern="1200">
          <a:solidFill>
            <a:schemeClr val="tx1"/>
          </a:solidFill>
          <a:latin typeface="+mn-lt"/>
          <a:ea typeface="+mn-lt"/>
          <a:cs typeface="+mn-lt"/>
        </a:defRPr>
      </a:lvl2pPr>
      <a:lvl3pPr marL="914400" algn="l" defTabSz="457200">
        <a:buNone/>
        <a:defRPr sz="1800" kern="1200">
          <a:solidFill>
            <a:schemeClr val="tx1"/>
          </a:solidFill>
          <a:latin typeface="+mn-lt"/>
          <a:ea typeface="+mn-lt"/>
          <a:cs typeface="+mn-lt"/>
        </a:defRPr>
      </a:lvl3pPr>
      <a:lvl4pPr marL="1371600" algn="l" defTabSz="457200">
        <a:buNone/>
        <a:defRPr sz="1800" kern="1200">
          <a:solidFill>
            <a:schemeClr val="tx1"/>
          </a:solidFill>
          <a:latin typeface="+mn-lt"/>
          <a:ea typeface="+mn-lt"/>
          <a:cs typeface="+mn-lt"/>
        </a:defRPr>
      </a:lvl4pPr>
      <a:lvl5pPr marL="1828800" algn="l" defTabSz="457200">
        <a:buNone/>
        <a:defRPr sz="1800" kern="1200">
          <a:solidFill>
            <a:schemeClr val="tx1"/>
          </a:solidFill>
          <a:latin typeface="+mn-lt"/>
          <a:ea typeface="+mn-lt"/>
          <a:cs typeface="+mn-lt"/>
        </a:defRPr>
      </a:lvl5pPr>
      <a:lvl6pPr marL="2286000" algn="l" defTabSz="457200">
        <a:buNone/>
        <a:defRPr sz="1800" kern="1200">
          <a:solidFill>
            <a:schemeClr val="tx1"/>
          </a:solidFill>
          <a:latin typeface="+mn-lt"/>
          <a:ea typeface="+mn-lt"/>
          <a:cs typeface="+mn-lt"/>
        </a:defRPr>
      </a:lvl6pPr>
      <a:lvl7pPr marL="2743200" algn="l" defTabSz="457200">
        <a:buNone/>
        <a:defRPr sz="1800" kern="1200">
          <a:solidFill>
            <a:schemeClr val="tx1"/>
          </a:solidFill>
          <a:latin typeface="+mn-lt"/>
          <a:ea typeface="+mn-lt"/>
          <a:cs typeface="+mn-lt"/>
        </a:defRPr>
      </a:lvl7pPr>
      <a:lvl8pPr marL="3200400" algn="l" defTabSz="457200">
        <a:buNone/>
        <a:defRPr sz="1800" kern="1200">
          <a:solidFill>
            <a:schemeClr val="tx1"/>
          </a:solidFill>
          <a:latin typeface="+mn-lt"/>
          <a:ea typeface="+mn-lt"/>
          <a:cs typeface="+mn-lt"/>
        </a:defRPr>
      </a:lvl8pPr>
      <a:lvl9pPr marL="3657600" algn="l" defTabSz="457200">
        <a:buNone/>
        <a:defRPr sz="1800" kern="1200">
          <a:solidFill>
            <a:schemeClr val="tx1"/>
          </a:solidFill>
          <a:latin typeface="+mn-lt"/>
          <a:ea typeface="+mn-lt"/>
          <a:cs typeface="+mn-lt"/>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597259FA-5822-4A07-87E2-DB03669A7E3E}"/>
              </a:ext>
            </a:extLst>
          </p:cNvPr>
          <p:cNvSpPr>
            <a:spLocks noGrp="1"/>
          </p:cNvSpPr>
          <p:nvPr>
            <p:ph type="title"/>
          </p:nvPr>
        </p:nvSpPr>
        <p:spPr>
          <a:xfrm>
            <a:off x="457200" y="1437737"/>
            <a:ext cx="8229600" cy="857250"/>
          </a:xfrm>
          <a:prstGeom prst="rect">
            <a:avLst/>
          </a:prstGeom>
        </p:spPr>
        <p:txBody>
          <a:bodyPr vert="horz" lIns="91440" tIns="45720" rIns="91440" bIns="45720" anchor="ctr">
            <a:normAutofit/>
          </a:bodyPr>
          <a:lstStyle/>
          <a:p>
            <a:r>
              <a:t>Clic para editar título</a:t>
            </a:r>
          </a:p>
        </p:txBody>
      </p:sp>
      <p:sp>
        <p:nvSpPr>
          <p:cNvPr id="3" name="Marcador de texto 2">
            <a:extLst>
              <a:ext uri="{FF2B5EF4-FFF2-40B4-BE49-F238E27FC236}">
                <a16:creationId xmlns:a16="http://schemas.microsoft.com/office/drawing/2014/main" id="{AB2A7547-FF11-4B4B-90EC-6C4A7EAE713F}"/>
              </a:ext>
            </a:extLst>
          </p:cNvPr>
          <p:cNvSpPr>
            <a:spLocks noGrp="1"/>
          </p:cNvSpPr>
          <p:nvPr>
            <p:ph type="body" idx="1"/>
          </p:nvPr>
        </p:nvSpPr>
        <p:spPr>
          <a:xfrm>
            <a:off x="457200" y="2770565"/>
            <a:ext cx="8229600" cy="1510924"/>
          </a:xfrm>
          <a:prstGeom prst="rect">
            <a:avLst/>
          </a:prstGeom>
        </p:spPr>
        <p:txBody>
          <a:bodyPr vert="horz" lIns="91440" tIns="45720" rIns="91440" bIns="45720">
            <a:normAutofit/>
          </a:bodyPr>
          <a:lstStyle/>
          <a:p>
            <a:pPr lvl="0">
              <a:buNone/>
            </a:pPr>
            <a:r>
              <a:t>Integrantes</a:t>
            </a:r>
          </a:p>
        </p:txBody>
      </p:sp>
      <p:pic>
        <p:nvPicPr>
          <p:cNvPr id="16" name="Imagen 6"/>
          <p:cNvPicPr>
            <a:picLocks noChangeAspect="1"/>
          </p:cNvPicPr>
          <p:nvPr/>
        </p:nvPicPr>
        <p:blipFill>
          <a:blip r:embed="rId3"/>
          <a:stretch>
            <a:fillRect/>
          </a:stretch>
        </p:blipFill>
        <p:spPr>
          <a:xfrm>
            <a:off x="3100137" y="1"/>
            <a:ext cx="6043863" cy="1123125"/>
          </a:xfrm>
          <a:prstGeom prst="rect">
            <a:avLst/>
          </a:prstGeom>
        </p:spPr>
      </p:pic>
      <p:sp>
        <p:nvSpPr>
          <p:cNvPr id="8" name="Rectángulo 7">
            <a:extLst>
              <a:ext uri="{FF2B5EF4-FFF2-40B4-BE49-F238E27FC236}">
                <a16:creationId xmlns:a16="http://schemas.microsoft.com/office/drawing/2014/main" id="{0757CA98-7359-4B07-B547-02DC74A29D35}"/>
              </a:ext>
            </a:extLst>
          </p:cNvPr>
          <p:cNvSpPr>
            <a:spLocks noGrp="1"/>
          </p:cNvSpPr>
          <p:nvPr/>
        </p:nvSpPr>
        <p:spPr>
          <a:xfrm flipV="1">
            <a:off x="-1" y="-4"/>
            <a:ext cx="177417" cy="1123126"/>
          </a:xfrm>
          <a:prstGeom prst="rect">
            <a:avLst/>
          </a:prstGeom>
          <a:solidFill>
            <a:srgbClr val="FFE2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pic>
        <p:nvPicPr>
          <p:cNvPr id="18" name="Imagen 8"/>
          <p:cNvPicPr>
            <a:picLocks noChangeAspect="1"/>
          </p:cNvPicPr>
          <p:nvPr/>
        </p:nvPicPr>
        <p:blipFill>
          <a:blip r:embed="rId4"/>
          <a:stretch>
            <a:fillRect/>
          </a:stretch>
        </p:blipFill>
        <p:spPr>
          <a:xfrm>
            <a:off x="682784" y="70795"/>
            <a:ext cx="1907624" cy="1099172"/>
          </a:xfrm>
          <a:prstGeom prst="rect">
            <a:avLst/>
          </a:prstGeom>
        </p:spPr>
      </p:pic>
      <p:sp>
        <p:nvSpPr>
          <p:cNvPr id="10" name="Rectángulo 9">
            <a:extLst>
              <a:ext uri="{FF2B5EF4-FFF2-40B4-BE49-F238E27FC236}">
                <a16:creationId xmlns:a16="http://schemas.microsoft.com/office/drawing/2014/main" id="{C6CBE8A6-814B-4B4C-84A7-33426395548E}"/>
              </a:ext>
            </a:extLst>
          </p:cNvPr>
          <p:cNvSpPr>
            <a:spLocks noGrp="1"/>
          </p:cNvSpPr>
          <p:nvPr/>
        </p:nvSpPr>
        <p:spPr>
          <a:xfrm flipV="1">
            <a:off x="169334" y="4871120"/>
            <a:ext cx="8815911" cy="177311"/>
          </a:xfrm>
          <a:prstGeom prst="rect">
            <a:avLst/>
          </a:prstGeom>
          <a:solidFill>
            <a:schemeClr val="bg1">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r>
              <a:t> </a:t>
            </a:r>
          </a:p>
        </p:txBody>
      </p:sp>
      <p:sp>
        <p:nvSpPr>
          <p:cNvPr id="11" name="Rectángulo 10">
            <a:extLst>
              <a:ext uri="{FF2B5EF4-FFF2-40B4-BE49-F238E27FC236}">
                <a16:creationId xmlns:a16="http://schemas.microsoft.com/office/drawing/2014/main" id="{510A60F6-9DBF-4440-9312-A835AFF9EB02}"/>
              </a:ext>
            </a:extLst>
          </p:cNvPr>
          <p:cNvSpPr>
            <a:spLocks noGrp="1"/>
          </p:cNvSpPr>
          <p:nvPr/>
        </p:nvSpPr>
        <p:spPr>
          <a:xfrm flipV="1">
            <a:off x="7200957" y="4871118"/>
            <a:ext cx="1119038" cy="177313"/>
          </a:xfrm>
          <a:prstGeom prst="rect">
            <a:avLst/>
          </a:prstGeom>
          <a:solidFill>
            <a:srgbClr val="3366CC"/>
          </a:solidFill>
        </p:spPr>
        <p:style>
          <a:lnRef idx="1">
            <a:schemeClr val="accent1"/>
          </a:lnRef>
          <a:fillRef idx="3">
            <a:schemeClr val="accent1"/>
          </a:fillRef>
          <a:effectRef idx="2">
            <a:schemeClr val="accent1"/>
          </a:effectRef>
          <a:fontRef idx="minor">
            <a:schemeClr val="lt1"/>
          </a:fontRef>
        </p:style>
        <p:txBody>
          <a:bodyPr anchor="ctr"/>
          <a:lstStyle/>
          <a:p>
            <a:pPr algn="ctr">
              <a:buNone/>
            </a:pPr>
            <a:r>
              <a:t> </a:t>
            </a:r>
          </a:p>
        </p:txBody>
      </p:sp>
    </p:spTree>
  </p:cSld>
  <p:clrMap bg1="lt1" tx1="dk1" bg2="lt2" tx2="dk2" accent1="accent1" accent2="accent2" accent3="accent3" accent4="accent4" accent5="accent5" accent6="accent6" hlink="hlink" folHlink="folHlink"/>
  <p:sldLayoutIdLst>
    <p:sldLayoutId id="2147483660" r:id="rId1"/>
  </p:sldLayoutIdLst>
  <p:txStyles>
    <p:titleStyle>
      <a:lvl1pPr algn="r" defTabSz="457200">
        <a:spcBef>
          <a:spcPct val="0"/>
        </a:spcBef>
        <a:buNone/>
        <a:defRPr sz="4400" b="1" i="0" kern="1200">
          <a:solidFill>
            <a:schemeClr val="tx1"/>
          </a:solidFill>
          <a:latin typeface="Arial"/>
          <a:ea typeface="Arial"/>
          <a:cs typeface="Arial"/>
        </a:defRPr>
      </a:lvl1pPr>
    </p:titleStyle>
    <p:bodyStyle>
      <a:lvl1pPr marL="342900" indent="-342900" algn="r" defTabSz="457200">
        <a:spcBef>
          <a:spcPct val="20000"/>
        </a:spcBef>
        <a:buFont typeface="Arial"/>
        <a:buChar char="•"/>
        <a:defRPr sz="3200" kern="1200">
          <a:solidFill>
            <a:srgbClr val="595959"/>
          </a:solidFill>
          <a:latin typeface="Arial"/>
          <a:ea typeface="Arial"/>
          <a:cs typeface="Arial"/>
        </a:defRPr>
      </a:lvl1pPr>
      <a:lvl2pPr marL="742950" indent="-285750" algn="l" defTabSz="457200">
        <a:spcBef>
          <a:spcPct val="20000"/>
        </a:spcBef>
        <a:buFont typeface="Arial"/>
        <a:buChar char="–"/>
        <a:defRPr sz="2800" kern="1200">
          <a:solidFill>
            <a:schemeClr val="tx1"/>
          </a:solidFill>
          <a:latin typeface="+mn-lt"/>
          <a:ea typeface="+mn-lt"/>
          <a:cs typeface="+mn-lt"/>
        </a:defRPr>
      </a:lvl2pPr>
      <a:lvl3pPr marL="1143000" indent="-228600" algn="l" defTabSz="457200">
        <a:spcBef>
          <a:spcPct val="20000"/>
        </a:spcBef>
        <a:buFont typeface="Arial"/>
        <a:buChar char="•"/>
        <a:defRPr sz="2400" kern="1200">
          <a:solidFill>
            <a:schemeClr val="tx1"/>
          </a:solidFill>
          <a:latin typeface="+mn-lt"/>
          <a:ea typeface="+mn-lt"/>
          <a:cs typeface="+mn-lt"/>
        </a:defRPr>
      </a:lvl3pPr>
      <a:lvl4pPr marL="1600200" indent="-228600" algn="l" defTabSz="457200">
        <a:spcBef>
          <a:spcPct val="20000"/>
        </a:spcBef>
        <a:buFont typeface="Arial"/>
        <a:buChar char="–"/>
        <a:defRPr sz="2000" kern="1200">
          <a:solidFill>
            <a:schemeClr val="tx1"/>
          </a:solidFill>
          <a:latin typeface="+mn-lt"/>
          <a:ea typeface="+mn-lt"/>
          <a:cs typeface="+mn-lt"/>
        </a:defRPr>
      </a:lvl4pPr>
      <a:lvl5pPr marL="2057400" indent="-228600" algn="l" defTabSz="457200">
        <a:spcBef>
          <a:spcPct val="20000"/>
        </a:spcBef>
        <a:buFont typeface="Arial"/>
        <a:buChar char="»"/>
        <a:defRPr sz="2000" kern="1200">
          <a:solidFill>
            <a:schemeClr val="tx1"/>
          </a:solidFill>
          <a:latin typeface="+mn-lt"/>
          <a:ea typeface="+mn-lt"/>
          <a:cs typeface="+mn-lt"/>
        </a:defRPr>
      </a:lvl5pPr>
      <a:lvl6pPr marL="2514600" indent="-228600" algn="l" defTabSz="457200">
        <a:spcBef>
          <a:spcPct val="20000"/>
        </a:spcBef>
        <a:buFont typeface="Arial"/>
        <a:buChar char="•"/>
        <a:defRPr sz="2000" kern="1200">
          <a:solidFill>
            <a:schemeClr val="tx1"/>
          </a:solidFill>
          <a:latin typeface="+mn-lt"/>
          <a:ea typeface="+mn-lt"/>
          <a:cs typeface="+mn-lt"/>
        </a:defRPr>
      </a:lvl6pPr>
      <a:lvl7pPr marL="2971800" indent="-228600" algn="l" defTabSz="457200">
        <a:spcBef>
          <a:spcPct val="20000"/>
        </a:spcBef>
        <a:buFont typeface="Arial"/>
        <a:buChar char="•"/>
        <a:defRPr sz="2000" kern="1200">
          <a:solidFill>
            <a:schemeClr val="tx1"/>
          </a:solidFill>
          <a:latin typeface="+mn-lt"/>
          <a:ea typeface="+mn-lt"/>
          <a:cs typeface="+mn-lt"/>
        </a:defRPr>
      </a:lvl7pPr>
      <a:lvl8pPr marL="3429000" indent="-228600" algn="l" defTabSz="457200">
        <a:spcBef>
          <a:spcPct val="20000"/>
        </a:spcBef>
        <a:buFont typeface="Arial"/>
        <a:buChar char="•"/>
        <a:defRPr sz="2000" kern="1200">
          <a:solidFill>
            <a:schemeClr val="tx1"/>
          </a:solidFill>
          <a:latin typeface="+mn-lt"/>
          <a:ea typeface="+mn-lt"/>
          <a:cs typeface="+mn-lt"/>
        </a:defRPr>
      </a:lvl8pPr>
      <a:lvl9pPr marL="3886200" indent="-228600" algn="l" defTabSz="457200">
        <a:spcBef>
          <a:spcPct val="20000"/>
        </a:spcBef>
        <a:buFont typeface="Arial"/>
        <a:buChar char="•"/>
        <a:defRPr sz="2000" kern="1200">
          <a:solidFill>
            <a:schemeClr val="tx1"/>
          </a:solidFill>
          <a:latin typeface="+mn-lt"/>
          <a:ea typeface="+mn-lt"/>
          <a:cs typeface="+mn-lt"/>
        </a:defRPr>
      </a:lvl9pPr>
    </p:bodyStyle>
    <p:otherStyle>
      <a:lvl1pPr marL="0" algn="l" defTabSz="457200">
        <a:buNone/>
        <a:defRPr sz="1800" kern="1200">
          <a:solidFill>
            <a:schemeClr val="tx1"/>
          </a:solidFill>
          <a:latin typeface="+mn-lt"/>
          <a:ea typeface="+mn-lt"/>
          <a:cs typeface="+mn-lt"/>
        </a:defRPr>
      </a:lvl1pPr>
      <a:lvl2pPr marL="457200" algn="l" defTabSz="457200">
        <a:buNone/>
        <a:defRPr sz="1800" kern="1200">
          <a:solidFill>
            <a:schemeClr val="tx1"/>
          </a:solidFill>
          <a:latin typeface="+mn-lt"/>
          <a:ea typeface="+mn-lt"/>
          <a:cs typeface="+mn-lt"/>
        </a:defRPr>
      </a:lvl2pPr>
      <a:lvl3pPr marL="914400" algn="l" defTabSz="457200">
        <a:buNone/>
        <a:defRPr sz="1800" kern="1200">
          <a:solidFill>
            <a:schemeClr val="tx1"/>
          </a:solidFill>
          <a:latin typeface="+mn-lt"/>
          <a:ea typeface="+mn-lt"/>
          <a:cs typeface="+mn-lt"/>
        </a:defRPr>
      </a:lvl3pPr>
      <a:lvl4pPr marL="1371600" algn="l" defTabSz="457200">
        <a:buNone/>
        <a:defRPr sz="1800" kern="1200">
          <a:solidFill>
            <a:schemeClr val="tx1"/>
          </a:solidFill>
          <a:latin typeface="+mn-lt"/>
          <a:ea typeface="+mn-lt"/>
          <a:cs typeface="+mn-lt"/>
        </a:defRPr>
      </a:lvl4pPr>
      <a:lvl5pPr marL="1828800" algn="l" defTabSz="457200">
        <a:buNone/>
        <a:defRPr sz="1800" kern="1200">
          <a:solidFill>
            <a:schemeClr val="tx1"/>
          </a:solidFill>
          <a:latin typeface="+mn-lt"/>
          <a:ea typeface="+mn-lt"/>
          <a:cs typeface="+mn-lt"/>
        </a:defRPr>
      </a:lvl5pPr>
      <a:lvl6pPr marL="2286000" algn="l" defTabSz="457200">
        <a:buNone/>
        <a:defRPr sz="1800" kern="1200">
          <a:solidFill>
            <a:schemeClr val="tx1"/>
          </a:solidFill>
          <a:latin typeface="+mn-lt"/>
          <a:ea typeface="+mn-lt"/>
          <a:cs typeface="+mn-lt"/>
        </a:defRPr>
      </a:lvl6pPr>
      <a:lvl7pPr marL="2743200" algn="l" defTabSz="457200">
        <a:buNone/>
        <a:defRPr sz="1800" kern="1200">
          <a:solidFill>
            <a:schemeClr val="tx1"/>
          </a:solidFill>
          <a:latin typeface="+mn-lt"/>
          <a:ea typeface="+mn-lt"/>
          <a:cs typeface="+mn-lt"/>
        </a:defRPr>
      </a:lvl7pPr>
      <a:lvl8pPr marL="3200400" algn="l" defTabSz="457200">
        <a:buNone/>
        <a:defRPr sz="1800" kern="1200">
          <a:solidFill>
            <a:schemeClr val="tx1"/>
          </a:solidFill>
          <a:latin typeface="+mn-lt"/>
          <a:ea typeface="+mn-lt"/>
          <a:cs typeface="+mn-lt"/>
        </a:defRPr>
      </a:lvl8pPr>
      <a:lvl9pPr marL="3657600" algn="l" defTabSz="4572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0.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1.xml"/><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2.xml"/><Relationship Id="rId1" Type="http://schemas.openxmlformats.org/officeDocument/2006/relationships/slideLayout" Target="../slideLayouts/slideLayout3.xml"/><Relationship Id="rId4" Type="http://schemas.openxmlformats.org/officeDocument/2006/relationships/image" Target="../media/image7.png"/></Relationships>
</file>

<file path=ppt/slides/_rels/slide2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7.xml"/><Relationship Id="rId1" Type="http://schemas.openxmlformats.org/officeDocument/2006/relationships/slideLayout" Target="../slideLayouts/slideLayout8.xml"/><Relationship Id="rId4" Type="http://schemas.openxmlformats.org/officeDocument/2006/relationships/image" Target="../media/image13.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0" name="Bloque azul portada UC">
            <a:extLst>
              <a:ext uri="{FF2B5EF4-FFF2-40B4-BE49-F238E27FC236}">
                <a16:creationId xmlns:a16="http://schemas.microsoft.com/office/drawing/2014/main" id="{DE011A74-7393-4A26-AB42-FCC865BC9F82}"/>
              </a:ext>
            </a:extLst>
          </p:cNvPr>
          <p:cNvSpPr>
            <a:spLocks noGrp="1"/>
          </p:cNvSpPr>
          <p:nvPr/>
        </p:nvSpPr>
        <p:spPr>
          <a:xfrm>
            <a:off x="3100137" y="1"/>
            <a:ext cx="6043863" cy="1123125"/>
          </a:xfrm>
          <a:prstGeom prst="rect">
            <a:avLst/>
          </a:prstGeom>
          <a:solidFill>
            <a:srgbClr val="017EDF"/>
          </a:solidFill>
          <a:ln>
            <a:noFill/>
          </a:ln>
        </p:spPr>
        <p:txBody>
          <a:bodyPr wrap="square" lIns="0" tIns="0" rIns="0" bIns="0" anchor="ctr">
            <a:noAutofit/>
          </a:bodyPr>
          <a:lstStyle/>
          <a:p>
            <a:pPr algn="l">
              <a:spcAft>
                <a:spcPts val="0"/>
              </a:spcAft>
              <a:buNone/>
            </a:pPr>
            <a:endParaRPr/>
          </a:p>
        </p:txBody>
      </p:sp>
      <p:sp>
        <p:nvSpPr>
          <p:cNvPr id="3" name="Subtítulo 2">
            <a:extLst>
              <a:ext uri="{FF2B5EF4-FFF2-40B4-BE49-F238E27FC236}">
                <a16:creationId xmlns:a16="http://schemas.microsoft.com/office/drawing/2014/main" id="{1A0DB7A2-67DF-4213-825C-57104E35EBA7}"/>
              </a:ext>
            </a:extLst>
          </p:cNvPr>
          <p:cNvSpPr>
            <a:spLocks noGrp="1"/>
          </p:cNvSpPr>
          <p:nvPr>
            <p:ph type="subTitle" idx="1"/>
          </p:nvPr>
        </p:nvSpPr>
        <p:spPr>
          <a:xfrm>
            <a:off x="612648" y="2761488"/>
            <a:ext cx="7772400" cy="1097280"/>
          </a:xfrm>
        </p:spPr>
        <p:txBody>
          <a:bodyPr wrap="square" anchor="t">
            <a:noAutofit/>
          </a:bodyPr>
          <a:lstStyle/>
          <a:p>
            <a:pPr algn="l">
              <a:spcBef>
                <a:spcPts val="0"/>
              </a:spcBef>
              <a:spcAft>
                <a:spcPts val="0"/>
              </a:spcAft>
              <a:buNone/>
              <a:defRPr sz="1650" b="0">
                <a:solidFill>
                  <a:srgbClr val="17375D"/>
                </a:solidFill>
                <a:latin typeface="Calibri"/>
                <a:ea typeface="Calibri"/>
                <a:cs typeface="Calibri"/>
              </a:defRPr>
            </a:pPr>
            <a:r>
              <a:rPr sz="1650" b="0">
                <a:solidFill>
                  <a:srgbClr val="17375D"/>
                </a:solidFill>
                <a:latin typeface="Calibri"/>
                <a:ea typeface="Calibri"/>
                <a:cs typeface="Calibri"/>
              </a:rPr>
              <a:t>Propuesta metodológica y resultados descriptivos</a:t>
            </a:r>
          </a:p>
          <a:p>
            <a:pPr algn="l">
              <a:spcBef>
                <a:spcPts val="0"/>
              </a:spcBef>
              <a:spcAft>
                <a:spcPts val="0"/>
              </a:spcAft>
              <a:buNone/>
              <a:defRPr sz="1650" b="0">
                <a:solidFill>
                  <a:srgbClr val="17375D"/>
                </a:solidFill>
                <a:latin typeface="Calibri"/>
                <a:ea typeface="Calibri"/>
                <a:cs typeface="Calibri"/>
              </a:defRPr>
            </a:pPr>
            <a:r>
              <a:rPr sz="1650" b="0">
                <a:solidFill>
                  <a:srgbClr val="17375D"/>
                </a:solidFill>
                <a:latin typeface="Calibri"/>
                <a:ea typeface="Calibri"/>
                <a:cs typeface="Calibri"/>
              </a:rPr>
              <a:t>Integración de fuentes, cobertura y calidad de los datos</a:t>
            </a:r>
          </a:p>
        </p:txBody>
      </p:sp>
      <p:sp>
        <p:nvSpPr>
          <p:cNvPr id="4" name="Título 1">
            <a:extLst>
              <a:ext uri="{FF2B5EF4-FFF2-40B4-BE49-F238E27FC236}">
                <a16:creationId xmlns:a16="http://schemas.microsoft.com/office/drawing/2014/main" id="{5CDD2C26-831A-4057-A94A-55343BEB0C4C}"/>
              </a:ext>
            </a:extLst>
          </p:cNvPr>
          <p:cNvSpPr>
            <a:spLocks noGrp="1"/>
          </p:cNvSpPr>
          <p:nvPr>
            <p:ph type="ctrTitle"/>
          </p:nvPr>
        </p:nvSpPr>
        <p:spPr>
          <a:xfrm>
            <a:off x="614967" y="1538445"/>
            <a:ext cx="7772400" cy="1101725"/>
          </a:xfrm>
        </p:spPr>
        <p:txBody>
          <a:bodyPr wrap="square" anchor="ctr">
            <a:noAutofit/>
          </a:bodyPr>
          <a:lstStyle/>
          <a:p>
            <a:pPr algn="l">
              <a:spcBef>
                <a:spcPts val="0"/>
              </a:spcBef>
              <a:spcAft>
                <a:spcPts val="0"/>
              </a:spcAft>
              <a:buNone/>
              <a:defRPr sz="2550" b="1">
                <a:solidFill>
                  <a:srgbClr val="17375D"/>
                </a:solidFill>
                <a:latin typeface="Calibri"/>
                <a:ea typeface="Calibri"/>
                <a:cs typeface="Calibri"/>
              </a:defRPr>
            </a:pPr>
            <a:r>
              <a:rPr sz="2550" b="1">
                <a:solidFill>
                  <a:srgbClr val="17375D"/>
                </a:solidFill>
                <a:latin typeface="Calibri"/>
                <a:ea typeface="Calibri"/>
                <a:cs typeface="Calibri"/>
              </a:rPr>
              <a:t>Estimación multicontaminante</a:t>
            </a:r>
          </a:p>
          <a:p>
            <a:pPr algn="l">
              <a:spcBef>
                <a:spcPts val="0"/>
              </a:spcBef>
              <a:spcAft>
                <a:spcPts val="0"/>
              </a:spcAft>
              <a:buNone/>
              <a:defRPr sz="2550" b="1">
                <a:solidFill>
                  <a:srgbClr val="17375D"/>
                </a:solidFill>
                <a:latin typeface="Calibri"/>
                <a:ea typeface="Calibri"/>
                <a:cs typeface="Calibri"/>
              </a:defRPr>
            </a:pPr>
            <a:r>
              <a:rPr sz="2550" b="1">
                <a:solidFill>
                  <a:srgbClr val="17375D"/>
                </a:solidFill>
                <a:latin typeface="Calibri"/>
                <a:ea typeface="Calibri"/>
                <a:cs typeface="Calibri"/>
              </a:rPr>
              <a:t>de la calidad del aire en Chile</a:t>
            </a:r>
          </a:p>
        </p:txBody>
      </p:sp>
      <p:sp>
        <p:nvSpPr>
          <p:cNvPr id="5" name="TextBox 4">
            <a:extLst>
              <a:ext uri="{FF2B5EF4-FFF2-40B4-BE49-F238E27FC236}">
                <a16:creationId xmlns:a16="http://schemas.microsoft.com/office/drawing/2014/main" id="{2C7FCD11-E193-40E2-8612-2FD54FE25314}"/>
              </a:ext>
            </a:extLst>
          </p:cNvPr>
          <p:cNvSpPr>
            <a:spLocks noGrp="1"/>
          </p:cNvSpPr>
          <p:nvPr/>
        </p:nvSpPr>
        <p:spPr>
          <a:xfrm>
            <a:off x="612648" y="1188720"/>
            <a:ext cx="7772400" cy="548640"/>
          </a:xfrm>
          <a:prstGeom prst="rect">
            <a:avLst/>
          </a:prstGeom>
          <a:noFill/>
        </p:spPr>
        <p:txBody>
          <a:bodyPr wrap="square" lIns="0" tIns="0" rIns="0" bIns="0" anchor="t">
            <a:noAutofit/>
          </a:bodyPr>
          <a:lstStyle/>
          <a:p>
            <a:pPr>
              <a:spcBef>
                <a:spcPts val="0"/>
              </a:spcBef>
              <a:spcAft>
                <a:spcPts val="0"/>
              </a:spcAft>
              <a:buNone/>
              <a:defRPr sz="975" b="1">
                <a:solidFill>
                  <a:srgbClr val="17375D"/>
                </a:solidFill>
                <a:latin typeface="Calibri"/>
                <a:ea typeface="Calibri"/>
                <a:cs typeface="Calibri"/>
              </a:defRPr>
            </a:pPr>
            <a:r>
              <a:rPr sz="975" b="1">
                <a:solidFill>
                  <a:srgbClr val="17375D"/>
                </a:solidFill>
                <a:latin typeface="Calibri"/>
                <a:ea typeface="Calibri"/>
                <a:cs typeface="Calibri"/>
              </a:rPr>
              <a:t>ACTIVIDAD FINAL DE GRADUACIÓN 1 · MDS3050 · PRESENTACIÓN FINAL</a:t>
            </a:r>
          </a:p>
        </p:txBody>
      </p:sp>
      <p:sp>
        <p:nvSpPr>
          <p:cNvPr id="6" name="Rounded Rectangle 5">
            <a:extLst>
              <a:ext uri="{FF2B5EF4-FFF2-40B4-BE49-F238E27FC236}">
                <a16:creationId xmlns:a16="http://schemas.microsoft.com/office/drawing/2014/main" id="{62CD7E53-106E-4F63-98B8-82FEC5B1556D}"/>
              </a:ext>
            </a:extLst>
          </p:cNvPr>
          <p:cNvSpPr>
            <a:spLocks noGrp="1"/>
          </p:cNvSpPr>
          <p:nvPr/>
        </p:nvSpPr>
        <p:spPr>
          <a:xfrm>
            <a:off x="612648" y="3950208"/>
            <a:ext cx="1883664" cy="402336"/>
          </a:xfrm>
          <a:prstGeom prst="roundRect">
            <a:avLst>
              <a:gd name="adj" fmla="val 18000"/>
            </a:avLst>
          </a:prstGeom>
          <a:solidFill>
            <a:srgbClr val="EAF2FD"/>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67CEBDA8-F95B-4413-88D4-7F98BE3865C0}"/>
              </a:ext>
            </a:extLst>
          </p:cNvPr>
          <p:cNvSpPr>
            <a:spLocks noGrp="1"/>
          </p:cNvSpPr>
          <p:nvPr/>
        </p:nvSpPr>
        <p:spPr>
          <a:xfrm>
            <a:off x="685800" y="3950208"/>
            <a:ext cx="1737360" cy="402336"/>
          </a:xfrm>
          <a:prstGeom prst="rect">
            <a:avLst/>
          </a:prstGeom>
          <a:noFill/>
        </p:spPr>
        <p:txBody>
          <a:bodyPr wrap="square" lIns="0" tIns="0" rIns="0" bIns="0" anchor="ctr">
            <a:spAutoFit/>
          </a:bodyPr>
          <a:lstStyle/>
          <a:p>
            <a:pPr algn="ctr">
              <a:buNone/>
            </a:pPr>
            <a:r>
              <a:rPr sz="819" b="1" i="0">
                <a:solidFill>
                  <a:srgbClr val="17375D"/>
                </a:solidFill>
                <a:latin typeface="Calibri"/>
                <a:ea typeface="Calibri"/>
                <a:cs typeface="Calibri"/>
              </a:rPr>
              <a:t>José Jesús Romero Fuenmayor</a:t>
            </a:r>
          </a:p>
        </p:txBody>
      </p:sp>
      <p:sp>
        <p:nvSpPr>
          <p:cNvPr id="8" name="Rounded Rectangle 7">
            <a:extLst>
              <a:ext uri="{FF2B5EF4-FFF2-40B4-BE49-F238E27FC236}">
                <a16:creationId xmlns:a16="http://schemas.microsoft.com/office/drawing/2014/main" id="{20944935-B0E5-406D-94F8-6DBDD9666995}"/>
              </a:ext>
            </a:extLst>
          </p:cNvPr>
          <p:cNvSpPr>
            <a:spLocks noGrp="1"/>
          </p:cNvSpPr>
          <p:nvPr/>
        </p:nvSpPr>
        <p:spPr>
          <a:xfrm>
            <a:off x="2624328" y="3950208"/>
            <a:ext cx="1883664" cy="402336"/>
          </a:xfrm>
          <a:prstGeom prst="roundRect">
            <a:avLst>
              <a:gd name="adj" fmla="val 18000"/>
            </a:avLst>
          </a:prstGeom>
          <a:solidFill>
            <a:srgbClr val="EAF2FD"/>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30DCA92C-4011-4AA9-8A97-289D4C5D7232}"/>
              </a:ext>
            </a:extLst>
          </p:cNvPr>
          <p:cNvSpPr>
            <a:spLocks noGrp="1"/>
          </p:cNvSpPr>
          <p:nvPr/>
        </p:nvSpPr>
        <p:spPr>
          <a:xfrm>
            <a:off x="2697480" y="3950208"/>
            <a:ext cx="1737360" cy="402336"/>
          </a:xfrm>
          <a:prstGeom prst="rect">
            <a:avLst/>
          </a:prstGeom>
          <a:noFill/>
        </p:spPr>
        <p:txBody>
          <a:bodyPr wrap="square" lIns="0" tIns="0" rIns="0" bIns="0" anchor="ctr">
            <a:spAutoFit/>
          </a:bodyPr>
          <a:lstStyle/>
          <a:p>
            <a:pPr algn="ctr">
              <a:buNone/>
            </a:pPr>
            <a:r>
              <a:rPr sz="819" b="1" i="0">
                <a:solidFill>
                  <a:srgbClr val="17375D"/>
                </a:solidFill>
                <a:latin typeface="Calibri"/>
                <a:ea typeface="Calibri"/>
                <a:cs typeface="Calibri"/>
              </a:rPr>
              <a:t>Roberto Ignacio Ávila Escobar</a:t>
            </a:r>
          </a:p>
        </p:txBody>
      </p:sp>
      <p:sp>
        <p:nvSpPr>
          <p:cNvPr id="10" name="Rounded Rectangle 9">
            <a:extLst>
              <a:ext uri="{FF2B5EF4-FFF2-40B4-BE49-F238E27FC236}">
                <a16:creationId xmlns:a16="http://schemas.microsoft.com/office/drawing/2014/main" id="{045B74AC-0432-4A80-ABE8-182ADFC58378}"/>
              </a:ext>
            </a:extLst>
          </p:cNvPr>
          <p:cNvSpPr>
            <a:spLocks noGrp="1"/>
          </p:cNvSpPr>
          <p:nvPr/>
        </p:nvSpPr>
        <p:spPr>
          <a:xfrm>
            <a:off x="4636008" y="3950208"/>
            <a:ext cx="1883664" cy="402336"/>
          </a:xfrm>
          <a:prstGeom prst="roundRect">
            <a:avLst>
              <a:gd name="adj" fmla="val 18000"/>
            </a:avLst>
          </a:prstGeom>
          <a:solidFill>
            <a:srgbClr val="EAF2FD"/>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8F67EDBD-5557-4635-B18F-67069BDB6F30}"/>
              </a:ext>
            </a:extLst>
          </p:cNvPr>
          <p:cNvSpPr>
            <a:spLocks noGrp="1"/>
          </p:cNvSpPr>
          <p:nvPr/>
        </p:nvSpPr>
        <p:spPr>
          <a:xfrm>
            <a:off x="4709160" y="3950208"/>
            <a:ext cx="1737360" cy="402336"/>
          </a:xfrm>
          <a:prstGeom prst="rect">
            <a:avLst/>
          </a:prstGeom>
          <a:noFill/>
        </p:spPr>
        <p:txBody>
          <a:bodyPr wrap="square" lIns="0" tIns="0" rIns="0" bIns="0" anchor="ctr">
            <a:spAutoFit/>
          </a:bodyPr>
          <a:lstStyle/>
          <a:p>
            <a:pPr algn="ctr">
              <a:buNone/>
            </a:pPr>
            <a:r>
              <a:rPr sz="819" b="1" i="0">
                <a:solidFill>
                  <a:srgbClr val="17375D"/>
                </a:solidFill>
                <a:latin typeface="Calibri"/>
                <a:ea typeface="Calibri"/>
                <a:cs typeface="Calibri"/>
              </a:rPr>
              <a:t>Amaru Simón Agüero Jiménez</a:t>
            </a:r>
          </a:p>
        </p:txBody>
      </p:sp>
      <p:sp>
        <p:nvSpPr>
          <p:cNvPr id="12" name="Rounded Rectangle 11">
            <a:extLst>
              <a:ext uri="{FF2B5EF4-FFF2-40B4-BE49-F238E27FC236}">
                <a16:creationId xmlns:a16="http://schemas.microsoft.com/office/drawing/2014/main" id="{EC704E1F-C163-4F44-B088-D4753A9F60D2}"/>
              </a:ext>
            </a:extLst>
          </p:cNvPr>
          <p:cNvSpPr>
            <a:spLocks noGrp="1"/>
          </p:cNvSpPr>
          <p:nvPr/>
        </p:nvSpPr>
        <p:spPr>
          <a:xfrm>
            <a:off x="6647688" y="3950208"/>
            <a:ext cx="1883664" cy="402336"/>
          </a:xfrm>
          <a:prstGeom prst="roundRect">
            <a:avLst>
              <a:gd name="adj" fmla="val 18000"/>
            </a:avLst>
          </a:prstGeom>
          <a:solidFill>
            <a:srgbClr val="EAF2FD"/>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7C303554-E3B7-40ED-AB03-B3182BF040CE}"/>
              </a:ext>
            </a:extLst>
          </p:cNvPr>
          <p:cNvSpPr>
            <a:spLocks noGrp="1"/>
          </p:cNvSpPr>
          <p:nvPr/>
        </p:nvSpPr>
        <p:spPr>
          <a:xfrm>
            <a:off x="6720840" y="3950208"/>
            <a:ext cx="1737360" cy="402336"/>
          </a:xfrm>
          <a:prstGeom prst="rect">
            <a:avLst/>
          </a:prstGeom>
          <a:noFill/>
        </p:spPr>
        <p:txBody>
          <a:bodyPr wrap="square" lIns="0" tIns="0" rIns="0" bIns="0" anchor="ctr">
            <a:spAutoFit/>
          </a:bodyPr>
          <a:lstStyle/>
          <a:p>
            <a:pPr algn="ctr">
              <a:buNone/>
            </a:pPr>
            <a:r>
              <a:rPr sz="819" b="1" i="0">
                <a:solidFill>
                  <a:srgbClr val="17375D"/>
                </a:solidFill>
                <a:latin typeface="Calibri"/>
                <a:ea typeface="Calibri"/>
                <a:cs typeface="Calibri"/>
              </a:rPr>
              <a:t>Esteban Adolfo González Rodríguez</a:t>
            </a:r>
          </a:p>
        </p:txBody>
      </p:sp>
      <p:sp>
        <p:nvSpPr>
          <p:cNvPr id="14" name="TextBox 13">
            <a:extLst>
              <a:ext uri="{FF2B5EF4-FFF2-40B4-BE49-F238E27FC236}">
                <a16:creationId xmlns:a16="http://schemas.microsoft.com/office/drawing/2014/main" id="{28706D8F-E7A0-425C-B1FD-A417AEF4FFB8}"/>
              </a:ext>
            </a:extLst>
          </p:cNvPr>
          <p:cNvSpPr>
            <a:spLocks noGrp="1"/>
          </p:cNvSpPr>
          <p:nvPr/>
        </p:nvSpPr>
        <p:spPr>
          <a:xfrm>
            <a:off x="612648" y="4462272"/>
            <a:ext cx="7772400" cy="274320"/>
          </a:xfrm>
          <a:prstGeom prst="rect">
            <a:avLst/>
          </a:prstGeom>
          <a:noFill/>
        </p:spPr>
        <p:txBody>
          <a:bodyPr wrap="square" lIns="0" tIns="0" rIns="0" bIns="0" anchor="t">
            <a:noAutofit/>
          </a:bodyPr>
          <a:lstStyle/>
          <a:p>
            <a:pPr>
              <a:spcBef>
                <a:spcPts val="0"/>
              </a:spcBef>
              <a:spcAft>
                <a:spcPts val="0"/>
              </a:spcAft>
              <a:buNone/>
              <a:defRPr sz="1125" b="0">
                <a:solidFill>
                  <a:srgbClr val="17375D"/>
                </a:solidFill>
                <a:latin typeface="Calibri"/>
                <a:ea typeface="Calibri"/>
                <a:cs typeface="Calibri"/>
              </a:defRPr>
            </a:pPr>
            <a:r>
              <a:rPr sz="1125" b="0">
                <a:solidFill>
                  <a:srgbClr val="17375D"/>
                </a:solidFill>
                <a:latin typeface="Calibri"/>
                <a:ea typeface="Calibri"/>
                <a:cs typeface="Calibri"/>
              </a:rPr>
              <a:t>Equipo 2 · 27 de septiembre de 2026</a:t>
            </a:r>
          </a:p>
        </p:txBody>
      </p:sp>
    </p:spTree>
    <p:extLst>
      <p:ext uri="{BB962C8B-B14F-4D97-AF65-F5344CB8AC3E}">
        <p14:creationId xmlns:p14="http://schemas.microsoft.com/office/powerpoint/2010/main" val="41206953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abecera azul UC">
            <a:extLst>
              <a:ext uri="{FF2B5EF4-FFF2-40B4-BE49-F238E27FC236}">
                <a16:creationId xmlns:a16="http://schemas.microsoft.com/office/drawing/2014/main" id="{3486DB9C-93DE-456A-BF48-2757BBD61ACE}"/>
              </a:ext>
            </a:extLst>
          </p:cNvPr>
          <p:cNvSpPr>
            <a:spLocks noGrp="1"/>
          </p:cNvSpPr>
          <p:nvPr/>
        </p:nvSpPr>
        <p:spPr>
          <a:xfrm>
            <a:off x="158742" y="0"/>
            <a:ext cx="8985258" cy="1007195"/>
          </a:xfrm>
          <a:prstGeom prst="rect">
            <a:avLst/>
          </a:prstGeom>
          <a:solidFill>
            <a:srgbClr val="017EDF"/>
          </a:solidFill>
          <a:ln>
            <a:noFill/>
          </a:ln>
        </p:spPr>
        <p:txBody>
          <a:bodyPr/>
          <a:lstStyle/>
          <a:p>
            <a:endParaRPr lang="es-CL"/>
          </a:p>
        </p:txBody>
      </p:sp>
      <p:sp>
        <p:nvSpPr>
          <p:cNvPr id="4" name="Rectángulo 9">
            <a:extLst>
              <a:ext uri="{FF2B5EF4-FFF2-40B4-BE49-F238E27FC236}">
                <a16:creationId xmlns:a16="http://schemas.microsoft.com/office/drawing/2014/main" id="{2DE33766-2918-41FC-A1B9-B4BF483C8974}"/>
              </a:ext>
            </a:extLst>
          </p:cNvPr>
          <p:cNvSpPr>
            <a:spLocks noGrp="1"/>
          </p:cNvSpPr>
          <p:nvPr/>
        </p:nvSpPr>
        <p:spPr>
          <a:xfrm>
            <a:off x="0" y="149945"/>
            <a:ext cx="158742" cy="857250"/>
          </a:xfrm>
          <a:prstGeom prst="rect">
            <a:avLst/>
          </a:prstGeom>
          <a:solidFill>
            <a:srgbClr val="FFE2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Rectángulo 7">
            <a:extLst>
              <a:ext uri="{FF2B5EF4-FFF2-40B4-BE49-F238E27FC236}">
                <a16:creationId xmlns:a16="http://schemas.microsoft.com/office/drawing/2014/main" id="{3BCD4458-45E8-4C73-A3B6-249CEEFBDB7B}"/>
              </a:ext>
            </a:extLst>
          </p:cNvPr>
          <p:cNvSpPr>
            <a:spLocks noGrp="1"/>
          </p:cNvSpPr>
          <p:nvPr/>
        </p:nvSpPr>
        <p:spPr>
          <a:xfrm flipV="1">
            <a:off x="169334" y="4871120"/>
            <a:ext cx="8815911" cy="177311"/>
          </a:xfrm>
          <a:prstGeom prst="rect">
            <a:avLst/>
          </a:prstGeom>
          <a:solidFill>
            <a:schemeClr val="bg1">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Rectángulo 10">
            <a:extLst>
              <a:ext uri="{FF2B5EF4-FFF2-40B4-BE49-F238E27FC236}">
                <a16:creationId xmlns:a16="http://schemas.microsoft.com/office/drawing/2014/main" id="{A18DC9E6-BD6D-4FE1-AEC0-9715BEE3912A}"/>
              </a:ext>
            </a:extLst>
          </p:cNvPr>
          <p:cNvSpPr>
            <a:spLocks noGrp="1"/>
          </p:cNvSpPr>
          <p:nvPr/>
        </p:nvSpPr>
        <p:spPr>
          <a:xfrm flipV="1">
            <a:off x="7200957" y="4871118"/>
            <a:ext cx="1119038" cy="177313"/>
          </a:xfrm>
          <a:prstGeom prst="rect">
            <a:avLst/>
          </a:prstGeom>
          <a:solidFill>
            <a:srgbClr val="3366CC"/>
          </a:solidFill>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ítulo 1">
            <a:extLst>
              <a:ext uri="{FF2B5EF4-FFF2-40B4-BE49-F238E27FC236}">
                <a16:creationId xmlns:a16="http://schemas.microsoft.com/office/drawing/2014/main" id="{438D0FA2-1899-4EDF-9FA4-D1742768DFC6}"/>
              </a:ext>
            </a:extLst>
          </p:cNvPr>
          <p:cNvSpPr>
            <a:spLocks noGrp="1"/>
          </p:cNvSpPr>
          <p:nvPr>
            <p:ph type="title"/>
          </p:nvPr>
        </p:nvSpPr>
        <p:spPr>
          <a:xfrm>
            <a:off x="457200" y="149945"/>
            <a:ext cx="8229600" cy="857250"/>
          </a:xfrm>
        </p:spPr>
        <p:txBody>
          <a:bodyPr wrap="square" anchor="ctr">
            <a:noAutofit/>
          </a:bodyPr>
          <a:lstStyle/>
          <a:p>
            <a:pPr algn="l">
              <a:spcBef>
                <a:spcPts val="0"/>
              </a:spcBef>
              <a:spcAft>
                <a:spcPts val="0"/>
              </a:spcAft>
              <a:defRPr sz="1900" b="1">
                <a:solidFill>
                  <a:srgbClr val="FFFFFF"/>
                </a:solidFill>
                <a:latin typeface="Calibri"/>
                <a:ea typeface="Calibri"/>
                <a:cs typeface="Calibri"/>
              </a:defRPr>
            </a:pPr>
            <a:r>
              <a:rPr sz="1900" b="1">
                <a:solidFill>
                  <a:srgbClr val="FFFFFF"/>
                </a:solidFill>
                <a:latin typeface="Calibri"/>
                <a:ea typeface="Calibri"/>
                <a:cs typeface="Calibri"/>
              </a:rPr>
              <a:t>Introducción: calidad del aire y monitoreo en Chile</a:t>
            </a:r>
          </a:p>
        </p:txBody>
      </p:sp>
      <p:pic>
        <p:nvPicPr>
          <p:cNvPr id="24" name="grilla_macrozonas.png" descr="Mapa original del HTML: Chile continental, macrozonas y localización de estaciones SINCA del catálogo geográfico"/>
          <p:cNvPicPr>
            <a:picLocks noChangeAspect="1"/>
          </p:cNvPicPr>
          <p:nvPr/>
        </p:nvPicPr>
        <p:blipFill>
          <a:blip r:embed="rId3"/>
          <a:srcRect r="39800"/>
          <a:stretch>
            <a:fillRect/>
          </a:stretch>
        </p:blipFill>
        <p:spPr>
          <a:xfrm>
            <a:off x="793059" y="1133475"/>
            <a:ext cx="899906" cy="3381375"/>
          </a:xfrm>
          <a:prstGeom prst="rect">
            <a:avLst/>
          </a:prstGeom>
        </p:spPr>
      </p:pic>
      <p:pic>
        <p:nvPicPr>
          <p:cNvPr id="25" name="grilla_macrozonas.png" descr="Leyenda original ampliada del mapa: estaciones SINCA y macrozonas de Chile"/>
          <p:cNvPicPr>
            <a:picLocks noChangeAspect="1"/>
          </p:cNvPicPr>
          <p:nvPr/>
        </p:nvPicPr>
        <p:blipFill>
          <a:blip r:embed="rId3"/>
          <a:srcRect l="61600" t="707" b="80460"/>
          <a:stretch>
            <a:fillRect/>
          </a:stretch>
        </p:blipFill>
        <p:spPr>
          <a:xfrm>
            <a:off x="1857375" y="1418630"/>
            <a:ext cx="1143000" cy="1268016"/>
          </a:xfrm>
          <a:prstGeom prst="rect">
            <a:avLst/>
          </a:prstGeom>
        </p:spPr>
      </p:pic>
      <p:sp>
        <p:nvSpPr>
          <p:cNvPr id="10" name="Problema encabezado">
            <a:extLst>
              <a:ext uri="{FF2B5EF4-FFF2-40B4-BE49-F238E27FC236}">
                <a16:creationId xmlns:a16="http://schemas.microsoft.com/office/drawing/2014/main" id="{90C78671-867A-41AA-90DE-6806073B3083}"/>
              </a:ext>
            </a:extLst>
          </p:cNvPr>
          <p:cNvSpPr>
            <a:spLocks noGrp="1"/>
          </p:cNvSpPr>
          <p:nvPr/>
        </p:nvSpPr>
        <p:spPr>
          <a:xfrm>
            <a:off x="3105150" y="1257300"/>
            <a:ext cx="5276850" cy="342900"/>
          </a:xfrm>
          <a:prstGeom prst="rect">
            <a:avLst/>
          </a:prstGeom>
          <a:noFill/>
          <a:ln w="0">
            <a:noFill/>
          </a:ln>
        </p:spPr>
        <p:txBody>
          <a:bodyPr wrap="square" lIns="0" tIns="0" rIns="0" bIns="0" anchor="t">
            <a:noAutofit/>
          </a:bodyPr>
          <a:lstStyle/>
          <a:p>
            <a:pPr algn="l">
              <a:buNone/>
              <a:defRPr sz="2025" b="1">
                <a:solidFill>
                  <a:srgbClr val="17375D"/>
                </a:solidFill>
                <a:latin typeface="Calibri"/>
                <a:ea typeface="Calibri"/>
                <a:cs typeface="Calibri"/>
              </a:defRPr>
            </a:pPr>
            <a:r>
              <a:rPr sz="2025" b="1">
                <a:solidFill>
                  <a:srgbClr val="17375D"/>
                </a:solidFill>
                <a:latin typeface="Calibri"/>
                <a:ea typeface="Calibri"/>
                <a:cs typeface="Calibri"/>
              </a:rPr>
              <a:t>La medición es puntual</a:t>
            </a:r>
          </a:p>
        </p:txBody>
      </p:sp>
      <p:sp>
        <p:nvSpPr>
          <p:cNvPr id="11" name="Problema">
            <a:extLst>
              <a:ext uri="{FF2B5EF4-FFF2-40B4-BE49-F238E27FC236}">
                <a16:creationId xmlns:a16="http://schemas.microsoft.com/office/drawing/2014/main" id="{2DA605C1-0A73-4880-8CA5-E5E2BDD23360}"/>
              </a:ext>
            </a:extLst>
          </p:cNvPr>
          <p:cNvSpPr>
            <a:spLocks noGrp="1"/>
          </p:cNvSpPr>
          <p:nvPr/>
        </p:nvSpPr>
        <p:spPr>
          <a:xfrm>
            <a:off x="3105150" y="1695450"/>
            <a:ext cx="5276850" cy="619125"/>
          </a:xfrm>
          <a:prstGeom prst="rect">
            <a:avLst/>
          </a:prstGeom>
          <a:noFill/>
          <a:ln w="0">
            <a:noFill/>
          </a:ln>
        </p:spPr>
        <p:txBody>
          <a:bodyPr wrap="square" lIns="0" tIns="0" rIns="0" bIns="0" anchor="t">
            <a:noAutofit/>
          </a:bodyPr>
          <a:lstStyle/>
          <a:p>
            <a:pPr algn="l">
              <a:spcBef>
                <a:spcPts val="0"/>
              </a:spcBef>
              <a:spcAft>
                <a:spcPts val="0"/>
              </a:spcAft>
              <a:defRPr sz="1500" b="0">
                <a:solidFill>
                  <a:srgbClr val="1E293B"/>
                </a:solidFill>
                <a:latin typeface="Calibri"/>
                <a:ea typeface="Calibri"/>
                <a:cs typeface="Calibri"/>
              </a:defRPr>
            </a:pPr>
            <a:r>
              <a:rPr sz="1500" b="0">
                <a:solidFill>
                  <a:srgbClr val="1E293B"/>
                </a:solidFill>
                <a:latin typeface="Calibri"/>
                <a:ea typeface="Calibri"/>
                <a:cs typeface="Calibri"/>
              </a:rPr>
              <a:t>SINCA, Sistema de Información Nacional de Calidad del Aire, reúne mediciones puntuales. Su distribución deja lugares sin observación directa.</a:t>
            </a:r>
          </a:p>
        </p:txBody>
      </p:sp>
      <p:sp>
        <p:nvSpPr>
          <p:cNvPr id="12" name="Brecha encabezado">
            <a:extLst>
              <a:ext uri="{FF2B5EF4-FFF2-40B4-BE49-F238E27FC236}">
                <a16:creationId xmlns:a16="http://schemas.microsoft.com/office/drawing/2014/main" id="{DA479FFE-7008-416E-8C3D-A17A223C5E62}"/>
              </a:ext>
            </a:extLst>
          </p:cNvPr>
          <p:cNvSpPr>
            <a:spLocks noGrp="1"/>
          </p:cNvSpPr>
          <p:nvPr/>
        </p:nvSpPr>
        <p:spPr>
          <a:xfrm>
            <a:off x="3105150" y="2514600"/>
            <a:ext cx="5276850" cy="333375"/>
          </a:xfrm>
          <a:prstGeom prst="rect">
            <a:avLst/>
          </a:prstGeom>
          <a:noFill/>
          <a:ln w="0">
            <a:noFill/>
          </a:ln>
        </p:spPr>
        <p:txBody>
          <a:bodyPr wrap="square" lIns="0" tIns="0" rIns="0" bIns="0" anchor="t">
            <a:noAutofit/>
          </a:bodyPr>
          <a:lstStyle/>
          <a:p>
            <a:pPr algn="l">
              <a:buNone/>
              <a:defRPr sz="1800" b="1">
                <a:solidFill>
                  <a:srgbClr val="17375D"/>
                </a:solidFill>
                <a:latin typeface="Calibri"/>
                <a:ea typeface="Calibri"/>
                <a:cs typeface="Calibri"/>
              </a:defRPr>
            </a:pPr>
            <a:r>
              <a:rPr sz="1800" b="1">
                <a:solidFill>
                  <a:srgbClr val="17375D"/>
                </a:solidFill>
                <a:latin typeface="Calibri"/>
                <a:ea typeface="Calibri"/>
                <a:cs typeface="Calibri"/>
              </a:rPr>
              <a:t>La cobertura varía en el territorio</a:t>
            </a:r>
          </a:p>
        </p:txBody>
      </p:sp>
      <p:sp>
        <p:nvSpPr>
          <p:cNvPr id="13" name="Brecha">
            <a:extLst>
              <a:ext uri="{FF2B5EF4-FFF2-40B4-BE49-F238E27FC236}">
                <a16:creationId xmlns:a16="http://schemas.microsoft.com/office/drawing/2014/main" id="{F0D209C0-3492-4B86-9F72-0D67FA9F234A}"/>
              </a:ext>
            </a:extLst>
          </p:cNvPr>
          <p:cNvSpPr>
            <a:spLocks noGrp="1"/>
          </p:cNvSpPr>
          <p:nvPr/>
        </p:nvSpPr>
        <p:spPr>
          <a:xfrm>
            <a:off x="3105150" y="2914650"/>
            <a:ext cx="5276850" cy="571500"/>
          </a:xfrm>
          <a:prstGeom prst="rect">
            <a:avLst/>
          </a:prstGeom>
          <a:noFill/>
          <a:ln w="0">
            <a:noFill/>
          </a:ln>
        </p:spPr>
        <p:txBody>
          <a:bodyPr wrap="square" lIns="0" tIns="0" rIns="0" bIns="0" anchor="t">
            <a:noAutofit/>
          </a:bodyPr>
          <a:lstStyle/>
          <a:p>
            <a:pPr algn="l">
              <a:buNone/>
              <a:defRPr sz="1650">
                <a:solidFill>
                  <a:srgbClr val="1E293B"/>
                </a:solidFill>
                <a:latin typeface="Calibri"/>
                <a:ea typeface="Calibri"/>
                <a:cs typeface="Calibri"/>
              </a:defRPr>
            </a:pPr>
            <a:r>
              <a:rPr sz="1650">
                <a:solidFill>
                  <a:srgbClr val="1E293B"/>
                </a:solidFill>
                <a:latin typeface="Calibri"/>
                <a:ea typeface="Calibri"/>
                <a:cs typeface="Calibri"/>
              </a:rPr>
              <a:t>El mapa sitúa los monitores del catálogo geográfico. Cada contaminante y período aporta un subconjunto distinto.</a:t>
            </a:r>
          </a:p>
        </p:txBody>
      </p:sp>
      <p:sp>
        <p:nvSpPr>
          <p:cNvPr id="14" name="Propuesta encabezado">
            <a:extLst>
              <a:ext uri="{FF2B5EF4-FFF2-40B4-BE49-F238E27FC236}">
                <a16:creationId xmlns:a16="http://schemas.microsoft.com/office/drawing/2014/main" id="{C0B26660-0216-4360-8A68-496382C7BB2F}"/>
              </a:ext>
            </a:extLst>
          </p:cNvPr>
          <p:cNvSpPr>
            <a:spLocks noGrp="1"/>
          </p:cNvSpPr>
          <p:nvPr/>
        </p:nvSpPr>
        <p:spPr>
          <a:xfrm>
            <a:off x="3105150" y="3705225"/>
            <a:ext cx="5276850" cy="285750"/>
          </a:xfrm>
          <a:prstGeom prst="rect">
            <a:avLst/>
          </a:prstGeom>
          <a:noFill/>
          <a:ln w="0">
            <a:noFill/>
          </a:ln>
        </p:spPr>
        <p:txBody>
          <a:bodyPr wrap="square" lIns="0" tIns="0" rIns="0" bIns="0" anchor="t">
            <a:noAutofit/>
          </a:bodyPr>
          <a:lstStyle/>
          <a:p>
            <a:pPr algn="l">
              <a:spcBef>
                <a:spcPts val="0"/>
              </a:spcBef>
              <a:spcAft>
                <a:spcPts val="0"/>
              </a:spcAft>
              <a:defRPr sz="1725" b="1">
                <a:solidFill>
                  <a:srgbClr val="17375D"/>
                </a:solidFill>
                <a:latin typeface="Calibri"/>
                <a:ea typeface="Calibri"/>
                <a:cs typeface="Calibri"/>
              </a:defRPr>
            </a:pPr>
            <a:r>
              <a:rPr sz="1725" b="1">
                <a:solidFill>
                  <a:srgbClr val="17375D"/>
                </a:solidFill>
                <a:latin typeface="Calibri"/>
                <a:ea typeface="Calibri"/>
                <a:cs typeface="Calibri"/>
              </a:rPr>
              <a:t>Utilidad del proyecto</a:t>
            </a:r>
          </a:p>
        </p:txBody>
      </p:sp>
      <p:sp>
        <p:nvSpPr>
          <p:cNvPr id="15" name="Propuesta">
            <a:extLst>
              <a:ext uri="{FF2B5EF4-FFF2-40B4-BE49-F238E27FC236}">
                <a16:creationId xmlns:a16="http://schemas.microsoft.com/office/drawing/2014/main" id="{B9C3CE1A-7EA0-42DB-8ABB-3395511A44F5}"/>
              </a:ext>
            </a:extLst>
          </p:cNvPr>
          <p:cNvSpPr>
            <a:spLocks noGrp="1"/>
          </p:cNvSpPr>
          <p:nvPr/>
        </p:nvSpPr>
        <p:spPr>
          <a:xfrm>
            <a:off x="3105150" y="4057650"/>
            <a:ext cx="5276850" cy="495300"/>
          </a:xfrm>
          <a:prstGeom prst="rect">
            <a:avLst/>
          </a:prstGeom>
          <a:noFill/>
          <a:ln w="0">
            <a:noFill/>
          </a:ln>
        </p:spPr>
        <p:txBody>
          <a:bodyPr wrap="square" lIns="0" tIns="0" rIns="0" bIns="0" anchor="t">
            <a:noAutofit/>
          </a:bodyPr>
          <a:lstStyle/>
          <a:p>
            <a:pPr algn="l">
              <a:spcBef>
                <a:spcPts val="0"/>
              </a:spcBef>
              <a:spcAft>
                <a:spcPts val="0"/>
              </a:spcAft>
              <a:defRPr sz="1500" b="0">
                <a:solidFill>
                  <a:srgbClr val="1E293B"/>
                </a:solidFill>
                <a:latin typeface="Calibri"/>
                <a:ea typeface="Calibri"/>
                <a:cs typeface="Calibri"/>
              </a:defRPr>
            </a:pPr>
            <a:r>
              <a:rPr sz="1500" b="0">
                <a:solidFill>
                  <a:srgbClr val="1E293B"/>
                </a:solidFill>
                <a:latin typeface="Calibri"/>
                <a:ea typeface="Calibri"/>
                <a:cs typeface="Calibri"/>
              </a:rPr>
              <a:t>Reconstruir concentraciones fuera de las estaciones para apoyar la caracterización ambiental del territorio.</a:t>
            </a:r>
          </a:p>
        </p:txBody>
      </p:sp>
      <p:sp>
        <p:nvSpPr>
          <p:cNvPr id="16" name="Fuente y alcance">
            <a:extLst>
              <a:ext uri="{FF2B5EF4-FFF2-40B4-BE49-F238E27FC236}">
                <a16:creationId xmlns:a16="http://schemas.microsoft.com/office/drawing/2014/main" id="{9C0BEDAA-C6D5-4320-A75A-22C830EFE7CC}"/>
              </a:ext>
            </a:extLst>
          </p:cNvPr>
          <p:cNvSpPr>
            <a:spLocks noGrp="1"/>
          </p:cNvSpPr>
          <p:nvPr/>
        </p:nvSpPr>
        <p:spPr>
          <a:xfrm>
            <a:off x="548640" y="4610100"/>
            <a:ext cx="8046720" cy="209550"/>
          </a:xfrm>
          <a:prstGeom prst="rect">
            <a:avLst/>
          </a:prstGeom>
          <a:noFill/>
          <a:ln w="0">
            <a:noFill/>
          </a:ln>
        </p:spPr>
        <p:txBody>
          <a:bodyPr wrap="square" lIns="0" tIns="0" rIns="0" bIns="0" anchor="ctr">
            <a:noAutofit/>
          </a:bodyPr>
          <a:lstStyle/>
          <a:p>
            <a:pPr algn="l">
              <a:buNone/>
              <a:defRPr sz="863">
                <a:solidFill>
                  <a:srgbClr val="526277"/>
                </a:solidFill>
                <a:latin typeface="Calibri"/>
                <a:ea typeface="Calibri"/>
                <a:cs typeface="Calibri"/>
              </a:defRPr>
            </a:pPr>
            <a:r>
              <a:rPr sz="863">
                <a:solidFill>
                  <a:srgbClr val="526277"/>
                </a:solidFill>
                <a:latin typeface="Calibri"/>
                <a:ea typeface="Calibri"/>
                <a:cs typeface="Calibri"/>
              </a:rPr>
              <a:t>Fuente: HTML del proyecto, grilla_macrozonas.png. Catálogo geográfico: 109 estaciones con celda; inventario histórico: 107 estaciones.</a:t>
            </a:r>
          </a:p>
        </p:txBody>
      </p:sp>
    </p:spTree>
    <p:extLst>
      <p:ext uri="{BB962C8B-B14F-4D97-AF65-F5344CB8AC3E}">
        <p14:creationId xmlns:p14="http://schemas.microsoft.com/office/powerpoint/2010/main" val="32275727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abecera azul UC">
            <a:extLst>
              <a:ext uri="{FF2B5EF4-FFF2-40B4-BE49-F238E27FC236}">
                <a16:creationId xmlns:a16="http://schemas.microsoft.com/office/drawing/2014/main" id="{3486DB9C-93DE-456A-BF48-2757BBD61ACE}"/>
              </a:ext>
            </a:extLst>
          </p:cNvPr>
          <p:cNvSpPr>
            <a:spLocks noGrp="1"/>
          </p:cNvSpPr>
          <p:nvPr/>
        </p:nvSpPr>
        <p:spPr>
          <a:xfrm>
            <a:off x="158742" y="0"/>
            <a:ext cx="8985258" cy="1007195"/>
          </a:xfrm>
          <a:prstGeom prst="rect">
            <a:avLst/>
          </a:prstGeom>
          <a:solidFill>
            <a:srgbClr val="017EDF"/>
          </a:solidFill>
          <a:ln>
            <a:noFill/>
          </a:ln>
        </p:spPr>
        <p:txBody>
          <a:bodyPr/>
          <a:lstStyle/>
          <a:p>
            <a:endParaRPr lang="es-CL"/>
          </a:p>
        </p:txBody>
      </p:sp>
      <p:sp>
        <p:nvSpPr>
          <p:cNvPr id="4" name="Rectángulo 9">
            <a:extLst>
              <a:ext uri="{FF2B5EF4-FFF2-40B4-BE49-F238E27FC236}">
                <a16:creationId xmlns:a16="http://schemas.microsoft.com/office/drawing/2014/main" id="{2DE33766-2918-41FC-A1B9-B4BF483C8974}"/>
              </a:ext>
            </a:extLst>
          </p:cNvPr>
          <p:cNvSpPr>
            <a:spLocks noGrp="1"/>
          </p:cNvSpPr>
          <p:nvPr/>
        </p:nvSpPr>
        <p:spPr>
          <a:xfrm>
            <a:off x="0" y="149945"/>
            <a:ext cx="158742" cy="857250"/>
          </a:xfrm>
          <a:prstGeom prst="rect">
            <a:avLst/>
          </a:prstGeom>
          <a:solidFill>
            <a:srgbClr val="FFE2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Rectángulo 7">
            <a:extLst>
              <a:ext uri="{FF2B5EF4-FFF2-40B4-BE49-F238E27FC236}">
                <a16:creationId xmlns:a16="http://schemas.microsoft.com/office/drawing/2014/main" id="{3BCD4458-45E8-4C73-A3B6-249CEEFBDB7B}"/>
              </a:ext>
            </a:extLst>
          </p:cNvPr>
          <p:cNvSpPr>
            <a:spLocks noGrp="1"/>
          </p:cNvSpPr>
          <p:nvPr/>
        </p:nvSpPr>
        <p:spPr>
          <a:xfrm flipV="1">
            <a:off x="169334" y="4871120"/>
            <a:ext cx="8815911" cy="177311"/>
          </a:xfrm>
          <a:prstGeom prst="rect">
            <a:avLst/>
          </a:prstGeom>
          <a:solidFill>
            <a:schemeClr val="bg1">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Rectángulo 10">
            <a:extLst>
              <a:ext uri="{FF2B5EF4-FFF2-40B4-BE49-F238E27FC236}">
                <a16:creationId xmlns:a16="http://schemas.microsoft.com/office/drawing/2014/main" id="{A18DC9E6-BD6D-4FE1-AEC0-9715BEE3912A}"/>
              </a:ext>
            </a:extLst>
          </p:cNvPr>
          <p:cNvSpPr>
            <a:spLocks noGrp="1"/>
          </p:cNvSpPr>
          <p:nvPr/>
        </p:nvSpPr>
        <p:spPr>
          <a:xfrm flipV="1">
            <a:off x="7200957" y="4871118"/>
            <a:ext cx="1119038" cy="177313"/>
          </a:xfrm>
          <a:prstGeom prst="rect">
            <a:avLst/>
          </a:prstGeom>
          <a:solidFill>
            <a:srgbClr val="3366CC"/>
          </a:solidFill>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ítulo 1">
            <a:extLst>
              <a:ext uri="{FF2B5EF4-FFF2-40B4-BE49-F238E27FC236}">
                <a16:creationId xmlns:a16="http://schemas.microsoft.com/office/drawing/2014/main" id="{438D0FA2-1899-4EDF-9FA4-D1742768DFC6}"/>
              </a:ext>
            </a:extLst>
          </p:cNvPr>
          <p:cNvSpPr>
            <a:spLocks noGrp="1"/>
          </p:cNvSpPr>
          <p:nvPr>
            <p:ph type="title"/>
          </p:nvPr>
        </p:nvSpPr>
        <p:spPr>
          <a:xfrm>
            <a:off x="457200" y="149945"/>
            <a:ext cx="8229600" cy="857250"/>
          </a:xfrm>
        </p:spPr>
        <p:txBody>
          <a:bodyPr wrap="square" anchor="ctr">
            <a:noAutofit/>
          </a:bodyPr>
          <a:lstStyle/>
          <a:p>
            <a:pPr algn="l">
              <a:spcBef>
                <a:spcPts val="0"/>
              </a:spcBef>
              <a:spcAft>
                <a:spcPts val="0"/>
              </a:spcAft>
              <a:defRPr sz="1900" b="1">
                <a:solidFill>
                  <a:srgbClr val="FFFFFF"/>
                </a:solidFill>
                <a:latin typeface="Calibri"/>
                <a:ea typeface="Calibri"/>
                <a:cs typeface="Calibri"/>
              </a:defRPr>
            </a:pPr>
            <a:r>
              <a:rPr sz="1900" b="1">
                <a:solidFill>
                  <a:srgbClr val="FFFFFF"/>
                </a:solidFill>
                <a:latin typeface="Calibri"/>
                <a:ea typeface="Calibri"/>
                <a:cs typeface="Calibri"/>
              </a:rPr>
              <a:t>Introducción: antecedentes internacionales</a:t>
            </a:r>
          </a:p>
        </p:txBody>
      </p:sp>
      <p:sp>
        <p:nvSpPr>
          <p:cNvPr id="8" name="Lectura">
            <a:extLst>
              <a:ext uri="{FF2B5EF4-FFF2-40B4-BE49-F238E27FC236}">
                <a16:creationId xmlns:a16="http://schemas.microsoft.com/office/drawing/2014/main" id="{52B01B3A-081B-4C8C-BDF7-68BBB8412704}"/>
              </a:ext>
            </a:extLst>
          </p:cNvPr>
          <p:cNvSpPr>
            <a:spLocks noGrp="1"/>
          </p:cNvSpPr>
          <p:nvPr/>
        </p:nvSpPr>
        <p:spPr>
          <a:xfrm>
            <a:off x="552450" y="1209675"/>
            <a:ext cx="8039100" cy="276225"/>
          </a:xfrm>
          <a:prstGeom prst="rect">
            <a:avLst/>
          </a:prstGeom>
          <a:noFill/>
          <a:ln w="0">
            <a:noFill/>
          </a:ln>
        </p:spPr>
        <p:txBody>
          <a:bodyPr wrap="square" lIns="0" tIns="0" rIns="0" bIns="0">
            <a:noAutofit/>
          </a:bodyPr>
          <a:lstStyle/>
          <a:p>
            <a:pPr algn="l">
              <a:spcBef>
                <a:spcPts val="0"/>
              </a:spcBef>
              <a:spcAft>
                <a:spcPts val="0"/>
              </a:spcAft>
              <a:defRPr sz="1500" b="1">
                <a:solidFill>
                  <a:srgbClr val="17375D"/>
                </a:solidFill>
                <a:latin typeface="Calibri"/>
                <a:ea typeface="Calibri"/>
                <a:cs typeface="Calibri"/>
              </a:defRPr>
            </a:pPr>
            <a:r>
              <a:rPr sz="1500" b="1">
                <a:solidFill>
                  <a:srgbClr val="17375D"/>
                </a:solidFill>
                <a:latin typeface="Calibri"/>
                <a:ea typeface="Calibri"/>
                <a:cs typeface="Calibri"/>
              </a:rPr>
              <a:t>La integración de fuentes y los ensambles orientan el diseño del proyecto.</a:t>
            </a:r>
          </a:p>
        </p:txBody>
      </p:sp>
      <p:graphicFrame>
        <p:nvGraphicFramePr>
          <p:cNvPr id="19" name="Tabla 18"/>
          <p:cNvGraphicFramePr/>
          <p:nvPr/>
        </p:nvGraphicFramePr>
        <p:xfrm>
          <a:off x="548640" y="1666875"/>
          <a:ext cx="8046720" cy="2552700"/>
        </p:xfrm>
        <a:graphic>
          <a:graphicData uri="http://schemas.openxmlformats.org/drawingml/2006/table">
            <a:tbl>
              <a:tblPr firstRow="1"/>
              <a:tblGrid>
                <a:gridCol w="1857375">
                  <a:extLst>
                    <a:ext uri="{9D8B030D-6E8A-4147-A177-3AD203B41FA5}">
                      <a16:colId xmlns:a16="http://schemas.microsoft.com/office/drawing/2014/main" val="20000"/>
                    </a:ext>
                  </a:extLst>
                </a:gridCol>
                <a:gridCol w="2924175">
                  <a:extLst>
                    <a:ext uri="{9D8B030D-6E8A-4147-A177-3AD203B41FA5}">
                      <a16:colId xmlns:a16="http://schemas.microsoft.com/office/drawing/2014/main" val="20001"/>
                    </a:ext>
                  </a:extLst>
                </a:gridCol>
                <a:gridCol w="3265170">
                  <a:extLst>
                    <a:ext uri="{9D8B030D-6E8A-4147-A177-3AD203B41FA5}">
                      <a16:colId xmlns:a16="http://schemas.microsoft.com/office/drawing/2014/main" val="20002"/>
                    </a:ext>
                  </a:extLst>
                </a:gridCol>
              </a:tblGrid>
              <a:tr h="400050">
                <a:tc>
                  <a:txBody>
                    <a:bodyPr/>
                    <a:lstStyle/>
                    <a:p>
                      <a:r>
                        <a:rPr sz="1350" b="1">
                          <a:solidFill>
                            <a:srgbClr val="FFFFFF"/>
                          </a:solidFill>
                          <a:latin typeface="Calibri"/>
                          <a:ea typeface="Calibri"/>
                          <a:cs typeface="Calibri"/>
                        </a:rPr>
                        <a:t>Trabajo</a:t>
                      </a:r>
                    </a:p>
                  </a:txBody>
                  <a:tcPr anchor="ctr">
                    <a:solidFill>
                      <a:srgbClr val="17375D"/>
                    </a:solidFill>
                  </a:tcPr>
                </a:tc>
                <a:tc>
                  <a:txBody>
                    <a:bodyPr/>
                    <a:lstStyle/>
                    <a:p>
                      <a:r>
                        <a:rPr sz="1350" b="1">
                          <a:solidFill>
                            <a:srgbClr val="FFFFFF"/>
                          </a:solidFill>
                          <a:latin typeface="Calibri"/>
                          <a:ea typeface="Calibri"/>
                          <a:cs typeface="Calibri"/>
                        </a:rPr>
                        <a:t>Aporte metodológico</a:t>
                      </a:r>
                    </a:p>
                  </a:txBody>
                  <a:tcPr anchor="ctr">
                    <a:solidFill>
                      <a:srgbClr val="17375D"/>
                    </a:solidFill>
                  </a:tcPr>
                </a:tc>
                <a:tc>
                  <a:txBody>
                    <a:bodyPr/>
                    <a:lstStyle/>
                    <a:p>
                      <a:r>
                        <a:rPr sz="1350" b="1">
                          <a:solidFill>
                            <a:srgbClr val="FFFFFF"/>
                          </a:solidFill>
                          <a:latin typeface="Calibri"/>
                          <a:ea typeface="Calibri"/>
                          <a:cs typeface="Calibri"/>
                        </a:rPr>
                        <a:t>Vínculo y límite en este proyecto</a:t>
                      </a:r>
                    </a:p>
                  </a:txBody>
                  <a:tcPr anchor="ctr">
                    <a:solidFill>
                      <a:srgbClr val="17375D"/>
                    </a:solidFill>
                  </a:tcPr>
                </a:tc>
                <a:extLst>
                  <a:ext uri="{0D108BD9-81ED-4DB2-BD59-A6C34878D82A}">
                    <a16:rowId xmlns:a16="http://schemas.microsoft.com/office/drawing/2014/main" val="10000"/>
                  </a:ext>
                </a:extLst>
              </a:tr>
              <a:tr h="1076325">
                <a:tc>
                  <a:txBody>
                    <a:bodyPr/>
                    <a:lstStyle/>
                    <a:p>
                      <a:r>
                        <a:rPr sz="1350" b="0">
                          <a:solidFill>
                            <a:srgbClr val="1E293B"/>
                          </a:solidFill>
                          <a:latin typeface="Calibri"/>
                          <a:ea typeface="Calibri"/>
                          <a:cs typeface="Calibri"/>
                        </a:rPr>
                        <a:t>van Donkelaar et al.</a:t>
                      </a:r>
                    </a:p>
                    <a:p>
                      <a:r>
                        <a:rPr sz="1350" b="0">
                          <a:solidFill>
                            <a:srgbClr val="1E293B"/>
                          </a:solidFill>
                          <a:latin typeface="Calibri"/>
                          <a:ea typeface="Calibri"/>
                          <a:cs typeface="Calibri"/>
                        </a:rPr>
                        <a:t>2016 · PM₂.₅ global</a:t>
                      </a:r>
                    </a:p>
                  </a:txBody>
                  <a:tcPr anchor="ctr">
                    <a:solidFill>
                      <a:srgbClr val="EAF2FD"/>
                    </a:solidFill>
                  </a:tcPr>
                </a:tc>
                <a:tc>
                  <a:txBody>
                    <a:bodyPr/>
                    <a:lstStyle/>
                    <a:p>
                      <a:r>
                        <a:rPr sz="1350" b="0">
                          <a:solidFill>
                            <a:srgbClr val="1E293B"/>
                          </a:solidFill>
                          <a:latin typeface="Calibri"/>
                          <a:ea typeface="Calibri"/>
                          <a:cs typeface="Calibri"/>
                        </a:rPr>
                        <a:t>Combina satélites, modelos atmosféricos y estaciones mediante regresión geográficamente ponderada.</a:t>
                      </a:r>
                    </a:p>
                  </a:txBody>
                  <a:tcPr anchor="ctr">
                    <a:solidFill>
                      <a:srgbClr val="EAF2FD"/>
                    </a:solidFill>
                  </a:tcPr>
                </a:tc>
                <a:tc>
                  <a:txBody>
                    <a:bodyPr/>
                    <a:lstStyle/>
                    <a:p>
                      <a:r>
                        <a:rPr sz="1350" b="0">
                          <a:solidFill>
                            <a:srgbClr val="1E293B"/>
                          </a:solidFill>
                          <a:latin typeface="Calibri"/>
                          <a:ea typeface="Calibri"/>
                          <a:cs typeface="Calibri"/>
                        </a:rPr>
                        <a:t>Motiva la fusión de fuentes. Su escala temporal y cobertura no equivalen a una estimación horaria nacional.</a:t>
                      </a:r>
                    </a:p>
                  </a:txBody>
                  <a:tcPr anchor="ctr">
                    <a:solidFill>
                      <a:srgbClr val="EAF2FD"/>
                    </a:solidFill>
                  </a:tcPr>
                </a:tc>
                <a:extLst>
                  <a:ext uri="{0D108BD9-81ED-4DB2-BD59-A6C34878D82A}">
                    <a16:rowId xmlns:a16="http://schemas.microsoft.com/office/drawing/2014/main" val="10001"/>
                  </a:ext>
                </a:extLst>
              </a:tr>
              <a:tr h="1076325">
                <a:tc>
                  <a:txBody>
                    <a:bodyPr/>
                    <a:lstStyle/>
                    <a:p>
                      <a:r>
                        <a:rPr sz="1350" b="0">
                          <a:solidFill>
                            <a:srgbClr val="1E293B"/>
                          </a:solidFill>
                          <a:latin typeface="Calibri"/>
                          <a:ea typeface="Calibri"/>
                          <a:cs typeface="Calibri"/>
                        </a:rPr>
                        <a:t>Di et al.</a:t>
                      </a:r>
                    </a:p>
                    <a:p>
                      <a:r>
                        <a:rPr sz="1350" b="0">
                          <a:solidFill>
                            <a:srgbClr val="1E293B"/>
                          </a:solidFill>
                          <a:latin typeface="Calibri"/>
                          <a:ea typeface="Calibri"/>
                          <a:cs typeface="Calibri"/>
                        </a:rPr>
                        <a:t>2019 · PM₂.₅ en EE. UU.</a:t>
                      </a:r>
                    </a:p>
                  </a:txBody>
                  <a:tcPr anchor="ctr">
                    <a:solidFill>
                      <a:srgbClr val="FFFFFF"/>
                    </a:solidFill>
                  </a:tcPr>
                </a:tc>
                <a:tc>
                  <a:txBody>
                    <a:bodyPr/>
                    <a:lstStyle/>
                    <a:p>
                      <a:r>
                        <a:rPr sz="1350" b="0">
                          <a:solidFill>
                            <a:srgbClr val="1E293B"/>
                          </a:solidFill>
                          <a:latin typeface="Calibri"/>
                          <a:ea typeface="Calibri"/>
                          <a:cs typeface="Calibri"/>
                        </a:rPr>
                        <a:t>Ensamble de redes neuronales, Random Forest y boosting; datos diarios en una grilla de 1 km.</a:t>
                      </a:r>
                    </a:p>
                  </a:txBody>
                  <a:tcPr anchor="ctr">
                    <a:solidFill>
                      <a:srgbClr val="FFFFFF"/>
                    </a:solidFill>
                  </a:tcPr>
                </a:tc>
                <a:tc>
                  <a:txBody>
                    <a:bodyPr/>
                    <a:lstStyle/>
                    <a:p>
                      <a:r>
                        <a:rPr sz="1350" b="0">
                          <a:solidFill>
                            <a:srgbClr val="1E293B"/>
                          </a:solidFill>
                          <a:latin typeface="Calibri"/>
                          <a:ea typeface="Calibri"/>
                          <a:cs typeface="Calibri"/>
                        </a:rPr>
                        <a:t>Motiva comparar familias y combinar predicciones. Sus resultados no acreditan transferencia a Chile o a gases.</a:t>
                      </a:r>
                    </a:p>
                  </a:txBody>
                  <a:tcPr anchor="ctr">
                    <a:solidFill>
                      <a:srgbClr val="FFFFFF"/>
                    </a:solidFill>
                  </a:tcPr>
                </a:tc>
                <a:extLst>
                  <a:ext uri="{0D108BD9-81ED-4DB2-BD59-A6C34878D82A}">
                    <a16:rowId xmlns:a16="http://schemas.microsoft.com/office/drawing/2014/main" val="10002"/>
                  </a:ext>
                </a:extLst>
              </a:tr>
            </a:tbl>
          </a:graphicData>
        </a:graphic>
      </p:graphicFrame>
      <p:sp>
        <p:nvSpPr>
          <p:cNvPr id="10" name="Hipótesis">
            <a:extLst>
              <a:ext uri="{FF2B5EF4-FFF2-40B4-BE49-F238E27FC236}">
                <a16:creationId xmlns:a16="http://schemas.microsoft.com/office/drawing/2014/main" id="{E5315772-5FBD-413E-86A8-AF252CCF6F58}"/>
              </a:ext>
            </a:extLst>
          </p:cNvPr>
          <p:cNvSpPr>
            <a:spLocks noGrp="1"/>
          </p:cNvSpPr>
          <p:nvPr/>
        </p:nvSpPr>
        <p:spPr>
          <a:xfrm>
            <a:off x="552450" y="4324350"/>
            <a:ext cx="8039100" cy="276225"/>
          </a:xfrm>
          <a:prstGeom prst="rect">
            <a:avLst/>
          </a:prstGeom>
          <a:noFill/>
          <a:ln w="0">
            <a:noFill/>
          </a:ln>
        </p:spPr>
        <p:txBody>
          <a:bodyPr wrap="square" lIns="0" tIns="0" rIns="0" bIns="0" anchor="t">
            <a:noAutofit/>
          </a:bodyPr>
          <a:lstStyle/>
          <a:p>
            <a:pPr algn="l">
              <a:spcBef>
                <a:spcPts val="0"/>
              </a:spcBef>
              <a:spcAft>
                <a:spcPts val="0"/>
              </a:spcAft>
              <a:buNone/>
              <a:defRPr sz="1200" b="0">
                <a:solidFill>
                  <a:srgbClr val="17375D"/>
                </a:solidFill>
                <a:latin typeface="Calibri"/>
                <a:ea typeface="Calibri"/>
                <a:cs typeface="Calibri"/>
              </a:defRPr>
            </a:pPr>
            <a:r>
              <a:rPr sz="1200" b="0">
                <a:solidFill>
                  <a:srgbClr val="17375D"/>
                </a:solidFill>
                <a:latin typeface="Calibri"/>
                <a:ea typeface="Calibri"/>
                <a:cs typeface="Calibri"/>
              </a:rPr>
              <a:t>Su aplicación a PM₂.₅, dióxido de nitrógeno y otros contaminantes en Chile requiere evaluación propia.</a:t>
            </a:r>
          </a:p>
        </p:txBody>
      </p:sp>
      <p:sp>
        <p:nvSpPr>
          <p:cNvPr id="11" name="Fuente y alcance">
            <a:extLst>
              <a:ext uri="{FF2B5EF4-FFF2-40B4-BE49-F238E27FC236}">
                <a16:creationId xmlns:a16="http://schemas.microsoft.com/office/drawing/2014/main" id="{569F6504-DBD9-4449-BA34-E50A286DDCD5}"/>
              </a:ext>
            </a:extLst>
          </p:cNvPr>
          <p:cNvSpPr>
            <a:spLocks noGrp="1"/>
          </p:cNvSpPr>
          <p:nvPr/>
        </p:nvSpPr>
        <p:spPr>
          <a:xfrm>
            <a:off x="548640" y="4600575"/>
            <a:ext cx="8046720" cy="228600"/>
          </a:xfrm>
          <a:prstGeom prst="rect">
            <a:avLst/>
          </a:prstGeom>
          <a:noFill/>
          <a:ln w="0">
            <a:noFill/>
          </a:ln>
        </p:spPr>
        <p:txBody>
          <a:bodyPr wrap="square" lIns="0" tIns="0" rIns="0" bIns="0" anchor="ctr">
            <a:noAutofit/>
          </a:bodyPr>
          <a:lstStyle/>
          <a:p>
            <a:pPr>
              <a:buNone/>
              <a:defRPr sz="878">
                <a:solidFill>
                  <a:srgbClr val="526277"/>
                </a:solidFill>
                <a:latin typeface="Calibri"/>
                <a:ea typeface="Calibri"/>
                <a:cs typeface="Calibri"/>
              </a:defRPr>
            </a:pPr>
            <a:r>
              <a:rPr sz="878">
                <a:solidFill>
                  <a:srgbClr val="526277"/>
                </a:solidFill>
                <a:latin typeface="Calibri"/>
                <a:ea typeface="Calibri"/>
                <a:cs typeface="Calibri"/>
              </a:rPr>
              <a:t>van Donkelaar et al. (2016), doi:10.1021/acs.est.5b05833 · Di et al. (2019), doi:10.1016/j.envint.2019.104909</a:t>
            </a:r>
          </a:p>
        </p:txBody>
      </p:sp>
    </p:spTree>
    <p:extLst>
      <p:ext uri="{BB962C8B-B14F-4D97-AF65-F5344CB8AC3E}">
        <p14:creationId xmlns:p14="http://schemas.microsoft.com/office/powerpoint/2010/main" val="32275727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abecera azul UC">
            <a:extLst>
              <a:ext uri="{FF2B5EF4-FFF2-40B4-BE49-F238E27FC236}">
                <a16:creationId xmlns:a16="http://schemas.microsoft.com/office/drawing/2014/main" id="{3486DB9C-93DE-456A-BF48-2757BBD61ACE}"/>
              </a:ext>
            </a:extLst>
          </p:cNvPr>
          <p:cNvSpPr>
            <a:spLocks noGrp="1"/>
          </p:cNvSpPr>
          <p:nvPr/>
        </p:nvSpPr>
        <p:spPr>
          <a:xfrm>
            <a:off x="158742" y="0"/>
            <a:ext cx="8985258" cy="1007195"/>
          </a:xfrm>
          <a:prstGeom prst="rect">
            <a:avLst/>
          </a:prstGeom>
          <a:solidFill>
            <a:srgbClr val="017EDF"/>
          </a:solidFill>
          <a:ln>
            <a:noFill/>
          </a:ln>
        </p:spPr>
        <p:txBody>
          <a:bodyPr/>
          <a:lstStyle/>
          <a:p>
            <a:endParaRPr lang="es-CL"/>
          </a:p>
        </p:txBody>
      </p:sp>
      <p:sp>
        <p:nvSpPr>
          <p:cNvPr id="4" name="Rectángulo 9">
            <a:extLst>
              <a:ext uri="{FF2B5EF4-FFF2-40B4-BE49-F238E27FC236}">
                <a16:creationId xmlns:a16="http://schemas.microsoft.com/office/drawing/2014/main" id="{2DE33766-2918-41FC-A1B9-B4BF483C8974}"/>
              </a:ext>
            </a:extLst>
          </p:cNvPr>
          <p:cNvSpPr>
            <a:spLocks noGrp="1"/>
          </p:cNvSpPr>
          <p:nvPr/>
        </p:nvSpPr>
        <p:spPr>
          <a:xfrm>
            <a:off x="0" y="149945"/>
            <a:ext cx="158742" cy="857250"/>
          </a:xfrm>
          <a:prstGeom prst="rect">
            <a:avLst/>
          </a:prstGeom>
          <a:solidFill>
            <a:srgbClr val="FFE2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Rectángulo 7">
            <a:extLst>
              <a:ext uri="{FF2B5EF4-FFF2-40B4-BE49-F238E27FC236}">
                <a16:creationId xmlns:a16="http://schemas.microsoft.com/office/drawing/2014/main" id="{3BCD4458-45E8-4C73-A3B6-249CEEFBDB7B}"/>
              </a:ext>
            </a:extLst>
          </p:cNvPr>
          <p:cNvSpPr>
            <a:spLocks noGrp="1"/>
          </p:cNvSpPr>
          <p:nvPr/>
        </p:nvSpPr>
        <p:spPr>
          <a:xfrm flipV="1">
            <a:off x="169334" y="4871120"/>
            <a:ext cx="8815911" cy="177311"/>
          </a:xfrm>
          <a:prstGeom prst="rect">
            <a:avLst/>
          </a:prstGeom>
          <a:solidFill>
            <a:schemeClr val="bg1">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Rectángulo 10">
            <a:extLst>
              <a:ext uri="{FF2B5EF4-FFF2-40B4-BE49-F238E27FC236}">
                <a16:creationId xmlns:a16="http://schemas.microsoft.com/office/drawing/2014/main" id="{A18DC9E6-BD6D-4FE1-AEC0-9715BEE3912A}"/>
              </a:ext>
            </a:extLst>
          </p:cNvPr>
          <p:cNvSpPr>
            <a:spLocks noGrp="1"/>
          </p:cNvSpPr>
          <p:nvPr/>
        </p:nvSpPr>
        <p:spPr>
          <a:xfrm flipV="1">
            <a:off x="7200957" y="4871118"/>
            <a:ext cx="1119038" cy="177313"/>
          </a:xfrm>
          <a:prstGeom prst="rect">
            <a:avLst/>
          </a:prstGeom>
          <a:solidFill>
            <a:srgbClr val="3366CC"/>
          </a:solidFill>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ítulo 1">
            <a:extLst>
              <a:ext uri="{FF2B5EF4-FFF2-40B4-BE49-F238E27FC236}">
                <a16:creationId xmlns:a16="http://schemas.microsoft.com/office/drawing/2014/main" id="{438D0FA2-1899-4EDF-9FA4-D1742768DFC6}"/>
              </a:ext>
            </a:extLst>
          </p:cNvPr>
          <p:cNvSpPr>
            <a:spLocks noGrp="1"/>
          </p:cNvSpPr>
          <p:nvPr>
            <p:ph type="title"/>
          </p:nvPr>
        </p:nvSpPr>
        <p:spPr>
          <a:xfrm>
            <a:off x="457200" y="149945"/>
            <a:ext cx="8229600" cy="857250"/>
          </a:xfrm>
        </p:spPr>
        <p:txBody>
          <a:bodyPr wrap="square" anchor="ctr">
            <a:noAutofit/>
          </a:bodyPr>
          <a:lstStyle/>
          <a:p>
            <a:pPr algn="l">
              <a:spcBef>
                <a:spcPts val="0"/>
              </a:spcBef>
              <a:spcAft>
                <a:spcPts val="0"/>
              </a:spcAft>
              <a:defRPr sz="1900" b="1">
                <a:solidFill>
                  <a:srgbClr val="FFFFFF"/>
                </a:solidFill>
                <a:latin typeface="Calibri"/>
                <a:ea typeface="Calibri"/>
                <a:cs typeface="Calibri"/>
              </a:defRPr>
            </a:pPr>
            <a:r>
              <a:rPr sz="1900" b="1">
                <a:solidFill>
                  <a:srgbClr val="FFFFFF"/>
                </a:solidFill>
                <a:latin typeface="Calibri"/>
                <a:ea typeface="Calibri"/>
                <a:cs typeface="Calibri"/>
              </a:rPr>
              <a:t>Introducción: antecedentes en Chile e hipótesis</a:t>
            </a:r>
          </a:p>
        </p:txBody>
      </p:sp>
      <p:graphicFrame>
        <p:nvGraphicFramePr>
          <p:cNvPr id="17" name="Tabla 16"/>
          <p:cNvGraphicFramePr/>
          <p:nvPr/>
        </p:nvGraphicFramePr>
        <p:xfrm>
          <a:off x="548640" y="1238250"/>
          <a:ext cx="8046720" cy="2209800"/>
        </p:xfrm>
        <a:graphic>
          <a:graphicData uri="http://schemas.openxmlformats.org/drawingml/2006/table">
            <a:tbl>
              <a:tblPr firstRow="1"/>
              <a:tblGrid>
                <a:gridCol w="1600200">
                  <a:extLst>
                    <a:ext uri="{9D8B030D-6E8A-4147-A177-3AD203B41FA5}">
                      <a16:colId xmlns:a16="http://schemas.microsoft.com/office/drawing/2014/main" val="20000"/>
                    </a:ext>
                  </a:extLst>
                </a:gridCol>
                <a:gridCol w="3238500">
                  <a:extLst>
                    <a:ext uri="{9D8B030D-6E8A-4147-A177-3AD203B41FA5}">
                      <a16:colId xmlns:a16="http://schemas.microsoft.com/office/drawing/2014/main" val="20001"/>
                    </a:ext>
                  </a:extLst>
                </a:gridCol>
                <a:gridCol w="3208020">
                  <a:extLst>
                    <a:ext uri="{9D8B030D-6E8A-4147-A177-3AD203B41FA5}">
                      <a16:colId xmlns:a16="http://schemas.microsoft.com/office/drawing/2014/main" val="20002"/>
                    </a:ext>
                  </a:extLst>
                </a:gridCol>
              </a:tblGrid>
              <a:tr h="323850">
                <a:tc>
                  <a:txBody>
                    <a:bodyPr/>
                    <a:lstStyle/>
                    <a:p>
                      <a:r>
                        <a:rPr sz="1252" b="1">
                          <a:solidFill>
                            <a:srgbClr val="FFFFFF"/>
                          </a:solidFill>
                          <a:latin typeface="Calibri"/>
                          <a:ea typeface="Calibri"/>
                          <a:cs typeface="Calibri"/>
                        </a:rPr>
                        <a:t>Estudio</a:t>
                      </a:r>
                    </a:p>
                  </a:txBody>
                  <a:tcPr anchor="ctr">
                    <a:solidFill>
                      <a:srgbClr val="17375D"/>
                    </a:solidFill>
                  </a:tcPr>
                </a:tc>
                <a:tc>
                  <a:txBody>
                    <a:bodyPr/>
                    <a:lstStyle/>
                    <a:p>
                      <a:r>
                        <a:rPr sz="1252" b="1">
                          <a:solidFill>
                            <a:srgbClr val="FFFFFF"/>
                          </a:solidFill>
                          <a:latin typeface="Calibri"/>
                          <a:ea typeface="Calibri"/>
                          <a:cs typeface="Calibri"/>
                        </a:rPr>
                        <a:t>Método y aporte</a:t>
                      </a:r>
                    </a:p>
                  </a:txBody>
                  <a:tcPr anchor="ctr">
                    <a:solidFill>
                      <a:srgbClr val="17375D"/>
                    </a:solidFill>
                  </a:tcPr>
                </a:tc>
                <a:tc>
                  <a:txBody>
                    <a:bodyPr/>
                    <a:lstStyle/>
                    <a:p>
                      <a:r>
                        <a:rPr sz="1252" b="1">
                          <a:solidFill>
                            <a:srgbClr val="FFFFFF"/>
                          </a:solidFill>
                          <a:latin typeface="Calibri"/>
                          <a:ea typeface="Calibri"/>
                          <a:cs typeface="Calibri"/>
                        </a:rPr>
                        <a:t>Alcance frente a este proyecto</a:t>
                      </a:r>
                    </a:p>
                  </a:txBody>
                  <a:tcPr anchor="ctr">
                    <a:solidFill>
                      <a:srgbClr val="17375D"/>
                    </a:solidFill>
                  </a:tcPr>
                </a:tc>
                <a:extLst>
                  <a:ext uri="{0D108BD9-81ED-4DB2-BD59-A6C34878D82A}">
                    <a16:rowId xmlns:a16="http://schemas.microsoft.com/office/drawing/2014/main" val="10000"/>
                  </a:ext>
                </a:extLst>
              </a:tr>
              <a:tr h="942975">
                <a:tc>
                  <a:txBody>
                    <a:bodyPr/>
                    <a:lstStyle/>
                    <a:p>
                      <a:r>
                        <a:rPr sz="1252" b="0">
                          <a:solidFill>
                            <a:srgbClr val="1E293B"/>
                          </a:solidFill>
                          <a:latin typeface="Calibri"/>
                          <a:ea typeface="Calibri"/>
                          <a:cs typeface="Calibri"/>
                        </a:rPr>
                        <a:t>Pérez y Gramsch (2016)</a:t>
                      </a:r>
                    </a:p>
                    <a:p>
                      <a:r>
                        <a:rPr sz="1252" b="0">
                          <a:solidFill>
                            <a:srgbClr val="1E293B"/>
                          </a:solidFill>
                          <a:latin typeface="Calibri"/>
                          <a:ea typeface="Calibri"/>
                          <a:cs typeface="Calibri"/>
                        </a:rPr>
                        <a:t>Santiago</a:t>
                      </a:r>
                    </a:p>
                  </a:txBody>
                  <a:tcPr anchor="ctr">
                    <a:solidFill>
                      <a:srgbClr val="EAF2FD"/>
                    </a:solidFill>
                  </a:tcPr>
                </a:tc>
                <a:tc>
                  <a:txBody>
                    <a:bodyPr/>
                    <a:lstStyle/>
                    <a:p>
                      <a:r>
                        <a:rPr sz="1252" b="0">
                          <a:solidFill>
                            <a:srgbClr val="1E293B"/>
                          </a:solidFill>
                          <a:latin typeface="Calibri"/>
                          <a:ea typeface="Calibri"/>
                          <a:cs typeface="Calibri"/>
                        </a:rPr>
                        <a:t>Red neuronal con contaminación previa, meteorología y una estación vecina. Pronóstico horario de PM₂.₅.</a:t>
                      </a:r>
                    </a:p>
                  </a:txBody>
                  <a:tcPr anchor="ctr">
                    <a:solidFill>
                      <a:srgbClr val="EAF2FD"/>
                    </a:solidFill>
                  </a:tcPr>
                </a:tc>
                <a:tc>
                  <a:txBody>
                    <a:bodyPr/>
                    <a:lstStyle/>
                    <a:p>
                      <a:r>
                        <a:rPr sz="1252" b="0">
                          <a:solidFill>
                            <a:srgbClr val="1E293B"/>
                          </a:solidFill>
                          <a:latin typeface="Calibri"/>
                          <a:ea typeface="Calibri"/>
                          <a:cs typeface="Calibri"/>
                        </a:rPr>
                        <a:t>Evaluación en Cerro Navia y episodios nocturnos. Alcance local de pronóstico.</a:t>
                      </a:r>
                    </a:p>
                  </a:txBody>
                  <a:tcPr anchor="ctr">
                    <a:solidFill>
                      <a:srgbClr val="EAF2FD"/>
                    </a:solidFill>
                  </a:tcPr>
                </a:tc>
                <a:extLst>
                  <a:ext uri="{0D108BD9-81ED-4DB2-BD59-A6C34878D82A}">
                    <a16:rowId xmlns:a16="http://schemas.microsoft.com/office/drawing/2014/main" val="10001"/>
                  </a:ext>
                </a:extLst>
              </a:tr>
              <a:tr h="942975">
                <a:tc>
                  <a:txBody>
                    <a:bodyPr/>
                    <a:lstStyle/>
                    <a:p>
                      <a:r>
                        <a:rPr sz="1252" b="0">
                          <a:solidFill>
                            <a:srgbClr val="1E293B"/>
                          </a:solidFill>
                          <a:latin typeface="Calibri"/>
                          <a:ea typeface="Calibri"/>
                          <a:cs typeface="Calibri"/>
                        </a:rPr>
                        <a:t>Peralta et al. (2022)</a:t>
                      </a:r>
                    </a:p>
                    <a:p>
                      <a:r>
                        <a:rPr sz="1252" b="0">
                          <a:solidFill>
                            <a:srgbClr val="1E293B"/>
                          </a:solidFill>
                          <a:latin typeface="Calibri"/>
                          <a:ea typeface="Calibri"/>
                          <a:cs typeface="Calibri"/>
                        </a:rPr>
                        <a:t>Santiago</a:t>
                      </a:r>
                    </a:p>
                  </a:txBody>
                  <a:tcPr anchor="ctr">
                    <a:solidFill>
                      <a:srgbClr val="FFFFFF"/>
                    </a:solidFill>
                  </a:tcPr>
                </a:tc>
                <a:tc>
                  <a:txBody>
                    <a:bodyPr/>
                    <a:lstStyle/>
                    <a:p>
                      <a:r>
                        <a:rPr sz="1252" b="0">
                          <a:solidFill>
                            <a:srgbClr val="1E293B"/>
                          </a:solidFill>
                          <a:latin typeface="Calibri"/>
                          <a:ea typeface="Calibri"/>
                          <a:cs typeface="Calibri"/>
                        </a:rPr>
                        <a:t>Red LSTM espacio-temporal. Predicción de PM₂.₅ en sitios sin mediciones propias.</a:t>
                      </a:r>
                    </a:p>
                  </a:txBody>
                  <a:tcPr anchor="ctr">
                    <a:solidFill>
                      <a:srgbClr val="FFFFFF"/>
                    </a:solidFill>
                  </a:tcPr>
                </a:tc>
                <a:tc>
                  <a:txBody>
                    <a:bodyPr/>
                    <a:lstStyle/>
                    <a:p>
                      <a:r>
                        <a:rPr sz="1252" b="0">
                          <a:solidFill>
                            <a:srgbClr val="1E293B"/>
                          </a:solidFill>
                          <a:latin typeface="Calibri"/>
                          <a:ea typeface="Calibri"/>
                          <a:cs typeface="Calibri"/>
                        </a:rPr>
                        <a:t>Aplicación metropolitana a PM₂.₅. La transferencia nacional y a otros contaminantes requiere evaluación.</a:t>
                      </a:r>
                    </a:p>
                  </a:txBody>
                  <a:tcPr anchor="ctr">
                    <a:solidFill>
                      <a:srgbClr val="FFFFFF"/>
                    </a:solidFill>
                  </a:tcPr>
                </a:tc>
                <a:extLst>
                  <a:ext uri="{0D108BD9-81ED-4DB2-BD59-A6C34878D82A}">
                    <a16:rowId xmlns:a16="http://schemas.microsoft.com/office/drawing/2014/main" val="10002"/>
                  </a:ext>
                </a:extLst>
              </a:tr>
            </a:tbl>
          </a:graphicData>
        </a:graphic>
      </p:graphicFrame>
      <p:sp>
        <p:nvSpPr>
          <p:cNvPr id="9" name="Hipótesis encabezado">
            <a:extLst>
              <a:ext uri="{FF2B5EF4-FFF2-40B4-BE49-F238E27FC236}">
                <a16:creationId xmlns:a16="http://schemas.microsoft.com/office/drawing/2014/main" id="{B010E485-094F-466A-9AC5-02FC2EBA4C03}"/>
              </a:ext>
            </a:extLst>
          </p:cNvPr>
          <p:cNvSpPr>
            <a:spLocks noGrp="1"/>
          </p:cNvSpPr>
          <p:nvPr/>
        </p:nvSpPr>
        <p:spPr>
          <a:xfrm>
            <a:off x="552450" y="3648075"/>
            <a:ext cx="8039100" cy="238125"/>
          </a:xfrm>
          <a:prstGeom prst="rect">
            <a:avLst/>
          </a:prstGeom>
          <a:noFill/>
          <a:ln w="0">
            <a:noFill/>
          </a:ln>
        </p:spPr>
        <p:txBody>
          <a:bodyPr wrap="square" lIns="0" tIns="0" rIns="0" bIns="0" anchor="t">
            <a:noAutofit/>
          </a:bodyPr>
          <a:lstStyle/>
          <a:p>
            <a:pPr algn="l">
              <a:defRPr sz="1350" b="1">
                <a:solidFill>
                  <a:srgbClr val="017EDF"/>
                </a:solidFill>
                <a:latin typeface="Calibri"/>
                <a:ea typeface="Calibri"/>
                <a:cs typeface="Calibri"/>
              </a:defRPr>
            </a:pPr>
            <a:r>
              <a:rPr sz="1350" b="1">
                <a:solidFill>
                  <a:srgbClr val="017EDF"/>
                </a:solidFill>
                <a:latin typeface="Calibri"/>
                <a:ea typeface="Calibri"/>
                <a:cs typeface="Calibri"/>
              </a:rPr>
              <a:t>Hipótesis de trabajo (RMSE como métrica propuesta)</a:t>
            </a:r>
          </a:p>
        </p:txBody>
      </p:sp>
      <p:sp>
        <p:nvSpPr>
          <p:cNvPr id="10" name="Hipótesis">
            <a:extLst>
              <a:ext uri="{FF2B5EF4-FFF2-40B4-BE49-F238E27FC236}">
                <a16:creationId xmlns:a16="http://schemas.microsoft.com/office/drawing/2014/main" id="{37EE04F7-693A-4343-80FA-015D10EA5EEB}"/>
              </a:ext>
            </a:extLst>
          </p:cNvPr>
          <p:cNvSpPr>
            <a:spLocks noGrp="1"/>
          </p:cNvSpPr>
          <p:nvPr/>
        </p:nvSpPr>
        <p:spPr>
          <a:xfrm>
            <a:off x="552450" y="3962400"/>
            <a:ext cx="8039100" cy="533400"/>
          </a:xfrm>
          <a:prstGeom prst="rect">
            <a:avLst/>
          </a:prstGeom>
          <a:noFill/>
          <a:ln w="0">
            <a:noFill/>
          </a:ln>
        </p:spPr>
        <p:txBody>
          <a:bodyPr wrap="square" lIns="0" tIns="0" rIns="0" bIns="0" anchor="t">
            <a:noAutofit/>
          </a:bodyPr>
          <a:lstStyle/>
          <a:p>
            <a:pPr algn="l">
              <a:buNone/>
              <a:defRPr sz="1500" b="0">
                <a:solidFill>
                  <a:srgbClr val="17375D"/>
                </a:solidFill>
                <a:latin typeface="Calibri"/>
                <a:ea typeface="Calibri"/>
                <a:cs typeface="Calibri"/>
              </a:defRPr>
            </a:pPr>
            <a:r>
              <a:rPr sz="1500" b="0">
                <a:solidFill>
                  <a:srgbClr val="17375D"/>
                </a:solidFill>
                <a:latin typeface="Calibri"/>
                <a:ea typeface="Calibri"/>
                <a:cs typeface="Calibri"/>
              </a:rPr>
              <a:t>La integración de fuentes reducirá el RMSE de PM₂.₅, dióxido de nitrógeno y otros contaminantes frente a la interpolación en sitios reservados.</a:t>
            </a:r>
          </a:p>
        </p:txBody>
      </p:sp>
      <p:sp>
        <p:nvSpPr>
          <p:cNvPr id="11" name="Fuente y alcance">
            <a:extLst>
              <a:ext uri="{FF2B5EF4-FFF2-40B4-BE49-F238E27FC236}">
                <a16:creationId xmlns:a16="http://schemas.microsoft.com/office/drawing/2014/main" id="{A871BB2B-E190-4980-8777-81B79AB1190E}"/>
              </a:ext>
            </a:extLst>
          </p:cNvPr>
          <p:cNvSpPr>
            <a:spLocks noGrp="1"/>
          </p:cNvSpPr>
          <p:nvPr/>
        </p:nvSpPr>
        <p:spPr>
          <a:xfrm>
            <a:off x="548640" y="4619625"/>
            <a:ext cx="8046720" cy="200025"/>
          </a:xfrm>
          <a:prstGeom prst="rect">
            <a:avLst/>
          </a:prstGeom>
          <a:noFill/>
          <a:ln w="0">
            <a:noFill/>
          </a:ln>
        </p:spPr>
        <p:txBody>
          <a:bodyPr wrap="square" lIns="0" tIns="0" rIns="0" bIns="0" anchor="ctr">
            <a:noAutofit/>
          </a:bodyPr>
          <a:lstStyle/>
          <a:p>
            <a:pPr algn="l">
              <a:defRPr sz="848">
                <a:solidFill>
                  <a:srgbClr val="526277"/>
                </a:solidFill>
                <a:latin typeface="Calibri"/>
                <a:ea typeface="Calibri"/>
                <a:cs typeface="Calibri"/>
              </a:defRPr>
            </a:pPr>
            <a:r>
              <a:rPr sz="848">
                <a:solidFill>
                  <a:srgbClr val="526277"/>
                </a:solidFill>
                <a:latin typeface="Calibri"/>
                <a:ea typeface="Calibri"/>
                <a:cs typeface="Calibri"/>
              </a:rPr>
              <a:t>Pérez y Gramsch (2016), doi:10.1016/j.atmosenv.2015.11.016. Peralta et al. (2022), doi:10.3390/app122211317.</a:t>
            </a:r>
          </a:p>
        </p:txBody>
      </p:sp>
    </p:spTree>
    <p:extLst>
      <p:ext uri="{BB962C8B-B14F-4D97-AF65-F5344CB8AC3E}">
        <p14:creationId xmlns:p14="http://schemas.microsoft.com/office/powerpoint/2010/main" val="32275727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abecera azul UC">
            <a:extLst>
              <a:ext uri="{FF2B5EF4-FFF2-40B4-BE49-F238E27FC236}">
                <a16:creationId xmlns:a16="http://schemas.microsoft.com/office/drawing/2014/main" id="{3486DB9C-93DE-456A-BF48-2757BBD61ACE}"/>
              </a:ext>
            </a:extLst>
          </p:cNvPr>
          <p:cNvSpPr>
            <a:spLocks noGrp="1"/>
          </p:cNvSpPr>
          <p:nvPr/>
        </p:nvSpPr>
        <p:spPr>
          <a:xfrm>
            <a:off x="158742" y="0"/>
            <a:ext cx="8985258" cy="1007195"/>
          </a:xfrm>
          <a:prstGeom prst="rect">
            <a:avLst/>
          </a:prstGeom>
          <a:solidFill>
            <a:srgbClr val="017EDF"/>
          </a:solidFill>
          <a:ln>
            <a:noFill/>
          </a:ln>
        </p:spPr>
        <p:txBody>
          <a:bodyPr/>
          <a:lstStyle/>
          <a:p>
            <a:endParaRPr lang="es-CL"/>
          </a:p>
        </p:txBody>
      </p:sp>
      <p:sp>
        <p:nvSpPr>
          <p:cNvPr id="4" name="Rectángulo 9">
            <a:extLst>
              <a:ext uri="{FF2B5EF4-FFF2-40B4-BE49-F238E27FC236}">
                <a16:creationId xmlns:a16="http://schemas.microsoft.com/office/drawing/2014/main" id="{2DE33766-2918-41FC-A1B9-B4BF483C8974}"/>
              </a:ext>
            </a:extLst>
          </p:cNvPr>
          <p:cNvSpPr>
            <a:spLocks noGrp="1"/>
          </p:cNvSpPr>
          <p:nvPr/>
        </p:nvSpPr>
        <p:spPr>
          <a:xfrm>
            <a:off x="0" y="149945"/>
            <a:ext cx="158742" cy="857250"/>
          </a:xfrm>
          <a:prstGeom prst="rect">
            <a:avLst/>
          </a:prstGeom>
          <a:solidFill>
            <a:srgbClr val="FFE2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Rectángulo 7">
            <a:extLst>
              <a:ext uri="{FF2B5EF4-FFF2-40B4-BE49-F238E27FC236}">
                <a16:creationId xmlns:a16="http://schemas.microsoft.com/office/drawing/2014/main" id="{3BCD4458-45E8-4C73-A3B6-249CEEFBDB7B}"/>
              </a:ext>
            </a:extLst>
          </p:cNvPr>
          <p:cNvSpPr>
            <a:spLocks noGrp="1"/>
          </p:cNvSpPr>
          <p:nvPr/>
        </p:nvSpPr>
        <p:spPr>
          <a:xfrm flipV="1">
            <a:off x="169334" y="4871120"/>
            <a:ext cx="8815911" cy="177311"/>
          </a:xfrm>
          <a:prstGeom prst="rect">
            <a:avLst/>
          </a:prstGeom>
          <a:solidFill>
            <a:schemeClr val="bg1">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Rectángulo 10">
            <a:extLst>
              <a:ext uri="{FF2B5EF4-FFF2-40B4-BE49-F238E27FC236}">
                <a16:creationId xmlns:a16="http://schemas.microsoft.com/office/drawing/2014/main" id="{A18DC9E6-BD6D-4FE1-AEC0-9715BEE3912A}"/>
              </a:ext>
            </a:extLst>
          </p:cNvPr>
          <p:cNvSpPr>
            <a:spLocks noGrp="1"/>
          </p:cNvSpPr>
          <p:nvPr/>
        </p:nvSpPr>
        <p:spPr>
          <a:xfrm flipV="1">
            <a:off x="7200957" y="4871118"/>
            <a:ext cx="1119038" cy="177313"/>
          </a:xfrm>
          <a:prstGeom prst="rect">
            <a:avLst/>
          </a:prstGeom>
          <a:solidFill>
            <a:srgbClr val="3366CC"/>
          </a:solidFill>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ítulo 1">
            <a:extLst>
              <a:ext uri="{FF2B5EF4-FFF2-40B4-BE49-F238E27FC236}">
                <a16:creationId xmlns:a16="http://schemas.microsoft.com/office/drawing/2014/main" id="{438D0FA2-1899-4EDF-9FA4-D1742768DFC6}"/>
              </a:ext>
            </a:extLst>
          </p:cNvPr>
          <p:cNvSpPr>
            <a:spLocks noGrp="1"/>
          </p:cNvSpPr>
          <p:nvPr>
            <p:ph type="title"/>
          </p:nvPr>
        </p:nvSpPr>
        <p:spPr>
          <a:xfrm>
            <a:off x="457200" y="149945"/>
            <a:ext cx="8229600" cy="857250"/>
          </a:xfrm>
        </p:spPr>
        <p:txBody>
          <a:bodyPr wrap="square" anchor="ctr">
            <a:noAutofit/>
          </a:bodyPr>
          <a:lstStyle/>
          <a:p>
            <a:pPr algn="l">
              <a:spcBef>
                <a:spcPts val="0"/>
              </a:spcBef>
              <a:spcAft>
                <a:spcPts val="0"/>
              </a:spcAft>
              <a:defRPr sz="1900" b="1">
                <a:solidFill>
                  <a:srgbClr val="FFFFFF"/>
                </a:solidFill>
                <a:latin typeface="Calibri"/>
                <a:ea typeface="Calibri"/>
                <a:cs typeface="Calibri"/>
              </a:defRPr>
            </a:pPr>
            <a:r>
              <a:rPr sz="1900" b="1">
                <a:solidFill>
                  <a:srgbClr val="FFFFFF"/>
                </a:solidFill>
                <a:latin typeface="Calibri"/>
                <a:ea typeface="Calibri"/>
                <a:cs typeface="Calibri"/>
              </a:rPr>
              <a:t>Pregunta de investigación</a:t>
            </a:r>
          </a:p>
        </p:txBody>
      </p:sp>
      <p:sp>
        <p:nvSpPr>
          <p:cNvPr id="8" name="Pregunta">
            <a:extLst>
              <a:ext uri="{FF2B5EF4-FFF2-40B4-BE49-F238E27FC236}">
                <a16:creationId xmlns:a16="http://schemas.microsoft.com/office/drawing/2014/main" id="{7DBA21E1-1AE9-4AC0-BE0D-BD81023377D0}"/>
              </a:ext>
            </a:extLst>
          </p:cNvPr>
          <p:cNvSpPr>
            <a:spLocks noGrp="1"/>
          </p:cNvSpPr>
          <p:nvPr/>
        </p:nvSpPr>
        <p:spPr>
          <a:xfrm>
            <a:off x="552450" y="1676400"/>
            <a:ext cx="8039100" cy="2143125"/>
          </a:xfrm>
          <a:prstGeom prst="rect">
            <a:avLst/>
          </a:prstGeom>
          <a:noFill/>
          <a:ln w="0">
            <a:noFill/>
          </a:ln>
        </p:spPr>
        <p:txBody>
          <a:bodyPr wrap="square" lIns="0" tIns="0" rIns="0" bIns="0" anchor="t">
            <a:noAutofit/>
          </a:bodyPr>
          <a:lstStyle/>
          <a:p>
            <a:pPr algn="l">
              <a:buNone/>
              <a:defRPr sz="2250" b="1">
                <a:solidFill>
                  <a:srgbClr val="17375D"/>
                </a:solidFill>
                <a:latin typeface="Calibri"/>
                <a:ea typeface="Calibri"/>
                <a:cs typeface="Calibri"/>
              </a:defRPr>
            </a:pPr>
            <a:r>
              <a:rPr sz="2250" b="1">
                <a:solidFill>
                  <a:srgbClr val="17375D"/>
                </a:solidFill>
                <a:latin typeface="Calibri"/>
                <a:ea typeface="Calibri"/>
                <a:cs typeface="Calibri"/>
              </a:rPr>
              <a:t>¿Cómo se compara el error de la reconstrucción horaria de PM₂.₅, dióxido de nitrógeno y otros contaminantes mediante la integración de datos ambientales con el de una interpolación de estaciones vecinas en sitios de Chile excluidos del entrenamiento?</a:t>
            </a:r>
          </a:p>
        </p:txBody>
      </p:sp>
      <p:sp>
        <p:nvSpPr>
          <p:cNvPr id="9" name="Fuente y alcance">
            <a:extLst>
              <a:ext uri="{FF2B5EF4-FFF2-40B4-BE49-F238E27FC236}">
                <a16:creationId xmlns:a16="http://schemas.microsoft.com/office/drawing/2014/main" id="{392E795B-1F9B-4E34-8B21-FE35FDBC41CB}"/>
              </a:ext>
            </a:extLst>
          </p:cNvPr>
          <p:cNvSpPr>
            <a:spLocks noGrp="1"/>
          </p:cNvSpPr>
          <p:nvPr/>
        </p:nvSpPr>
        <p:spPr>
          <a:xfrm>
            <a:off x="548640" y="4619625"/>
            <a:ext cx="8046720" cy="200025"/>
          </a:xfrm>
          <a:prstGeom prst="rect">
            <a:avLst/>
          </a:prstGeom>
          <a:noFill/>
          <a:ln w="0">
            <a:noFill/>
          </a:ln>
        </p:spPr>
        <p:txBody>
          <a:bodyPr wrap="square" lIns="0" tIns="0" rIns="0" bIns="0" anchor="t">
            <a:noAutofit/>
          </a:bodyPr>
          <a:lstStyle/>
          <a:p>
            <a:pPr algn="l">
              <a:buNone/>
              <a:defRPr sz="848" b="0">
                <a:solidFill>
                  <a:srgbClr val="526277"/>
                </a:solidFill>
                <a:latin typeface="Calibri"/>
                <a:ea typeface="Calibri"/>
                <a:cs typeface="Calibri"/>
              </a:defRPr>
            </a:pPr>
            <a:r>
              <a:rPr sz="848" b="0">
                <a:solidFill>
                  <a:srgbClr val="526277"/>
                </a:solidFill>
                <a:latin typeface="Calibri"/>
                <a:ea typeface="Calibri"/>
                <a:cs typeface="Calibri"/>
              </a:rPr>
              <a:t>Alcance: PM₂.₅, dióxido de nitrógeno y otros contaminantes: PM₁₀, ozono, dióxido de azufre y monóxido de carbono.</a:t>
            </a:r>
          </a:p>
        </p:txBody>
      </p:sp>
    </p:spTree>
    <p:extLst>
      <p:ext uri="{BB962C8B-B14F-4D97-AF65-F5344CB8AC3E}">
        <p14:creationId xmlns:p14="http://schemas.microsoft.com/office/powerpoint/2010/main" val="32275727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abecera azul UC">
            <a:extLst>
              <a:ext uri="{FF2B5EF4-FFF2-40B4-BE49-F238E27FC236}">
                <a16:creationId xmlns:a16="http://schemas.microsoft.com/office/drawing/2014/main" id="{3486DB9C-93DE-456A-BF48-2757BBD61ACE}"/>
              </a:ext>
            </a:extLst>
          </p:cNvPr>
          <p:cNvSpPr>
            <a:spLocks noGrp="1"/>
          </p:cNvSpPr>
          <p:nvPr/>
        </p:nvSpPr>
        <p:spPr>
          <a:xfrm>
            <a:off x="158742" y="0"/>
            <a:ext cx="8985258" cy="1007195"/>
          </a:xfrm>
          <a:prstGeom prst="rect">
            <a:avLst/>
          </a:prstGeom>
          <a:solidFill>
            <a:srgbClr val="017EDF"/>
          </a:solidFill>
          <a:ln>
            <a:noFill/>
          </a:ln>
        </p:spPr>
        <p:txBody>
          <a:bodyPr/>
          <a:lstStyle/>
          <a:p>
            <a:endParaRPr lang="es-CL"/>
          </a:p>
        </p:txBody>
      </p:sp>
      <p:sp>
        <p:nvSpPr>
          <p:cNvPr id="4" name="Rectángulo 9">
            <a:extLst>
              <a:ext uri="{FF2B5EF4-FFF2-40B4-BE49-F238E27FC236}">
                <a16:creationId xmlns:a16="http://schemas.microsoft.com/office/drawing/2014/main" id="{2DE33766-2918-41FC-A1B9-B4BF483C8974}"/>
              </a:ext>
            </a:extLst>
          </p:cNvPr>
          <p:cNvSpPr>
            <a:spLocks noGrp="1"/>
          </p:cNvSpPr>
          <p:nvPr/>
        </p:nvSpPr>
        <p:spPr>
          <a:xfrm>
            <a:off x="0" y="149945"/>
            <a:ext cx="158742" cy="857250"/>
          </a:xfrm>
          <a:prstGeom prst="rect">
            <a:avLst/>
          </a:prstGeom>
          <a:solidFill>
            <a:srgbClr val="FFE2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Rectángulo 7">
            <a:extLst>
              <a:ext uri="{FF2B5EF4-FFF2-40B4-BE49-F238E27FC236}">
                <a16:creationId xmlns:a16="http://schemas.microsoft.com/office/drawing/2014/main" id="{3BCD4458-45E8-4C73-A3B6-249CEEFBDB7B}"/>
              </a:ext>
            </a:extLst>
          </p:cNvPr>
          <p:cNvSpPr>
            <a:spLocks noGrp="1"/>
          </p:cNvSpPr>
          <p:nvPr/>
        </p:nvSpPr>
        <p:spPr>
          <a:xfrm flipV="1">
            <a:off x="169334" y="4871120"/>
            <a:ext cx="8815911" cy="177311"/>
          </a:xfrm>
          <a:prstGeom prst="rect">
            <a:avLst/>
          </a:prstGeom>
          <a:solidFill>
            <a:schemeClr val="bg1">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Rectángulo 10">
            <a:extLst>
              <a:ext uri="{FF2B5EF4-FFF2-40B4-BE49-F238E27FC236}">
                <a16:creationId xmlns:a16="http://schemas.microsoft.com/office/drawing/2014/main" id="{A18DC9E6-BD6D-4FE1-AEC0-9715BEE3912A}"/>
              </a:ext>
            </a:extLst>
          </p:cNvPr>
          <p:cNvSpPr>
            <a:spLocks noGrp="1"/>
          </p:cNvSpPr>
          <p:nvPr/>
        </p:nvSpPr>
        <p:spPr>
          <a:xfrm flipV="1">
            <a:off x="7200957" y="4871118"/>
            <a:ext cx="1119038" cy="177313"/>
          </a:xfrm>
          <a:prstGeom prst="rect">
            <a:avLst/>
          </a:prstGeom>
          <a:solidFill>
            <a:srgbClr val="3366CC"/>
          </a:solidFill>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ítulo 1">
            <a:extLst>
              <a:ext uri="{FF2B5EF4-FFF2-40B4-BE49-F238E27FC236}">
                <a16:creationId xmlns:a16="http://schemas.microsoft.com/office/drawing/2014/main" id="{438D0FA2-1899-4EDF-9FA4-D1742768DFC6}"/>
              </a:ext>
            </a:extLst>
          </p:cNvPr>
          <p:cNvSpPr>
            <a:spLocks noGrp="1"/>
          </p:cNvSpPr>
          <p:nvPr>
            <p:ph type="title"/>
          </p:nvPr>
        </p:nvSpPr>
        <p:spPr>
          <a:xfrm>
            <a:off x="457200" y="149945"/>
            <a:ext cx="8229600" cy="857250"/>
          </a:xfrm>
        </p:spPr>
        <p:txBody>
          <a:bodyPr wrap="square" anchor="ctr">
            <a:noAutofit/>
          </a:bodyPr>
          <a:lstStyle/>
          <a:p>
            <a:pPr algn="l">
              <a:spcBef>
                <a:spcPts val="0"/>
              </a:spcBef>
              <a:spcAft>
                <a:spcPts val="0"/>
              </a:spcAft>
              <a:defRPr sz="1900" b="1">
                <a:solidFill>
                  <a:srgbClr val="FFFFFF"/>
                </a:solidFill>
                <a:latin typeface="Calibri"/>
                <a:ea typeface="Calibri"/>
                <a:cs typeface="Calibri"/>
              </a:defRPr>
            </a:pPr>
            <a:r>
              <a:rPr sz="1900" b="1">
                <a:solidFill>
                  <a:srgbClr val="FFFFFF"/>
                </a:solidFill>
                <a:latin typeface="Calibri"/>
                <a:ea typeface="Calibri"/>
                <a:cs typeface="Calibri"/>
              </a:rPr>
              <a:t>Objetivo general</a:t>
            </a:r>
          </a:p>
        </p:txBody>
      </p:sp>
      <p:sp>
        <p:nvSpPr>
          <p:cNvPr id="8" name="Objetivo">
            <a:extLst>
              <a:ext uri="{FF2B5EF4-FFF2-40B4-BE49-F238E27FC236}">
                <a16:creationId xmlns:a16="http://schemas.microsoft.com/office/drawing/2014/main" id="{B37836F5-4FBB-49F5-96CB-EBDE24FEA3BB}"/>
              </a:ext>
            </a:extLst>
          </p:cNvPr>
          <p:cNvSpPr>
            <a:spLocks noGrp="1"/>
          </p:cNvSpPr>
          <p:nvPr/>
        </p:nvSpPr>
        <p:spPr>
          <a:xfrm>
            <a:off x="552450" y="1495425"/>
            <a:ext cx="8039100" cy="2076450"/>
          </a:xfrm>
          <a:prstGeom prst="rect">
            <a:avLst/>
          </a:prstGeom>
          <a:noFill/>
          <a:ln w="0">
            <a:noFill/>
          </a:ln>
        </p:spPr>
        <p:txBody>
          <a:bodyPr wrap="square" lIns="0" tIns="0" rIns="0" bIns="0" anchor="t">
            <a:noAutofit/>
          </a:bodyPr>
          <a:lstStyle/>
          <a:p>
            <a:pPr algn="l">
              <a:buNone/>
              <a:defRPr sz="2175" b="1">
                <a:solidFill>
                  <a:srgbClr val="17375D"/>
                </a:solidFill>
                <a:latin typeface="Calibri"/>
                <a:ea typeface="Calibri"/>
                <a:cs typeface="Calibri"/>
              </a:defRPr>
            </a:pPr>
            <a:r>
              <a:rPr sz="2175" b="1">
                <a:solidFill>
                  <a:srgbClr val="17375D"/>
                </a:solidFill>
                <a:latin typeface="Calibri"/>
                <a:ea typeface="Calibri"/>
                <a:cs typeface="Calibri"/>
              </a:rPr>
              <a:t>Desarrollar una metodología de integración de datos ambientales para la reconstrucción de las concentraciones superficiales horarias de PM₂.₅, dióxido de nitrógeno y otros contaminantes en Chile, sobre una grilla de 0,01°, con validación en sitios excluidos del entrenamiento.</a:t>
            </a:r>
          </a:p>
        </p:txBody>
      </p:sp>
      <p:sp>
        <p:nvSpPr>
          <p:cNvPr id="9" name="Proyección">
            <a:extLst>
              <a:ext uri="{FF2B5EF4-FFF2-40B4-BE49-F238E27FC236}">
                <a16:creationId xmlns:a16="http://schemas.microsoft.com/office/drawing/2014/main" id="{0AC610EB-B2CB-4109-84CA-9920CE594A78}"/>
              </a:ext>
            </a:extLst>
          </p:cNvPr>
          <p:cNvSpPr>
            <a:spLocks noGrp="1"/>
          </p:cNvSpPr>
          <p:nvPr/>
        </p:nvSpPr>
        <p:spPr>
          <a:xfrm>
            <a:off x="552450" y="3952875"/>
            <a:ext cx="8039100" cy="523875"/>
          </a:xfrm>
          <a:prstGeom prst="rect">
            <a:avLst/>
          </a:prstGeom>
          <a:noFill/>
          <a:ln w="0">
            <a:noFill/>
          </a:ln>
        </p:spPr>
        <p:txBody>
          <a:bodyPr wrap="square" lIns="0" tIns="0" rIns="0" bIns="0" anchor="t">
            <a:noAutofit/>
          </a:bodyPr>
          <a:lstStyle/>
          <a:p>
            <a:pPr algn="l">
              <a:buNone/>
              <a:defRPr sz="1500" b="0">
                <a:solidFill>
                  <a:srgbClr val="526277"/>
                </a:solidFill>
                <a:latin typeface="Calibri"/>
                <a:ea typeface="Calibri"/>
                <a:cs typeface="Calibri"/>
              </a:defRPr>
            </a:pPr>
            <a:r>
              <a:rPr sz="1500" b="0">
                <a:solidFill>
                  <a:srgbClr val="526277"/>
                </a:solidFill>
                <a:latin typeface="Calibri"/>
                <a:ea typeface="Calibri"/>
                <a:cs typeface="Calibri"/>
              </a:rPr>
              <a:t>Alcance: seis contaminantes y resúmenes comunales con una regla explícita de agregación.</a:t>
            </a:r>
          </a:p>
        </p:txBody>
      </p:sp>
      <p:sp>
        <p:nvSpPr>
          <p:cNvPr id="10" name="Fuente y alcance">
            <a:extLst>
              <a:ext uri="{FF2B5EF4-FFF2-40B4-BE49-F238E27FC236}">
                <a16:creationId xmlns:a16="http://schemas.microsoft.com/office/drawing/2014/main" id="{EE28C87B-A349-4376-84BC-F12D89982A3E}"/>
              </a:ext>
            </a:extLst>
          </p:cNvPr>
          <p:cNvSpPr>
            <a:spLocks noGrp="1"/>
          </p:cNvSpPr>
          <p:nvPr/>
        </p:nvSpPr>
        <p:spPr>
          <a:xfrm>
            <a:off x="548640" y="4619625"/>
            <a:ext cx="8046720" cy="200025"/>
          </a:xfrm>
          <a:prstGeom prst="rect">
            <a:avLst/>
          </a:prstGeom>
          <a:noFill/>
          <a:ln w="0">
            <a:noFill/>
          </a:ln>
        </p:spPr>
        <p:txBody>
          <a:bodyPr wrap="square" lIns="0" tIns="0" rIns="0" bIns="0" anchor="t">
            <a:noAutofit/>
          </a:bodyPr>
          <a:lstStyle/>
          <a:p>
            <a:pPr algn="l">
              <a:buNone/>
              <a:defRPr sz="848" b="0">
                <a:solidFill>
                  <a:srgbClr val="526277"/>
                </a:solidFill>
                <a:latin typeface="Calibri"/>
                <a:ea typeface="Calibri"/>
                <a:cs typeface="Calibri"/>
              </a:defRPr>
            </a:pPr>
            <a:r>
              <a:rPr sz="848" b="0">
                <a:solidFill>
                  <a:srgbClr val="526277"/>
                </a:solidFill>
                <a:latin typeface="Calibri"/>
                <a:ea typeface="Calibri"/>
                <a:cs typeface="Calibri"/>
              </a:rPr>
              <a:t>La reconstrucción y la agregación comunal se evaluarán por contaminante, según cobertura y calidad disponibles.</a:t>
            </a:r>
          </a:p>
        </p:txBody>
      </p:sp>
    </p:spTree>
    <p:extLst>
      <p:ext uri="{BB962C8B-B14F-4D97-AF65-F5344CB8AC3E}">
        <p14:creationId xmlns:p14="http://schemas.microsoft.com/office/powerpoint/2010/main" val="32275727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abecera azul UC">
            <a:extLst>
              <a:ext uri="{FF2B5EF4-FFF2-40B4-BE49-F238E27FC236}">
                <a16:creationId xmlns:a16="http://schemas.microsoft.com/office/drawing/2014/main" id="{3486DB9C-93DE-456A-BF48-2757BBD61ACE}"/>
              </a:ext>
            </a:extLst>
          </p:cNvPr>
          <p:cNvSpPr>
            <a:spLocks noGrp="1"/>
          </p:cNvSpPr>
          <p:nvPr/>
        </p:nvSpPr>
        <p:spPr>
          <a:xfrm>
            <a:off x="158742" y="0"/>
            <a:ext cx="8985258" cy="1007195"/>
          </a:xfrm>
          <a:prstGeom prst="rect">
            <a:avLst/>
          </a:prstGeom>
          <a:solidFill>
            <a:srgbClr val="017EDF"/>
          </a:solidFill>
          <a:ln>
            <a:noFill/>
          </a:ln>
        </p:spPr>
        <p:txBody>
          <a:bodyPr/>
          <a:lstStyle/>
          <a:p>
            <a:endParaRPr lang="es-CL"/>
          </a:p>
        </p:txBody>
      </p:sp>
      <p:sp>
        <p:nvSpPr>
          <p:cNvPr id="4" name="Rectángulo 9">
            <a:extLst>
              <a:ext uri="{FF2B5EF4-FFF2-40B4-BE49-F238E27FC236}">
                <a16:creationId xmlns:a16="http://schemas.microsoft.com/office/drawing/2014/main" id="{2DE33766-2918-41FC-A1B9-B4BF483C8974}"/>
              </a:ext>
            </a:extLst>
          </p:cNvPr>
          <p:cNvSpPr>
            <a:spLocks noGrp="1"/>
          </p:cNvSpPr>
          <p:nvPr/>
        </p:nvSpPr>
        <p:spPr>
          <a:xfrm>
            <a:off x="0" y="149945"/>
            <a:ext cx="158742" cy="857250"/>
          </a:xfrm>
          <a:prstGeom prst="rect">
            <a:avLst/>
          </a:prstGeom>
          <a:solidFill>
            <a:srgbClr val="FFE2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Rectángulo 7">
            <a:extLst>
              <a:ext uri="{FF2B5EF4-FFF2-40B4-BE49-F238E27FC236}">
                <a16:creationId xmlns:a16="http://schemas.microsoft.com/office/drawing/2014/main" id="{3BCD4458-45E8-4C73-A3B6-249CEEFBDB7B}"/>
              </a:ext>
            </a:extLst>
          </p:cNvPr>
          <p:cNvSpPr>
            <a:spLocks noGrp="1"/>
          </p:cNvSpPr>
          <p:nvPr/>
        </p:nvSpPr>
        <p:spPr>
          <a:xfrm flipV="1">
            <a:off x="169334" y="4871120"/>
            <a:ext cx="8815911" cy="177311"/>
          </a:xfrm>
          <a:prstGeom prst="rect">
            <a:avLst/>
          </a:prstGeom>
          <a:solidFill>
            <a:schemeClr val="bg1">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Rectángulo 10">
            <a:extLst>
              <a:ext uri="{FF2B5EF4-FFF2-40B4-BE49-F238E27FC236}">
                <a16:creationId xmlns:a16="http://schemas.microsoft.com/office/drawing/2014/main" id="{A18DC9E6-BD6D-4FE1-AEC0-9715BEE3912A}"/>
              </a:ext>
            </a:extLst>
          </p:cNvPr>
          <p:cNvSpPr>
            <a:spLocks noGrp="1"/>
          </p:cNvSpPr>
          <p:nvPr/>
        </p:nvSpPr>
        <p:spPr>
          <a:xfrm flipV="1">
            <a:off x="7200957" y="4871118"/>
            <a:ext cx="1119038" cy="177313"/>
          </a:xfrm>
          <a:prstGeom prst="rect">
            <a:avLst/>
          </a:prstGeom>
          <a:solidFill>
            <a:srgbClr val="3366CC"/>
          </a:solidFill>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ítulo 1">
            <a:extLst>
              <a:ext uri="{FF2B5EF4-FFF2-40B4-BE49-F238E27FC236}">
                <a16:creationId xmlns:a16="http://schemas.microsoft.com/office/drawing/2014/main" id="{438D0FA2-1899-4EDF-9FA4-D1742768DFC6}"/>
              </a:ext>
            </a:extLst>
          </p:cNvPr>
          <p:cNvSpPr>
            <a:spLocks noGrp="1"/>
          </p:cNvSpPr>
          <p:nvPr>
            <p:ph type="title"/>
          </p:nvPr>
        </p:nvSpPr>
        <p:spPr>
          <a:xfrm>
            <a:off x="457200" y="149945"/>
            <a:ext cx="8229600" cy="857250"/>
          </a:xfrm>
        </p:spPr>
        <p:txBody>
          <a:bodyPr wrap="square" anchor="ctr">
            <a:noAutofit/>
          </a:bodyPr>
          <a:lstStyle/>
          <a:p>
            <a:pPr algn="l">
              <a:spcBef>
                <a:spcPts val="0"/>
              </a:spcBef>
              <a:spcAft>
                <a:spcPts val="0"/>
              </a:spcAft>
              <a:defRPr sz="1900" b="1">
                <a:solidFill>
                  <a:srgbClr val="FFFFFF"/>
                </a:solidFill>
                <a:latin typeface="Calibri"/>
                <a:ea typeface="Calibri"/>
                <a:cs typeface="Calibri"/>
              </a:defRPr>
            </a:pPr>
            <a:r>
              <a:rPr sz="1900" b="1">
                <a:solidFill>
                  <a:srgbClr val="FFFFFF"/>
                </a:solidFill>
                <a:latin typeface="Calibri"/>
                <a:ea typeface="Calibri"/>
                <a:cs typeface="Calibri"/>
              </a:rPr>
              <a:t>Objetivos específicos</a:t>
            </a:r>
          </a:p>
        </p:txBody>
      </p:sp>
      <p:sp>
        <p:nvSpPr>
          <p:cNvPr id="8" name="Número 1">
            <a:extLst>
              <a:ext uri="{FF2B5EF4-FFF2-40B4-BE49-F238E27FC236}">
                <a16:creationId xmlns:a16="http://schemas.microsoft.com/office/drawing/2014/main" id="{7D953F45-183E-46AB-8006-301253E1C269}"/>
              </a:ext>
            </a:extLst>
          </p:cNvPr>
          <p:cNvSpPr>
            <a:spLocks noGrp="1"/>
          </p:cNvSpPr>
          <p:nvPr/>
        </p:nvSpPr>
        <p:spPr>
          <a:xfrm>
            <a:off x="561975" y="1209675"/>
            <a:ext cx="409575" cy="419100"/>
          </a:xfrm>
          <a:prstGeom prst="rect">
            <a:avLst/>
          </a:prstGeom>
          <a:noFill/>
          <a:ln w="0">
            <a:noFill/>
          </a:ln>
        </p:spPr>
        <p:txBody>
          <a:bodyPr wrap="square" lIns="0" tIns="0" rIns="0" bIns="0" anchor="t">
            <a:noAutofit/>
          </a:bodyPr>
          <a:lstStyle/>
          <a:p>
            <a:pPr algn="l">
              <a:buNone/>
              <a:defRPr sz="2400" b="1">
                <a:solidFill>
                  <a:srgbClr val="017EDF"/>
                </a:solidFill>
                <a:latin typeface="Calibri"/>
                <a:ea typeface="Calibri"/>
                <a:cs typeface="Calibri"/>
              </a:defRPr>
            </a:pPr>
            <a:r>
              <a:rPr sz="2400" b="1">
                <a:solidFill>
                  <a:srgbClr val="017EDF"/>
                </a:solidFill>
                <a:latin typeface="Calibri"/>
                <a:ea typeface="Calibri"/>
                <a:cs typeface="Calibri"/>
              </a:rPr>
              <a:t>1</a:t>
            </a:r>
          </a:p>
        </p:txBody>
      </p:sp>
      <p:sp>
        <p:nvSpPr>
          <p:cNvPr id="9" name="Objetivo 1">
            <a:extLst>
              <a:ext uri="{FF2B5EF4-FFF2-40B4-BE49-F238E27FC236}">
                <a16:creationId xmlns:a16="http://schemas.microsoft.com/office/drawing/2014/main" id="{012DDEAA-7CF5-4A8A-9C7E-E5263934476A}"/>
              </a:ext>
            </a:extLst>
          </p:cNvPr>
          <p:cNvSpPr>
            <a:spLocks noGrp="1"/>
          </p:cNvSpPr>
          <p:nvPr/>
        </p:nvSpPr>
        <p:spPr>
          <a:xfrm>
            <a:off x="1066800" y="1209675"/>
            <a:ext cx="7486650" cy="266700"/>
          </a:xfrm>
          <a:prstGeom prst="rect">
            <a:avLst/>
          </a:prstGeom>
          <a:noFill/>
          <a:ln w="0">
            <a:noFill/>
          </a:ln>
        </p:spPr>
        <p:txBody>
          <a:bodyPr wrap="square" lIns="0" tIns="0" rIns="0" bIns="0" anchor="t">
            <a:noAutofit/>
          </a:bodyPr>
          <a:lstStyle/>
          <a:p>
            <a:pPr algn="l">
              <a:buNone/>
              <a:defRPr sz="1725" b="1">
                <a:solidFill>
                  <a:srgbClr val="17375D"/>
                </a:solidFill>
                <a:latin typeface="Calibri"/>
                <a:ea typeface="Calibri"/>
                <a:cs typeface="Calibri"/>
              </a:defRPr>
            </a:pPr>
            <a:r>
              <a:rPr sz="1725" b="1">
                <a:solidFill>
                  <a:srgbClr val="17375D"/>
                </a:solidFill>
                <a:latin typeface="Calibri"/>
                <a:ea typeface="Calibri"/>
                <a:cs typeface="Calibri"/>
              </a:rPr>
              <a:t>Integrar los datos ambientales</a:t>
            </a:r>
          </a:p>
        </p:txBody>
      </p:sp>
      <p:sp>
        <p:nvSpPr>
          <p:cNvPr id="10" name="Detalle 1">
            <a:extLst>
              <a:ext uri="{FF2B5EF4-FFF2-40B4-BE49-F238E27FC236}">
                <a16:creationId xmlns:a16="http://schemas.microsoft.com/office/drawing/2014/main" id="{DA408661-69F4-440F-A0D8-B68C03CAB8B4}"/>
              </a:ext>
            </a:extLst>
          </p:cNvPr>
          <p:cNvSpPr>
            <a:spLocks noGrp="1"/>
          </p:cNvSpPr>
          <p:nvPr/>
        </p:nvSpPr>
        <p:spPr>
          <a:xfrm>
            <a:off x="1066800" y="1524000"/>
            <a:ext cx="7486650" cy="409575"/>
          </a:xfrm>
          <a:prstGeom prst="rect">
            <a:avLst/>
          </a:prstGeom>
          <a:noFill/>
          <a:ln w="0">
            <a:noFill/>
          </a:ln>
        </p:spPr>
        <p:txBody>
          <a:bodyPr wrap="square" lIns="0" tIns="0" rIns="0" bIns="0" anchor="t">
            <a:noAutofit/>
          </a:bodyPr>
          <a:lstStyle/>
          <a:p>
            <a:pPr algn="l">
              <a:buNone/>
              <a:defRPr sz="1425">
                <a:solidFill>
                  <a:srgbClr val="1E293B"/>
                </a:solidFill>
                <a:latin typeface="Calibri"/>
                <a:ea typeface="Calibri"/>
                <a:cs typeface="Calibri"/>
              </a:defRPr>
            </a:pPr>
            <a:r>
              <a:rPr sz="1425">
                <a:solidFill>
                  <a:srgbClr val="1E293B"/>
                </a:solidFill>
                <a:latin typeface="Calibri"/>
                <a:ea typeface="Calibri"/>
                <a:cs typeface="Calibri"/>
              </a:rPr>
              <a:t>Panel por celda y hora, con trazabilidad, cobertura, calidad y faltantes documentados.</a:t>
            </a:r>
          </a:p>
        </p:txBody>
      </p:sp>
      <p:sp>
        <p:nvSpPr>
          <p:cNvPr id="11" name="Número 2">
            <a:extLst>
              <a:ext uri="{FF2B5EF4-FFF2-40B4-BE49-F238E27FC236}">
                <a16:creationId xmlns:a16="http://schemas.microsoft.com/office/drawing/2014/main" id="{4BFF0BB9-AF41-49F0-A013-4B0B5622DA0C}"/>
              </a:ext>
            </a:extLst>
          </p:cNvPr>
          <p:cNvSpPr>
            <a:spLocks noGrp="1"/>
          </p:cNvSpPr>
          <p:nvPr/>
        </p:nvSpPr>
        <p:spPr>
          <a:xfrm>
            <a:off x="561975" y="2028825"/>
            <a:ext cx="409575" cy="419100"/>
          </a:xfrm>
          <a:prstGeom prst="rect">
            <a:avLst/>
          </a:prstGeom>
          <a:noFill/>
          <a:ln w="0">
            <a:noFill/>
          </a:ln>
        </p:spPr>
        <p:txBody>
          <a:bodyPr wrap="square" lIns="0" tIns="0" rIns="0" bIns="0" anchor="t">
            <a:noAutofit/>
          </a:bodyPr>
          <a:lstStyle/>
          <a:p>
            <a:pPr algn="l">
              <a:buNone/>
              <a:defRPr sz="2400" b="1">
                <a:solidFill>
                  <a:srgbClr val="017EDF"/>
                </a:solidFill>
                <a:latin typeface="Calibri"/>
                <a:ea typeface="Calibri"/>
                <a:cs typeface="Calibri"/>
              </a:defRPr>
            </a:pPr>
            <a:r>
              <a:rPr sz="2400" b="1">
                <a:solidFill>
                  <a:srgbClr val="017EDF"/>
                </a:solidFill>
                <a:latin typeface="Calibri"/>
                <a:ea typeface="Calibri"/>
                <a:cs typeface="Calibri"/>
              </a:rPr>
              <a:t>2</a:t>
            </a:r>
          </a:p>
        </p:txBody>
      </p:sp>
      <p:sp>
        <p:nvSpPr>
          <p:cNvPr id="12" name="Objetivo 2">
            <a:extLst>
              <a:ext uri="{FF2B5EF4-FFF2-40B4-BE49-F238E27FC236}">
                <a16:creationId xmlns:a16="http://schemas.microsoft.com/office/drawing/2014/main" id="{D760F3C8-AFAB-46DA-8151-383A5DDA3CA1}"/>
              </a:ext>
            </a:extLst>
          </p:cNvPr>
          <p:cNvSpPr>
            <a:spLocks noGrp="1"/>
          </p:cNvSpPr>
          <p:nvPr/>
        </p:nvSpPr>
        <p:spPr>
          <a:xfrm>
            <a:off x="1066800" y="2028825"/>
            <a:ext cx="7486650" cy="266700"/>
          </a:xfrm>
          <a:prstGeom prst="rect">
            <a:avLst/>
          </a:prstGeom>
          <a:noFill/>
          <a:ln w="0">
            <a:noFill/>
          </a:ln>
        </p:spPr>
        <p:txBody>
          <a:bodyPr wrap="square" lIns="0" tIns="0" rIns="0" bIns="0" anchor="t">
            <a:noAutofit/>
          </a:bodyPr>
          <a:lstStyle/>
          <a:p>
            <a:pPr algn="l">
              <a:buNone/>
              <a:defRPr sz="1725" b="1">
                <a:solidFill>
                  <a:srgbClr val="17375D"/>
                </a:solidFill>
                <a:latin typeface="Calibri"/>
                <a:ea typeface="Calibri"/>
                <a:cs typeface="Calibri"/>
              </a:defRPr>
            </a:pPr>
            <a:r>
              <a:rPr sz="1725" b="1">
                <a:solidFill>
                  <a:srgbClr val="17375D"/>
                </a:solidFill>
                <a:latin typeface="Calibri"/>
                <a:ea typeface="Calibri"/>
                <a:cs typeface="Calibri"/>
              </a:rPr>
              <a:t>Comparar los métodos de estimación</a:t>
            </a:r>
          </a:p>
        </p:txBody>
      </p:sp>
      <p:sp>
        <p:nvSpPr>
          <p:cNvPr id="13" name="Detalle 2">
            <a:extLst>
              <a:ext uri="{FF2B5EF4-FFF2-40B4-BE49-F238E27FC236}">
                <a16:creationId xmlns:a16="http://schemas.microsoft.com/office/drawing/2014/main" id="{62AF8CC2-CD05-4DA5-899F-747A64969762}"/>
              </a:ext>
            </a:extLst>
          </p:cNvPr>
          <p:cNvSpPr>
            <a:spLocks noGrp="1"/>
          </p:cNvSpPr>
          <p:nvPr/>
        </p:nvSpPr>
        <p:spPr>
          <a:xfrm>
            <a:off x="1066800" y="2343150"/>
            <a:ext cx="7486650" cy="409575"/>
          </a:xfrm>
          <a:prstGeom prst="rect">
            <a:avLst/>
          </a:prstGeom>
          <a:noFill/>
          <a:ln w="0">
            <a:noFill/>
          </a:ln>
        </p:spPr>
        <p:txBody>
          <a:bodyPr wrap="square" lIns="0" tIns="0" rIns="0" bIns="0" anchor="t">
            <a:noAutofit/>
          </a:bodyPr>
          <a:lstStyle/>
          <a:p>
            <a:pPr algn="l">
              <a:buNone/>
              <a:defRPr sz="1425">
                <a:solidFill>
                  <a:srgbClr val="1E293B"/>
                </a:solidFill>
                <a:latin typeface="Calibri"/>
                <a:ea typeface="Calibri"/>
                <a:cs typeface="Calibri"/>
              </a:defRPr>
            </a:pPr>
            <a:r>
              <a:rPr sz="1425">
                <a:solidFill>
                  <a:srgbClr val="1E293B"/>
                </a:solidFill>
                <a:latin typeface="Calibri"/>
                <a:ea typeface="Calibri"/>
                <a:cs typeface="Calibri"/>
              </a:rPr>
              <a:t>Aprendizaje automático y estadística espacial frente a una interpolación de estaciones vecinas.</a:t>
            </a:r>
          </a:p>
        </p:txBody>
      </p:sp>
      <p:sp>
        <p:nvSpPr>
          <p:cNvPr id="14" name="Número 3">
            <a:extLst>
              <a:ext uri="{FF2B5EF4-FFF2-40B4-BE49-F238E27FC236}">
                <a16:creationId xmlns:a16="http://schemas.microsoft.com/office/drawing/2014/main" id="{5CDC48CB-5F33-4379-B4B3-1067A6EFEF89}"/>
              </a:ext>
            </a:extLst>
          </p:cNvPr>
          <p:cNvSpPr>
            <a:spLocks noGrp="1"/>
          </p:cNvSpPr>
          <p:nvPr/>
        </p:nvSpPr>
        <p:spPr>
          <a:xfrm>
            <a:off x="561975" y="2847975"/>
            <a:ext cx="409575" cy="419100"/>
          </a:xfrm>
          <a:prstGeom prst="rect">
            <a:avLst/>
          </a:prstGeom>
          <a:noFill/>
          <a:ln w="0">
            <a:noFill/>
          </a:ln>
        </p:spPr>
        <p:txBody>
          <a:bodyPr wrap="square" lIns="0" tIns="0" rIns="0" bIns="0" anchor="t">
            <a:noAutofit/>
          </a:bodyPr>
          <a:lstStyle/>
          <a:p>
            <a:pPr algn="l">
              <a:buNone/>
              <a:defRPr sz="2400" b="1">
                <a:solidFill>
                  <a:srgbClr val="017EDF"/>
                </a:solidFill>
                <a:latin typeface="Calibri"/>
                <a:ea typeface="Calibri"/>
                <a:cs typeface="Calibri"/>
              </a:defRPr>
            </a:pPr>
            <a:r>
              <a:rPr sz="2400" b="1">
                <a:solidFill>
                  <a:srgbClr val="017EDF"/>
                </a:solidFill>
                <a:latin typeface="Calibri"/>
                <a:ea typeface="Calibri"/>
                <a:cs typeface="Calibri"/>
              </a:rPr>
              <a:t>3</a:t>
            </a:r>
          </a:p>
        </p:txBody>
      </p:sp>
      <p:sp>
        <p:nvSpPr>
          <p:cNvPr id="15" name="Objetivo 3">
            <a:extLst>
              <a:ext uri="{FF2B5EF4-FFF2-40B4-BE49-F238E27FC236}">
                <a16:creationId xmlns:a16="http://schemas.microsoft.com/office/drawing/2014/main" id="{810FCF97-2E48-42FD-A458-8F2E60BDC553}"/>
              </a:ext>
            </a:extLst>
          </p:cNvPr>
          <p:cNvSpPr>
            <a:spLocks noGrp="1"/>
          </p:cNvSpPr>
          <p:nvPr/>
        </p:nvSpPr>
        <p:spPr>
          <a:xfrm>
            <a:off x="1066800" y="2847975"/>
            <a:ext cx="7486650" cy="266700"/>
          </a:xfrm>
          <a:prstGeom prst="rect">
            <a:avLst/>
          </a:prstGeom>
          <a:noFill/>
          <a:ln w="0">
            <a:noFill/>
          </a:ln>
        </p:spPr>
        <p:txBody>
          <a:bodyPr wrap="square" lIns="0" tIns="0" rIns="0" bIns="0" anchor="t">
            <a:noAutofit/>
          </a:bodyPr>
          <a:lstStyle/>
          <a:p>
            <a:pPr algn="l">
              <a:buNone/>
              <a:defRPr sz="1725" b="1">
                <a:solidFill>
                  <a:srgbClr val="17375D"/>
                </a:solidFill>
                <a:latin typeface="Calibri"/>
                <a:ea typeface="Calibri"/>
                <a:cs typeface="Calibri"/>
              </a:defRPr>
            </a:pPr>
            <a:r>
              <a:rPr sz="1725" b="1">
                <a:solidFill>
                  <a:srgbClr val="17375D"/>
                </a:solidFill>
                <a:latin typeface="Calibri"/>
                <a:ea typeface="Calibri"/>
                <a:cs typeface="Calibri"/>
              </a:rPr>
              <a:t>Evaluar la generalización espacial y temporal</a:t>
            </a:r>
          </a:p>
        </p:txBody>
      </p:sp>
      <p:sp>
        <p:nvSpPr>
          <p:cNvPr id="16" name="Detalle 3">
            <a:extLst>
              <a:ext uri="{FF2B5EF4-FFF2-40B4-BE49-F238E27FC236}">
                <a16:creationId xmlns:a16="http://schemas.microsoft.com/office/drawing/2014/main" id="{CE5DCBC2-4EE3-4B1B-87A7-D7CDFC07B63D}"/>
              </a:ext>
            </a:extLst>
          </p:cNvPr>
          <p:cNvSpPr>
            <a:spLocks noGrp="1"/>
          </p:cNvSpPr>
          <p:nvPr/>
        </p:nvSpPr>
        <p:spPr>
          <a:xfrm>
            <a:off x="1066800" y="3162300"/>
            <a:ext cx="7486650" cy="409575"/>
          </a:xfrm>
          <a:prstGeom prst="rect">
            <a:avLst/>
          </a:prstGeom>
          <a:noFill/>
          <a:ln w="0">
            <a:noFill/>
          </a:ln>
        </p:spPr>
        <p:txBody>
          <a:bodyPr wrap="square" lIns="0" tIns="0" rIns="0" bIns="0" anchor="t">
            <a:noAutofit/>
          </a:bodyPr>
          <a:lstStyle/>
          <a:p>
            <a:pPr algn="l">
              <a:buNone/>
              <a:defRPr sz="1425">
                <a:solidFill>
                  <a:srgbClr val="1E293B"/>
                </a:solidFill>
                <a:latin typeface="Calibri"/>
                <a:ea typeface="Calibri"/>
                <a:cs typeface="Calibri"/>
              </a:defRPr>
            </a:pPr>
            <a:r>
              <a:rPr sz="1425">
                <a:solidFill>
                  <a:srgbClr val="1E293B"/>
                </a:solidFill>
                <a:latin typeface="Calibri"/>
                <a:ea typeface="Calibri"/>
                <a:cs typeface="Calibri"/>
              </a:rPr>
              <a:t>Sitios, entornos, regiones y periodos reservados, con selección separada de la prueba final, extremos e incertidumbre.</a:t>
            </a:r>
          </a:p>
        </p:txBody>
      </p:sp>
      <p:sp>
        <p:nvSpPr>
          <p:cNvPr id="17" name="Número 4">
            <a:extLst>
              <a:ext uri="{FF2B5EF4-FFF2-40B4-BE49-F238E27FC236}">
                <a16:creationId xmlns:a16="http://schemas.microsoft.com/office/drawing/2014/main" id="{DFF17A6F-B263-4F1E-86D9-CEDE0F51C055}"/>
              </a:ext>
            </a:extLst>
          </p:cNvPr>
          <p:cNvSpPr>
            <a:spLocks noGrp="1"/>
          </p:cNvSpPr>
          <p:nvPr/>
        </p:nvSpPr>
        <p:spPr>
          <a:xfrm>
            <a:off x="561975" y="3667125"/>
            <a:ext cx="409575" cy="419100"/>
          </a:xfrm>
          <a:prstGeom prst="rect">
            <a:avLst/>
          </a:prstGeom>
          <a:noFill/>
          <a:ln w="0">
            <a:noFill/>
          </a:ln>
        </p:spPr>
        <p:txBody>
          <a:bodyPr wrap="square" lIns="0" tIns="0" rIns="0" bIns="0" anchor="t">
            <a:noAutofit/>
          </a:bodyPr>
          <a:lstStyle/>
          <a:p>
            <a:pPr algn="l">
              <a:buNone/>
              <a:defRPr sz="2400" b="1">
                <a:solidFill>
                  <a:srgbClr val="017EDF"/>
                </a:solidFill>
                <a:latin typeface="Calibri"/>
                <a:ea typeface="Calibri"/>
                <a:cs typeface="Calibri"/>
              </a:defRPr>
            </a:pPr>
            <a:r>
              <a:rPr sz="2400" b="1">
                <a:solidFill>
                  <a:srgbClr val="017EDF"/>
                </a:solidFill>
                <a:latin typeface="Calibri"/>
                <a:ea typeface="Calibri"/>
                <a:cs typeface="Calibri"/>
              </a:rPr>
              <a:t>4</a:t>
            </a:r>
          </a:p>
        </p:txBody>
      </p:sp>
      <p:sp>
        <p:nvSpPr>
          <p:cNvPr id="18" name="Objetivo 4">
            <a:extLst>
              <a:ext uri="{FF2B5EF4-FFF2-40B4-BE49-F238E27FC236}">
                <a16:creationId xmlns:a16="http://schemas.microsoft.com/office/drawing/2014/main" id="{D78C5AE1-E4AD-4E16-8013-ED8D6951F5B3}"/>
              </a:ext>
            </a:extLst>
          </p:cNvPr>
          <p:cNvSpPr>
            <a:spLocks noGrp="1"/>
          </p:cNvSpPr>
          <p:nvPr/>
        </p:nvSpPr>
        <p:spPr>
          <a:xfrm>
            <a:off x="1066800" y="3667125"/>
            <a:ext cx="7486650" cy="266700"/>
          </a:xfrm>
          <a:prstGeom prst="rect">
            <a:avLst/>
          </a:prstGeom>
          <a:noFill/>
          <a:ln w="0">
            <a:noFill/>
          </a:ln>
        </p:spPr>
        <p:txBody>
          <a:bodyPr wrap="square" lIns="0" tIns="0" rIns="0" bIns="0" anchor="t">
            <a:noAutofit/>
          </a:bodyPr>
          <a:lstStyle/>
          <a:p>
            <a:pPr algn="l">
              <a:buNone/>
              <a:defRPr sz="1725" b="1">
                <a:solidFill>
                  <a:srgbClr val="17375D"/>
                </a:solidFill>
                <a:latin typeface="Calibri"/>
                <a:ea typeface="Calibri"/>
                <a:cs typeface="Calibri"/>
              </a:defRPr>
            </a:pPr>
            <a:r>
              <a:rPr sz="1725" b="1">
                <a:solidFill>
                  <a:srgbClr val="17375D"/>
                </a:solidFill>
                <a:latin typeface="Calibri"/>
                <a:ea typeface="Calibri"/>
                <a:cs typeface="Calibri"/>
              </a:rPr>
              <a:t>Definir el producto territorial</a:t>
            </a:r>
          </a:p>
        </p:txBody>
      </p:sp>
      <p:sp>
        <p:nvSpPr>
          <p:cNvPr id="19" name="Detalle 4">
            <a:extLst>
              <a:ext uri="{FF2B5EF4-FFF2-40B4-BE49-F238E27FC236}">
                <a16:creationId xmlns:a16="http://schemas.microsoft.com/office/drawing/2014/main" id="{F1A187DE-9046-41BE-B5A7-8B59B420A590}"/>
              </a:ext>
            </a:extLst>
          </p:cNvPr>
          <p:cNvSpPr>
            <a:spLocks noGrp="1"/>
          </p:cNvSpPr>
          <p:nvPr/>
        </p:nvSpPr>
        <p:spPr>
          <a:xfrm>
            <a:off x="1066800" y="3981450"/>
            <a:ext cx="7486650" cy="409575"/>
          </a:xfrm>
          <a:prstGeom prst="rect">
            <a:avLst/>
          </a:prstGeom>
          <a:noFill/>
          <a:ln w="0">
            <a:noFill/>
          </a:ln>
        </p:spPr>
        <p:txBody>
          <a:bodyPr wrap="square" lIns="0" tIns="0" rIns="0" bIns="0" anchor="t">
            <a:noAutofit/>
          </a:bodyPr>
          <a:lstStyle/>
          <a:p>
            <a:pPr algn="l">
              <a:buNone/>
              <a:defRPr sz="1425">
                <a:solidFill>
                  <a:srgbClr val="1E293B"/>
                </a:solidFill>
                <a:latin typeface="Calibri"/>
                <a:ea typeface="Calibri"/>
                <a:cs typeface="Calibri"/>
              </a:defRPr>
            </a:pPr>
            <a:r>
              <a:rPr sz="1425">
                <a:solidFill>
                  <a:srgbClr val="1E293B"/>
                </a:solidFill>
                <a:latin typeface="Calibri"/>
                <a:ea typeface="Calibri"/>
                <a:cs typeface="Calibri"/>
              </a:rPr>
              <a:t>Superficies horarias y agregación comunal, con cobertura, limitaciones y reglas explícitas.</a:t>
            </a:r>
          </a:p>
        </p:txBody>
      </p:sp>
      <p:sp>
        <p:nvSpPr>
          <p:cNvPr id="20" name="Fuente y alcance">
            <a:extLst>
              <a:ext uri="{FF2B5EF4-FFF2-40B4-BE49-F238E27FC236}">
                <a16:creationId xmlns:a16="http://schemas.microsoft.com/office/drawing/2014/main" id="{7C141195-9A05-4806-A941-451CE12A865B}"/>
              </a:ext>
            </a:extLst>
          </p:cNvPr>
          <p:cNvSpPr>
            <a:spLocks noGrp="1"/>
          </p:cNvSpPr>
          <p:nvPr/>
        </p:nvSpPr>
        <p:spPr>
          <a:xfrm>
            <a:off x="548640" y="4619625"/>
            <a:ext cx="8046720" cy="200025"/>
          </a:xfrm>
          <a:prstGeom prst="rect">
            <a:avLst/>
          </a:prstGeom>
          <a:noFill/>
          <a:ln w="0">
            <a:noFill/>
          </a:ln>
        </p:spPr>
        <p:txBody>
          <a:bodyPr wrap="square" lIns="0" tIns="0" rIns="0" bIns="0" anchor="ctr">
            <a:noAutofit/>
          </a:bodyPr>
          <a:lstStyle/>
          <a:p>
            <a:pPr algn="l">
              <a:defRPr sz="848">
                <a:solidFill>
                  <a:srgbClr val="526277"/>
                </a:solidFill>
                <a:latin typeface="Calibri"/>
                <a:ea typeface="Calibri"/>
                <a:cs typeface="Calibri"/>
              </a:defRPr>
            </a:pPr>
            <a:r>
              <a:rPr sz="848">
                <a:solidFill>
                  <a:srgbClr val="526277"/>
                </a:solidFill>
                <a:latin typeface="Calibri"/>
                <a:ea typeface="Calibri"/>
                <a:cs typeface="Calibri"/>
              </a:rPr>
              <a:t>Panel por celda y hora, comparación con una línea base y evaluación territorial independiente como diseño.</a:t>
            </a:r>
          </a:p>
        </p:txBody>
      </p:sp>
    </p:spTree>
    <p:extLst>
      <p:ext uri="{BB962C8B-B14F-4D97-AF65-F5344CB8AC3E}">
        <p14:creationId xmlns:p14="http://schemas.microsoft.com/office/powerpoint/2010/main" val="32275727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abecera azul UC">
            <a:extLst>
              <a:ext uri="{FF2B5EF4-FFF2-40B4-BE49-F238E27FC236}">
                <a16:creationId xmlns:a16="http://schemas.microsoft.com/office/drawing/2014/main" id="{3486DB9C-93DE-456A-BF48-2757BBD61ACE}"/>
              </a:ext>
            </a:extLst>
          </p:cNvPr>
          <p:cNvSpPr>
            <a:spLocks noGrp="1"/>
          </p:cNvSpPr>
          <p:nvPr/>
        </p:nvSpPr>
        <p:spPr>
          <a:xfrm>
            <a:off x="158742" y="0"/>
            <a:ext cx="8985258" cy="1007195"/>
          </a:xfrm>
          <a:prstGeom prst="rect">
            <a:avLst/>
          </a:prstGeom>
          <a:solidFill>
            <a:srgbClr val="017EDF"/>
          </a:solidFill>
          <a:ln>
            <a:noFill/>
          </a:ln>
        </p:spPr>
        <p:txBody>
          <a:bodyPr/>
          <a:lstStyle/>
          <a:p>
            <a:endParaRPr lang="es-CL"/>
          </a:p>
        </p:txBody>
      </p:sp>
      <p:sp>
        <p:nvSpPr>
          <p:cNvPr id="4" name="Rectángulo 9">
            <a:extLst>
              <a:ext uri="{FF2B5EF4-FFF2-40B4-BE49-F238E27FC236}">
                <a16:creationId xmlns:a16="http://schemas.microsoft.com/office/drawing/2014/main" id="{2DE33766-2918-41FC-A1B9-B4BF483C8974}"/>
              </a:ext>
            </a:extLst>
          </p:cNvPr>
          <p:cNvSpPr>
            <a:spLocks noGrp="1"/>
          </p:cNvSpPr>
          <p:nvPr/>
        </p:nvSpPr>
        <p:spPr>
          <a:xfrm>
            <a:off x="0" y="149945"/>
            <a:ext cx="158742" cy="857250"/>
          </a:xfrm>
          <a:prstGeom prst="rect">
            <a:avLst/>
          </a:prstGeom>
          <a:solidFill>
            <a:srgbClr val="FFE2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Rectángulo 7">
            <a:extLst>
              <a:ext uri="{FF2B5EF4-FFF2-40B4-BE49-F238E27FC236}">
                <a16:creationId xmlns:a16="http://schemas.microsoft.com/office/drawing/2014/main" id="{3BCD4458-45E8-4C73-A3B6-249CEEFBDB7B}"/>
              </a:ext>
            </a:extLst>
          </p:cNvPr>
          <p:cNvSpPr>
            <a:spLocks noGrp="1"/>
          </p:cNvSpPr>
          <p:nvPr/>
        </p:nvSpPr>
        <p:spPr>
          <a:xfrm flipV="1">
            <a:off x="169334" y="4871120"/>
            <a:ext cx="8815911" cy="177311"/>
          </a:xfrm>
          <a:prstGeom prst="rect">
            <a:avLst/>
          </a:prstGeom>
          <a:solidFill>
            <a:schemeClr val="bg1">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Rectángulo 10">
            <a:extLst>
              <a:ext uri="{FF2B5EF4-FFF2-40B4-BE49-F238E27FC236}">
                <a16:creationId xmlns:a16="http://schemas.microsoft.com/office/drawing/2014/main" id="{A18DC9E6-BD6D-4FE1-AEC0-9715BEE3912A}"/>
              </a:ext>
            </a:extLst>
          </p:cNvPr>
          <p:cNvSpPr>
            <a:spLocks noGrp="1"/>
          </p:cNvSpPr>
          <p:nvPr/>
        </p:nvSpPr>
        <p:spPr>
          <a:xfrm flipV="1">
            <a:off x="7200957" y="4871118"/>
            <a:ext cx="1119038" cy="177313"/>
          </a:xfrm>
          <a:prstGeom prst="rect">
            <a:avLst/>
          </a:prstGeom>
          <a:solidFill>
            <a:srgbClr val="3366CC"/>
          </a:solidFill>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ítulo 1">
            <a:extLst>
              <a:ext uri="{FF2B5EF4-FFF2-40B4-BE49-F238E27FC236}">
                <a16:creationId xmlns:a16="http://schemas.microsoft.com/office/drawing/2014/main" id="{438D0FA2-1899-4EDF-9FA4-D1742768DFC6}"/>
              </a:ext>
            </a:extLst>
          </p:cNvPr>
          <p:cNvSpPr>
            <a:spLocks noGrp="1"/>
          </p:cNvSpPr>
          <p:nvPr>
            <p:ph type="title"/>
          </p:nvPr>
        </p:nvSpPr>
        <p:spPr>
          <a:xfrm>
            <a:off x="457200" y="149945"/>
            <a:ext cx="8229600" cy="857250"/>
          </a:xfrm>
        </p:spPr>
        <p:txBody>
          <a:bodyPr wrap="square" anchor="ctr">
            <a:noAutofit/>
          </a:bodyPr>
          <a:lstStyle/>
          <a:p>
            <a:pPr algn="l">
              <a:spcBef>
                <a:spcPts val="0"/>
              </a:spcBef>
              <a:spcAft>
                <a:spcPts val="0"/>
              </a:spcAft>
              <a:defRPr sz="1900" b="1">
                <a:solidFill>
                  <a:srgbClr val="FFFFFF"/>
                </a:solidFill>
                <a:latin typeface="Calibri"/>
                <a:ea typeface="Calibri"/>
                <a:cs typeface="Calibri"/>
              </a:defRPr>
            </a:pPr>
            <a:r>
              <a:rPr sz="1900" b="1">
                <a:solidFill>
                  <a:srgbClr val="FFFFFF"/>
                </a:solidFill>
                <a:latin typeface="Calibri"/>
                <a:ea typeface="Calibri"/>
                <a:cs typeface="Calibri"/>
              </a:rPr>
              <a:t>Metodología: qué se pretende estimar</a:t>
            </a:r>
          </a:p>
        </p:txBody>
      </p:sp>
      <p:graphicFrame>
        <p:nvGraphicFramePr>
          <p:cNvPr id="17" name="Tabla 16"/>
          <p:cNvGraphicFramePr/>
          <p:nvPr/>
        </p:nvGraphicFramePr>
        <p:xfrm>
          <a:off x="548640" y="1285875"/>
          <a:ext cx="8046720" cy="2895600"/>
        </p:xfrm>
        <a:graphic>
          <a:graphicData uri="http://schemas.openxmlformats.org/drawingml/2006/table">
            <a:tbl>
              <a:tblPr firstRow="1"/>
              <a:tblGrid>
                <a:gridCol w="1847850">
                  <a:extLst>
                    <a:ext uri="{9D8B030D-6E8A-4147-A177-3AD203B41FA5}">
                      <a16:colId xmlns:a16="http://schemas.microsoft.com/office/drawing/2014/main" val="20000"/>
                    </a:ext>
                  </a:extLst>
                </a:gridCol>
                <a:gridCol w="6198870">
                  <a:extLst>
                    <a:ext uri="{9D8B030D-6E8A-4147-A177-3AD203B41FA5}">
                      <a16:colId xmlns:a16="http://schemas.microsoft.com/office/drawing/2014/main" val="20001"/>
                    </a:ext>
                  </a:extLst>
                </a:gridCol>
              </a:tblGrid>
              <a:tr h="352425">
                <a:tc>
                  <a:txBody>
                    <a:bodyPr/>
                    <a:lstStyle/>
                    <a:p>
                      <a:r>
                        <a:rPr sz="1350" b="1">
                          <a:solidFill>
                            <a:srgbClr val="FFFFFF"/>
                          </a:solidFill>
                          <a:latin typeface="Calibri"/>
                          <a:ea typeface="Calibri"/>
                          <a:cs typeface="Calibri"/>
                        </a:rPr>
                        <a:t>Elemento</a:t>
                      </a:r>
                    </a:p>
                  </a:txBody>
                  <a:tcPr anchor="ctr">
                    <a:solidFill>
                      <a:srgbClr val="17375D"/>
                    </a:solidFill>
                  </a:tcPr>
                </a:tc>
                <a:tc>
                  <a:txBody>
                    <a:bodyPr/>
                    <a:lstStyle/>
                    <a:p>
                      <a:r>
                        <a:rPr sz="1350" b="1">
                          <a:solidFill>
                            <a:srgbClr val="FFFFFF"/>
                          </a:solidFill>
                          <a:latin typeface="Calibri"/>
                          <a:ea typeface="Calibri"/>
                          <a:cs typeface="Calibri"/>
                        </a:rPr>
                        <a:t>Producto previsto en el proyecto</a:t>
                      </a:r>
                    </a:p>
                  </a:txBody>
                  <a:tcPr anchor="ctr">
                    <a:solidFill>
                      <a:srgbClr val="17375D"/>
                    </a:solidFill>
                  </a:tcPr>
                </a:tc>
                <a:extLst>
                  <a:ext uri="{0D108BD9-81ED-4DB2-BD59-A6C34878D82A}">
                    <a16:rowId xmlns:a16="http://schemas.microsoft.com/office/drawing/2014/main" val="10000"/>
                  </a:ext>
                </a:extLst>
              </a:tr>
              <a:tr h="508635">
                <a:tc>
                  <a:txBody>
                    <a:bodyPr/>
                    <a:lstStyle/>
                    <a:p>
                      <a:r>
                        <a:rPr sz="1350" b="0">
                          <a:solidFill>
                            <a:srgbClr val="1E293B"/>
                          </a:solidFill>
                          <a:latin typeface="Calibri"/>
                          <a:ea typeface="Calibri"/>
                          <a:cs typeface="Calibri"/>
                        </a:rPr>
                        <a:t>Variable objetivo</a:t>
                      </a:r>
                    </a:p>
                  </a:txBody>
                  <a:tcPr anchor="ctr">
                    <a:solidFill>
                      <a:srgbClr val="EAF2FD"/>
                    </a:solidFill>
                  </a:tcPr>
                </a:tc>
                <a:tc>
                  <a:txBody>
                    <a:bodyPr/>
                    <a:lstStyle/>
                    <a:p>
                      <a:r>
                        <a:rPr sz="1350" b="0">
                          <a:solidFill>
                            <a:srgbClr val="1E293B"/>
                          </a:solidFill>
                          <a:latin typeface="Calibri"/>
                          <a:ea typeface="Calibri"/>
                          <a:cs typeface="Calibri"/>
                        </a:rPr>
                        <a:t>PM₂.₅ (µg/m³), dióxido de nitrógeno (ppb) y otros contaminantes. Unidades por verificar y armonizar por contaminante</a:t>
                      </a:r>
                    </a:p>
                  </a:txBody>
                  <a:tcPr anchor="ctr">
                    <a:solidFill>
                      <a:srgbClr val="EAF2FD"/>
                    </a:solidFill>
                  </a:tcPr>
                </a:tc>
                <a:extLst>
                  <a:ext uri="{0D108BD9-81ED-4DB2-BD59-A6C34878D82A}">
                    <a16:rowId xmlns:a16="http://schemas.microsoft.com/office/drawing/2014/main" val="10001"/>
                  </a:ext>
                </a:extLst>
              </a:tr>
              <a:tr h="508635">
                <a:tc>
                  <a:txBody>
                    <a:bodyPr/>
                    <a:lstStyle/>
                    <a:p>
                      <a:r>
                        <a:rPr sz="1350" b="0">
                          <a:solidFill>
                            <a:srgbClr val="1E293B"/>
                          </a:solidFill>
                          <a:latin typeface="Calibri"/>
                          <a:ea typeface="Calibri"/>
                          <a:cs typeface="Calibri"/>
                        </a:rPr>
                        <a:t>Unidad y dominio</a:t>
                      </a:r>
                    </a:p>
                  </a:txBody>
                  <a:tcPr anchor="ctr">
                    <a:solidFill>
                      <a:srgbClr val="FFFFFF"/>
                    </a:solidFill>
                  </a:tcPr>
                </a:tc>
                <a:tc>
                  <a:txBody>
                    <a:bodyPr/>
                    <a:lstStyle/>
                    <a:p>
                      <a:r>
                        <a:rPr sz="1350" b="0">
                          <a:solidFill>
                            <a:srgbClr val="1E293B"/>
                          </a:solidFill>
                          <a:latin typeface="Calibri"/>
                          <a:ea typeface="Calibri"/>
                          <a:cs typeface="Calibri"/>
                        </a:rPr>
                        <a:t>Celda de 0,01° × hora UTC. Grilla continental e insular de Chile</a:t>
                      </a:r>
                    </a:p>
                  </a:txBody>
                  <a:tcPr anchor="ctr">
                    <a:solidFill>
                      <a:srgbClr val="FFFFFF"/>
                    </a:solidFill>
                  </a:tcPr>
                </a:tc>
                <a:extLst>
                  <a:ext uri="{0D108BD9-81ED-4DB2-BD59-A6C34878D82A}">
                    <a16:rowId xmlns:a16="http://schemas.microsoft.com/office/drawing/2014/main" val="10002"/>
                  </a:ext>
                </a:extLst>
              </a:tr>
              <a:tr h="508635">
                <a:tc>
                  <a:txBody>
                    <a:bodyPr/>
                    <a:lstStyle/>
                    <a:p>
                      <a:r>
                        <a:rPr sz="1350" b="0">
                          <a:solidFill>
                            <a:srgbClr val="1E293B"/>
                          </a:solidFill>
                          <a:latin typeface="Calibri"/>
                          <a:ea typeface="Calibri"/>
                          <a:cs typeface="Calibri"/>
                        </a:rPr>
                        <a:t>Periodo de referencia</a:t>
                      </a:r>
                    </a:p>
                  </a:txBody>
                  <a:tcPr anchor="ctr">
                    <a:solidFill>
                      <a:srgbClr val="EAF2FD"/>
                    </a:solidFill>
                  </a:tcPr>
                </a:tc>
                <a:tc>
                  <a:txBody>
                    <a:bodyPr/>
                    <a:lstStyle/>
                    <a:p>
                      <a:r>
                        <a:rPr sz="1350" b="0">
                          <a:solidFill>
                            <a:srgbClr val="1E293B"/>
                          </a:solidFill>
                          <a:latin typeface="Calibri"/>
                          <a:ea typeface="Calibri"/>
                          <a:cs typeface="Calibri"/>
                        </a:rPr>
                        <a:t>1 enero 2000–13 septiembre 2026. Disponibilidad variable por fuente</a:t>
                      </a:r>
                    </a:p>
                  </a:txBody>
                  <a:tcPr anchor="ctr">
                    <a:solidFill>
                      <a:srgbClr val="EAF2FD"/>
                    </a:solidFill>
                  </a:tcPr>
                </a:tc>
                <a:extLst>
                  <a:ext uri="{0D108BD9-81ED-4DB2-BD59-A6C34878D82A}">
                    <a16:rowId xmlns:a16="http://schemas.microsoft.com/office/drawing/2014/main" val="10003"/>
                  </a:ext>
                </a:extLst>
              </a:tr>
              <a:tr h="508635">
                <a:tc>
                  <a:txBody>
                    <a:bodyPr/>
                    <a:lstStyle/>
                    <a:p>
                      <a:r>
                        <a:rPr sz="1350" b="0">
                          <a:solidFill>
                            <a:srgbClr val="1E293B"/>
                          </a:solidFill>
                          <a:latin typeface="Calibri"/>
                          <a:ea typeface="Calibri"/>
                          <a:cs typeface="Calibri"/>
                        </a:rPr>
                        <a:t>Superficies</a:t>
                      </a:r>
                    </a:p>
                  </a:txBody>
                  <a:tcPr anchor="ctr">
                    <a:solidFill>
                      <a:srgbClr val="FFFFFF"/>
                    </a:solidFill>
                  </a:tcPr>
                </a:tc>
                <a:tc>
                  <a:txBody>
                    <a:bodyPr/>
                    <a:lstStyle/>
                    <a:p>
                      <a:r>
                        <a:rPr sz="1350" b="0">
                          <a:solidFill>
                            <a:srgbClr val="1E293B"/>
                          </a:solidFill>
                          <a:latin typeface="Calibri"/>
                          <a:ea typeface="Calibri"/>
                          <a:cs typeface="Calibri"/>
                        </a:rPr>
                        <a:t>Reconstrucción retrospectiva horaria. Un archivo diario contiene 24 horas</a:t>
                      </a:r>
                    </a:p>
                  </a:txBody>
                  <a:tcPr anchor="ctr">
                    <a:solidFill>
                      <a:srgbClr val="FFFFFF"/>
                    </a:solidFill>
                  </a:tcPr>
                </a:tc>
                <a:extLst>
                  <a:ext uri="{0D108BD9-81ED-4DB2-BD59-A6C34878D82A}">
                    <a16:rowId xmlns:a16="http://schemas.microsoft.com/office/drawing/2014/main" val="10004"/>
                  </a:ext>
                </a:extLst>
              </a:tr>
              <a:tr h="508635">
                <a:tc>
                  <a:txBody>
                    <a:bodyPr/>
                    <a:lstStyle/>
                    <a:p>
                      <a:r>
                        <a:rPr sz="1350" b="0">
                          <a:solidFill>
                            <a:srgbClr val="1E293B"/>
                          </a:solidFill>
                          <a:latin typeface="Calibri"/>
                          <a:ea typeface="Calibri"/>
                          <a:cs typeface="Calibri"/>
                        </a:rPr>
                        <a:t>Resumen comunal</a:t>
                      </a:r>
                    </a:p>
                  </a:txBody>
                  <a:tcPr anchor="ctr">
                    <a:solidFill>
                      <a:srgbClr val="EAF2FD"/>
                    </a:solidFill>
                  </a:tcPr>
                </a:tc>
                <a:tc>
                  <a:txBody>
                    <a:bodyPr/>
                    <a:lstStyle/>
                    <a:p>
                      <a:r>
                        <a:rPr sz="1350" b="0">
                          <a:solidFill>
                            <a:srgbClr val="1E293B"/>
                          </a:solidFill>
                          <a:latin typeface="Calibri"/>
                          <a:ea typeface="Calibri"/>
                          <a:cs typeface="Calibri"/>
                        </a:rPr>
                        <a:t>Comuna × hora. Promedio por área y fracción cubierta, como propuesta</a:t>
                      </a:r>
                    </a:p>
                  </a:txBody>
                  <a:tcPr anchor="ctr">
                    <a:solidFill>
                      <a:srgbClr val="EAF2FD"/>
                    </a:solidFill>
                  </a:tcPr>
                </a:tc>
                <a:extLst>
                  <a:ext uri="{0D108BD9-81ED-4DB2-BD59-A6C34878D82A}">
                    <a16:rowId xmlns:a16="http://schemas.microsoft.com/office/drawing/2014/main" val="10005"/>
                  </a:ext>
                </a:extLst>
              </a:tr>
            </a:tbl>
          </a:graphicData>
        </a:graphic>
      </p:graphicFrame>
      <p:sp>
        <p:nvSpPr>
          <p:cNvPr id="9" name="Límite">
            <a:extLst>
              <a:ext uri="{FF2B5EF4-FFF2-40B4-BE49-F238E27FC236}">
                <a16:creationId xmlns:a16="http://schemas.microsoft.com/office/drawing/2014/main" id="{DE74A8E6-5CBF-45D7-AD8B-4F2C973210BF}"/>
              </a:ext>
            </a:extLst>
          </p:cNvPr>
          <p:cNvSpPr>
            <a:spLocks noGrp="1"/>
          </p:cNvSpPr>
          <p:nvPr/>
        </p:nvSpPr>
        <p:spPr>
          <a:xfrm>
            <a:off x="552450" y="4314825"/>
            <a:ext cx="8039100" cy="257175"/>
          </a:xfrm>
          <a:prstGeom prst="rect">
            <a:avLst/>
          </a:prstGeom>
          <a:noFill/>
          <a:ln w="0">
            <a:noFill/>
          </a:ln>
        </p:spPr>
        <p:txBody>
          <a:bodyPr wrap="square" lIns="0" tIns="0" rIns="0" bIns="0" anchor="t">
            <a:noAutofit/>
          </a:bodyPr>
          <a:lstStyle/>
          <a:p>
            <a:pPr algn="l">
              <a:buNone/>
              <a:defRPr sz="1275">
                <a:solidFill>
                  <a:srgbClr val="17375D"/>
                </a:solidFill>
                <a:latin typeface="Calibri"/>
                <a:ea typeface="Calibri"/>
                <a:cs typeface="Calibri"/>
              </a:defRPr>
            </a:pPr>
            <a:r>
              <a:rPr sz="1275">
                <a:solidFill>
                  <a:srgbClr val="17375D"/>
                </a:solidFill>
                <a:latin typeface="Calibri"/>
                <a:ea typeface="Calibri"/>
                <a:cs typeface="Calibri"/>
              </a:rPr>
              <a:t>La concentración ambiental estimada no equivale a exposición personal ni a pronóstico futuro.</a:t>
            </a:r>
          </a:p>
        </p:txBody>
      </p:sp>
      <p:sp>
        <p:nvSpPr>
          <p:cNvPr id="10" name="Fuente y alcance">
            <a:extLst>
              <a:ext uri="{FF2B5EF4-FFF2-40B4-BE49-F238E27FC236}">
                <a16:creationId xmlns:a16="http://schemas.microsoft.com/office/drawing/2014/main" id="{754EB791-3AFC-4321-AEF2-2544C329154A}"/>
              </a:ext>
            </a:extLst>
          </p:cNvPr>
          <p:cNvSpPr>
            <a:spLocks noGrp="1"/>
          </p:cNvSpPr>
          <p:nvPr/>
        </p:nvSpPr>
        <p:spPr>
          <a:xfrm>
            <a:off x="548640" y="4619625"/>
            <a:ext cx="8046720" cy="200025"/>
          </a:xfrm>
          <a:prstGeom prst="rect">
            <a:avLst/>
          </a:prstGeom>
          <a:noFill/>
          <a:ln w="0">
            <a:noFill/>
          </a:ln>
        </p:spPr>
        <p:txBody>
          <a:bodyPr wrap="square" lIns="0" tIns="0" rIns="0" bIns="0" anchor="ctr">
            <a:noAutofit/>
          </a:bodyPr>
          <a:lstStyle/>
          <a:p>
            <a:pPr algn="l">
              <a:buNone/>
              <a:defRPr sz="848">
                <a:solidFill>
                  <a:srgbClr val="526277"/>
                </a:solidFill>
                <a:latin typeface="Calibri"/>
                <a:ea typeface="Calibri"/>
                <a:cs typeface="Calibri"/>
              </a:defRPr>
            </a:pPr>
            <a:r>
              <a:rPr sz="848">
                <a:solidFill>
                  <a:srgbClr val="526277"/>
                </a:solidFill>
                <a:latin typeface="Calibri"/>
                <a:ea typeface="Calibri"/>
                <a:cs typeface="Calibri"/>
              </a:rPr>
              <a:t>Fuente: diseño documentado en el QMD. La grilla de ≈1 km no aumenta la resolución nativa de los predictores.</a:t>
            </a:r>
          </a:p>
        </p:txBody>
      </p:sp>
    </p:spTree>
    <p:extLst>
      <p:ext uri="{BB962C8B-B14F-4D97-AF65-F5344CB8AC3E}">
        <p14:creationId xmlns:p14="http://schemas.microsoft.com/office/powerpoint/2010/main" val="32275727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abecera azul UC">
            <a:extLst>
              <a:ext uri="{FF2B5EF4-FFF2-40B4-BE49-F238E27FC236}">
                <a16:creationId xmlns:a16="http://schemas.microsoft.com/office/drawing/2014/main" id="{3486DB9C-93DE-456A-BF48-2757BBD61ACE}"/>
              </a:ext>
            </a:extLst>
          </p:cNvPr>
          <p:cNvSpPr>
            <a:spLocks noGrp="1"/>
          </p:cNvSpPr>
          <p:nvPr/>
        </p:nvSpPr>
        <p:spPr>
          <a:xfrm>
            <a:off x="158742" y="0"/>
            <a:ext cx="8985258" cy="1007195"/>
          </a:xfrm>
          <a:prstGeom prst="rect">
            <a:avLst/>
          </a:prstGeom>
          <a:solidFill>
            <a:srgbClr val="017EDF"/>
          </a:solidFill>
          <a:ln>
            <a:noFill/>
          </a:ln>
        </p:spPr>
        <p:txBody>
          <a:bodyPr/>
          <a:lstStyle/>
          <a:p>
            <a:endParaRPr lang="es-CL"/>
          </a:p>
        </p:txBody>
      </p:sp>
      <p:sp>
        <p:nvSpPr>
          <p:cNvPr id="4" name="Rectángulo 9">
            <a:extLst>
              <a:ext uri="{FF2B5EF4-FFF2-40B4-BE49-F238E27FC236}">
                <a16:creationId xmlns:a16="http://schemas.microsoft.com/office/drawing/2014/main" id="{2DE33766-2918-41FC-A1B9-B4BF483C8974}"/>
              </a:ext>
            </a:extLst>
          </p:cNvPr>
          <p:cNvSpPr>
            <a:spLocks noGrp="1"/>
          </p:cNvSpPr>
          <p:nvPr/>
        </p:nvSpPr>
        <p:spPr>
          <a:xfrm>
            <a:off x="0" y="149945"/>
            <a:ext cx="158742" cy="857250"/>
          </a:xfrm>
          <a:prstGeom prst="rect">
            <a:avLst/>
          </a:prstGeom>
          <a:solidFill>
            <a:srgbClr val="FFE2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Rectángulo 7">
            <a:extLst>
              <a:ext uri="{FF2B5EF4-FFF2-40B4-BE49-F238E27FC236}">
                <a16:creationId xmlns:a16="http://schemas.microsoft.com/office/drawing/2014/main" id="{3BCD4458-45E8-4C73-A3B6-249CEEFBDB7B}"/>
              </a:ext>
            </a:extLst>
          </p:cNvPr>
          <p:cNvSpPr>
            <a:spLocks noGrp="1"/>
          </p:cNvSpPr>
          <p:nvPr/>
        </p:nvSpPr>
        <p:spPr>
          <a:xfrm flipV="1">
            <a:off x="169334" y="4871120"/>
            <a:ext cx="8815911" cy="177311"/>
          </a:xfrm>
          <a:prstGeom prst="rect">
            <a:avLst/>
          </a:prstGeom>
          <a:solidFill>
            <a:schemeClr val="bg1">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Rectángulo 10">
            <a:extLst>
              <a:ext uri="{FF2B5EF4-FFF2-40B4-BE49-F238E27FC236}">
                <a16:creationId xmlns:a16="http://schemas.microsoft.com/office/drawing/2014/main" id="{A18DC9E6-BD6D-4FE1-AEC0-9715BEE3912A}"/>
              </a:ext>
            </a:extLst>
          </p:cNvPr>
          <p:cNvSpPr>
            <a:spLocks noGrp="1"/>
          </p:cNvSpPr>
          <p:nvPr/>
        </p:nvSpPr>
        <p:spPr>
          <a:xfrm flipV="1">
            <a:off x="7200957" y="4871118"/>
            <a:ext cx="1119038" cy="177313"/>
          </a:xfrm>
          <a:prstGeom prst="rect">
            <a:avLst/>
          </a:prstGeom>
          <a:solidFill>
            <a:srgbClr val="3366CC"/>
          </a:solidFill>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ítulo 1">
            <a:extLst>
              <a:ext uri="{FF2B5EF4-FFF2-40B4-BE49-F238E27FC236}">
                <a16:creationId xmlns:a16="http://schemas.microsoft.com/office/drawing/2014/main" id="{438D0FA2-1899-4EDF-9FA4-D1742768DFC6}"/>
              </a:ext>
            </a:extLst>
          </p:cNvPr>
          <p:cNvSpPr>
            <a:spLocks noGrp="1"/>
          </p:cNvSpPr>
          <p:nvPr>
            <p:ph type="title"/>
          </p:nvPr>
        </p:nvSpPr>
        <p:spPr>
          <a:xfrm>
            <a:off x="457200" y="149945"/>
            <a:ext cx="8229600" cy="857250"/>
          </a:xfrm>
        </p:spPr>
        <p:txBody>
          <a:bodyPr wrap="square" anchor="ctr">
            <a:noAutofit/>
          </a:bodyPr>
          <a:lstStyle/>
          <a:p>
            <a:pPr algn="l">
              <a:spcBef>
                <a:spcPts val="0"/>
              </a:spcBef>
              <a:spcAft>
                <a:spcPts val="0"/>
              </a:spcAft>
              <a:defRPr sz="1900" b="1">
                <a:solidFill>
                  <a:srgbClr val="FFFFFF"/>
                </a:solidFill>
                <a:latin typeface="Calibri"/>
                <a:ea typeface="Calibri"/>
                <a:cs typeface="Calibri"/>
              </a:defRPr>
            </a:pPr>
            <a:r>
              <a:rPr sz="1900" b="1">
                <a:solidFill>
                  <a:srgbClr val="FFFFFF"/>
                </a:solidFill>
                <a:latin typeface="Calibri"/>
                <a:ea typeface="Calibri"/>
                <a:cs typeface="Calibri"/>
              </a:rPr>
              <a:t>Metodología: flujo completo de los datos</a:t>
            </a:r>
          </a:p>
        </p:txBody>
      </p:sp>
      <p:sp>
        <p:nvSpPr>
          <p:cNvPr id="8" name="Fuente 0">
            <a:extLst>
              <a:ext uri="{FF2B5EF4-FFF2-40B4-BE49-F238E27FC236}">
                <a16:creationId xmlns:a16="http://schemas.microsoft.com/office/drawing/2014/main" id="{2AB21B8E-4A89-4B11-8DF7-F99AAF89579E}"/>
              </a:ext>
            </a:extLst>
          </p:cNvPr>
          <p:cNvSpPr>
            <a:spLocks noGrp="1"/>
          </p:cNvSpPr>
          <p:nvPr/>
        </p:nvSpPr>
        <p:spPr>
          <a:xfrm>
            <a:off x="552450" y="1190625"/>
            <a:ext cx="2143125" cy="552450"/>
          </a:xfrm>
          <a:prstGeom prst="rect">
            <a:avLst/>
          </a:prstGeom>
          <a:solidFill>
            <a:srgbClr val="EAF2FD"/>
          </a:solidFill>
          <a:ln w="9525">
            <a:solidFill>
              <a:srgbClr val="D6DFEB"/>
            </a:solidFill>
          </a:ln>
        </p:spPr>
        <p:txBody>
          <a:bodyPr wrap="square" lIns="76200" tIns="47625" rIns="76200" bIns="47625" anchor="ctr">
            <a:noAutofit/>
          </a:bodyPr>
          <a:lstStyle/>
          <a:p>
            <a:pPr algn="ctr">
              <a:buNone/>
              <a:defRPr sz="1125" b="0">
                <a:solidFill>
                  <a:srgbClr val="17375D"/>
                </a:solidFill>
                <a:latin typeface="Calibri"/>
                <a:ea typeface="Calibri"/>
                <a:cs typeface="Calibri"/>
              </a:defRPr>
            </a:pPr>
            <a:r>
              <a:rPr sz="1125" b="0">
                <a:solidFill>
                  <a:srgbClr val="17375D"/>
                </a:solidFill>
                <a:latin typeface="Calibri"/>
                <a:ea typeface="Calibri"/>
                <a:cs typeface="Calibri"/>
              </a:rPr>
              <a:t>Referencia superficial</a:t>
            </a:r>
          </a:p>
          <a:p>
            <a:pPr algn="ctr">
              <a:buNone/>
              <a:defRPr sz="1125" b="0">
                <a:solidFill>
                  <a:srgbClr val="17375D"/>
                </a:solidFill>
                <a:latin typeface="Calibri"/>
                <a:ea typeface="Calibri"/>
                <a:cs typeface="Calibri"/>
              </a:defRPr>
            </a:pPr>
            <a:r>
              <a:rPr sz="1125" b="0">
                <a:solidFill>
                  <a:srgbClr val="17375D"/>
                </a:solidFill>
                <a:latin typeface="Calibri"/>
                <a:ea typeface="Calibri"/>
                <a:cs typeface="Calibri"/>
              </a:rPr>
              <a:t>SINCA y SNIFA</a:t>
            </a:r>
          </a:p>
        </p:txBody>
      </p:sp>
      <p:sp>
        <p:nvSpPr>
          <p:cNvPr id="9" name="Fuente 1">
            <a:extLst>
              <a:ext uri="{FF2B5EF4-FFF2-40B4-BE49-F238E27FC236}">
                <a16:creationId xmlns:a16="http://schemas.microsoft.com/office/drawing/2014/main" id="{BDDCF013-0418-43DF-B3F1-C8DF0C787E3D}"/>
              </a:ext>
            </a:extLst>
          </p:cNvPr>
          <p:cNvSpPr>
            <a:spLocks noGrp="1"/>
          </p:cNvSpPr>
          <p:nvPr/>
        </p:nvSpPr>
        <p:spPr>
          <a:xfrm>
            <a:off x="552450" y="1838325"/>
            <a:ext cx="2143125" cy="552450"/>
          </a:xfrm>
          <a:prstGeom prst="rect">
            <a:avLst/>
          </a:prstGeom>
          <a:solidFill>
            <a:srgbClr val="EAF2FD"/>
          </a:solidFill>
          <a:ln w="9525">
            <a:solidFill>
              <a:srgbClr val="D6DFEB"/>
            </a:solidFill>
          </a:ln>
        </p:spPr>
        <p:txBody>
          <a:bodyPr wrap="square" lIns="76200" tIns="47625" rIns="76200" bIns="47625" anchor="ctr">
            <a:noAutofit/>
          </a:bodyPr>
          <a:lstStyle/>
          <a:p>
            <a:pPr algn="ctr">
              <a:buNone/>
              <a:defRPr sz="1125" b="0">
                <a:solidFill>
                  <a:srgbClr val="17375D"/>
                </a:solidFill>
                <a:latin typeface="Calibri"/>
                <a:ea typeface="Calibri"/>
                <a:cs typeface="Calibri"/>
              </a:defRPr>
            </a:pPr>
            <a:r>
              <a:rPr sz="1125" b="0">
                <a:solidFill>
                  <a:srgbClr val="17375D"/>
                </a:solidFill>
                <a:latin typeface="Calibri"/>
                <a:ea typeface="Calibri"/>
                <a:cs typeface="Calibri"/>
              </a:rPr>
              <a:t>Satélites y PM₂.₅ externo</a:t>
            </a:r>
          </a:p>
          <a:p>
            <a:pPr algn="ctr">
              <a:buNone/>
              <a:defRPr sz="1125" b="0">
                <a:solidFill>
                  <a:srgbClr val="17375D"/>
                </a:solidFill>
                <a:latin typeface="Calibri"/>
                <a:ea typeface="Calibri"/>
                <a:cs typeface="Calibri"/>
              </a:defRPr>
            </a:pPr>
            <a:r>
              <a:rPr sz="1125" b="0">
                <a:solidFill>
                  <a:srgbClr val="17375D"/>
                </a:solidFill>
                <a:latin typeface="Calibri"/>
                <a:ea typeface="Calibri"/>
                <a:cs typeface="Calibri"/>
              </a:rPr>
              <a:t>MAIAC, TROPOMI, ACAG</a:t>
            </a:r>
          </a:p>
        </p:txBody>
      </p:sp>
      <p:sp>
        <p:nvSpPr>
          <p:cNvPr id="10" name="Fuente 2">
            <a:extLst>
              <a:ext uri="{FF2B5EF4-FFF2-40B4-BE49-F238E27FC236}">
                <a16:creationId xmlns:a16="http://schemas.microsoft.com/office/drawing/2014/main" id="{19376546-D882-4262-87E8-4E9DF250911E}"/>
              </a:ext>
            </a:extLst>
          </p:cNvPr>
          <p:cNvSpPr>
            <a:spLocks noGrp="1"/>
          </p:cNvSpPr>
          <p:nvPr/>
        </p:nvSpPr>
        <p:spPr>
          <a:xfrm>
            <a:off x="552450" y="2486025"/>
            <a:ext cx="2143125" cy="552450"/>
          </a:xfrm>
          <a:prstGeom prst="rect">
            <a:avLst/>
          </a:prstGeom>
          <a:solidFill>
            <a:srgbClr val="EAF2FD"/>
          </a:solidFill>
          <a:ln w="9525">
            <a:solidFill>
              <a:srgbClr val="D6DFEB"/>
            </a:solidFill>
          </a:ln>
        </p:spPr>
        <p:txBody>
          <a:bodyPr wrap="square" lIns="76200" tIns="47625" rIns="76200" bIns="47625" anchor="ctr">
            <a:noAutofit/>
          </a:bodyPr>
          <a:lstStyle/>
          <a:p>
            <a:pPr algn="ctr">
              <a:buNone/>
              <a:defRPr sz="1125" b="0">
                <a:solidFill>
                  <a:srgbClr val="17375D"/>
                </a:solidFill>
                <a:latin typeface="Calibri"/>
                <a:ea typeface="Calibri"/>
                <a:cs typeface="Calibri"/>
              </a:defRPr>
            </a:pPr>
            <a:r>
              <a:rPr sz="1125" b="0">
                <a:solidFill>
                  <a:srgbClr val="17375D"/>
                </a:solidFill>
                <a:latin typeface="Calibri"/>
                <a:ea typeface="Calibri"/>
                <a:cs typeface="Calibri"/>
              </a:rPr>
              <a:t>Atmósfera y meteorología</a:t>
            </a:r>
          </a:p>
          <a:p>
            <a:pPr algn="ctr">
              <a:buNone/>
              <a:defRPr sz="1125" b="0">
                <a:solidFill>
                  <a:srgbClr val="17375D"/>
                </a:solidFill>
                <a:latin typeface="Calibri"/>
                <a:ea typeface="Calibri"/>
                <a:cs typeface="Calibri"/>
              </a:defRPr>
            </a:pPr>
            <a:r>
              <a:rPr sz="1125" b="0">
                <a:solidFill>
                  <a:srgbClr val="17375D"/>
                </a:solidFill>
                <a:latin typeface="Calibri"/>
                <a:ea typeface="Calibri"/>
                <a:cs typeface="Calibri"/>
              </a:rPr>
              <a:t>ERA5/Land, MERRA-2, CAMS, GEOS-CF</a:t>
            </a:r>
          </a:p>
        </p:txBody>
      </p:sp>
      <p:sp>
        <p:nvSpPr>
          <p:cNvPr id="11" name="Fuente 3">
            <a:extLst>
              <a:ext uri="{FF2B5EF4-FFF2-40B4-BE49-F238E27FC236}">
                <a16:creationId xmlns:a16="http://schemas.microsoft.com/office/drawing/2014/main" id="{7CF9FA61-8FF4-4013-BA44-9678871672A3}"/>
              </a:ext>
            </a:extLst>
          </p:cNvPr>
          <p:cNvSpPr>
            <a:spLocks noGrp="1"/>
          </p:cNvSpPr>
          <p:nvPr/>
        </p:nvSpPr>
        <p:spPr>
          <a:xfrm>
            <a:off x="552450" y="3133725"/>
            <a:ext cx="2143125" cy="552450"/>
          </a:xfrm>
          <a:prstGeom prst="rect">
            <a:avLst/>
          </a:prstGeom>
          <a:solidFill>
            <a:srgbClr val="EAF2FD"/>
          </a:solidFill>
          <a:ln w="9525">
            <a:solidFill>
              <a:srgbClr val="D6DFEB"/>
            </a:solidFill>
          </a:ln>
        </p:spPr>
        <p:txBody>
          <a:bodyPr wrap="square" lIns="76200" tIns="47625" rIns="76200" bIns="47625" anchor="ctr">
            <a:noAutofit/>
          </a:bodyPr>
          <a:lstStyle/>
          <a:p>
            <a:pPr algn="ctr">
              <a:buNone/>
              <a:defRPr sz="1125" b="0">
                <a:solidFill>
                  <a:srgbClr val="17375D"/>
                </a:solidFill>
                <a:latin typeface="Calibri"/>
                <a:ea typeface="Calibri"/>
                <a:cs typeface="Calibri"/>
              </a:defRPr>
            </a:pPr>
            <a:r>
              <a:rPr sz="1125" b="0">
                <a:solidFill>
                  <a:srgbClr val="17375D"/>
                </a:solidFill>
                <a:latin typeface="Calibri"/>
                <a:ea typeface="Calibri"/>
                <a:cs typeface="Calibri"/>
              </a:rPr>
              <a:t>Territorio y tiempo</a:t>
            </a:r>
          </a:p>
          <a:p>
            <a:pPr algn="ctr">
              <a:buNone/>
              <a:defRPr sz="1125" b="0">
                <a:solidFill>
                  <a:srgbClr val="17375D"/>
                </a:solidFill>
                <a:latin typeface="Calibri"/>
                <a:ea typeface="Calibri"/>
                <a:cs typeface="Calibri"/>
              </a:defRPr>
            </a:pPr>
            <a:r>
              <a:rPr sz="1125" b="0">
                <a:solidFill>
                  <a:srgbClr val="17375D"/>
                </a:solidFill>
                <a:latin typeface="Calibri"/>
                <a:ea typeface="Calibri"/>
                <a:cs typeface="Calibri"/>
              </a:rPr>
              <a:t>ESA CCI, población, geometría y calendario</a:t>
            </a:r>
          </a:p>
        </p:txBody>
      </p:sp>
      <p:sp>
        <p:nvSpPr>
          <p:cNvPr id="12" name="Preparar">
            <a:extLst>
              <a:ext uri="{FF2B5EF4-FFF2-40B4-BE49-F238E27FC236}">
                <a16:creationId xmlns:a16="http://schemas.microsoft.com/office/drawing/2014/main" id="{095ED64E-28AE-4A67-A0F6-0652BA9FF390}"/>
              </a:ext>
            </a:extLst>
          </p:cNvPr>
          <p:cNvSpPr>
            <a:spLocks noGrp="1"/>
          </p:cNvSpPr>
          <p:nvPr/>
        </p:nvSpPr>
        <p:spPr>
          <a:xfrm>
            <a:off x="3124200" y="1476375"/>
            <a:ext cx="1676400" cy="1990725"/>
          </a:xfrm>
          <a:prstGeom prst="rect">
            <a:avLst/>
          </a:prstGeom>
          <a:solidFill>
            <a:srgbClr val="EAF2FD"/>
          </a:solidFill>
          <a:ln w="9525">
            <a:solidFill>
              <a:srgbClr val="D6DFEB"/>
            </a:solidFill>
          </a:ln>
        </p:spPr>
        <p:txBody>
          <a:bodyPr wrap="square" lIns="76200" tIns="47625" rIns="76200" bIns="47625" anchor="ctr">
            <a:noAutofit/>
          </a:bodyPr>
          <a:lstStyle/>
          <a:p>
            <a:pPr algn="ctr">
              <a:spcBef>
                <a:spcPts val="0"/>
              </a:spcBef>
              <a:spcAft>
                <a:spcPts val="0"/>
              </a:spcAft>
              <a:defRPr sz="1275" b="0">
                <a:solidFill>
                  <a:srgbClr val="1E293B"/>
                </a:solidFill>
                <a:latin typeface="Calibri"/>
                <a:ea typeface="Calibri"/>
                <a:cs typeface="Calibri"/>
              </a:defRPr>
            </a:pPr>
            <a:r>
              <a:rPr sz="1275" b="0">
                <a:solidFill>
                  <a:srgbClr val="1E293B"/>
                </a:solidFill>
                <a:latin typeface="Calibri"/>
                <a:ea typeface="Calibri"/>
                <a:cs typeface="Calibri"/>
              </a:rPr>
              <a:t>1. PREPARAR</a:t>
            </a:r>
          </a:p>
          <a:p>
            <a:pPr>
              <a:spcBef>
                <a:spcPts val="0"/>
              </a:spcBef>
              <a:spcAft>
                <a:spcPts val="0"/>
              </a:spcAft>
            </a:pPr>
            <a:endParaRPr sz="1275" b="0">
              <a:solidFill>
                <a:srgbClr val="1E293B"/>
              </a:solidFill>
              <a:latin typeface="Calibri"/>
              <a:ea typeface="Calibri"/>
              <a:cs typeface="Calibri"/>
            </a:endParaRPr>
          </a:p>
          <a:p>
            <a:pPr algn="ctr">
              <a:spcBef>
                <a:spcPts val="0"/>
              </a:spcBef>
              <a:spcAft>
                <a:spcPts val="0"/>
              </a:spcAft>
              <a:defRPr sz="1275" b="0">
                <a:solidFill>
                  <a:srgbClr val="1E293B"/>
                </a:solidFill>
                <a:latin typeface="Calibri"/>
                <a:ea typeface="Calibri"/>
                <a:cs typeface="Calibri"/>
              </a:defRPr>
            </a:pPr>
            <a:r>
              <a:rPr sz="1275" b="0">
                <a:solidFill>
                  <a:srgbClr val="1E293B"/>
                </a:solidFill>
                <a:latin typeface="Calibri"/>
                <a:ea typeface="Calibri"/>
                <a:cs typeface="Calibri"/>
              </a:rPr>
              <a:t>Originales y versión</a:t>
            </a:r>
          </a:p>
          <a:p>
            <a:pPr algn="ctr">
              <a:spcBef>
                <a:spcPts val="0"/>
              </a:spcBef>
              <a:spcAft>
                <a:spcPts val="0"/>
              </a:spcAft>
              <a:defRPr sz="1275" b="0">
                <a:solidFill>
                  <a:srgbClr val="1E293B"/>
                </a:solidFill>
                <a:latin typeface="Calibri"/>
                <a:ea typeface="Calibri"/>
                <a:cs typeface="Calibri"/>
              </a:defRPr>
            </a:pPr>
            <a:r>
              <a:rPr sz="1275" b="0">
                <a:solidFill>
                  <a:srgbClr val="1E293B"/>
                </a:solidFill>
                <a:latin typeface="Calibri"/>
                <a:ea typeface="Calibri"/>
                <a:cs typeface="Calibri"/>
              </a:rPr>
              <a:t>Calidad y faltantes</a:t>
            </a:r>
          </a:p>
          <a:p>
            <a:pPr algn="ctr">
              <a:spcBef>
                <a:spcPts val="0"/>
              </a:spcBef>
              <a:spcAft>
                <a:spcPts val="0"/>
              </a:spcAft>
              <a:defRPr sz="1275" b="0">
                <a:solidFill>
                  <a:srgbClr val="1E293B"/>
                </a:solidFill>
                <a:latin typeface="Calibri"/>
                <a:ea typeface="Calibri"/>
                <a:cs typeface="Calibri"/>
              </a:defRPr>
            </a:pPr>
            <a:r>
              <a:rPr sz="1275" b="0">
                <a:solidFill>
                  <a:srgbClr val="1E293B"/>
                </a:solidFill>
                <a:latin typeface="Calibri"/>
                <a:ea typeface="Calibri"/>
                <a:cs typeface="Calibri"/>
              </a:rPr>
              <a:t>Unidades y hora UTC</a:t>
            </a:r>
          </a:p>
          <a:p>
            <a:pPr algn="ctr">
              <a:spcBef>
                <a:spcPts val="0"/>
              </a:spcBef>
              <a:spcAft>
                <a:spcPts val="0"/>
              </a:spcAft>
              <a:defRPr sz="1275" b="0">
                <a:solidFill>
                  <a:srgbClr val="1E293B"/>
                </a:solidFill>
                <a:latin typeface="Calibri"/>
                <a:ea typeface="Calibri"/>
                <a:cs typeface="Calibri"/>
              </a:defRPr>
            </a:pPr>
            <a:r>
              <a:rPr sz="1275" b="0">
                <a:solidFill>
                  <a:srgbClr val="1E293B"/>
                </a:solidFill>
                <a:latin typeface="Calibri"/>
                <a:ea typeface="Calibri"/>
                <a:cs typeface="Calibri"/>
              </a:rPr>
              <a:t>Procedencia del dato</a:t>
            </a:r>
          </a:p>
        </p:txBody>
      </p:sp>
      <p:sp>
        <p:nvSpPr>
          <p:cNvPr id="13" name="Integrar">
            <a:extLst>
              <a:ext uri="{FF2B5EF4-FFF2-40B4-BE49-F238E27FC236}">
                <a16:creationId xmlns:a16="http://schemas.microsoft.com/office/drawing/2014/main" id="{D04D8954-5740-4D47-ADCF-FB3A77B021A7}"/>
              </a:ext>
            </a:extLst>
          </p:cNvPr>
          <p:cNvSpPr>
            <a:spLocks noGrp="1"/>
          </p:cNvSpPr>
          <p:nvPr/>
        </p:nvSpPr>
        <p:spPr>
          <a:xfrm>
            <a:off x="5229225" y="1476375"/>
            <a:ext cx="1619250" cy="1990725"/>
          </a:xfrm>
          <a:prstGeom prst="rect">
            <a:avLst/>
          </a:prstGeom>
          <a:solidFill>
            <a:srgbClr val="EAF2FD"/>
          </a:solidFill>
          <a:ln w="9525">
            <a:solidFill>
              <a:srgbClr val="D6DFEB"/>
            </a:solidFill>
          </a:ln>
        </p:spPr>
        <p:txBody>
          <a:bodyPr wrap="square" lIns="76200" tIns="47625" rIns="76200" bIns="47625" anchor="ctr">
            <a:noAutofit/>
          </a:bodyPr>
          <a:lstStyle/>
          <a:p>
            <a:pPr algn="ctr">
              <a:buNone/>
              <a:defRPr sz="1275" b="0">
                <a:solidFill>
                  <a:srgbClr val="17375D"/>
                </a:solidFill>
                <a:latin typeface="Calibri"/>
                <a:ea typeface="Calibri"/>
                <a:cs typeface="Calibri"/>
              </a:defRPr>
            </a:pPr>
            <a:r>
              <a:rPr sz="1275" b="0">
                <a:solidFill>
                  <a:srgbClr val="17375D"/>
                </a:solidFill>
                <a:latin typeface="Calibri"/>
                <a:ea typeface="Calibri"/>
                <a:cs typeface="Calibri"/>
              </a:rPr>
              <a:t>2. DESCRIBIR</a:t>
            </a:r>
          </a:p>
          <a:p>
            <a:endParaRPr sz="1275" b="0">
              <a:solidFill>
                <a:srgbClr val="17375D"/>
              </a:solidFill>
              <a:latin typeface="Calibri"/>
              <a:ea typeface="Calibri"/>
              <a:cs typeface="Calibri"/>
            </a:endParaRPr>
          </a:p>
          <a:p>
            <a:pPr algn="ctr">
              <a:buNone/>
              <a:defRPr sz="1275" b="0">
                <a:solidFill>
                  <a:srgbClr val="17375D"/>
                </a:solidFill>
                <a:latin typeface="Calibri"/>
                <a:ea typeface="Calibri"/>
                <a:cs typeface="Calibri"/>
              </a:defRPr>
            </a:pPr>
            <a:r>
              <a:rPr sz="1275" b="0">
                <a:solidFill>
                  <a:srgbClr val="17375D"/>
                </a:solidFill>
                <a:latin typeface="Calibri"/>
                <a:ea typeface="Calibri"/>
                <a:cs typeface="Calibri"/>
              </a:rPr>
              <a:t>Cobertura y faltantes</a:t>
            </a:r>
          </a:p>
          <a:p>
            <a:pPr algn="ctr">
              <a:buNone/>
              <a:defRPr sz="1275" b="0">
                <a:solidFill>
                  <a:srgbClr val="17375D"/>
                </a:solidFill>
                <a:latin typeface="Calibri"/>
                <a:ea typeface="Calibri"/>
                <a:cs typeface="Calibri"/>
              </a:defRPr>
            </a:pPr>
            <a:r>
              <a:rPr sz="1275" b="0">
                <a:solidFill>
                  <a:srgbClr val="17375D"/>
                </a:solidFill>
                <a:latin typeface="Calibri"/>
                <a:ea typeface="Calibri"/>
                <a:cs typeface="Calibri"/>
              </a:rPr>
              <a:t>Mapas y estacionalidad</a:t>
            </a:r>
          </a:p>
          <a:p>
            <a:pPr algn="ctr">
              <a:buNone/>
              <a:defRPr sz="1275" b="0">
                <a:solidFill>
                  <a:srgbClr val="17375D"/>
                </a:solidFill>
                <a:latin typeface="Calibri"/>
                <a:ea typeface="Calibri"/>
                <a:cs typeface="Calibri"/>
              </a:defRPr>
            </a:pPr>
            <a:r>
              <a:rPr sz="1275" b="0">
                <a:solidFill>
                  <a:srgbClr val="17375D"/>
                </a:solidFill>
                <a:latin typeface="Calibri"/>
                <a:ea typeface="Calibri"/>
                <a:cs typeface="Calibri"/>
              </a:rPr>
              <a:t>Cada fuente en su</a:t>
            </a:r>
          </a:p>
          <a:p>
            <a:pPr algn="ctr">
              <a:buNone/>
              <a:defRPr sz="1275" b="0">
                <a:solidFill>
                  <a:srgbClr val="17375D"/>
                </a:solidFill>
                <a:latin typeface="Calibri"/>
                <a:ea typeface="Calibri"/>
                <a:cs typeface="Calibri"/>
              </a:defRPr>
            </a:pPr>
            <a:r>
              <a:rPr sz="1275" b="0">
                <a:solidFill>
                  <a:srgbClr val="17375D"/>
                </a:solidFill>
                <a:latin typeface="Calibri"/>
                <a:ea typeface="Calibri"/>
                <a:cs typeface="Calibri"/>
              </a:rPr>
              <a:t>soporte original</a:t>
            </a:r>
          </a:p>
        </p:txBody>
      </p:sp>
      <p:sp>
        <p:nvSpPr>
          <p:cNvPr id="14" name="Describir">
            <a:extLst>
              <a:ext uri="{FF2B5EF4-FFF2-40B4-BE49-F238E27FC236}">
                <a16:creationId xmlns:a16="http://schemas.microsoft.com/office/drawing/2014/main" id="{288E8038-84DF-4779-9EB4-6A95D9EA48CE}"/>
              </a:ext>
            </a:extLst>
          </p:cNvPr>
          <p:cNvSpPr>
            <a:spLocks noGrp="1"/>
          </p:cNvSpPr>
          <p:nvPr/>
        </p:nvSpPr>
        <p:spPr>
          <a:xfrm>
            <a:off x="7267575" y="1476375"/>
            <a:ext cx="1314450" cy="1990725"/>
          </a:xfrm>
          <a:prstGeom prst="rect">
            <a:avLst/>
          </a:prstGeom>
          <a:solidFill>
            <a:srgbClr val="EAF2FD"/>
          </a:solidFill>
          <a:ln w="9525">
            <a:solidFill>
              <a:srgbClr val="D6DFEB"/>
            </a:solidFill>
          </a:ln>
        </p:spPr>
        <p:txBody>
          <a:bodyPr wrap="square" lIns="76200" tIns="47625" rIns="76200" bIns="47625" anchor="ctr">
            <a:noAutofit/>
          </a:bodyPr>
          <a:lstStyle/>
          <a:p>
            <a:pPr algn="ctr">
              <a:spcBef>
                <a:spcPts val="0"/>
              </a:spcBef>
              <a:spcAft>
                <a:spcPts val="0"/>
              </a:spcAft>
              <a:defRPr sz="1163" b="0">
                <a:solidFill>
                  <a:srgbClr val="1E293B"/>
                </a:solidFill>
                <a:latin typeface="Calibri"/>
                <a:ea typeface="Calibri"/>
                <a:cs typeface="Calibri"/>
              </a:defRPr>
            </a:pPr>
            <a:r>
              <a:rPr sz="1163" b="0">
                <a:solidFill>
                  <a:srgbClr val="1E293B"/>
                </a:solidFill>
                <a:latin typeface="Calibri"/>
                <a:ea typeface="Calibri"/>
                <a:cs typeface="Calibri"/>
              </a:rPr>
              <a:t>3. INTEGRAR</a:t>
            </a:r>
          </a:p>
          <a:p>
            <a:pPr>
              <a:spcBef>
                <a:spcPts val="0"/>
              </a:spcBef>
              <a:spcAft>
                <a:spcPts val="0"/>
              </a:spcAft>
            </a:pPr>
            <a:endParaRPr sz="1163" b="0">
              <a:solidFill>
                <a:srgbClr val="1E293B"/>
              </a:solidFill>
              <a:latin typeface="Calibri"/>
              <a:ea typeface="Calibri"/>
              <a:cs typeface="Calibri"/>
            </a:endParaRPr>
          </a:p>
          <a:p>
            <a:pPr algn="ctr">
              <a:spcBef>
                <a:spcPts val="0"/>
              </a:spcBef>
              <a:spcAft>
                <a:spcPts val="0"/>
              </a:spcAft>
              <a:defRPr sz="1163" b="0">
                <a:solidFill>
                  <a:srgbClr val="1E293B"/>
                </a:solidFill>
                <a:latin typeface="Calibri"/>
                <a:ea typeface="Calibri"/>
                <a:cs typeface="Calibri"/>
              </a:defRPr>
            </a:pPr>
            <a:r>
              <a:rPr sz="1163" b="0">
                <a:solidFill>
                  <a:srgbClr val="1E293B"/>
                </a:solidFill>
                <a:latin typeface="Calibri"/>
                <a:ea typeface="Calibri"/>
                <a:cs typeface="Calibri"/>
              </a:rPr>
              <a:t>Enlace espacial</a:t>
            </a:r>
          </a:p>
          <a:p>
            <a:pPr algn="ctr">
              <a:spcBef>
                <a:spcPts val="0"/>
              </a:spcBef>
              <a:spcAft>
                <a:spcPts val="0"/>
              </a:spcAft>
              <a:defRPr sz="1163" b="0">
                <a:solidFill>
                  <a:srgbClr val="1E293B"/>
                </a:solidFill>
                <a:latin typeface="Calibri"/>
                <a:ea typeface="Calibri"/>
                <a:cs typeface="Calibri"/>
              </a:defRPr>
            </a:pPr>
            <a:r>
              <a:rPr sz="1163" b="0">
                <a:solidFill>
                  <a:srgbClr val="1E293B"/>
                </a:solidFill>
                <a:latin typeface="Calibri"/>
                <a:ea typeface="Calibri"/>
                <a:cs typeface="Calibri"/>
              </a:rPr>
              <a:t>Alineación temporal</a:t>
            </a:r>
          </a:p>
          <a:p>
            <a:pPr algn="ctr">
              <a:spcBef>
                <a:spcPts val="0"/>
              </a:spcBef>
              <a:spcAft>
                <a:spcPts val="0"/>
              </a:spcAft>
              <a:defRPr sz="1163" b="0">
                <a:solidFill>
                  <a:srgbClr val="1E293B"/>
                </a:solidFill>
                <a:latin typeface="Calibri"/>
                <a:ea typeface="Calibri"/>
                <a:cs typeface="Calibri"/>
              </a:defRPr>
            </a:pPr>
            <a:r>
              <a:rPr sz="1163" b="0">
                <a:solidFill>
                  <a:srgbClr val="1E293B"/>
                </a:solidFill>
                <a:latin typeface="Calibri"/>
                <a:ea typeface="Calibri"/>
                <a:cs typeface="Calibri"/>
              </a:rPr>
              <a:t>Celda × hora UTC</a:t>
            </a:r>
          </a:p>
          <a:p>
            <a:pPr algn="ctr">
              <a:spcBef>
                <a:spcPts val="0"/>
              </a:spcBef>
              <a:spcAft>
                <a:spcPts val="0"/>
              </a:spcAft>
              <a:defRPr sz="1163" b="0">
                <a:solidFill>
                  <a:srgbClr val="1E293B"/>
                </a:solidFill>
                <a:latin typeface="Calibri"/>
                <a:ea typeface="Calibri"/>
                <a:cs typeface="Calibri"/>
              </a:defRPr>
            </a:pPr>
            <a:r>
              <a:rPr sz="1163" b="0">
                <a:solidFill>
                  <a:srgbClr val="1E293B"/>
                </a:solidFill>
                <a:latin typeface="Calibri"/>
                <a:ea typeface="Calibri"/>
                <a:cs typeface="Calibri"/>
              </a:rPr>
              <a:t>Registro de pérdidas</a:t>
            </a:r>
          </a:p>
        </p:txBody>
      </p:sp>
      <p:cxnSp>
        <p:nvCxnSpPr>
          <p:cNvPr id="67" name="Conector angular 66"/>
          <p:cNvCxnSpPr>
            <a:stCxn id="8" idx="3"/>
            <a:endCxn id="12" idx="1"/>
          </p:cNvCxnSpPr>
          <p:nvPr/>
        </p:nvCxnSpPr>
        <p:spPr>
          <a:xfrm>
            <a:off x="2695575" y="1466850"/>
            <a:ext cx="428625" cy="1004888"/>
          </a:xfrm>
          <a:prstGeom prst="bentConnector3">
            <a:avLst>
              <a:gd name="adj1" fmla="val 50000"/>
            </a:avLst>
          </a:prstGeom>
          <a:ln w="16193">
            <a:solidFill>
              <a:srgbClr val="017EDF"/>
            </a:solidFill>
            <a:tailEnd type="triangle" w="sm" len="sm"/>
          </a:ln>
        </p:spPr>
      </p:cxnSp>
      <p:cxnSp>
        <p:nvCxnSpPr>
          <p:cNvPr id="68" name="Conector angular 67"/>
          <p:cNvCxnSpPr>
            <a:stCxn id="9" idx="3"/>
            <a:endCxn id="12" idx="1"/>
          </p:cNvCxnSpPr>
          <p:nvPr/>
        </p:nvCxnSpPr>
        <p:spPr>
          <a:xfrm>
            <a:off x="2695575" y="2114550"/>
            <a:ext cx="428625" cy="357188"/>
          </a:xfrm>
          <a:prstGeom prst="bentConnector3">
            <a:avLst>
              <a:gd name="adj1" fmla="val 50000"/>
            </a:avLst>
          </a:prstGeom>
          <a:ln w="16193">
            <a:solidFill>
              <a:srgbClr val="017EDF"/>
            </a:solidFill>
            <a:tailEnd type="triangle" w="sm" len="sm"/>
          </a:ln>
        </p:spPr>
      </p:cxnSp>
      <p:cxnSp>
        <p:nvCxnSpPr>
          <p:cNvPr id="69" name="Conector angular 68"/>
          <p:cNvCxnSpPr>
            <a:stCxn id="10" idx="3"/>
            <a:endCxn id="12" idx="1"/>
          </p:cNvCxnSpPr>
          <p:nvPr/>
        </p:nvCxnSpPr>
        <p:spPr>
          <a:xfrm flipV="1">
            <a:off x="2695575" y="2471738"/>
            <a:ext cx="428625" cy="290513"/>
          </a:xfrm>
          <a:prstGeom prst="bentConnector3">
            <a:avLst>
              <a:gd name="adj1" fmla="val 50000"/>
            </a:avLst>
          </a:prstGeom>
          <a:ln w="16193">
            <a:solidFill>
              <a:srgbClr val="017EDF"/>
            </a:solidFill>
            <a:tailEnd type="triangle" w="sm" len="sm"/>
          </a:ln>
        </p:spPr>
      </p:cxnSp>
      <p:cxnSp>
        <p:nvCxnSpPr>
          <p:cNvPr id="70" name="Conector angular 69"/>
          <p:cNvCxnSpPr>
            <a:stCxn id="11" idx="3"/>
            <a:endCxn id="12" idx="1"/>
          </p:cNvCxnSpPr>
          <p:nvPr/>
        </p:nvCxnSpPr>
        <p:spPr>
          <a:xfrm flipV="1">
            <a:off x="2695575" y="2471738"/>
            <a:ext cx="428625" cy="938213"/>
          </a:xfrm>
          <a:prstGeom prst="bentConnector3">
            <a:avLst>
              <a:gd name="adj1" fmla="val 50000"/>
            </a:avLst>
          </a:prstGeom>
          <a:ln w="16193">
            <a:solidFill>
              <a:srgbClr val="017EDF"/>
            </a:solidFill>
            <a:tailEnd type="triangle" w="sm" len="sm"/>
          </a:ln>
        </p:spPr>
      </p:cxnSp>
      <p:cxnSp>
        <p:nvCxnSpPr>
          <p:cNvPr id="71" name="Conector recto de flecha 70"/>
          <p:cNvCxnSpPr>
            <a:stCxn id="12" idx="3"/>
            <a:endCxn id="13" idx="1"/>
          </p:cNvCxnSpPr>
          <p:nvPr/>
        </p:nvCxnSpPr>
        <p:spPr>
          <a:xfrm>
            <a:off x="4800600" y="2471738"/>
            <a:ext cx="428625" cy="0"/>
          </a:xfrm>
          <a:prstGeom prst="straightConnector1">
            <a:avLst/>
          </a:prstGeom>
          <a:ln w="16193">
            <a:solidFill>
              <a:srgbClr val="017EDF"/>
            </a:solidFill>
            <a:tailEnd type="triangle" w="sm" len="sm"/>
          </a:ln>
        </p:spPr>
      </p:cxnSp>
      <p:cxnSp>
        <p:nvCxnSpPr>
          <p:cNvPr id="72" name="Conector recto de flecha 71"/>
          <p:cNvCxnSpPr>
            <a:stCxn id="13" idx="3"/>
            <a:endCxn id="14" idx="1"/>
          </p:cNvCxnSpPr>
          <p:nvPr/>
        </p:nvCxnSpPr>
        <p:spPr>
          <a:xfrm>
            <a:off x="6848475" y="2471738"/>
            <a:ext cx="419100" cy="0"/>
          </a:xfrm>
          <a:prstGeom prst="straightConnector1">
            <a:avLst/>
          </a:prstGeom>
          <a:ln w="16193">
            <a:solidFill>
              <a:srgbClr val="017EDF"/>
            </a:solidFill>
            <a:tailEnd type="triangle" w="sm" len="sm"/>
          </a:ln>
        </p:spPr>
      </p:cxnSp>
      <p:sp>
        <p:nvSpPr>
          <p:cNvPr id="21" name="Fase siguiente">
            <a:extLst>
              <a:ext uri="{FF2B5EF4-FFF2-40B4-BE49-F238E27FC236}">
                <a16:creationId xmlns:a16="http://schemas.microsoft.com/office/drawing/2014/main" id="{4F0B1A31-4619-4166-864D-7FB70C752090}"/>
              </a:ext>
            </a:extLst>
          </p:cNvPr>
          <p:cNvSpPr>
            <a:spLocks noGrp="1"/>
          </p:cNvSpPr>
          <p:nvPr/>
        </p:nvSpPr>
        <p:spPr>
          <a:xfrm>
            <a:off x="552450" y="3886200"/>
            <a:ext cx="2752725" cy="219075"/>
          </a:xfrm>
          <a:prstGeom prst="rect">
            <a:avLst/>
          </a:prstGeom>
          <a:noFill/>
          <a:ln w="0">
            <a:noFill/>
          </a:ln>
        </p:spPr>
        <p:txBody>
          <a:bodyPr wrap="square" lIns="0" tIns="0" rIns="0" bIns="0" anchor="t">
            <a:noAutofit/>
          </a:bodyPr>
          <a:lstStyle/>
          <a:p>
            <a:pPr algn="l">
              <a:buNone/>
              <a:defRPr sz="1125" b="1">
                <a:solidFill>
                  <a:srgbClr val="017EDF"/>
                </a:solidFill>
                <a:latin typeface="Calibri"/>
                <a:ea typeface="Calibri"/>
                <a:cs typeface="Calibri"/>
              </a:defRPr>
            </a:pPr>
            <a:r>
              <a:rPr sz="1125" b="1">
                <a:solidFill>
                  <a:srgbClr val="017EDF"/>
                </a:solidFill>
                <a:latin typeface="Calibri"/>
                <a:ea typeface="Calibri"/>
                <a:cs typeface="Calibri"/>
              </a:rPr>
              <a:t>ETAPA POSTERIOR PROPUESTA</a:t>
            </a:r>
          </a:p>
        </p:txBody>
      </p:sp>
      <p:sp>
        <p:nvSpPr>
          <p:cNvPr id="22" name="Modelar">
            <a:extLst>
              <a:ext uri="{FF2B5EF4-FFF2-40B4-BE49-F238E27FC236}">
                <a16:creationId xmlns:a16="http://schemas.microsoft.com/office/drawing/2014/main" id="{9086D736-63B1-4128-9BE7-25398522DE36}"/>
              </a:ext>
            </a:extLst>
          </p:cNvPr>
          <p:cNvSpPr>
            <a:spLocks noGrp="1"/>
          </p:cNvSpPr>
          <p:nvPr/>
        </p:nvSpPr>
        <p:spPr>
          <a:xfrm>
            <a:off x="3438525" y="3810000"/>
            <a:ext cx="1685925" cy="638175"/>
          </a:xfrm>
          <a:prstGeom prst="rect">
            <a:avLst/>
          </a:prstGeom>
          <a:solidFill>
            <a:srgbClr val="FFFFFF"/>
          </a:solidFill>
          <a:ln w="9525">
            <a:solidFill>
              <a:srgbClr val="D6DFEB"/>
            </a:solidFill>
          </a:ln>
        </p:spPr>
        <p:txBody>
          <a:bodyPr wrap="square" lIns="76200" tIns="47625" rIns="76200" bIns="47625" anchor="ctr">
            <a:noAutofit/>
          </a:bodyPr>
          <a:lstStyle/>
          <a:p>
            <a:pPr algn="ctr">
              <a:buNone/>
              <a:defRPr sz="1200" b="0">
                <a:solidFill>
                  <a:srgbClr val="17375D"/>
                </a:solidFill>
                <a:latin typeface="Calibri"/>
                <a:ea typeface="Calibri"/>
                <a:cs typeface="Calibri"/>
              </a:defRPr>
            </a:pPr>
            <a:r>
              <a:rPr sz="1200" b="0">
                <a:solidFill>
                  <a:srgbClr val="17375D"/>
                </a:solidFill>
                <a:latin typeface="Calibri"/>
                <a:ea typeface="Calibri"/>
                <a:cs typeface="Calibri"/>
              </a:rPr>
              <a:t>Comparar y validar</a:t>
            </a:r>
          </a:p>
          <a:p>
            <a:pPr algn="ctr">
              <a:buNone/>
              <a:defRPr sz="1200" b="0">
                <a:solidFill>
                  <a:srgbClr val="17375D"/>
                </a:solidFill>
                <a:latin typeface="Calibri"/>
                <a:ea typeface="Calibri"/>
                <a:cs typeface="Calibri"/>
              </a:defRPr>
            </a:pPr>
            <a:r>
              <a:rPr sz="1200" b="0">
                <a:solidFill>
                  <a:srgbClr val="17375D"/>
                </a:solidFill>
                <a:latin typeface="Calibri"/>
                <a:ea typeface="Calibri"/>
                <a:cs typeface="Calibri"/>
              </a:rPr>
              <a:t>frente a interpolación</a:t>
            </a:r>
          </a:p>
        </p:txBody>
      </p:sp>
      <p:sp>
        <p:nvSpPr>
          <p:cNvPr id="23" name="Estimar">
            <a:extLst>
              <a:ext uri="{FF2B5EF4-FFF2-40B4-BE49-F238E27FC236}">
                <a16:creationId xmlns:a16="http://schemas.microsoft.com/office/drawing/2014/main" id="{EB87E0A1-54AC-45F6-8C8E-D58BBA1101A9}"/>
              </a:ext>
            </a:extLst>
          </p:cNvPr>
          <p:cNvSpPr>
            <a:spLocks noGrp="1"/>
          </p:cNvSpPr>
          <p:nvPr/>
        </p:nvSpPr>
        <p:spPr>
          <a:xfrm>
            <a:off x="5476875" y="3810000"/>
            <a:ext cx="1362075" cy="638175"/>
          </a:xfrm>
          <a:prstGeom prst="rect">
            <a:avLst/>
          </a:prstGeom>
          <a:solidFill>
            <a:srgbClr val="FFFFFF"/>
          </a:solidFill>
          <a:ln w="9525">
            <a:solidFill>
              <a:srgbClr val="D6DFEB"/>
            </a:solidFill>
          </a:ln>
        </p:spPr>
        <p:txBody>
          <a:bodyPr wrap="square" lIns="76200" tIns="47625" rIns="76200" bIns="47625" anchor="ctr">
            <a:noAutofit/>
          </a:bodyPr>
          <a:lstStyle/>
          <a:p>
            <a:pPr algn="ctr">
              <a:buNone/>
              <a:defRPr sz="1200" b="0">
                <a:solidFill>
                  <a:srgbClr val="17375D"/>
                </a:solidFill>
                <a:latin typeface="Calibri"/>
                <a:ea typeface="Calibri"/>
                <a:cs typeface="Calibri"/>
              </a:defRPr>
            </a:pPr>
            <a:r>
              <a:rPr sz="1200" b="0">
                <a:solidFill>
                  <a:srgbClr val="17375D"/>
                </a:solidFill>
                <a:latin typeface="Calibri"/>
                <a:ea typeface="Calibri"/>
                <a:cs typeface="Calibri"/>
              </a:rPr>
              <a:t>Superficie ~1 km</a:t>
            </a:r>
            <a:endParaRPr sz="1200" b="0">
              <a:solidFill>
                <a:srgbClr val="17375D"/>
              </a:solidFill>
              <a:latin typeface="Calibri"/>
              <a:ea typeface="Calibri"/>
              <a:cs typeface="Calibri"/>
            </a:endParaRPr>
          </a:p>
          <a:p>
            <a:pPr algn="ctr">
              <a:buNone/>
              <a:defRPr sz="1200" b="0">
                <a:solidFill>
                  <a:srgbClr val="17375D"/>
                </a:solidFill>
                <a:latin typeface="Calibri"/>
                <a:ea typeface="Calibri"/>
                <a:cs typeface="Calibri"/>
              </a:defRPr>
            </a:pPr>
            <a:r>
              <a:rPr sz="1200" b="0">
                <a:solidFill>
                  <a:srgbClr val="17375D"/>
                </a:solidFill>
                <a:latin typeface="Calibri"/>
                <a:ea typeface="Calibri"/>
                <a:cs typeface="Calibri"/>
              </a:rPr>
              <a:t>Horaria, por contaminante</a:t>
            </a:r>
            <a:endParaRPr sz="1200" b="0">
              <a:solidFill>
                <a:srgbClr val="17375D"/>
              </a:solidFill>
              <a:latin typeface="Calibri"/>
              <a:ea typeface="Calibri"/>
              <a:cs typeface="Calibri"/>
            </a:endParaRPr>
          </a:p>
        </p:txBody>
      </p:sp>
      <p:sp>
        <p:nvSpPr>
          <p:cNvPr id="24" name="Comuna">
            <a:extLst>
              <a:ext uri="{FF2B5EF4-FFF2-40B4-BE49-F238E27FC236}">
                <a16:creationId xmlns:a16="http://schemas.microsoft.com/office/drawing/2014/main" id="{30CD6BC6-4CCB-4241-8551-07A4B293987A}"/>
              </a:ext>
            </a:extLst>
          </p:cNvPr>
          <p:cNvSpPr>
            <a:spLocks noGrp="1"/>
          </p:cNvSpPr>
          <p:nvPr/>
        </p:nvSpPr>
        <p:spPr>
          <a:xfrm>
            <a:off x="7239000" y="3810000"/>
            <a:ext cx="1343025" cy="638175"/>
          </a:xfrm>
          <a:prstGeom prst="rect">
            <a:avLst/>
          </a:prstGeom>
          <a:solidFill>
            <a:srgbClr val="FFFFFF"/>
          </a:solidFill>
          <a:ln w="9525">
            <a:solidFill>
              <a:srgbClr val="D6DFEB"/>
            </a:solidFill>
          </a:ln>
        </p:spPr>
        <p:txBody>
          <a:bodyPr wrap="square" lIns="76200" tIns="47625" rIns="76200" bIns="47625" anchor="ctr">
            <a:noAutofit/>
          </a:bodyPr>
          <a:lstStyle/>
          <a:p>
            <a:pPr algn="ctr">
              <a:buNone/>
              <a:defRPr sz="1200" b="0">
                <a:solidFill>
                  <a:srgbClr val="17375D"/>
                </a:solidFill>
                <a:latin typeface="Calibri"/>
                <a:ea typeface="Calibri"/>
                <a:cs typeface="Calibri"/>
              </a:defRPr>
            </a:pPr>
            <a:r>
              <a:rPr sz="1200" b="0" dirty="0" err="1">
                <a:solidFill>
                  <a:srgbClr val="17375D"/>
                </a:solidFill>
                <a:latin typeface="Calibri"/>
                <a:ea typeface="Calibri"/>
                <a:cs typeface="Calibri"/>
              </a:rPr>
              <a:t>Resumen</a:t>
            </a:r>
            <a:r>
              <a:rPr sz="1200" b="0" dirty="0">
                <a:solidFill>
                  <a:srgbClr val="17375D"/>
                </a:solidFill>
                <a:latin typeface="Calibri"/>
                <a:ea typeface="Calibri"/>
                <a:cs typeface="Calibri"/>
              </a:rPr>
              <a:t> </a:t>
            </a:r>
            <a:r>
              <a:rPr sz="1200" b="0" dirty="0" err="1">
                <a:solidFill>
                  <a:srgbClr val="17375D"/>
                </a:solidFill>
                <a:latin typeface="Calibri"/>
                <a:ea typeface="Calibri"/>
                <a:cs typeface="Calibri"/>
              </a:rPr>
              <a:t>comunal</a:t>
            </a:r>
            <a:endParaRPr sz="1200" b="0" dirty="0">
              <a:solidFill>
                <a:srgbClr val="17375D"/>
              </a:solidFill>
              <a:latin typeface="Calibri"/>
              <a:ea typeface="Calibri"/>
              <a:cs typeface="Calibri"/>
            </a:endParaRPr>
          </a:p>
          <a:p>
            <a:pPr algn="ctr">
              <a:buNone/>
              <a:defRPr sz="1200" b="0">
                <a:solidFill>
                  <a:srgbClr val="17375D"/>
                </a:solidFill>
                <a:latin typeface="Calibri"/>
                <a:ea typeface="Calibri"/>
                <a:cs typeface="Calibri"/>
              </a:defRPr>
            </a:pPr>
            <a:r>
              <a:rPr sz="1200" b="0" dirty="0">
                <a:solidFill>
                  <a:srgbClr val="17375D"/>
                </a:solidFill>
                <a:latin typeface="Calibri"/>
                <a:ea typeface="Calibri"/>
                <a:cs typeface="Calibri"/>
              </a:rPr>
              <a:t>con </a:t>
            </a:r>
            <a:r>
              <a:rPr sz="1200" b="0" dirty="0" err="1">
                <a:solidFill>
                  <a:srgbClr val="17375D"/>
                </a:solidFill>
                <a:latin typeface="Calibri"/>
                <a:ea typeface="Calibri"/>
                <a:cs typeface="Calibri"/>
              </a:rPr>
              <a:t>cobertura</a:t>
            </a:r>
            <a:endParaRPr sz="1200" b="0" dirty="0">
              <a:solidFill>
                <a:srgbClr val="17375D"/>
              </a:solidFill>
              <a:latin typeface="Calibri"/>
              <a:ea typeface="Calibri"/>
              <a:cs typeface="Calibri"/>
            </a:endParaRPr>
          </a:p>
        </p:txBody>
      </p:sp>
      <p:cxnSp>
        <p:nvCxnSpPr>
          <p:cNvPr id="77" name="Conector angular 76"/>
          <p:cNvCxnSpPr>
            <a:stCxn id="14" idx="2"/>
            <a:endCxn id="22" idx="0"/>
          </p:cNvCxnSpPr>
          <p:nvPr/>
        </p:nvCxnSpPr>
        <p:spPr>
          <a:xfrm flipH="1">
            <a:off x="4281488" y="3467100"/>
            <a:ext cx="3643313" cy="342900"/>
          </a:xfrm>
          <a:prstGeom prst="bentConnector4">
            <a:avLst>
              <a:gd name="adj1" fmla="val 0"/>
              <a:gd name="adj2" fmla="val 50000"/>
            </a:avLst>
          </a:prstGeom>
          <a:ln w="16193">
            <a:solidFill>
              <a:srgbClr val="017EDF"/>
            </a:solidFill>
            <a:tailEnd type="triangle" w="sm" len="sm"/>
          </a:ln>
        </p:spPr>
      </p:cxnSp>
      <p:cxnSp>
        <p:nvCxnSpPr>
          <p:cNvPr id="78" name="Conector recto de flecha 77"/>
          <p:cNvCxnSpPr>
            <a:stCxn id="22" idx="3"/>
            <a:endCxn id="23" idx="1"/>
          </p:cNvCxnSpPr>
          <p:nvPr/>
        </p:nvCxnSpPr>
        <p:spPr>
          <a:xfrm>
            <a:off x="5124450" y="4129088"/>
            <a:ext cx="352425" cy="0"/>
          </a:xfrm>
          <a:prstGeom prst="straightConnector1">
            <a:avLst/>
          </a:prstGeom>
          <a:ln w="16193">
            <a:solidFill>
              <a:srgbClr val="017EDF"/>
            </a:solidFill>
            <a:tailEnd type="triangle" w="sm" len="sm"/>
          </a:ln>
        </p:spPr>
      </p:cxnSp>
      <p:cxnSp>
        <p:nvCxnSpPr>
          <p:cNvPr id="79" name="Conector recto de flecha 78"/>
          <p:cNvCxnSpPr>
            <a:stCxn id="23" idx="3"/>
            <a:endCxn id="24" idx="1"/>
          </p:cNvCxnSpPr>
          <p:nvPr/>
        </p:nvCxnSpPr>
        <p:spPr>
          <a:xfrm>
            <a:off x="6838950" y="4129088"/>
            <a:ext cx="400050" cy="0"/>
          </a:xfrm>
          <a:prstGeom prst="straightConnector1">
            <a:avLst/>
          </a:prstGeom>
          <a:ln w="16193">
            <a:solidFill>
              <a:srgbClr val="017EDF"/>
            </a:solidFill>
            <a:tailEnd type="triangle" w="sm" len="sm"/>
          </a:ln>
        </p:spPr>
      </p:cxnSp>
      <p:sp>
        <p:nvSpPr>
          <p:cNvPr id="54" name="Fuente y alcance">
            <a:extLst>
              <a:ext uri="{FF2B5EF4-FFF2-40B4-BE49-F238E27FC236}">
                <a16:creationId xmlns:a16="http://schemas.microsoft.com/office/drawing/2014/main" id="{8E32663B-1CB0-466F-A2A1-57826BE7A45B}"/>
              </a:ext>
            </a:extLst>
          </p:cNvPr>
          <p:cNvSpPr>
            <a:spLocks noGrp="1"/>
          </p:cNvSpPr>
          <p:nvPr/>
        </p:nvSpPr>
        <p:spPr>
          <a:xfrm>
            <a:off x="548640" y="4619625"/>
            <a:ext cx="8046720" cy="200025"/>
          </a:xfrm>
          <a:prstGeom prst="rect">
            <a:avLst/>
          </a:prstGeom>
          <a:noFill/>
          <a:ln w="0">
            <a:noFill/>
          </a:ln>
        </p:spPr>
        <p:txBody>
          <a:bodyPr wrap="square" lIns="0" tIns="0" rIns="0" bIns="0" anchor="t">
            <a:noAutofit/>
          </a:bodyPr>
          <a:lstStyle/>
          <a:p>
            <a:pPr algn="l">
              <a:buNone/>
              <a:defRPr sz="848" b="0">
                <a:solidFill>
                  <a:srgbClr val="526277"/>
                </a:solidFill>
                <a:latin typeface="Calibri"/>
                <a:ea typeface="Calibri"/>
                <a:cs typeface="Calibri"/>
              </a:defRPr>
            </a:pPr>
            <a:r>
              <a:rPr sz="848" b="0">
                <a:solidFill>
                  <a:srgbClr val="526277"/>
                </a:solidFill>
                <a:latin typeface="Calibri"/>
                <a:ea typeface="Calibri"/>
                <a:cs typeface="Calibri"/>
              </a:rPr>
              <a:t>PM₂.₅, dióxido de nitrógeno y otros contaminantes. Integración y pérdidas del panel final por verificar.</a:t>
            </a:r>
          </a:p>
        </p:txBody>
      </p:sp>
    </p:spTree>
    <p:extLst>
      <p:ext uri="{BB962C8B-B14F-4D97-AF65-F5344CB8AC3E}">
        <p14:creationId xmlns:p14="http://schemas.microsoft.com/office/powerpoint/2010/main" val="32275727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abecera azul UC">
            <a:extLst>
              <a:ext uri="{FF2B5EF4-FFF2-40B4-BE49-F238E27FC236}">
                <a16:creationId xmlns:a16="http://schemas.microsoft.com/office/drawing/2014/main" id="{3486DB9C-93DE-456A-BF48-2757BBD61ACE}"/>
              </a:ext>
            </a:extLst>
          </p:cNvPr>
          <p:cNvSpPr>
            <a:spLocks noGrp="1"/>
          </p:cNvSpPr>
          <p:nvPr/>
        </p:nvSpPr>
        <p:spPr>
          <a:xfrm>
            <a:off x="158742" y="0"/>
            <a:ext cx="8985258" cy="1007195"/>
          </a:xfrm>
          <a:prstGeom prst="rect">
            <a:avLst/>
          </a:prstGeom>
          <a:solidFill>
            <a:srgbClr val="017EDF"/>
          </a:solidFill>
          <a:ln>
            <a:noFill/>
          </a:ln>
        </p:spPr>
        <p:txBody>
          <a:bodyPr/>
          <a:lstStyle/>
          <a:p>
            <a:endParaRPr lang="es-CL"/>
          </a:p>
        </p:txBody>
      </p:sp>
      <p:sp>
        <p:nvSpPr>
          <p:cNvPr id="4" name="Rectángulo 9">
            <a:extLst>
              <a:ext uri="{FF2B5EF4-FFF2-40B4-BE49-F238E27FC236}">
                <a16:creationId xmlns:a16="http://schemas.microsoft.com/office/drawing/2014/main" id="{2DE33766-2918-41FC-A1B9-B4BF483C8974}"/>
              </a:ext>
            </a:extLst>
          </p:cNvPr>
          <p:cNvSpPr>
            <a:spLocks noGrp="1"/>
          </p:cNvSpPr>
          <p:nvPr/>
        </p:nvSpPr>
        <p:spPr>
          <a:xfrm>
            <a:off x="0" y="149945"/>
            <a:ext cx="158742" cy="857250"/>
          </a:xfrm>
          <a:prstGeom prst="rect">
            <a:avLst/>
          </a:prstGeom>
          <a:solidFill>
            <a:srgbClr val="FFE2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Rectángulo 7">
            <a:extLst>
              <a:ext uri="{FF2B5EF4-FFF2-40B4-BE49-F238E27FC236}">
                <a16:creationId xmlns:a16="http://schemas.microsoft.com/office/drawing/2014/main" id="{3BCD4458-45E8-4C73-A3B6-249CEEFBDB7B}"/>
              </a:ext>
            </a:extLst>
          </p:cNvPr>
          <p:cNvSpPr>
            <a:spLocks noGrp="1"/>
          </p:cNvSpPr>
          <p:nvPr/>
        </p:nvSpPr>
        <p:spPr>
          <a:xfrm flipV="1">
            <a:off x="169334" y="4871120"/>
            <a:ext cx="8815911" cy="177311"/>
          </a:xfrm>
          <a:prstGeom prst="rect">
            <a:avLst/>
          </a:prstGeom>
          <a:solidFill>
            <a:schemeClr val="bg1">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Rectángulo 10">
            <a:extLst>
              <a:ext uri="{FF2B5EF4-FFF2-40B4-BE49-F238E27FC236}">
                <a16:creationId xmlns:a16="http://schemas.microsoft.com/office/drawing/2014/main" id="{A18DC9E6-BD6D-4FE1-AEC0-9715BEE3912A}"/>
              </a:ext>
            </a:extLst>
          </p:cNvPr>
          <p:cNvSpPr>
            <a:spLocks noGrp="1"/>
          </p:cNvSpPr>
          <p:nvPr/>
        </p:nvSpPr>
        <p:spPr>
          <a:xfrm flipV="1">
            <a:off x="7200957" y="4871118"/>
            <a:ext cx="1119038" cy="177313"/>
          </a:xfrm>
          <a:prstGeom prst="rect">
            <a:avLst/>
          </a:prstGeom>
          <a:solidFill>
            <a:srgbClr val="3366CC"/>
          </a:solidFill>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ítulo 1">
            <a:extLst>
              <a:ext uri="{FF2B5EF4-FFF2-40B4-BE49-F238E27FC236}">
                <a16:creationId xmlns:a16="http://schemas.microsoft.com/office/drawing/2014/main" id="{438D0FA2-1899-4EDF-9FA4-D1742768DFC6}"/>
              </a:ext>
            </a:extLst>
          </p:cNvPr>
          <p:cNvSpPr>
            <a:spLocks noGrp="1"/>
          </p:cNvSpPr>
          <p:nvPr>
            <p:ph type="title"/>
          </p:nvPr>
        </p:nvSpPr>
        <p:spPr>
          <a:xfrm>
            <a:off x="457200" y="149945"/>
            <a:ext cx="8229600" cy="857250"/>
          </a:xfrm>
        </p:spPr>
        <p:txBody>
          <a:bodyPr wrap="square" anchor="ctr">
            <a:noAutofit/>
          </a:bodyPr>
          <a:lstStyle/>
          <a:p>
            <a:pPr algn="l">
              <a:spcBef>
                <a:spcPts val="0"/>
              </a:spcBef>
              <a:spcAft>
                <a:spcPts val="0"/>
              </a:spcAft>
              <a:defRPr sz="1900" b="1">
                <a:solidFill>
                  <a:srgbClr val="FFFFFF"/>
                </a:solidFill>
                <a:latin typeface="Calibri"/>
                <a:ea typeface="Calibri"/>
                <a:cs typeface="Calibri"/>
              </a:defRPr>
            </a:pPr>
            <a:r>
              <a:rPr sz="1900" b="1">
                <a:solidFill>
                  <a:srgbClr val="FFFFFF"/>
                </a:solidFill>
                <a:latin typeface="Calibri"/>
                <a:ea typeface="Calibri"/>
                <a:cs typeface="Calibri"/>
              </a:rPr>
              <a:t>Metodología: estaciones y productos satelitales</a:t>
            </a:r>
          </a:p>
        </p:txBody>
      </p:sp>
      <p:sp>
        <p:nvSpPr>
          <p:cNvPr id="8" name="Corte">
            <a:extLst>
              <a:ext uri="{FF2B5EF4-FFF2-40B4-BE49-F238E27FC236}">
                <a16:creationId xmlns:a16="http://schemas.microsoft.com/office/drawing/2014/main" id="{B578A554-B3DE-41F0-9012-C0EECD1BEC51}"/>
              </a:ext>
            </a:extLst>
          </p:cNvPr>
          <p:cNvSpPr>
            <a:spLocks noGrp="1"/>
          </p:cNvSpPr>
          <p:nvPr/>
        </p:nvSpPr>
        <p:spPr>
          <a:xfrm>
            <a:off x="552450" y="1143000"/>
            <a:ext cx="8039100" cy="266700"/>
          </a:xfrm>
          <a:prstGeom prst="rect">
            <a:avLst/>
          </a:prstGeom>
          <a:noFill/>
          <a:ln w="0">
            <a:noFill/>
          </a:ln>
        </p:spPr>
        <p:txBody>
          <a:bodyPr wrap="square" lIns="0" tIns="0" rIns="0" bIns="0" anchor="t">
            <a:noAutofit/>
          </a:bodyPr>
          <a:lstStyle/>
          <a:p>
            <a:pPr algn="l">
              <a:buNone/>
              <a:defRPr sz="1500" b="1">
                <a:solidFill>
                  <a:srgbClr val="17375D"/>
                </a:solidFill>
                <a:latin typeface="Calibri"/>
                <a:ea typeface="Calibri"/>
                <a:cs typeface="Calibri"/>
              </a:defRPr>
            </a:pPr>
            <a:r>
              <a:rPr sz="1500" b="1">
                <a:solidFill>
                  <a:srgbClr val="17375D"/>
                </a:solidFill>
                <a:latin typeface="Calibri"/>
                <a:ea typeface="Calibri"/>
                <a:cs typeface="Calibri"/>
              </a:rPr>
              <a:t>Disponibilidad local revisada al 26-sep-2026</a:t>
            </a:r>
          </a:p>
        </p:txBody>
      </p:sp>
      <p:graphicFrame>
        <p:nvGraphicFramePr>
          <p:cNvPr id="19" name="Tabla 18"/>
          <p:cNvGraphicFramePr/>
          <p:nvPr/>
        </p:nvGraphicFramePr>
        <p:xfrm>
          <a:off x="548640" y="1476375"/>
          <a:ext cx="8046720" cy="2819400"/>
        </p:xfrm>
        <a:graphic>
          <a:graphicData uri="http://schemas.openxmlformats.org/drawingml/2006/table">
            <a:tbl>
              <a:tblPr firstRow="1"/>
              <a:tblGrid>
                <a:gridCol w="1409700">
                  <a:extLst>
                    <a:ext uri="{9D8B030D-6E8A-4147-A177-3AD203B41FA5}">
                      <a16:colId xmlns:a16="http://schemas.microsoft.com/office/drawing/2014/main" val="20000"/>
                    </a:ext>
                  </a:extLst>
                </a:gridCol>
                <a:gridCol w="3038475">
                  <a:extLst>
                    <a:ext uri="{9D8B030D-6E8A-4147-A177-3AD203B41FA5}">
                      <a16:colId xmlns:a16="http://schemas.microsoft.com/office/drawing/2014/main" val="20001"/>
                    </a:ext>
                  </a:extLst>
                </a:gridCol>
                <a:gridCol w="3598545">
                  <a:extLst>
                    <a:ext uri="{9D8B030D-6E8A-4147-A177-3AD203B41FA5}">
                      <a16:colId xmlns:a16="http://schemas.microsoft.com/office/drawing/2014/main" val="20002"/>
                    </a:ext>
                  </a:extLst>
                </a:gridCol>
              </a:tblGrid>
              <a:tr h="352425">
                <a:tc>
                  <a:txBody>
                    <a:bodyPr/>
                    <a:lstStyle/>
                    <a:p>
                      <a:r>
                        <a:rPr sz="1215" b="1">
                          <a:solidFill>
                            <a:srgbClr val="FFFFFF"/>
                          </a:solidFill>
                          <a:latin typeface="Calibri"/>
                          <a:ea typeface="Calibri"/>
                          <a:cs typeface="Calibri"/>
                        </a:rPr>
                        <a:t>Fuente</a:t>
                      </a:r>
                    </a:p>
                  </a:txBody>
                  <a:tcPr anchor="ctr">
                    <a:solidFill>
                      <a:srgbClr val="17375D"/>
                    </a:solidFill>
                  </a:tcPr>
                </a:tc>
                <a:tc>
                  <a:txBody>
                    <a:bodyPr/>
                    <a:lstStyle/>
                    <a:p>
                      <a:r>
                        <a:rPr sz="1215" b="1">
                          <a:solidFill>
                            <a:srgbClr val="FFFFFF"/>
                          </a:solidFill>
                          <a:latin typeface="Calibri"/>
                          <a:ea typeface="Calibri"/>
                          <a:cs typeface="Calibri"/>
                        </a:rPr>
                        <a:t>Variable y soporte</a:t>
                      </a:r>
                    </a:p>
                  </a:txBody>
                  <a:tcPr anchor="ctr">
                    <a:solidFill>
                      <a:srgbClr val="17375D"/>
                    </a:solidFill>
                  </a:tcPr>
                </a:tc>
                <a:tc>
                  <a:txBody>
                    <a:bodyPr/>
                    <a:lstStyle/>
                    <a:p>
                      <a:r>
                        <a:rPr sz="1215" b="1">
                          <a:solidFill>
                            <a:srgbClr val="FFFFFF"/>
                          </a:solidFill>
                          <a:latin typeface="Calibri"/>
                          <a:ea typeface="Calibri"/>
                          <a:cs typeface="Calibri"/>
                        </a:rPr>
                        <a:t>Fechas disponibles / condición</a:t>
                      </a:r>
                    </a:p>
                  </a:txBody>
                  <a:tcPr anchor="ctr">
                    <a:solidFill>
                      <a:srgbClr val="17375D"/>
                    </a:solidFill>
                  </a:tcPr>
                </a:tc>
                <a:extLst>
                  <a:ext uri="{0D108BD9-81ED-4DB2-BD59-A6C34878D82A}">
                    <a16:rowId xmlns:a16="http://schemas.microsoft.com/office/drawing/2014/main" val="10000"/>
                  </a:ext>
                </a:extLst>
              </a:tr>
              <a:tr h="493395">
                <a:tc>
                  <a:txBody>
                    <a:bodyPr/>
                    <a:lstStyle/>
                    <a:p>
                      <a:r>
                        <a:rPr sz="1215" b="0">
                          <a:solidFill>
                            <a:srgbClr val="1E293B"/>
                          </a:solidFill>
                          <a:latin typeface="Calibri"/>
                          <a:ea typeface="Calibri"/>
                          <a:cs typeface="Calibri"/>
                        </a:rPr>
                        <a:t>SINCA</a:t>
                      </a:r>
                    </a:p>
                  </a:txBody>
                  <a:tcPr anchor="ctr">
                    <a:solidFill>
                      <a:srgbClr val="EAF2FD"/>
                    </a:solidFill>
                  </a:tcPr>
                </a:tc>
                <a:tc>
                  <a:txBody>
                    <a:bodyPr/>
                    <a:lstStyle/>
                    <a:p>
                      <a:r>
                        <a:rPr sz="1215" b="0">
                          <a:solidFill>
                            <a:srgbClr val="1E293B"/>
                          </a:solidFill>
                          <a:latin typeface="Calibri"/>
                          <a:ea typeface="Calibri"/>
                          <a:cs typeface="Calibri"/>
                        </a:rPr>
                        <a:t>6 contaminantes. Estaciones, hora</a:t>
                      </a:r>
                    </a:p>
                  </a:txBody>
                  <a:tcPr anchor="ctr">
                    <a:solidFill>
                      <a:srgbClr val="EAF2FD"/>
                    </a:solidFill>
                  </a:tcPr>
                </a:tc>
                <a:tc>
                  <a:txBody>
                    <a:bodyPr/>
                    <a:lstStyle/>
                    <a:p>
                      <a:r>
                        <a:rPr sz="1215" b="0">
                          <a:solidFill>
                            <a:srgbClr val="1E293B"/>
                          </a:solidFill>
                          <a:latin typeface="Calibri"/>
                          <a:ea typeface="Calibri"/>
                          <a:cs typeface="Calibri"/>
                        </a:rPr>
                        <a:t>2000–13-sep-2026. Cobertura por serie</a:t>
                      </a:r>
                    </a:p>
                  </a:txBody>
                  <a:tcPr anchor="ctr">
                    <a:solidFill>
                      <a:srgbClr val="EAF2FD"/>
                    </a:solidFill>
                  </a:tcPr>
                </a:tc>
                <a:extLst>
                  <a:ext uri="{0D108BD9-81ED-4DB2-BD59-A6C34878D82A}">
                    <a16:rowId xmlns:a16="http://schemas.microsoft.com/office/drawing/2014/main" val="10001"/>
                  </a:ext>
                </a:extLst>
              </a:tr>
              <a:tr h="493395">
                <a:tc>
                  <a:txBody>
                    <a:bodyPr/>
                    <a:lstStyle/>
                    <a:p>
                      <a:r>
                        <a:rPr sz="1215" b="0">
                          <a:solidFill>
                            <a:srgbClr val="1E293B"/>
                          </a:solidFill>
                          <a:latin typeface="Calibri"/>
                          <a:ea typeface="Calibri"/>
                          <a:cs typeface="Calibri"/>
                        </a:rPr>
                        <a:t>SNIFA</a:t>
                      </a:r>
                    </a:p>
                  </a:txBody>
                  <a:tcPr anchor="ctr">
                    <a:solidFill>
                      <a:srgbClr val="FFFFFF"/>
                    </a:solidFill>
                  </a:tcPr>
                </a:tc>
                <a:tc>
                  <a:txBody>
                    <a:bodyPr/>
                    <a:lstStyle/>
                    <a:p>
                      <a:r>
                        <a:rPr sz="1215" b="0">
                          <a:solidFill>
                            <a:srgbClr val="1E293B"/>
                          </a:solidFill>
                          <a:latin typeface="Calibri"/>
                          <a:ea typeface="Calibri"/>
                          <a:cs typeface="Calibri"/>
                        </a:rPr>
                        <a:t>NO₂ complementario, 3 estaciones</a:t>
                      </a:r>
                    </a:p>
                  </a:txBody>
                  <a:tcPr anchor="ctr">
                    <a:solidFill>
                      <a:srgbClr val="FFFFFF"/>
                    </a:solidFill>
                  </a:tcPr>
                </a:tc>
                <a:tc>
                  <a:txBody>
                    <a:bodyPr/>
                    <a:lstStyle/>
                    <a:p>
                      <a:r>
                        <a:rPr sz="1215" b="0">
                          <a:solidFill>
                            <a:srgbClr val="1E293B"/>
                          </a:solidFill>
                          <a:latin typeface="Calibri"/>
                          <a:ea typeface="Calibri"/>
                          <a:cs typeface="Calibri"/>
                        </a:rPr>
                        <a:t>Charrúa/Progreso: abr-2016–abr-2026</a:t>
                      </a:r>
                    </a:p>
                    <a:p>
                      <a:r>
                        <a:rPr sz="1215" b="0">
                          <a:solidFill>
                            <a:srgbClr val="1E293B"/>
                          </a:solidFill>
                          <a:latin typeface="Calibri"/>
                          <a:ea typeface="Calibri"/>
                          <a:cs typeface="Calibri"/>
                        </a:rPr>
                        <a:t>El Peñón: abr-2022–ago-2026</a:t>
                      </a:r>
                    </a:p>
                  </a:txBody>
                  <a:tcPr anchor="ctr">
                    <a:solidFill>
                      <a:srgbClr val="FFFFFF"/>
                    </a:solidFill>
                  </a:tcPr>
                </a:tc>
                <a:extLst>
                  <a:ext uri="{0D108BD9-81ED-4DB2-BD59-A6C34878D82A}">
                    <a16:rowId xmlns:a16="http://schemas.microsoft.com/office/drawing/2014/main" val="10002"/>
                  </a:ext>
                </a:extLst>
              </a:tr>
              <a:tr h="493395">
                <a:tc>
                  <a:txBody>
                    <a:bodyPr/>
                    <a:lstStyle/>
                    <a:p>
                      <a:r>
                        <a:rPr sz="1215" b="0">
                          <a:solidFill>
                            <a:srgbClr val="1E293B"/>
                          </a:solidFill>
                          <a:latin typeface="Calibri"/>
                          <a:ea typeface="Calibri"/>
                          <a:cs typeface="Calibri"/>
                        </a:rPr>
                        <a:t>MAIAC MCD19A2</a:t>
                      </a:r>
                    </a:p>
                  </a:txBody>
                  <a:tcPr anchor="ctr">
                    <a:solidFill>
                      <a:srgbClr val="EAF2FD"/>
                    </a:solidFill>
                  </a:tcPr>
                </a:tc>
                <a:tc>
                  <a:txBody>
                    <a:bodyPr/>
                    <a:lstStyle/>
                    <a:p>
                      <a:r>
                        <a:rPr sz="1215" b="0">
                          <a:solidFill>
                            <a:srgbClr val="1E293B"/>
                          </a:solidFill>
                          <a:latin typeface="Calibri"/>
                          <a:ea typeface="Calibri"/>
                          <a:cs typeface="Calibri"/>
                        </a:rPr>
                        <a:t>AOD 550 nm, 1 km, por pasada</a:t>
                      </a:r>
                    </a:p>
                  </a:txBody>
                  <a:tcPr anchor="ctr">
                    <a:solidFill>
                      <a:srgbClr val="EAF2FD"/>
                    </a:solidFill>
                  </a:tcPr>
                </a:tc>
                <a:tc>
                  <a:txBody>
                    <a:bodyPr/>
                    <a:lstStyle/>
                    <a:p>
                      <a:r>
                        <a:rPr sz="1215" b="0">
                          <a:solidFill>
                            <a:srgbClr val="1E293B"/>
                          </a:solidFill>
                          <a:latin typeface="Calibri"/>
                          <a:ea typeface="Calibri"/>
                          <a:cs typeface="Calibri"/>
                        </a:rPr>
                        <a:t>24-feb-2000–18-sep-2026. Días faltantes y errores</a:t>
                      </a:r>
                    </a:p>
                  </a:txBody>
                  <a:tcPr anchor="ctr">
                    <a:solidFill>
                      <a:srgbClr val="EAF2FD"/>
                    </a:solidFill>
                  </a:tcPr>
                </a:tc>
                <a:extLst>
                  <a:ext uri="{0D108BD9-81ED-4DB2-BD59-A6C34878D82A}">
                    <a16:rowId xmlns:a16="http://schemas.microsoft.com/office/drawing/2014/main" val="10003"/>
                  </a:ext>
                </a:extLst>
              </a:tr>
              <a:tr h="493395">
                <a:tc>
                  <a:txBody>
                    <a:bodyPr/>
                    <a:lstStyle/>
                    <a:p>
                      <a:r>
                        <a:rPr sz="1215" b="0">
                          <a:solidFill>
                            <a:srgbClr val="1E293B"/>
                          </a:solidFill>
                          <a:latin typeface="Calibri"/>
                          <a:ea typeface="Calibri"/>
                          <a:cs typeface="Calibri"/>
                        </a:rPr>
                        <a:t>TROPOMI L2</a:t>
                      </a:r>
                    </a:p>
                  </a:txBody>
                  <a:tcPr anchor="ctr">
                    <a:solidFill>
                      <a:srgbClr val="FFFFFF"/>
                    </a:solidFill>
                  </a:tcPr>
                </a:tc>
                <a:tc>
                  <a:txBody>
                    <a:bodyPr/>
                    <a:lstStyle/>
                    <a:p>
                      <a:r>
                        <a:rPr sz="1215" b="0">
                          <a:solidFill>
                            <a:srgbClr val="1E293B"/>
                          </a:solidFill>
                          <a:latin typeface="Calibri"/>
                          <a:ea typeface="Calibri"/>
                          <a:cs typeface="Calibri"/>
                        </a:rPr>
                        <a:t>Columna NO₂. Órbita. Grilla descriptiva 0,05°</a:t>
                      </a:r>
                    </a:p>
                  </a:txBody>
                  <a:tcPr anchor="ctr">
                    <a:solidFill>
                      <a:srgbClr val="FFFFFF"/>
                    </a:solidFill>
                  </a:tcPr>
                </a:tc>
                <a:tc>
                  <a:txBody>
                    <a:bodyPr/>
                    <a:lstStyle/>
                    <a:p>
                      <a:r>
                        <a:rPr sz="1215" b="0">
                          <a:solidFill>
                            <a:srgbClr val="1E293B"/>
                          </a:solidFill>
                          <a:latin typeface="Calibri"/>
                          <a:ea typeface="Calibri"/>
                          <a:cs typeface="Calibri"/>
                        </a:rPr>
                        <a:t>2019–2024. Resolución nativa ≈3,5 × 5,5 km</a:t>
                      </a:r>
                    </a:p>
                  </a:txBody>
                  <a:tcPr anchor="ctr">
                    <a:solidFill>
                      <a:srgbClr val="FFFFFF"/>
                    </a:solidFill>
                  </a:tcPr>
                </a:tc>
                <a:extLst>
                  <a:ext uri="{0D108BD9-81ED-4DB2-BD59-A6C34878D82A}">
                    <a16:rowId xmlns:a16="http://schemas.microsoft.com/office/drawing/2014/main" val="10004"/>
                  </a:ext>
                </a:extLst>
              </a:tr>
              <a:tr h="493395">
                <a:tc>
                  <a:txBody>
                    <a:bodyPr/>
                    <a:lstStyle/>
                    <a:p>
                      <a:r>
                        <a:rPr sz="1215" b="0">
                          <a:solidFill>
                            <a:srgbClr val="1E293B"/>
                          </a:solidFill>
                          <a:latin typeface="Calibri"/>
                          <a:ea typeface="Calibri"/>
                          <a:cs typeface="Calibri"/>
                        </a:rPr>
                        <a:t>ACAG V6GL03</a:t>
                      </a:r>
                    </a:p>
                  </a:txBody>
                  <a:tcPr anchor="ctr">
                    <a:solidFill>
                      <a:srgbClr val="EAF2FD"/>
                    </a:solidFill>
                  </a:tcPr>
                </a:tc>
                <a:tc>
                  <a:txBody>
                    <a:bodyPr/>
                    <a:lstStyle/>
                    <a:p>
                      <a:r>
                        <a:rPr sz="1215" b="0">
                          <a:solidFill>
                            <a:srgbClr val="1E293B"/>
                          </a:solidFill>
                          <a:latin typeface="Calibri"/>
                          <a:ea typeface="Calibri"/>
                          <a:cs typeface="Calibri"/>
                        </a:rPr>
                        <a:t>PM₂.₅ superficial, 0,01°, mensual</a:t>
                      </a:r>
                    </a:p>
                  </a:txBody>
                  <a:tcPr anchor="ctr">
                    <a:solidFill>
                      <a:srgbClr val="EAF2FD"/>
                    </a:solidFill>
                  </a:tcPr>
                </a:tc>
                <a:tc>
                  <a:txBody>
                    <a:bodyPr/>
                    <a:lstStyle/>
                    <a:p>
                      <a:r>
                        <a:rPr sz="1215" b="0">
                          <a:solidFill>
                            <a:srgbClr val="1E293B"/>
                          </a:solidFill>
                          <a:latin typeface="Calibri"/>
                          <a:ea typeface="Calibri"/>
                          <a:cs typeface="Calibri"/>
                        </a:rPr>
                        <a:t>2000–2024. Desde 2025: climatología prevista</a:t>
                      </a:r>
                    </a:p>
                  </a:txBody>
                  <a:tcPr anchor="ctr">
                    <a:solidFill>
                      <a:srgbClr val="EAF2FD"/>
                    </a:solidFill>
                  </a:tcPr>
                </a:tc>
                <a:extLst>
                  <a:ext uri="{0D108BD9-81ED-4DB2-BD59-A6C34878D82A}">
                    <a16:rowId xmlns:a16="http://schemas.microsoft.com/office/drawing/2014/main" val="10005"/>
                  </a:ext>
                </a:extLst>
              </a:tr>
            </a:tbl>
          </a:graphicData>
        </a:graphic>
      </p:graphicFrame>
      <p:sp>
        <p:nvSpPr>
          <p:cNvPr id="10" name="Distinción">
            <a:extLst>
              <a:ext uri="{FF2B5EF4-FFF2-40B4-BE49-F238E27FC236}">
                <a16:creationId xmlns:a16="http://schemas.microsoft.com/office/drawing/2014/main" id="{D596FD06-265D-4AAB-88F0-F636B245827A}"/>
              </a:ext>
            </a:extLst>
          </p:cNvPr>
          <p:cNvSpPr>
            <a:spLocks noGrp="1"/>
          </p:cNvSpPr>
          <p:nvPr/>
        </p:nvSpPr>
        <p:spPr>
          <a:xfrm>
            <a:off x="552450" y="4381500"/>
            <a:ext cx="8039100" cy="209550"/>
          </a:xfrm>
          <a:prstGeom prst="rect">
            <a:avLst/>
          </a:prstGeom>
          <a:noFill/>
          <a:ln w="0">
            <a:noFill/>
          </a:ln>
        </p:spPr>
        <p:txBody>
          <a:bodyPr wrap="square" lIns="0" tIns="0" rIns="0" bIns="0" anchor="t">
            <a:noAutofit/>
          </a:bodyPr>
          <a:lstStyle/>
          <a:p>
            <a:pPr algn="l">
              <a:buNone/>
              <a:defRPr sz="1148">
                <a:solidFill>
                  <a:srgbClr val="17375D"/>
                </a:solidFill>
                <a:latin typeface="Calibri"/>
                <a:ea typeface="Calibri"/>
                <a:cs typeface="Calibri"/>
              </a:defRPr>
            </a:pPr>
            <a:r>
              <a:rPr sz="1148">
                <a:solidFill>
                  <a:srgbClr val="17375D"/>
                </a:solidFill>
                <a:latin typeface="Calibri"/>
                <a:ea typeface="Calibri"/>
                <a:cs typeface="Calibri"/>
              </a:rPr>
              <a:t>ACAG es un producto estimado externo. AOD y columna de NO₂ son predictores de la concentración superficial.</a:t>
            </a:r>
          </a:p>
        </p:txBody>
      </p:sp>
      <p:sp>
        <p:nvSpPr>
          <p:cNvPr id="11" name="Fuente y alcance">
            <a:extLst>
              <a:ext uri="{FF2B5EF4-FFF2-40B4-BE49-F238E27FC236}">
                <a16:creationId xmlns:a16="http://schemas.microsoft.com/office/drawing/2014/main" id="{73F5C2B7-1262-42D0-BF46-E9029CC79EF2}"/>
              </a:ext>
            </a:extLst>
          </p:cNvPr>
          <p:cNvSpPr>
            <a:spLocks noGrp="1"/>
          </p:cNvSpPr>
          <p:nvPr/>
        </p:nvSpPr>
        <p:spPr>
          <a:xfrm>
            <a:off x="548640" y="4619625"/>
            <a:ext cx="8046720" cy="200025"/>
          </a:xfrm>
          <a:prstGeom prst="rect">
            <a:avLst/>
          </a:prstGeom>
          <a:noFill/>
          <a:ln w="0">
            <a:noFill/>
          </a:ln>
        </p:spPr>
        <p:txBody>
          <a:bodyPr wrap="square" lIns="0" tIns="0" rIns="0" bIns="0" anchor="ctr">
            <a:noAutofit/>
          </a:bodyPr>
          <a:lstStyle/>
          <a:p>
            <a:pPr algn="l">
              <a:buNone/>
              <a:defRPr sz="848">
                <a:solidFill>
                  <a:srgbClr val="526277"/>
                </a:solidFill>
                <a:latin typeface="Calibri"/>
                <a:ea typeface="Calibri"/>
                <a:cs typeface="Calibri"/>
              </a:defRPr>
            </a:pPr>
            <a:r>
              <a:rPr sz="848">
                <a:solidFill>
                  <a:srgbClr val="526277"/>
                </a:solidFill>
                <a:latin typeface="Calibri"/>
                <a:ea typeface="Calibri"/>
                <a:cs typeface="Calibri"/>
              </a:rPr>
              <a:t>Inventarios locales y QMD. Los extremos del periodo no certifican cobertura completa ni integración terminada.</a:t>
            </a:r>
          </a:p>
        </p:txBody>
      </p:sp>
    </p:spTree>
    <p:extLst>
      <p:ext uri="{BB962C8B-B14F-4D97-AF65-F5344CB8AC3E}">
        <p14:creationId xmlns:p14="http://schemas.microsoft.com/office/powerpoint/2010/main" val="32275727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abecera azul UC">
            <a:extLst>
              <a:ext uri="{FF2B5EF4-FFF2-40B4-BE49-F238E27FC236}">
                <a16:creationId xmlns:a16="http://schemas.microsoft.com/office/drawing/2014/main" id="{3486DB9C-93DE-456A-BF48-2757BBD61ACE}"/>
              </a:ext>
            </a:extLst>
          </p:cNvPr>
          <p:cNvSpPr>
            <a:spLocks noGrp="1"/>
          </p:cNvSpPr>
          <p:nvPr/>
        </p:nvSpPr>
        <p:spPr>
          <a:xfrm>
            <a:off x="158742" y="0"/>
            <a:ext cx="8985258" cy="1007195"/>
          </a:xfrm>
          <a:prstGeom prst="rect">
            <a:avLst/>
          </a:prstGeom>
          <a:solidFill>
            <a:srgbClr val="017EDF"/>
          </a:solidFill>
          <a:ln>
            <a:noFill/>
          </a:ln>
        </p:spPr>
        <p:txBody>
          <a:bodyPr/>
          <a:lstStyle/>
          <a:p>
            <a:endParaRPr lang="es-CL"/>
          </a:p>
        </p:txBody>
      </p:sp>
      <p:sp>
        <p:nvSpPr>
          <p:cNvPr id="4" name="Rectángulo 9">
            <a:extLst>
              <a:ext uri="{FF2B5EF4-FFF2-40B4-BE49-F238E27FC236}">
                <a16:creationId xmlns:a16="http://schemas.microsoft.com/office/drawing/2014/main" id="{2DE33766-2918-41FC-A1B9-B4BF483C8974}"/>
              </a:ext>
            </a:extLst>
          </p:cNvPr>
          <p:cNvSpPr>
            <a:spLocks noGrp="1"/>
          </p:cNvSpPr>
          <p:nvPr/>
        </p:nvSpPr>
        <p:spPr>
          <a:xfrm>
            <a:off x="0" y="149945"/>
            <a:ext cx="158742" cy="857250"/>
          </a:xfrm>
          <a:prstGeom prst="rect">
            <a:avLst/>
          </a:prstGeom>
          <a:solidFill>
            <a:srgbClr val="FFE2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Rectángulo 7">
            <a:extLst>
              <a:ext uri="{FF2B5EF4-FFF2-40B4-BE49-F238E27FC236}">
                <a16:creationId xmlns:a16="http://schemas.microsoft.com/office/drawing/2014/main" id="{3BCD4458-45E8-4C73-A3B6-249CEEFBDB7B}"/>
              </a:ext>
            </a:extLst>
          </p:cNvPr>
          <p:cNvSpPr>
            <a:spLocks noGrp="1"/>
          </p:cNvSpPr>
          <p:nvPr/>
        </p:nvSpPr>
        <p:spPr>
          <a:xfrm flipV="1">
            <a:off x="169334" y="4871120"/>
            <a:ext cx="8815911" cy="177311"/>
          </a:xfrm>
          <a:prstGeom prst="rect">
            <a:avLst/>
          </a:prstGeom>
          <a:solidFill>
            <a:schemeClr val="bg1">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Rectángulo 10">
            <a:extLst>
              <a:ext uri="{FF2B5EF4-FFF2-40B4-BE49-F238E27FC236}">
                <a16:creationId xmlns:a16="http://schemas.microsoft.com/office/drawing/2014/main" id="{A18DC9E6-BD6D-4FE1-AEC0-9715BEE3912A}"/>
              </a:ext>
            </a:extLst>
          </p:cNvPr>
          <p:cNvSpPr>
            <a:spLocks noGrp="1"/>
          </p:cNvSpPr>
          <p:nvPr/>
        </p:nvSpPr>
        <p:spPr>
          <a:xfrm flipV="1">
            <a:off x="7200957" y="4871118"/>
            <a:ext cx="1119038" cy="177313"/>
          </a:xfrm>
          <a:prstGeom prst="rect">
            <a:avLst/>
          </a:prstGeom>
          <a:solidFill>
            <a:srgbClr val="3366CC"/>
          </a:solidFill>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ítulo 1">
            <a:extLst>
              <a:ext uri="{FF2B5EF4-FFF2-40B4-BE49-F238E27FC236}">
                <a16:creationId xmlns:a16="http://schemas.microsoft.com/office/drawing/2014/main" id="{438D0FA2-1899-4EDF-9FA4-D1742768DFC6}"/>
              </a:ext>
            </a:extLst>
          </p:cNvPr>
          <p:cNvSpPr>
            <a:spLocks noGrp="1"/>
          </p:cNvSpPr>
          <p:nvPr>
            <p:ph type="title"/>
          </p:nvPr>
        </p:nvSpPr>
        <p:spPr>
          <a:xfrm>
            <a:off x="457200" y="149945"/>
            <a:ext cx="8229600" cy="857250"/>
          </a:xfrm>
        </p:spPr>
        <p:txBody>
          <a:bodyPr wrap="square" anchor="ctr">
            <a:noAutofit/>
          </a:bodyPr>
          <a:lstStyle/>
          <a:p>
            <a:pPr algn="l">
              <a:spcBef>
                <a:spcPts val="0"/>
              </a:spcBef>
              <a:spcAft>
                <a:spcPts val="0"/>
              </a:spcAft>
              <a:defRPr sz="1900" b="1">
                <a:solidFill>
                  <a:srgbClr val="FFFFFF"/>
                </a:solidFill>
                <a:latin typeface="Calibri"/>
                <a:ea typeface="Calibri"/>
                <a:cs typeface="Calibri"/>
              </a:defRPr>
            </a:pPr>
            <a:r>
              <a:rPr sz="1900" b="1">
                <a:solidFill>
                  <a:srgbClr val="FFFFFF"/>
                </a:solidFill>
                <a:latin typeface="Calibri"/>
                <a:ea typeface="Calibri"/>
                <a:cs typeface="Calibri"/>
              </a:rPr>
              <a:t>Metodología: meteorología y composición atmosférica</a:t>
            </a:r>
          </a:p>
        </p:txBody>
      </p:sp>
      <p:graphicFrame>
        <p:nvGraphicFramePr>
          <p:cNvPr id="17" name="Tabla 16"/>
          <p:cNvGraphicFramePr/>
          <p:nvPr/>
        </p:nvGraphicFramePr>
        <p:xfrm>
          <a:off x="548640" y="1266825"/>
          <a:ext cx="8046720" cy="3076575"/>
        </p:xfrm>
        <a:graphic>
          <a:graphicData uri="http://schemas.openxmlformats.org/drawingml/2006/table">
            <a:tbl>
              <a:tblPr firstRow="1"/>
              <a:tblGrid>
                <a:gridCol w="1333500">
                  <a:extLst>
                    <a:ext uri="{9D8B030D-6E8A-4147-A177-3AD203B41FA5}">
                      <a16:colId xmlns:a16="http://schemas.microsoft.com/office/drawing/2014/main" val="20000"/>
                    </a:ext>
                  </a:extLst>
                </a:gridCol>
                <a:gridCol w="4048125">
                  <a:extLst>
                    <a:ext uri="{9D8B030D-6E8A-4147-A177-3AD203B41FA5}">
                      <a16:colId xmlns:a16="http://schemas.microsoft.com/office/drawing/2014/main" val="20001"/>
                    </a:ext>
                  </a:extLst>
                </a:gridCol>
                <a:gridCol w="2665095">
                  <a:extLst>
                    <a:ext uri="{9D8B030D-6E8A-4147-A177-3AD203B41FA5}">
                      <a16:colId xmlns:a16="http://schemas.microsoft.com/office/drawing/2014/main" val="20002"/>
                    </a:ext>
                  </a:extLst>
                </a:gridCol>
              </a:tblGrid>
              <a:tr h="352425">
                <a:tc>
                  <a:txBody>
                    <a:bodyPr/>
                    <a:lstStyle/>
                    <a:p>
                      <a:r>
                        <a:rPr sz="1238" b="1">
                          <a:solidFill>
                            <a:srgbClr val="FFFFFF"/>
                          </a:solidFill>
                          <a:latin typeface="Calibri"/>
                          <a:ea typeface="Calibri"/>
                          <a:cs typeface="Calibri"/>
                        </a:rPr>
                        <a:t>Fuente</a:t>
                      </a:r>
                    </a:p>
                  </a:txBody>
                  <a:tcPr anchor="ctr">
                    <a:solidFill>
                      <a:srgbClr val="17375D"/>
                    </a:solidFill>
                  </a:tcPr>
                </a:tc>
                <a:tc>
                  <a:txBody>
                    <a:bodyPr/>
                    <a:lstStyle/>
                    <a:p>
                      <a:r>
                        <a:rPr sz="1238" b="1">
                          <a:solidFill>
                            <a:srgbClr val="FFFFFF"/>
                          </a:solidFill>
                          <a:latin typeface="Calibri"/>
                          <a:ea typeface="Calibri"/>
                          <a:cs typeface="Calibri"/>
                        </a:rPr>
                        <a:t>Variables principales / resolución</a:t>
                      </a:r>
                    </a:p>
                  </a:txBody>
                  <a:tcPr anchor="ctr">
                    <a:solidFill>
                      <a:srgbClr val="17375D"/>
                    </a:solidFill>
                  </a:tcPr>
                </a:tc>
                <a:tc>
                  <a:txBody>
                    <a:bodyPr/>
                    <a:lstStyle/>
                    <a:p>
                      <a:r>
                        <a:rPr sz="1238" b="1">
                          <a:solidFill>
                            <a:srgbClr val="FFFFFF"/>
                          </a:solidFill>
                          <a:latin typeface="Calibri"/>
                          <a:ea typeface="Calibri"/>
                          <a:cs typeface="Calibri"/>
                        </a:rPr>
                        <a:t>Disponibilidad local</a:t>
                      </a:r>
                    </a:p>
                  </a:txBody>
                  <a:tcPr anchor="ctr">
                    <a:solidFill>
                      <a:srgbClr val="17375D"/>
                    </a:solidFill>
                  </a:tcPr>
                </a:tc>
                <a:extLst>
                  <a:ext uri="{0D108BD9-81ED-4DB2-BD59-A6C34878D82A}">
                    <a16:rowId xmlns:a16="http://schemas.microsoft.com/office/drawing/2014/main" val="10000"/>
                  </a:ext>
                </a:extLst>
              </a:tr>
              <a:tr h="544830">
                <a:tc>
                  <a:txBody>
                    <a:bodyPr/>
                    <a:lstStyle/>
                    <a:p>
                      <a:r>
                        <a:rPr sz="1238" b="0">
                          <a:solidFill>
                            <a:srgbClr val="1E293B"/>
                          </a:solidFill>
                          <a:latin typeface="Calibri"/>
                          <a:ea typeface="Calibri"/>
                          <a:cs typeface="Calibri"/>
                        </a:rPr>
                        <a:t>ERA5-Land</a:t>
                      </a:r>
                    </a:p>
                  </a:txBody>
                  <a:tcPr anchor="ctr">
                    <a:solidFill>
                      <a:srgbClr val="EAF2FD"/>
                    </a:solidFill>
                  </a:tcPr>
                </a:tc>
                <a:tc>
                  <a:txBody>
                    <a:bodyPr/>
                    <a:lstStyle/>
                    <a:p>
                      <a:r>
                        <a:rPr sz="1238" b="0">
                          <a:solidFill>
                            <a:srgbClr val="1E293B"/>
                          </a:solidFill>
                          <a:latin typeface="Calibri"/>
                          <a:ea typeface="Calibri"/>
                          <a:cs typeface="Calibri"/>
                        </a:rPr>
                        <a:t>Temperatura, humedad, presión, viento, precipitación. 0,1°, hora</a:t>
                      </a:r>
                    </a:p>
                  </a:txBody>
                  <a:tcPr anchor="ctr">
                    <a:solidFill>
                      <a:srgbClr val="EAF2FD"/>
                    </a:solidFill>
                  </a:tcPr>
                </a:tc>
                <a:tc>
                  <a:txBody>
                    <a:bodyPr/>
                    <a:lstStyle/>
                    <a:p>
                      <a:r>
                        <a:rPr sz="1238" b="0">
                          <a:solidFill>
                            <a:srgbClr val="1E293B"/>
                          </a:solidFill>
                          <a:latin typeface="Calibri"/>
                          <a:ea typeface="Calibri"/>
                          <a:cs typeface="Calibri"/>
                        </a:rPr>
                        <a:t>ene-2000–15-sep-2026</a:t>
                      </a:r>
                    </a:p>
                    <a:p>
                      <a:r>
                        <a:rPr sz="1238" b="0">
                          <a:solidFill>
                            <a:srgbClr val="1E293B"/>
                          </a:solidFill>
                          <a:latin typeface="Calibri"/>
                          <a:ea typeface="Calibri"/>
                          <a:cs typeface="Calibri"/>
                        </a:rPr>
                        <a:t>Septiembre parcial</a:t>
                      </a:r>
                    </a:p>
                  </a:txBody>
                  <a:tcPr anchor="ctr">
                    <a:solidFill>
                      <a:srgbClr val="EAF2FD"/>
                    </a:solidFill>
                  </a:tcPr>
                </a:tc>
                <a:extLst>
                  <a:ext uri="{0D108BD9-81ED-4DB2-BD59-A6C34878D82A}">
                    <a16:rowId xmlns:a16="http://schemas.microsoft.com/office/drawing/2014/main" val="10001"/>
                  </a:ext>
                </a:extLst>
              </a:tr>
              <a:tr h="544830">
                <a:tc>
                  <a:txBody>
                    <a:bodyPr/>
                    <a:lstStyle/>
                    <a:p>
                      <a:r>
                        <a:rPr sz="1238" b="0">
                          <a:solidFill>
                            <a:srgbClr val="1E293B"/>
                          </a:solidFill>
                          <a:latin typeface="Calibri"/>
                          <a:ea typeface="Calibri"/>
                          <a:cs typeface="Calibri"/>
                        </a:rPr>
                        <a:t>ERA5 BLH</a:t>
                      </a:r>
                    </a:p>
                  </a:txBody>
                  <a:tcPr anchor="ctr">
                    <a:solidFill>
                      <a:srgbClr val="FFFFFF"/>
                    </a:solidFill>
                  </a:tcPr>
                </a:tc>
                <a:tc>
                  <a:txBody>
                    <a:bodyPr/>
                    <a:lstStyle/>
                    <a:p>
                      <a:r>
                        <a:rPr sz="1238" b="0">
                          <a:solidFill>
                            <a:srgbClr val="1E293B"/>
                          </a:solidFill>
                          <a:latin typeface="Calibri"/>
                          <a:ea typeface="Calibri"/>
                          <a:cs typeface="Calibri"/>
                        </a:rPr>
                        <a:t>Altura de capa límite. 0,25°, hora</a:t>
                      </a:r>
                    </a:p>
                  </a:txBody>
                  <a:tcPr anchor="ctr">
                    <a:solidFill>
                      <a:srgbClr val="FFFFFF"/>
                    </a:solidFill>
                  </a:tcPr>
                </a:tc>
                <a:tc>
                  <a:txBody>
                    <a:bodyPr/>
                    <a:lstStyle/>
                    <a:p>
                      <a:r>
                        <a:rPr sz="1238" b="0">
                          <a:solidFill>
                            <a:srgbClr val="1E293B"/>
                          </a:solidFill>
                          <a:latin typeface="Calibri"/>
                          <a:ea typeface="Calibri"/>
                          <a:cs typeface="Calibri"/>
                        </a:rPr>
                        <a:t>ene-2000–21-jun-2026</a:t>
                      </a:r>
                    </a:p>
                    <a:p>
                      <a:r>
                        <a:rPr sz="1238" b="0">
                          <a:solidFill>
                            <a:srgbClr val="1E293B"/>
                          </a:solidFill>
                          <a:latin typeface="Calibri"/>
                          <a:ea typeface="Calibri"/>
                          <a:cs typeface="Calibri"/>
                        </a:rPr>
                        <a:t>Junio parcial</a:t>
                      </a:r>
                    </a:p>
                  </a:txBody>
                  <a:tcPr anchor="ctr">
                    <a:solidFill>
                      <a:srgbClr val="FFFFFF"/>
                    </a:solidFill>
                  </a:tcPr>
                </a:tc>
                <a:extLst>
                  <a:ext uri="{0D108BD9-81ED-4DB2-BD59-A6C34878D82A}">
                    <a16:rowId xmlns:a16="http://schemas.microsoft.com/office/drawing/2014/main" val="10002"/>
                  </a:ext>
                </a:extLst>
              </a:tr>
              <a:tr h="544830">
                <a:tc>
                  <a:txBody>
                    <a:bodyPr/>
                    <a:lstStyle/>
                    <a:p>
                      <a:r>
                        <a:rPr sz="1238" b="0">
                          <a:solidFill>
                            <a:srgbClr val="1E293B"/>
                          </a:solidFill>
                          <a:latin typeface="Calibri"/>
                          <a:ea typeface="Calibri"/>
                          <a:cs typeface="Calibri"/>
                        </a:rPr>
                        <a:t>MERRA-2</a:t>
                      </a:r>
                    </a:p>
                  </a:txBody>
                  <a:tcPr anchor="ctr">
                    <a:solidFill>
                      <a:srgbClr val="EAF2FD"/>
                    </a:solidFill>
                  </a:tcPr>
                </a:tc>
                <a:tc>
                  <a:txBody>
                    <a:bodyPr/>
                    <a:lstStyle/>
                    <a:p>
                      <a:r>
                        <a:rPr sz="1238" b="0">
                          <a:solidFill>
                            <a:srgbClr val="1E293B"/>
                          </a:solidFill>
                          <a:latin typeface="Calibri"/>
                          <a:ea typeface="Calibri"/>
                          <a:cs typeface="Calibri"/>
                        </a:rPr>
                        <a:t>PM₂.₅, AOD y meteorología.</a:t>
                      </a:r>
                    </a:p>
                    <a:p>
                      <a:r>
                        <a:rPr sz="1238" b="0">
                          <a:solidFill>
                            <a:srgbClr val="1E293B"/>
                          </a:solidFill>
                          <a:latin typeface="Calibri"/>
                          <a:ea typeface="Calibri"/>
                          <a:cs typeface="Calibri"/>
                        </a:rPr>
                        <a:t>0,5° × 0,625°, hora</a:t>
                      </a:r>
                    </a:p>
                  </a:txBody>
                  <a:tcPr anchor="ctr">
                    <a:solidFill>
                      <a:srgbClr val="EAF2FD"/>
                    </a:solidFill>
                  </a:tcPr>
                </a:tc>
                <a:tc>
                  <a:txBody>
                    <a:bodyPr/>
                    <a:lstStyle/>
                    <a:p>
                      <a:r>
                        <a:rPr sz="1238" b="0">
                          <a:solidFill>
                            <a:srgbClr val="1E293B"/>
                          </a:solidFill>
                          <a:latin typeface="Calibri"/>
                          <a:ea typeface="Calibri"/>
                          <a:cs typeface="Calibri"/>
                        </a:rPr>
                        <a:t>ene-2000–may-2026</a:t>
                      </a:r>
                    </a:p>
                  </a:txBody>
                  <a:tcPr anchor="ctr">
                    <a:solidFill>
                      <a:srgbClr val="EAF2FD"/>
                    </a:solidFill>
                  </a:tcPr>
                </a:tc>
                <a:extLst>
                  <a:ext uri="{0D108BD9-81ED-4DB2-BD59-A6C34878D82A}">
                    <a16:rowId xmlns:a16="http://schemas.microsoft.com/office/drawing/2014/main" val="10003"/>
                  </a:ext>
                </a:extLst>
              </a:tr>
              <a:tr h="544830">
                <a:tc>
                  <a:txBody>
                    <a:bodyPr/>
                    <a:lstStyle/>
                    <a:p>
                      <a:r>
                        <a:rPr sz="1238" b="0">
                          <a:solidFill>
                            <a:srgbClr val="1E293B"/>
                          </a:solidFill>
                          <a:latin typeface="Calibri"/>
                          <a:ea typeface="Calibri"/>
                          <a:cs typeface="Calibri"/>
                        </a:rPr>
                        <a:t>CAMS EAC4</a:t>
                      </a:r>
                    </a:p>
                  </a:txBody>
                  <a:tcPr anchor="ctr">
                    <a:solidFill>
                      <a:srgbClr val="FFFFFF"/>
                    </a:solidFill>
                  </a:tcPr>
                </a:tc>
                <a:tc>
                  <a:txBody>
                    <a:bodyPr/>
                    <a:lstStyle/>
                    <a:p>
                      <a:r>
                        <a:rPr sz="1238" b="0">
                          <a:solidFill>
                            <a:srgbClr val="1E293B"/>
                          </a:solidFill>
                          <a:latin typeface="Calibri"/>
                          <a:ea typeface="Calibri"/>
                          <a:cs typeface="Calibri"/>
                        </a:rPr>
                        <a:t>PM₂.₅, NO₂, O₃, CO. 0,75°, cada 3 h</a:t>
                      </a:r>
                    </a:p>
                  </a:txBody>
                  <a:tcPr anchor="ctr">
                    <a:solidFill>
                      <a:srgbClr val="FFFFFF"/>
                    </a:solidFill>
                  </a:tcPr>
                </a:tc>
                <a:tc>
                  <a:txBody>
                    <a:bodyPr/>
                    <a:lstStyle/>
                    <a:p>
                      <a:r>
                        <a:rPr sz="1238" b="0">
                          <a:solidFill>
                            <a:srgbClr val="1E293B"/>
                          </a:solidFill>
                          <a:latin typeface="Calibri"/>
                          <a:ea typeface="Calibri"/>
                          <a:cs typeface="Calibri"/>
                        </a:rPr>
                        <a:t>ene-2003–dic-2025</a:t>
                      </a:r>
                    </a:p>
                  </a:txBody>
                  <a:tcPr anchor="ctr">
                    <a:solidFill>
                      <a:srgbClr val="FFFFFF"/>
                    </a:solidFill>
                  </a:tcPr>
                </a:tc>
                <a:extLst>
                  <a:ext uri="{0D108BD9-81ED-4DB2-BD59-A6C34878D82A}">
                    <a16:rowId xmlns:a16="http://schemas.microsoft.com/office/drawing/2014/main" val="10004"/>
                  </a:ext>
                </a:extLst>
              </a:tr>
              <a:tr h="544830">
                <a:tc>
                  <a:txBody>
                    <a:bodyPr/>
                    <a:lstStyle/>
                    <a:p>
                      <a:r>
                        <a:rPr sz="1238" b="0">
                          <a:solidFill>
                            <a:srgbClr val="1E293B"/>
                          </a:solidFill>
                          <a:latin typeface="Calibri"/>
                          <a:ea typeface="Calibri"/>
                          <a:cs typeface="Calibri"/>
                        </a:rPr>
                        <a:t>GEOS-CF</a:t>
                      </a:r>
                    </a:p>
                  </a:txBody>
                  <a:tcPr anchor="ctr">
                    <a:solidFill>
                      <a:srgbClr val="EAF2FD"/>
                    </a:solidFill>
                  </a:tcPr>
                </a:tc>
                <a:tc>
                  <a:txBody>
                    <a:bodyPr/>
                    <a:lstStyle/>
                    <a:p>
                      <a:r>
                        <a:rPr sz="1238" b="0">
                          <a:solidFill>
                            <a:srgbClr val="1E293B"/>
                          </a:solidFill>
                          <a:latin typeface="Calibri"/>
                          <a:ea typeface="Calibri"/>
                          <a:cs typeface="Calibri"/>
                        </a:rPr>
                        <a:t>PM₂.₅, NO₂, O₃, CO. 0,25°, hora</a:t>
                      </a:r>
                    </a:p>
                  </a:txBody>
                  <a:tcPr anchor="ctr">
                    <a:solidFill>
                      <a:srgbClr val="EAF2FD"/>
                    </a:solidFill>
                  </a:tcPr>
                </a:tc>
                <a:tc>
                  <a:txBody>
                    <a:bodyPr/>
                    <a:lstStyle/>
                    <a:p>
                      <a:r>
                        <a:rPr sz="1238" b="0">
                          <a:solidFill>
                            <a:srgbClr val="1E293B"/>
                          </a:solidFill>
                          <a:latin typeface="Calibri"/>
                          <a:ea typeface="Calibri"/>
                          <a:cs typeface="Calibri"/>
                        </a:rPr>
                        <a:t>ene-2019–dic-2024</a:t>
                      </a:r>
                    </a:p>
                    <a:p>
                      <a:r>
                        <a:rPr sz="1238" b="0">
                          <a:solidFill>
                            <a:srgbClr val="1E293B"/>
                          </a:solidFill>
                          <a:latin typeface="Calibri"/>
                          <a:ea typeface="Calibri"/>
                          <a:cs typeface="Calibri"/>
                        </a:rPr>
                        <a:t>Archivos legados</a:t>
                      </a:r>
                    </a:p>
                  </a:txBody>
                  <a:tcPr anchor="ctr">
                    <a:solidFill>
                      <a:srgbClr val="EAF2FD"/>
                    </a:solidFill>
                  </a:tcPr>
                </a:tc>
                <a:extLst>
                  <a:ext uri="{0D108BD9-81ED-4DB2-BD59-A6C34878D82A}">
                    <a16:rowId xmlns:a16="http://schemas.microsoft.com/office/drawing/2014/main" val="10005"/>
                  </a:ext>
                </a:extLst>
              </a:tr>
            </a:tbl>
          </a:graphicData>
        </a:graphic>
      </p:graphicFrame>
      <p:sp>
        <p:nvSpPr>
          <p:cNvPr id="9" name="Estado">
            <a:extLst>
              <a:ext uri="{FF2B5EF4-FFF2-40B4-BE49-F238E27FC236}">
                <a16:creationId xmlns:a16="http://schemas.microsoft.com/office/drawing/2014/main" id="{A7A0D08D-5924-4D9C-AEF7-BFD4C0A3D59B}"/>
              </a:ext>
            </a:extLst>
          </p:cNvPr>
          <p:cNvSpPr>
            <a:spLocks noGrp="1"/>
          </p:cNvSpPr>
          <p:nvPr/>
        </p:nvSpPr>
        <p:spPr>
          <a:xfrm>
            <a:off x="552450" y="4410075"/>
            <a:ext cx="8039100" cy="209550"/>
          </a:xfrm>
          <a:prstGeom prst="rect">
            <a:avLst/>
          </a:prstGeom>
          <a:noFill/>
          <a:ln w="0">
            <a:noFill/>
          </a:ln>
        </p:spPr>
        <p:txBody>
          <a:bodyPr wrap="square" lIns="0" tIns="0" rIns="0" bIns="0" anchor="t">
            <a:noAutofit/>
          </a:bodyPr>
          <a:lstStyle/>
          <a:p>
            <a:pPr algn="l">
              <a:buNone/>
              <a:defRPr sz="1200">
                <a:solidFill>
                  <a:srgbClr val="17375D"/>
                </a:solidFill>
                <a:latin typeface="Calibri"/>
                <a:ea typeface="Calibri"/>
                <a:cs typeface="Calibri"/>
              </a:defRPr>
            </a:pPr>
            <a:r>
              <a:rPr sz="1200">
                <a:solidFill>
                  <a:srgbClr val="17375D"/>
                </a:solidFill>
                <a:latin typeface="Calibri"/>
                <a:ea typeface="Calibri"/>
                <a:cs typeface="Calibri"/>
              </a:rPr>
              <a:t>Son reanálisis o productos de modelos atmosféricos usados como entradas.</a:t>
            </a:r>
          </a:p>
        </p:txBody>
      </p:sp>
      <p:sp>
        <p:nvSpPr>
          <p:cNvPr id="10" name="Fuente y alcance">
            <a:extLst>
              <a:ext uri="{FF2B5EF4-FFF2-40B4-BE49-F238E27FC236}">
                <a16:creationId xmlns:a16="http://schemas.microsoft.com/office/drawing/2014/main" id="{55BC35F3-3860-4135-B4F8-AD2A7D7D192F}"/>
              </a:ext>
            </a:extLst>
          </p:cNvPr>
          <p:cNvSpPr>
            <a:spLocks noGrp="1"/>
          </p:cNvSpPr>
          <p:nvPr/>
        </p:nvSpPr>
        <p:spPr>
          <a:xfrm>
            <a:off x="548640" y="4619625"/>
            <a:ext cx="8046720" cy="200025"/>
          </a:xfrm>
          <a:prstGeom prst="rect">
            <a:avLst/>
          </a:prstGeom>
          <a:noFill/>
          <a:ln w="0">
            <a:noFill/>
          </a:ln>
        </p:spPr>
        <p:txBody>
          <a:bodyPr wrap="square" lIns="0" tIns="0" rIns="0" bIns="0" anchor="ctr">
            <a:noAutofit/>
          </a:bodyPr>
          <a:lstStyle/>
          <a:p>
            <a:pPr algn="l">
              <a:buNone/>
              <a:defRPr sz="848">
                <a:solidFill>
                  <a:srgbClr val="526277"/>
                </a:solidFill>
                <a:latin typeface="Calibri"/>
                <a:ea typeface="Calibri"/>
                <a:cs typeface="Calibri"/>
              </a:defRPr>
            </a:pPr>
            <a:r>
              <a:rPr sz="848">
                <a:solidFill>
                  <a:srgbClr val="526277"/>
                </a:solidFill>
                <a:latin typeface="Calibri"/>
                <a:ea typeface="Calibri"/>
                <a:cs typeface="Calibri"/>
              </a:rPr>
              <a:t>Corte local 26-sep-2026. ERA5-Land precipitación derivada auditada hasta 14-sep; no transferir conteos del corte 15-sep.</a:t>
            </a:r>
          </a:p>
        </p:txBody>
      </p:sp>
    </p:spTree>
    <p:extLst>
      <p:ext uri="{BB962C8B-B14F-4D97-AF65-F5344CB8AC3E}">
        <p14:creationId xmlns:p14="http://schemas.microsoft.com/office/powerpoint/2010/main" val="32275727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abecera azul UC">
            <a:extLst>
              <a:ext uri="{FF2B5EF4-FFF2-40B4-BE49-F238E27FC236}">
                <a16:creationId xmlns:a16="http://schemas.microsoft.com/office/drawing/2014/main" id="{3486DB9C-93DE-456A-BF48-2757BBD61ACE}"/>
              </a:ext>
            </a:extLst>
          </p:cNvPr>
          <p:cNvSpPr>
            <a:spLocks noGrp="1"/>
          </p:cNvSpPr>
          <p:nvPr/>
        </p:nvSpPr>
        <p:spPr>
          <a:xfrm>
            <a:off x="158742" y="0"/>
            <a:ext cx="8985258" cy="1007195"/>
          </a:xfrm>
          <a:prstGeom prst="rect">
            <a:avLst/>
          </a:prstGeom>
          <a:solidFill>
            <a:srgbClr val="017EDF"/>
          </a:solidFill>
          <a:ln>
            <a:noFill/>
          </a:ln>
        </p:spPr>
        <p:txBody>
          <a:bodyPr/>
          <a:lstStyle/>
          <a:p>
            <a:endParaRPr lang="es-CL"/>
          </a:p>
        </p:txBody>
      </p:sp>
      <p:sp>
        <p:nvSpPr>
          <p:cNvPr id="4" name="Rectángulo 9">
            <a:extLst>
              <a:ext uri="{FF2B5EF4-FFF2-40B4-BE49-F238E27FC236}">
                <a16:creationId xmlns:a16="http://schemas.microsoft.com/office/drawing/2014/main" id="{2DE33766-2918-41FC-A1B9-B4BF483C8974}"/>
              </a:ext>
            </a:extLst>
          </p:cNvPr>
          <p:cNvSpPr>
            <a:spLocks noGrp="1"/>
          </p:cNvSpPr>
          <p:nvPr/>
        </p:nvSpPr>
        <p:spPr>
          <a:xfrm>
            <a:off x="0" y="149945"/>
            <a:ext cx="158742" cy="857250"/>
          </a:xfrm>
          <a:prstGeom prst="rect">
            <a:avLst/>
          </a:prstGeom>
          <a:solidFill>
            <a:srgbClr val="FFE2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Rectángulo 7">
            <a:extLst>
              <a:ext uri="{FF2B5EF4-FFF2-40B4-BE49-F238E27FC236}">
                <a16:creationId xmlns:a16="http://schemas.microsoft.com/office/drawing/2014/main" id="{3BCD4458-45E8-4C73-A3B6-249CEEFBDB7B}"/>
              </a:ext>
            </a:extLst>
          </p:cNvPr>
          <p:cNvSpPr>
            <a:spLocks noGrp="1"/>
          </p:cNvSpPr>
          <p:nvPr/>
        </p:nvSpPr>
        <p:spPr>
          <a:xfrm flipV="1">
            <a:off x="169334" y="4871120"/>
            <a:ext cx="8815911" cy="177311"/>
          </a:xfrm>
          <a:prstGeom prst="rect">
            <a:avLst/>
          </a:prstGeom>
          <a:solidFill>
            <a:schemeClr val="bg1">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Rectángulo 10">
            <a:extLst>
              <a:ext uri="{FF2B5EF4-FFF2-40B4-BE49-F238E27FC236}">
                <a16:creationId xmlns:a16="http://schemas.microsoft.com/office/drawing/2014/main" id="{A18DC9E6-BD6D-4FE1-AEC0-9715BEE3912A}"/>
              </a:ext>
            </a:extLst>
          </p:cNvPr>
          <p:cNvSpPr>
            <a:spLocks noGrp="1"/>
          </p:cNvSpPr>
          <p:nvPr/>
        </p:nvSpPr>
        <p:spPr>
          <a:xfrm flipV="1">
            <a:off x="7200957" y="4871118"/>
            <a:ext cx="1119038" cy="177313"/>
          </a:xfrm>
          <a:prstGeom prst="rect">
            <a:avLst/>
          </a:prstGeom>
          <a:solidFill>
            <a:srgbClr val="3366CC"/>
          </a:solidFill>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ítulo 1">
            <a:extLst>
              <a:ext uri="{FF2B5EF4-FFF2-40B4-BE49-F238E27FC236}">
                <a16:creationId xmlns:a16="http://schemas.microsoft.com/office/drawing/2014/main" id="{438D0FA2-1899-4EDF-9FA4-D1742768DFC6}"/>
              </a:ext>
            </a:extLst>
          </p:cNvPr>
          <p:cNvSpPr>
            <a:spLocks noGrp="1"/>
          </p:cNvSpPr>
          <p:nvPr>
            <p:ph type="title"/>
          </p:nvPr>
        </p:nvSpPr>
        <p:spPr>
          <a:xfrm>
            <a:off x="457200" y="149945"/>
            <a:ext cx="8229600" cy="857250"/>
          </a:xfrm>
        </p:spPr>
        <p:txBody>
          <a:bodyPr wrap="square" anchor="ctr">
            <a:noAutofit/>
          </a:bodyPr>
          <a:lstStyle/>
          <a:p>
            <a:pPr algn="l">
              <a:spcBef>
                <a:spcPts val="0"/>
              </a:spcBef>
              <a:spcAft>
                <a:spcPts val="0"/>
              </a:spcAft>
              <a:defRPr sz="1900" b="1">
                <a:solidFill>
                  <a:srgbClr val="FFFFFF"/>
                </a:solidFill>
                <a:latin typeface="Calibri"/>
                <a:ea typeface="Calibri"/>
                <a:cs typeface="Calibri"/>
              </a:defRPr>
            </a:pPr>
            <a:r>
              <a:rPr sz="1900" b="1">
                <a:solidFill>
                  <a:srgbClr val="FFFFFF"/>
                </a:solidFill>
                <a:latin typeface="Calibri"/>
                <a:ea typeface="Calibri"/>
                <a:cs typeface="Calibri"/>
              </a:rPr>
              <a:t>Metodología: territorio, calendario y disponibilidad</a:t>
            </a:r>
          </a:p>
        </p:txBody>
      </p:sp>
      <p:graphicFrame>
        <p:nvGraphicFramePr>
          <p:cNvPr id="16" name="Tabla 15"/>
          <p:cNvGraphicFramePr/>
          <p:nvPr/>
        </p:nvGraphicFramePr>
        <p:xfrm>
          <a:off x="548640" y="1285875"/>
          <a:ext cx="8046720" cy="3086100"/>
        </p:xfrm>
        <a:graphic>
          <a:graphicData uri="http://schemas.openxmlformats.org/drawingml/2006/table">
            <a:tbl>
              <a:tblPr firstRow="1"/>
              <a:tblGrid>
                <a:gridCol w="1762125">
                  <a:extLst>
                    <a:ext uri="{9D8B030D-6E8A-4147-A177-3AD203B41FA5}">
                      <a16:colId xmlns:a16="http://schemas.microsoft.com/office/drawing/2014/main" val="20000"/>
                    </a:ext>
                  </a:extLst>
                </a:gridCol>
                <a:gridCol w="3190875">
                  <a:extLst>
                    <a:ext uri="{9D8B030D-6E8A-4147-A177-3AD203B41FA5}">
                      <a16:colId xmlns:a16="http://schemas.microsoft.com/office/drawing/2014/main" val="20001"/>
                    </a:ext>
                  </a:extLst>
                </a:gridCol>
                <a:gridCol w="3093720">
                  <a:extLst>
                    <a:ext uri="{9D8B030D-6E8A-4147-A177-3AD203B41FA5}">
                      <a16:colId xmlns:a16="http://schemas.microsoft.com/office/drawing/2014/main" val="20002"/>
                    </a:ext>
                  </a:extLst>
                </a:gridCol>
              </a:tblGrid>
              <a:tr h="352425">
                <a:tc>
                  <a:txBody>
                    <a:bodyPr/>
                    <a:lstStyle/>
                    <a:p>
                      <a:r>
                        <a:rPr sz="1230" b="1">
                          <a:solidFill>
                            <a:srgbClr val="FFFFFF"/>
                          </a:solidFill>
                          <a:latin typeface="Calibri"/>
                          <a:ea typeface="Calibri"/>
                          <a:cs typeface="Calibri"/>
                        </a:rPr>
                        <a:t>Fuente</a:t>
                      </a:r>
                    </a:p>
                  </a:txBody>
                  <a:tcPr anchor="ctr">
                    <a:solidFill>
                      <a:srgbClr val="17375D"/>
                    </a:solidFill>
                  </a:tcPr>
                </a:tc>
                <a:tc>
                  <a:txBody>
                    <a:bodyPr/>
                    <a:lstStyle/>
                    <a:p>
                      <a:r>
                        <a:rPr sz="1230" b="1">
                          <a:solidFill>
                            <a:srgbClr val="FFFFFF"/>
                          </a:solidFill>
                          <a:latin typeface="Calibri"/>
                          <a:ea typeface="Calibri"/>
                          <a:cs typeface="Calibri"/>
                        </a:rPr>
                        <a:t>Uso en la integración</a:t>
                      </a:r>
                    </a:p>
                  </a:txBody>
                  <a:tcPr anchor="ctr">
                    <a:solidFill>
                      <a:srgbClr val="17375D"/>
                    </a:solidFill>
                  </a:tcPr>
                </a:tc>
                <a:tc>
                  <a:txBody>
                    <a:bodyPr/>
                    <a:lstStyle/>
                    <a:p>
                      <a:r>
                        <a:rPr sz="1230" b="1">
                          <a:solidFill>
                            <a:srgbClr val="FFFFFF"/>
                          </a:solidFill>
                          <a:latin typeface="Calibri"/>
                          <a:ea typeface="Calibri"/>
                          <a:cs typeface="Calibri"/>
                        </a:rPr>
                        <a:t>Periodo y limitación</a:t>
                      </a:r>
                    </a:p>
                  </a:txBody>
                  <a:tcPr anchor="ctr">
                    <a:solidFill>
                      <a:srgbClr val="17375D"/>
                    </a:solidFill>
                  </a:tcPr>
                </a:tc>
                <a:extLst>
                  <a:ext uri="{0D108BD9-81ED-4DB2-BD59-A6C34878D82A}">
                    <a16:rowId xmlns:a16="http://schemas.microsoft.com/office/drawing/2014/main" val="10000"/>
                  </a:ext>
                </a:extLst>
              </a:tr>
              <a:tr h="546735">
                <a:tc>
                  <a:txBody>
                    <a:bodyPr/>
                    <a:lstStyle/>
                    <a:p>
                      <a:r>
                        <a:rPr sz="1230" b="0">
                          <a:solidFill>
                            <a:srgbClr val="1E293B"/>
                          </a:solidFill>
                          <a:latin typeface="Calibri"/>
                          <a:ea typeface="Calibri"/>
                          <a:cs typeface="Calibri"/>
                        </a:rPr>
                        <a:t>ESA CCI, 300 m</a:t>
                      </a:r>
                    </a:p>
                  </a:txBody>
                  <a:tcPr anchor="ctr">
                    <a:solidFill>
                      <a:srgbClr val="EAF2FD"/>
                    </a:solidFill>
                  </a:tcPr>
                </a:tc>
                <a:tc>
                  <a:txBody>
                    <a:bodyPr/>
                    <a:lstStyle/>
                    <a:p>
                      <a:r>
                        <a:rPr sz="1230" b="0">
                          <a:solidFill>
                            <a:srgbClr val="1E293B"/>
                          </a:solidFill>
                          <a:latin typeface="Calibri"/>
                          <a:ea typeface="Calibri"/>
                          <a:cs typeface="Calibri"/>
                        </a:rPr>
                        <a:t>Fracciones de suelo urbano, bosque, cultivo y suelo desnudo</a:t>
                      </a:r>
                    </a:p>
                  </a:txBody>
                  <a:tcPr anchor="ctr">
                    <a:solidFill>
                      <a:srgbClr val="EAF2FD"/>
                    </a:solidFill>
                  </a:tcPr>
                </a:tc>
                <a:tc>
                  <a:txBody>
                    <a:bodyPr/>
                    <a:lstStyle/>
                    <a:p>
                      <a:r>
                        <a:rPr sz="1230" b="0">
                          <a:solidFill>
                            <a:srgbClr val="1E293B"/>
                          </a:solidFill>
                          <a:latin typeface="Calibri"/>
                          <a:ea typeface="Calibri"/>
                          <a:cs typeface="Calibri"/>
                        </a:rPr>
                        <a:t>Anual 2000–2022. Para 2023–2026 se reutiliza 2022</a:t>
                      </a:r>
                    </a:p>
                  </a:txBody>
                  <a:tcPr anchor="ctr">
                    <a:solidFill>
                      <a:srgbClr val="EAF2FD"/>
                    </a:solidFill>
                  </a:tcPr>
                </a:tc>
                <a:extLst>
                  <a:ext uri="{0D108BD9-81ED-4DB2-BD59-A6C34878D82A}">
                    <a16:rowId xmlns:a16="http://schemas.microsoft.com/office/drawing/2014/main" val="10001"/>
                  </a:ext>
                </a:extLst>
              </a:tr>
              <a:tr h="546735">
                <a:tc>
                  <a:txBody>
                    <a:bodyPr/>
                    <a:lstStyle/>
                    <a:p>
                      <a:r>
                        <a:rPr sz="1230" b="0">
                          <a:solidFill>
                            <a:srgbClr val="1E293B"/>
                          </a:solidFill>
                          <a:latin typeface="Calibri"/>
                          <a:ea typeface="Calibri"/>
                          <a:cs typeface="Calibri"/>
                        </a:rPr>
                        <a:t>Población comunal</a:t>
                      </a:r>
                    </a:p>
                  </a:txBody>
                  <a:tcPr anchor="ctr">
                    <a:solidFill>
                      <a:srgbClr val="FFFFFF"/>
                    </a:solidFill>
                  </a:tcPr>
                </a:tc>
                <a:tc>
                  <a:txBody>
                    <a:bodyPr/>
                    <a:lstStyle/>
                    <a:p>
                      <a:r>
                        <a:rPr sz="1230" b="0">
                          <a:solidFill>
                            <a:srgbClr val="1E293B"/>
                          </a:solidFill>
                          <a:latin typeface="Calibri"/>
                          <a:ea typeface="Calibri"/>
                          <a:cs typeface="Calibri"/>
                        </a:rPr>
                        <a:t>Densidad sobre la grilla de 0,01°</a:t>
                      </a:r>
                    </a:p>
                  </a:txBody>
                  <a:tcPr anchor="ctr">
                    <a:solidFill>
                      <a:srgbClr val="FFFFFF"/>
                    </a:solidFill>
                  </a:tcPr>
                </a:tc>
                <a:tc>
                  <a:txBody>
                    <a:bodyPr/>
                    <a:lstStyle/>
                    <a:p>
                      <a:r>
                        <a:rPr sz="1230" b="0">
                          <a:solidFill>
                            <a:srgbClr val="1E293B"/>
                          </a:solidFill>
                          <a:latin typeface="Calibri"/>
                          <a:ea typeface="Calibri"/>
                          <a:cs typeface="Calibri"/>
                        </a:rPr>
                        <a:t>Fuente 2002–2035. Para 2000–2001 se usa 2002</a:t>
                      </a:r>
                    </a:p>
                  </a:txBody>
                  <a:tcPr anchor="ctr">
                    <a:solidFill>
                      <a:srgbClr val="FFFFFF"/>
                    </a:solidFill>
                  </a:tcPr>
                </a:tc>
                <a:extLst>
                  <a:ext uri="{0D108BD9-81ED-4DB2-BD59-A6C34878D82A}">
                    <a16:rowId xmlns:a16="http://schemas.microsoft.com/office/drawing/2014/main" val="10002"/>
                  </a:ext>
                </a:extLst>
              </a:tr>
              <a:tr h="546735">
                <a:tc>
                  <a:txBody>
                    <a:bodyPr/>
                    <a:lstStyle/>
                    <a:p>
                      <a:r>
                        <a:rPr sz="1230" b="0">
                          <a:solidFill>
                            <a:srgbClr val="1E293B"/>
                          </a:solidFill>
                          <a:latin typeface="Calibri"/>
                          <a:ea typeface="Calibri"/>
                          <a:cs typeface="Calibri"/>
                        </a:rPr>
                        <a:t>Geometría, OSM y relieve</a:t>
                      </a:r>
                    </a:p>
                  </a:txBody>
                  <a:tcPr anchor="ctr">
                    <a:solidFill>
                      <a:srgbClr val="EAF2FD"/>
                    </a:solidFill>
                  </a:tcPr>
                </a:tc>
                <a:tc>
                  <a:txBody>
                    <a:bodyPr/>
                    <a:lstStyle/>
                    <a:p>
                      <a:r>
                        <a:rPr sz="1230" b="0">
                          <a:solidFill>
                            <a:srgbClr val="1E293B"/>
                          </a:solidFill>
                          <a:latin typeface="Calibri"/>
                          <a:ea typeface="Calibri"/>
                          <a:cs typeface="Calibri"/>
                        </a:rPr>
                        <a:t>Grilla, comunas, macrozonas, elevación, pendiente, costa y vías</a:t>
                      </a:r>
                    </a:p>
                  </a:txBody>
                  <a:tcPr anchor="ctr">
                    <a:solidFill>
                      <a:srgbClr val="EAF2FD"/>
                    </a:solidFill>
                  </a:tcPr>
                </a:tc>
                <a:tc>
                  <a:txBody>
                    <a:bodyPr/>
                    <a:lstStyle/>
                    <a:p>
                      <a:r>
                        <a:rPr sz="1230" b="0">
                          <a:solidFill>
                            <a:srgbClr val="1E293B"/>
                          </a:solidFill>
                          <a:latin typeface="Calibri"/>
                          <a:ea typeface="Calibri"/>
                          <a:cs typeface="Calibri"/>
                        </a:rPr>
                        <a:t>Estáticas, fecha no acreditada. Relieve comunal. NASADEM ausente</a:t>
                      </a:r>
                    </a:p>
                  </a:txBody>
                  <a:tcPr anchor="ctr">
                    <a:solidFill>
                      <a:srgbClr val="EAF2FD"/>
                    </a:solidFill>
                  </a:tcPr>
                </a:tc>
                <a:extLst>
                  <a:ext uri="{0D108BD9-81ED-4DB2-BD59-A6C34878D82A}">
                    <a16:rowId xmlns:a16="http://schemas.microsoft.com/office/drawing/2014/main" val="10003"/>
                  </a:ext>
                </a:extLst>
              </a:tr>
              <a:tr h="546735">
                <a:tc>
                  <a:txBody>
                    <a:bodyPr/>
                    <a:lstStyle/>
                    <a:p>
                      <a:r>
                        <a:rPr sz="1230" b="0">
                          <a:solidFill>
                            <a:srgbClr val="1E293B"/>
                          </a:solidFill>
                          <a:latin typeface="Calibri"/>
                          <a:ea typeface="Calibri"/>
                          <a:cs typeface="Calibri"/>
                        </a:rPr>
                        <a:t>Calendario y vecindario</a:t>
                      </a:r>
                    </a:p>
                  </a:txBody>
                  <a:tcPr anchor="ctr">
                    <a:solidFill>
                      <a:srgbClr val="FFFFFF"/>
                    </a:solidFill>
                  </a:tcPr>
                </a:tc>
                <a:tc>
                  <a:txBody>
                    <a:bodyPr/>
                    <a:lstStyle/>
                    <a:p>
                      <a:r>
                        <a:rPr sz="1230" b="0">
                          <a:solidFill>
                            <a:srgbClr val="1E293B"/>
                          </a:solidFill>
                          <a:latin typeface="Calibri"/>
                          <a:ea typeface="Calibri"/>
                          <a:cs typeface="Calibri"/>
                        </a:rPr>
                        <a:t>Hora, día, mes y monitores vecinos</a:t>
                      </a:r>
                    </a:p>
                  </a:txBody>
                  <a:tcPr anchor="ctr">
                    <a:solidFill>
                      <a:srgbClr val="FFFFFF"/>
                    </a:solidFill>
                  </a:tcPr>
                </a:tc>
                <a:tc>
                  <a:txBody>
                    <a:bodyPr/>
                    <a:lstStyle/>
                    <a:p>
                      <a:r>
                        <a:rPr sz="1230" b="0">
                          <a:solidFill>
                            <a:srgbClr val="1E293B"/>
                          </a:solidFill>
                          <a:latin typeface="Calibri"/>
                          <a:ea typeface="Calibri"/>
                          <a:cs typeface="Calibri"/>
                        </a:rPr>
                        <a:t>2000–13-sep-2026</a:t>
                      </a:r>
                    </a:p>
                    <a:p>
                      <a:r>
                        <a:rPr sz="1230" b="0">
                          <a:solidFill>
                            <a:srgbClr val="1E293B"/>
                          </a:solidFill>
                          <a:latin typeface="Calibri"/>
                          <a:ea typeface="Calibri"/>
                          <a:cs typeface="Calibri"/>
                        </a:rPr>
                        <a:t>Exclusión por partición a verificar</a:t>
                      </a:r>
                    </a:p>
                  </a:txBody>
                  <a:tcPr anchor="ctr">
                    <a:solidFill>
                      <a:srgbClr val="FFFFFF"/>
                    </a:solidFill>
                  </a:tcPr>
                </a:tc>
                <a:extLst>
                  <a:ext uri="{0D108BD9-81ED-4DB2-BD59-A6C34878D82A}">
                    <a16:rowId xmlns:a16="http://schemas.microsoft.com/office/drawing/2014/main" val="10004"/>
                  </a:ext>
                </a:extLst>
              </a:tr>
              <a:tr h="546735">
                <a:tc>
                  <a:txBody>
                    <a:bodyPr/>
                    <a:lstStyle/>
                    <a:p>
                      <a:r>
                        <a:rPr sz="1230" b="0">
                          <a:solidFill>
                            <a:srgbClr val="1E293B"/>
                          </a:solidFill>
                          <a:latin typeface="Calibri"/>
                          <a:ea typeface="Calibri"/>
                          <a:cs typeface="Calibri"/>
                        </a:rPr>
                        <a:t>Leña comunal</a:t>
                      </a:r>
                    </a:p>
                  </a:txBody>
                  <a:tcPr anchor="ctr">
                    <a:solidFill>
                      <a:srgbClr val="EAF2FD"/>
                    </a:solidFill>
                  </a:tcPr>
                </a:tc>
                <a:tc>
                  <a:txBody>
                    <a:bodyPr/>
                    <a:lstStyle/>
                    <a:p>
                      <a:r>
                        <a:rPr sz="1230" b="0">
                          <a:solidFill>
                            <a:srgbClr val="1E293B"/>
                          </a:solidFill>
                          <a:latin typeface="Calibri"/>
                          <a:ea typeface="Calibri"/>
                          <a:cs typeface="Calibri"/>
                        </a:rPr>
                        <a:t>Covariable prevista de uso de leña</a:t>
                      </a:r>
                    </a:p>
                  </a:txBody>
                  <a:tcPr anchor="ctr">
                    <a:solidFill>
                      <a:srgbClr val="EAF2FD"/>
                    </a:solidFill>
                  </a:tcPr>
                </a:tc>
                <a:tc>
                  <a:txBody>
                    <a:bodyPr/>
                    <a:lstStyle/>
                    <a:p>
                      <a:r>
                        <a:rPr sz="1230" b="0">
                          <a:solidFill>
                            <a:srgbClr val="1E293B"/>
                          </a:solidFill>
                          <a:latin typeface="Calibri"/>
                          <a:ea typeface="Calibri"/>
                          <a:cs typeface="Calibri"/>
                        </a:rPr>
                        <a:t>CSV 2017, pero fracción sin valores. Pendiente</a:t>
                      </a:r>
                    </a:p>
                  </a:txBody>
                  <a:tcPr anchor="ctr">
                    <a:solidFill>
                      <a:srgbClr val="EAF2FD"/>
                    </a:solidFill>
                  </a:tcPr>
                </a:tc>
                <a:extLst>
                  <a:ext uri="{0D108BD9-81ED-4DB2-BD59-A6C34878D82A}">
                    <a16:rowId xmlns:a16="http://schemas.microsoft.com/office/drawing/2014/main" val="10005"/>
                  </a:ext>
                </a:extLst>
              </a:tr>
            </a:tbl>
          </a:graphicData>
        </a:graphic>
      </p:graphicFrame>
      <p:sp>
        <p:nvSpPr>
          <p:cNvPr id="9" name="Fuente y alcance">
            <a:extLst>
              <a:ext uri="{FF2B5EF4-FFF2-40B4-BE49-F238E27FC236}">
                <a16:creationId xmlns:a16="http://schemas.microsoft.com/office/drawing/2014/main" id="{F7F30933-3CF1-47E9-9D06-5B76C7204635}"/>
              </a:ext>
            </a:extLst>
          </p:cNvPr>
          <p:cNvSpPr>
            <a:spLocks noGrp="1"/>
          </p:cNvSpPr>
          <p:nvPr/>
        </p:nvSpPr>
        <p:spPr>
          <a:xfrm>
            <a:off x="548640" y="4619625"/>
            <a:ext cx="8046720" cy="200025"/>
          </a:xfrm>
          <a:prstGeom prst="rect">
            <a:avLst/>
          </a:prstGeom>
          <a:noFill/>
          <a:ln w="0">
            <a:noFill/>
          </a:ln>
        </p:spPr>
        <p:txBody>
          <a:bodyPr wrap="square" lIns="0" tIns="0" rIns="0" bIns="0" anchor="ctr">
            <a:noAutofit/>
          </a:bodyPr>
          <a:lstStyle/>
          <a:p>
            <a:pPr algn="l">
              <a:buNone/>
              <a:defRPr sz="848">
                <a:solidFill>
                  <a:srgbClr val="526277"/>
                </a:solidFill>
                <a:latin typeface="Calibri"/>
                <a:ea typeface="Calibri"/>
                <a:cs typeface="Calibri"/>
              </a:defRPr>
            </a:pPr>
            <a:r>
              <a:rPr sz="848">
                <a:solidFill>
                  <a:srgbClr val="526277"/>
                </a:solidFill>
                <a:latin typeface="Calibri"/>
                <a:ea typeface="Calibri"/>
                <a:cs typeface="Calibri"/>
              </a:rPr>
              <a:t>Fuente: QMD y archivos locales. Fechas de población incluyen proyecciones; uso anual no equivale a observación censal anual.</a:t>
            </a:r>
          </a:p>
        </p:txBody>
      </p:sp>
    </p:spTree>
    <p:extLst>
      <p:ext uri="{BB962C8B-B14F-4D97-AF65-F5344CB8AC3E}">
        <p14:creationId xmlns:p14="http://schemas.microsoft.com/office/powerpoint/2010/main" val="32275727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abecera azul UC">
            <a:extLst>
              <a:ext uri="{FF2B5EF4-FFF2-40B4-BE49-F238E27FC236}">
                <a16:creationId xmlns:a16="http://schemas.microsoft.com/office/drawing/2014/main" id="{3486DB9C-93DE-456A-BF48-2757BBD61ACE}"/>
              </a:ext>
            </a:extLst>
          </p:cNvPr>
          <p:cNvSpPr>
            <a:spLocks noGrp="1"/>
          </p:cNvSpPr>
          <p:nvPr/>
        </p:nvSpPr>
        <p:spPr>
          <a:xfrm>
            <a:off x="158742" y="0"/>
            <a:ext cx="8985258" cy="1007195"/>
          </a:xfrm>
          <a:prstGeom prst="rect">
            <a:avLst/>
          </a:prstGeom>
          <a:solidFill>
            <a:srgbClr val="017EDF"/>
          </a:solidFill>
          <a:ln>
            <a:noFill/>
          </a:ln>
        </p:spPr>
        <p:txBody>
          <a:bodyPr/>
          <a:lstStyle/>
          <a:p>
            <a:endParaRPr lang="es-CL"/>
          </a:p>
        </p:txBody>
      </p:sp>
      <p:sp>
        <p:nvSpPr>
          <p:cNvPr id="4" name="Rectángulo 9">
            <a:extLst>
              <a:ext uri="{FF2B5EF4-FFF2-40B4-BE49-F238E27FC236}">
                <a16:creationId xmlns:a16="http://schemas.microsoft.com/office/drawing/2014/main" id="{2DE33766-2918-41FC-A1B9-B4BF483C8974}"/>
              </a:ext>
            </a:extLst>
          </p:cNvPr>
          <p:cNvSpPr>
            <a:spLocks noGrp="1"/>
          </p:cNvSpPr>
          <p:nvPr/>
        </p:nvSpPr>
        <p:spPr>
          <a:xfrm>
            <a:off x="0" y="149945"/>
            <a:ext cx="158742" cy="857250"/>
          </a:xfrm>
          <a:prstGeom prst="rect">
            <a:avLst/>
          </a:prstGeom>
          <a:solidFill>
            <a:srgbClr val="FFE2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Rectángulo 7">
            <a:extLst>
              <a:ext uri="{FF2B5EF4-FFF2-40B4-BE49-F238E27FC236}">
                <a16:creationId xmlns:a16="http://schemas.microsoft.com/office/drawing/2014/main" id="{3BCD4458-45E8-4C73-A3B6-249CEEFBDB7B}"/>
              </a:ext>
            </a:extLst>
          </p:cNvPr>
          <p:cNvSpPr>
            <a:spLocks noGrp="1"/>
          </p:cNvSpPr>
          <p:nvPr/>
        </p:nvSpPr>
        <p:spPr>
          <a:xfrm flipV="1">
            <a:off x="169334" y="4871120"/>
            <a:ext cx="8815911" cy="177311"/>
          </a:xfrm>
          <a:prstGeom prst="rect">
            <a:avLst/>
          </a:prstGeom>
          <a:solidFill>
            <a:schemeClr val="bg1">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Rectángulo 10">
            <a:extLst>
              <a:ext uri="{FF2B5EF4-FFF2-40B4-BE49-F238E27FC236}">
                <a16:creationId xmlns:a16="http://schemas.microsoft.com/office/drawing/2014/main" id="{A18DC9E6-BD6D-4FE1-AEC0-9715BEE3912A}"/>
              </a:ext>
            </a:extLst>
          </p:cNvPr>
          <p:cNvSpPr>
            <a:spLocks noGrp="1"/>
          </p:cNvSpPr>
          <p:nvPr/>
        </p:nvSpPr>
        <p:spPr>
          <a:xfrm flipV="1">
            <a:off x="7200957" y="4871118"/>
            <a:ext cx="1119038" cy="177313"/>
          </a:xfrm>
          <a:prstGeom prst="rect">
            <a:avLst/>
          </a:prstGeom>
          <a:solidFill>
            <a:srgbClr val="3366CC"/>
          </a:solidFill>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ítulo 1">
            <a:extLst>
              <a:ext uri="{FF2B5EF4-FFF2-40B4-BE49-F238E27FC236}">
                <a16:creationId xmlns:a16="http://schemas.microsoft.com/office/drawing/2014/main" id="{438D0FA2-1899-4EDF-9FA4-D1742768DFC6}"/>
              </a:ext>
            </a:extLst>
          </p:cNvPr>
          <p:cNvSpPr>
            <a:spLocks noGrp="1"/>
          </p:cNvSpPr>
          <p:nvPr>
            <p:ph type="title"/>
          </p:nvPr>
        </p:nvSpPr>
        <p:spPr>
          <a:xfrm>
            <a:off x="457200" y="149945"/>
            <a:ext cx="8229600" cy="857250"/>
          </a:xfrm>
        </p:spPr>
        <p:txBody>
          <a:bodyPr wrap="square" anchor="ctr">
            <a:noAutofit/>
          </a:bodyPr>
          <a:lstStyle/>
          <a:p>
            <a:pPr algn="l">
              <a:spcBef>
                <a:spcPts val="0"/>
              </a:spcBef>
              <a:spcAft>
                <a:spcPts val="0"/>
              </a:spcAft>
              <a:defRPr sz="1900" b="1">
                <a:solidFill>
                  <a:srgbClr val="FFFFFF"/>
                </a:solidFill>
                <a:latin typeface="Calibri"/>
                <a:ea typeface="Calibri"/>
                <a:cs typeface="Calibri"/>
              </a:defRPr>
            </a:pPr>
            <a:r>
              <a:rPr sz="1900" b="1">
                <a:solidFill>
                  <a:srgbClr val="FFFFFF"/>
                </a:solidFill>
                <a:latin typeface="Calibri"/>
                <a:ea typeface="Calibri"/>
                <a:cs typeface="Calibri"/>
              </a:rPr>
              <a:t>Metodología: formatos y clave de integración</a:t>
            </a:r>
          </a:p>
        </p:txBody>
      </p:sp>
      <p:graphicFrame>
        <p:nvGraphicFramePr>
          <p:cNvPr id="17" name="Tabla 16"/>
          <p:cNvGraphicFramePr/>
          <p:nvPr/>
        </p:nvGraphicFramePr>
        <p:xfrm>
          <a:off x="548640" y="1219200"/>
          <a:ext cx="8046720" cy="2650109"/>
        </p:xfrm>
        <a:graphic>
          <a:graphicData uri="http://schemas.openxmlformats.org/drawingml/2006/table">
            <a:tbl>
              <a:tblPr firstRow="1"/>
              <a:tblGrid>
                <a:gridCol w="1971675">
                  <a:extLst>
                    <a:ext uri="{9D8B030D-6E8A-4147-A177-3AD203B41FA5}">
                      <a16:colId xmlns:a16="http://schemas.microsoft.com/office/drawing/2014/main" val="20000"/>
                    </a:ext>
                  </a:extLst>
                </a:gridCol>
                <a:gridCol w="2686050">
                  <a:extLst>
                    <a:ext uri="{9D8B030D-6E8A-4147-A177-3AD203B41FA5}">
                      <a16:colId xmlns:a16="http://schemas.microsoft.com/office/drawing/2014/main" val="20001"/>
                    </a:ext>
                  </a:extLst>
                </a:gridCol>
                <a:gridCol w="3388995">
                  <a:extLst>
                    <a:ext uri="{9D8B030D-6E8A-4147-A177-3AD203B41FA5}">
                      <a16:colId xmlns:a16="http://schemas.microsoft.com/office/drawing/2014/main" val="20002"/>
                    </a:ext>
                  </a:extLst>
                </a:gridCol>
              </a:tblGrid>
              <a:tr h="323850">
                <a:tc>
                  <a:txBody>
                    <a:bodyPr/>
                    <a:lstStyle/>
                    <a:p>
                      <a:r>
                        <a:rPr sz="1238" b="1">
                          <a:solidFill>
                            <a:srgbClr val="FFFFFF"/>
                          </a:solidFill>
                          <a:latin typeface="Calibri"/>
                          <a:ea typeface="Calibri"/>
                          <a:cs typeface="Calibri"/>
                        </a:rPr>
                        <a:t>Fuente</a:t>
                      </a:r>
                    </a:p>
                  </a:txBody>
                  <a:tcPr anchor="ctr">
                    <a:solidFill>
                      <a:srgbClr val="17375D"/>
                    </a:solidFill>
                  </a:tcPr>
                </a:tc>
                <a:tc>
                  <a:txBody>
                    <a:bodyPr/>
                    <a:lstStyle/>
                    <a:p>
                      <a:r>
                        <a:rPr sz="1238" b="1">
                          <a:solidFill>
                            <a:srgbClr val="FFFFFF"/>
                          </a:solidFill>
                          <a:latin typeface="Calibri"/>
                          <a:ea typeface="Calibri"/>
                          <a:cs typeface="Calibri"/>
                        </a:rPr>
                        <a:t>Archivos locales</a:t>
                      </a:r>
                    </a:p>
                  </a:txBody>
                  <a:tcPr anchor="ctr">
                    <a:solidFill>
                      <a:srgbClr val="17375D"/>
                    </a:solidFill>
                  </a:tcPr>
                </a:tc>
                <a:tc>
                  <a:txBody>
                    <a:bodyPr/>
                    <a:lstStyle/>
                    <a:p>
                      <a:r>
                        <a:rPr sz="1238" b="1">
                          <a:solidFill>
                            <a:srgbClr val="FFFFFF"/>
                          </a:solidFill>
                          <a:latin typeface="Calibri"/>
                          <a:ea typeface="Calibri"/>
                          <a:cs typeface="Calibri"/>
                        </a:rPr>
                        <a:t>Unidad conservada</a:t>
                      </a:r>
                    </a:p>
                  </a:txBody>
                  <a:tcPr anchor="ctr">
                    <a:solidFill>
                      <a:srgbClr val="17375D"/>
                    </a:solidFill>
                  </a:tcPr>
                </a:tc>
                <a:extLst>
                  <a:ext uri="{0D108BD9-81ED-4DB2-BD59-A6C34878D82A}">
                    <a16:rowId xmlns:a16="http://schemas.microsoft.com/office/drawing/2014/main" val="10000"/>
                  </a:ext>
                </a:extLst>
              </a:tr>
              <a:tr h="462915">
                <a:tc>
                  <a:txBody>
                    <a:bodyPr/>
                    <a:lstStyle/>
                    <a:p>
                      <a:r>
                        <a:rPr sz="1238" b="0">
                          <a:solidFill>
                            <a:srgbClr val="1E293B"/>
                          </a:solidFill>
                          <a:latin typeface="Calibri"/>
                          <a:ea typeface="Calibri"/>
                          <a:cs typeface="Calibri"/>
                        </a:rPr>
                        <a:t>SINCA y SNIFA</a:t>
                      </a:r>
                    </a:p>
                  </a:txBody>
                  <a:tcPr anchor="ctr">
                    <a:solidFill>
                      <a:srgbClr val="EAF2FD"/>
                    </a:solidFill>
                  </a:tcPr>
                </a:tc>
                <a:tc>
                  <a:txBody>
                    <a:bodyPr/>
                    <a:lstStyle/>
                    <a:p>
                      <a:r>
                        <a:rPr sz="1238" b="0">
                          <a:solidFill>
                            <a:srgbClr val="1E293B"/>
                          </a:solidFill>
                          <a:latin typeface="Calibri"/>
                          <a:ea typeface="Calibri"/>
                          <a:cs typeface="Calibri"/>
                        </a:rPr>
                        <a:t>CSV, PDF y Excel</a:t>
                      </a:r>
                    </a:p>
                    <a:p>
                      <a:r>
                        <a:rPr sz="1238" b="0">
                          <a:solidFill>
                            <a:srgbClr val="1E293B"/>
                          </a:solidFill>
                          <a:latin typeface="Calibri"/>
                          <a:ea typeface="Calibri"/>
                          <a:cs typeface="Calibri"/>
                        </a:rPr>
                        <a:t>Observaciones derivadas en Parquet</a:t>
                      </a:r>
                    </a:p>
                  </a:txBody>
                  <a:tcPr anchor="ctr">
                    <a:solidFill>
                      <a:srgbClr val="EAF2FD"/>
                    </a:solidFill>
                  </a:tcPr>
                </a:tc>
                <a:tc>
                  <a:txBody>
                    <a:bodyPr/>
                    <a:lstStyle/>
                    <a:p>
                      <a:r>
                        <a:rPr sz="1238" b="0">
                          <a:solidFill>
                            <a:srgbClr val="1E293B"/>
                          </a:solidFill>
                          <a:latin typeface="Calibri"/>
                          <a:ea typeface="Calibri"/>
                          <a:cs typeface="Calibri"/>
                        </a:rPr>
                        <a:t>Estación, contaminante, tiempo, valor y estado de calidad</a:t>
                      </a:r>
                    </a:p>
                  </a:txBody>
                  <a:tcPr anchor="ctr">
                    <a:solidFill>
                      <a:srgbClr val="EAF2FD"/>
                    </a:solidFill>
                  </a:tcPr>
                </a:tc>
                <a:extLst>
                  <a:ext uri="{0D108BD9-81ED-4DB2-BD59-A6C34878D82A}">
                    <a16:rowId xmlns:a16="http://schemas.microsoft.com/office/drawing/2014/main" val="10001"/>
                  </a:ext>
                </a:extLst>
              </a:tr>
              <a:tr h="462915">
                <a:tc>
                  <a:txBody>
                    <a:bodyPr/>
                    <a:lstStyle/>
                    <a:p>
                      <a:r>
                        <a:rPr sz="1238" b="0">
                          <a:solidFill>
                            <a:srgbClr val="1E293B"/>
                          </a:solidFill>
                          <a:latin typeface="Calibri"/>
                          <a:ea typeface="Calibri"/>
                          <a:cs typeface="Calibri"/>
                        </a:rPr>
                        <a:t>MAIAC</a:t>
                      </a:r>
                    </a:p>
                  </a:txBody>
                  <a:tcPr anchor="ctr">
                    <a:solidFill>
                      <a:srgbClr val="FFFFFF"/>
                    </a:solidFill>
                  </a:tcPr>
                </a:tc>
                <a:tc>
                  <a:txBody>
                    <a:bodyPr/>
                    <a:lstStyle/>
                    <a:p>
                      <a:r>
                        <a:rPr sz="1238" b="0">
                          <a:solidFill>
                            <a:srgbClr val="1E293B"/>
                          </a:solidFill>
                          <a:latin typeface="Calibri"/>
                          <a:ea typeface="Calibri"/>
                          <a:cs typeface="Calibri"/>
                        </a:rPr>
                        <a:t>Parquet por fecha y píxel</a:t>
                      </a:r>
                    </a:p>
                  </a:txBody>
                  <a:tcPr anchor="ctr">
                    <a:solidFill>
                      <a:srgbClr val="FFFFFF"/>
                    </a:solidFill>
                  </a:tcPr>
                </a:tc>
                <a:tc>
                  <a:txBody>
                    <a:bodyPr/>
                    <a:lstStyle/>
                    <a:p>
                      <a:r>
                        <a:rPr sz="1238" b="0">
                          <a:solidFill>
                            <a:srgbClr val="1E293B"/>
                          </a:solidFill>
                          <a:latin typeface="Calibri"/>
                          <a:ea typeface="Calibri"/>
                          <a:cs typeface="Calibri"/>
                        </a:rPr>
                        <a:t>Observación satelital, AOD y calidad</a:t>
                      </a:r>
                    </a:p>
                  </a:txBody>
                  <a:tcPr anchor="ctr">
                    <a:solidFill>
                      <a:srgbClr val="FFFFFF"/>
                    </a:solidFill>
                  </a:tcPr>
                </a:tc>
                <a:extLst>
                  <a:ext uri="{0D108BD9-81ED-4DB2-BD59-A6C34878D82A}">
                    <a16:rowId xmlns:a16="http://schemas.microsoft.com/office/drawing/2014/main" val="10002"/>
                  </a:ext>
                </a:extLst>
              </a:tr>
              <a:tr h="462915">
                <a:tc>
                  <a:txBody>
                    <a:bodyPr/>
                    <a:lstStyle/>
                    <a:p>
                      <a:r>
                        <a:rPr sz="1238" b="0">
                          <a:solidFill>
                            <a:srgbClr val="1E293B"/>
                          </a:solidFill>
                          <a:latin typeface="Calibri"/>
                          <a:ea typeface="Calibri"/>
                          <a:cs typeface="Calibri"/>
                        </a:rPr>
                        <a:t>TROPOMI, ACAG y atmósfera</a:t>
                      </a:r>
                    </a:p>
                  </a:txBody>
                  <a:tcPr anchor="ctr">
                    <a:solidFill>
                      <a:srgbClr val="EAF2FD"/>
                    </a:solidFill>
                  </a:tcPr>
                </a:tc>
                <a:tc>
                  <a:txBody>
                    <a:bodyPr/>
                    <a:lstStyle/>
                    <a:p>
                      <a:r>
                        <a:rPr sz="1238" b="0">
                          <a:solidFill>
                            <a:srgbClr val="1E293B"/>
                          </a:solidFill>
                          <a:latin typeface="Calibri"/>
                          <a:ea typeface="Calibri"/>
                          <a:cs typeface="Calibri"/>
                        </a:rPr>
                        <a:t>NetCDF por producto</a:t>
                      </a:r>
                    </a:p>
                    <a:p>
                      <a:r>
                        <a:rPr sz="1238" b="0">
                          <a:solidFill>
                            <a:srgbClr val="1E293B"/>
                          </a:solidFill>
                          <a:latin typeface="Calibri"/>
                          <a:ea typeface="Calibri"/>
                          <a:cs typeface="Calibri"/>
                        </a:rPr>
                        <a:t>GEOS-CF: archivos legados</a:t>
                      </a:r>
                    </a:p>
                  </a:txBody>
                  <a:tcPr anchor="ctr">
                    <a:solidFill>
                      <a:srgbClr val="EAF2FD"/>
                    </a:solidFill>
                  </a:tcPr>
                </a:tc>
                <a:tc>
                  <a:txBody>
                    <a:bodyPr/>
                    <a:lstStyle/>
                    <a:p>
                      <a:r>
                        <a:rPr sz="1238" b="0">
                          <a:solidFill>
                            <a:srgbClr val="1E293B"/>
                          </a:solidFill>
                          <a:latin typeface="Calibri"/>
                          <a:ea typeface="Calibri"/>
                          <a:cs typeface="Calibri"/>
                        </a:rPr>
                        <a:t>Píxel nativo, fecha, variable y unidades</a:t>
                      </a:r>
                    </a:p>
                  </a:txBody>
                  <a:tcPr anchor="ctr">
                    <a:solidFill>
                      <a:srgbClr val="EAF2FD"/>
                    </a:solidFill>
                  </a:tcPr>
                </a:tc>
                <a:extLst>
                  <a:ext uri="{0D108BD9-81ED-4DB2-BD59-A6C34878D82A}">
                    <a16:rowId xmlns:a16="http://schemas.microsoft.com/office/drawing/2014/main" val="10003"/>
                  </a:ext>
                </a:extLst>
              </a:tr>
              <a:tr h="462915">
                <a:tc>
                  <a:txBody>
                    <a:bodyPr/>
                    <a:lstStyle/>
                    <a:p>
                      <a:r>
                        <a:rPr sz="1238" b="0">
                          <a:solidFill>
                            <a:srgbClr val="1E293B"/>
                          </a:solidFill>
                          <a:latin typeface="Calibri"/>
                          <a:ea typeface="Calibri"/>
                          <a:cs typeface="Calibri"/>
                        </a:rPr>
                        <a:t>Suelo y población</a:t>
                      </a:r>
                    </a:p>
                  </a:txBody>
                  <a:tcPr anchor="ctr">
                    <a:solidFill>
                      <a:srgbClr val="FFFFFF"/>
                    </a:solidFill>
                  </a:tcPr>
                </a:tc>
                <a:tc>
                  <a:txBody>
                    <a:bodyPr/>
                    <a:lstStyle/>
                    <a:p>
                      <a:r>
                        <a:rPr sz="1238" b="0">
                          <a:solidFill>
                            <a:srgbClr val="1E293B"/>
                          </a:solidFill>
                          <a:latin typeface="Calibri"/>
                          <a:ea typeface="Calibri"/>
                          <a:cs typeface="Calibri"/>
                        </a:rPr>
                        <a:t>GeoTIFF y Parquet</a:t>
                      </a:r>
                    </a:p>
                  </a:txBody>
                  <a:tcPr anchor="ctr">
                    <a:solidFill>
                      <a:srgbClr val="FFFFFF"/>
                    </a:solidFill>
                  </a:tcPr>
                </a:tc>
                <a:tc>
                  <a:txBody>
                    <a:bodyPr/>
                    <a:lstStyle/>
                    <a:p>
                      <a:r>
                        <a:rPr sz="1238" b="0">
                          <a:solidFill>
                            <a:srgbClr val="1E293B"/>
                          </a:solidFill>
                          <a:latin typeface="Calibri"/>
                          <a:ea typeface="Calibri"/>
                          <a:cs typeface="Calibri"/>
                        </a:rPr>
                        <a:t>Clase o fracción de suelo, comuna y año</a:t>
                      </a:r>
                    </a:p>
                  </a:txBody>
                  <a:tcPr anchor="ctr">
                    <a:solidFill>
                      <a:srgbClr val="FFFFFF"/>
                    </a:solidFill>
                  </a:tcPr>
                </a:tc>
                <a:extLst>
                  <a:ext uri="{0D108BD9-81ED-4DB2-BD59-A6C34878D82A}">
                    <a16:rowId xmlns:a16="http://schemas.microsoft.com/office/drawing/2014/main" val="10004"/>
                  </a:ext>
                </a:extLst>
              </a:tr>
              <a:tr h="462915">
                <a:tc>
                  <a:txBody>
                    <a:bodyPr/>
                    <a:lstStyle/>
                    <a:p>
                      <a:r>
                        <a:rPr sz="1238" b="0">
                          <a:solidFill>
                            <a:srgbClr val="1E293B"/>
                          </a:solidFill>
                          <a:latin typeface="Calibri"/>
                          <a:ea typeface="Calibri"/>
                          <a:cs typeface="Calibri"/>
                        </a:rPr>
                        <a:t>Geometría, vías y relieve</a:t>
                      </a:r>
                    </a:p>
                  </a:txBody>
                  <a:tcPr anchor="ctr">
                    <a:solidFill>
                      <a:srgbClr val="EAF2FD"/>
                    </a:solidFill>
                  </a:tcPr>
                </a:tc>
                <a:tc>
                  <a:txBody>
                    <a:bodyPr/>
                    <a:lstStyle/>
                    <a:p>
                      <a:r>
                        <a:rPr sz="1238" b="0">
                          <a:solidFill>
                            <a:srgbClr val="1E293B"/>
                          </a:solidFill>
                          <a:latin typeface="Calibri"/>
                          <a:ea typeface="Calibri"/>
                          <a:cs typeface="Calibri"/>
                        </a:rPr>
                        <a:t>Shapefile, CSV y enlaces Parquet</a:t>
                      </a:r>
                    </a:p>
                  </a:txBody>
                  <a:tcPr anchor="ctr">
                    <a:solidFill>
                      <a:srgbClr val="EAF2FD"/>
                    </a:solidFill>
                  </a:tcPr>
                </a:tc>
                <a:tc>
                  <a:txBody>
                    <a:bodyPr/>
                    <a:lstStyle/>
                    <a:p>
                      <a:r>
                        <a:rPr sz="1238" b="0">
                          <a:solidFill>
                            <a:srgbClr val="1E293B"/>
                          </a:solidFill>
                          <a:latin typeface="Calibri"/>
                          <a:ea typeface="Calibri"/>
                          <a:cs typeface="Calibri"/>
                        </a:rPr>
                        <a:t>Celda, comuna y atributos territoriales</a:t>
                      </a:r>
                    </a:p>
                  </a:txBody>
                  <a:tcPr anchor="ctr">
                    <a:solidFill>
                      <a:srgbClr val="EAF2FD"/>
                    </a:solidFill>
                  </a:tcPr>
                </a:tc>
                <a:extLst>
                  <a:ext uri="{0D108BD9-81ED-4DB2-BD59-A6C34878D82A}">
                    <a16:rowId xmlns:a16="http://schemas.microsoft.com/office/drawing/2014/main" val="10005"/>
                  </a:ext>
                </a:extLst>
              </a:tr>
            </a:tbl>
          </a:graphicData>
        </a:graphic>
      </p:graphicFrame>
      <p:sp>
        <p:nvSpPr>
          <p:cNvPr id="9" name="Clave">
            <a:extLst>
              <a:ext uri="{FF2B5EF4-FFF2-40B4-BE49-F238E27FC236}">
                <a16:creationId xmlns:a16="http://schemas.microsoft.com/office/drawing/2014/main" id="{C35592C0-DAEC-4760-9622-0E50C13B0527}"/>
              </a:ext>
            </a:extLst>
          </p:cNvPr>
          <p:cNvSpPr>
            <a:spLocks noGrp="1"/>
          </p:cNvSpPr>
          <p:nvPr/>
        </p:nvSpPr>
        <p:spPr>
          <a:xfrm>
            <a:off x="552450" y="4038600"/>
            <a:ext cx="8039100" cy="257175"/>
          </a:xfrm>
          <a:prstGeom prst="rect">
            <a:avLst/>
          </a:prstGeom>
          <a:noFill/>
          <a:ln w="0">
            <a:noFill/>
          </a:ln>
        </p:spPr>
        <p:txBody>
          <a:bodyPr wrap="square" lIns="0" tIns="0" rIns="0" bIns="0" anchor="t">
            <a:noAutofit/>
          </a:bodyPr>
          <a:lstStyle/>
          <a:p>
            <a:pPr algn="l">
              <a:defRPr sz="1650" b="1">
                <a:solidFill>
                  <a:srgbClr val="17375D"/>
                </a:solidFill>
                <a:latin typeface="Calibri"/>
                <a:ea typeface="Calibri"/>
                <a:cs typeface="Calibri"/>
              </a:defRPr>
            </a:pPr>
            <a:r>
              <a:rPr sz="1650" b="1">
                <a:solidFill>
                  <a:srgbClr val="17375D"/>
                </a:solidFill>
                <a:latin typeface="Calibri"/>
                <a:ea typeface="Calibri"/>
                <a:cs typeface="Calibri"/>
              </a:rPr>
              <a:t>Clave espacial y temporal: celda de 0,01° × inicio de hora UTC</a:t>
            </a:r>
          </a:p>
        </p:txBody>
      </p:sp>
      <p:sp>
        <p:nvSpPr>
          <p:cNvPr id="10" name="Observaciones">
            <a:extLst>
              <a:ext uri="{FF2B5EF4-FFF2-40B4-BE49-F238E27FC236}">
                <a16:creationId xmlns:a16="http://schemas.microsoft.com/office/drawing/2014/main" id="{9DC90E19-9A55-4D7C-A1B4-B4CDD3A673E9}"/>
              </a:ext>
            </a:extLst>
          </p:cNvPr>
          <p:cNvSpPr>
            <a:spLocks noGrp="1"/>
          </p:cNvSpPr>
          <p:nvPr/>
        </p:nvSpPr>
        <p:spPr>
          <a:xfrm>
            <a:off x="552450" y="4343400"/>
            <a:ext cx="8039100" cy="209550"/>
          </a:xfrm>
          <a:prstGeom prst="rect">
            <a:avLst/>
          </a:prstGeom>
          <a:noFill/>
          <a:ln w="0">
            <a:noFill/>
          </a:ln>
        </p:spPr>
        <p:txBody>
          <a:bodyPr wrap="square" lIns="0" tIns="0" rIns="0" bIns="0" anchor="t">
            <a:noAutofit/>
          </a:bodyPr>
          <a:lstStyle/>
          <a:p>
            <a:pPr algn="l">
              <a:defRPr sz="1238">
                <a:solidFill>
                  <a:srgbClr val="1E293B"/>
                </a:solidFill>
                <a:latin typeface="Calibri"/>
                <a:ea typeface="Calibri"/>
                <a:cs typeface="Calibri"/>
              </a:defRPr>
            </a:pPr>
            <a:r>
              <a:rPr sz="1238">
                <a:solidFill>
                  <a:srgbClr val="1E293B"/>
                </a:solidFill>
                <a:latin typeface="Calibri"/>
                <a:ea typeface="Calibri"/>
                <a:cs typeface="Calibri"/>
              </a:rPr>
              <a:t>La tabla de entrenamiento conserva la estación de origen y los registros observados.</a:t>
            </a:r>
          </a:p>
        </p:txBody>
      </p:sp>
      <p:sp>
        <p:nvSpPr>
          <p:cNvPr id="11" name="Fuente y alcance">
            <a:extLst>
              <a:ext uri="{FF2B5EF4-FFF2-40B4-BE49-F238E27FC236}">
                <a16:creationId xmlns:a16="http://schemas.microsoft.com/office/drawing/2014/main" id="{BB8A1C18-4169-4D83-95EB-3C35072C9C79}"/>
              </a:ext>
            </a:extLst>
          </p:cNvPr>
          <p:cNvSpPr>
            <a:spLocks noGrp="1"/>
          </p:cNvSpPr>
          <p:nvPr/>
        </p:nvSpPr>
        <p:spPr>
          <a:xfrm>
            <a:off x="548640" y="4619625"/>
            <a:ext cx="8046720" cy="200025"/>
          </a:xfrm>
          <a:prstGeom prst="rect">
            <a:avLst/>
          </a:prstGeom>
          <a:noFill/>
          <a:ln w="0">
            <a:noFill/>
          </a:ln>
        </p:spPr>
        <p:txBody>
          <a:bodyPr wrap="square" lIns="0" tIns="0" rIns="0" bIns="0" anchor="ctr">
            <a:noAutofit/>
          </a:bodyPr>
          <a:lstStyle/>
          <a:p>
            <a:pPr algn="l">
              <a:defRPr sz="848">
                <a:solidFill>
                  <a:srgbClr val="526277"/>
                </a:solidFill>
                <a:latin typeface="Calibri"/>
                <a:ea typeface="Calibri"/>
                <a:cs typeface="Calibri"/>
              </a:defRPr>
            </a:pPr>
            <a:r>
              <a:rPr sz="848">
                <a:solidFill>
                  <a:srgbClr val="526277"/>
                </a:solidFill>
                <a:latin typeface="Calibri"/>
                <a:ea typeface="Calibri"/>
                <a:cs typeface="Calibri"/>
              </a:rPr>
              <a:t>Formatos constatados en archivos locales. Las versiones originales, los derivados y el panel tienen distinta función.</a:t>
            </a:r>
          </a:p>
        </p:txBody>
      </p:sp>
    </p:spTree>
    <p:extLst>
      <p:ext uri="{BB962C8B-B14F-4D97-AF65-F5344CB8AC3E}">
        <p14:creationId xmlns:p14="http://schemas.microsoft.com/office/powerpoint/2010/main" val="32275727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abecera azul UC">
            <a:extLst>
              <a:ext uri="{FF2B5EF4-FFF2-40B4-BE49-F238E27FC236}">
                <a16:creationId xmlns:a16="http://schemas.microsoft.com/office/drawing/2014/main" id="{3486DB9C-93DE-456A-BF48-2757BBD61ACE}"/>
              </a:ext>
            </a:extLst>
          </p:cNvPr>
          <p:cNvSpPr>
            <a:spLocks noGrp="1"/>
          </p:cNvSpPr>
          <p:nvPr/>
        </p:nvSpPr>
        <p:spPr>
          <a:xfrm>
            <a:off x="158742" y="0"/>
            <a:ext cx="8985258" cy="1007195"/>
          </a:xfrm>
          <a:prstGeom prst="rect">
            <a:avLst/>
          </a:prstGeom>
          <a:solidFill>
            <a:srgbClr val="017EDF"/>
          </a:solidFill>
          <a:ln>
            <a:noFill/>
          </a:ln>
        </p:spPr>
        <p:txBody>
          <a:bodyPr/>
          <a:lstStyle/>
          <a:p>
            <a:endParaRPr lang="es-CL"/>
          </a:p>
        </p:txBody>
      </p:sp>
      <p:sp>
        <p:nvSpPr>
          <p:cNvPr id="4" name="Rectángulo 9">
            <a:extLst>
              <a:ext uri="{FF2B5EF4-FFF2-40B4-BE49-F238E27FC236}">
                <a16:creationId xmlns:a16="http://schemas.microsoft.com/office/drawing/2014/main" id="{2DE33766-2918-41FC-A1B9-B4BF483C8974}"/>
              </a:ext>
            </a:extLst>
          </p:cNvPr>
          <p:cNvSpPr>
            <a:spLocks noGrp="1"/>
          </p:cNvSpPr>
          <p:nvPr/>
        </p:nvSpPr>
        <p:spPr>
          <a:xfrm>
            <a:off x="0" y="149945"/>
            <a:ext cx="158742" cy="857250"/>
          </a:xfrm>
          <a:prstGeom prst="rect">
            <a:avLst/>
          </a:prstGeom>
          <a:solidFill>
            <a:srgbClr val="FFE2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Rectángulo 7">
            <a:extLst>
              <a:ext uri="{FF2B5EF4-FFF2-40B4-BE49-F238E27FC236}">
                <a16:creationId xmlns:a16="http://schemas.microsoft.com/office/drawing/2014/main" id="{3BCD4458-45E8-4C73-A3B6-249CEEFBDB7B}"/>
              </a:ext>
            </a:extLst>
          </p:cNvPr>
          <p:cNvSpPr>
            <a:spLocks noGrp="1"/>
          </p:cNvSpPr>
          <p:nvPr/>
        </p:nvSpPr>
        <p:spPr>
          <a:xfrm flipV="1">
            <a:off x="169334" y="4871120"/>
            <a:ext cx="8815911" cy="177311"/>
          </a:xfrm>
          <a:prstGeom prst="rect">
            <a:avLst/>
          </a:prstGeom>
          <a:solidFill>
            <a:schemeClr val="bg1">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Rectángulo 10">
            <a:extLst>
              <a:ext uri="{FF2B5EF4-FFF2-40B4-BE49-F238E27FC236}">
                <a16:creationId xmlns:a16="http://schemas.microsoft.com/office/drawing/2014/main" id="{A18DC9E6-BD6D-4FE1-AEC0-9715BEE3912A}"/>
              </a:ext>
            </a:extLst>
          </p:cNvPr>
          <p:cNvSpPr>
            <a:spLocks noGrp="1"/>
          </p:cNvSpPr>
          <p:nvPr/>
        </p:nvSpPr>
        <p:spPr>
          <a:xfrm flipV="1">
            <a:off x="7200957" y="4871118"/>
            <a:ext cx="1119038" cy="177313"/>
          </a:xfrm>
          <a:prstGeom prst="rect">
            <a:avLst/>
          </a:prstGeom>
          <a:solidFill>
            <a:srgbClr val="3366CC"/>
          </a:solidFill>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ítulo 1">
            <a:extLst>
              <a:ext uri="{FF2B5EF4-FFF2-40B4-BE49-F238E27FC236}">
                <a16:creationId xmlns:a16="http://schemas.microsoft.com/office/drawing/2014/main" id="{438D0FA2-1899-4EDF-9FA4-D1742768DFC6}"/>
              </a:ext>
            </a:extLst>
          </p:cNvPr>
          <p:cNvSpPr>
            <a:spLocks noGrp="1"/>
          </p:cNvSpPr>
          <p:nvPr>
            <p:ph type="title"/>
          </p:nvPr>
        </p:nvSpPr>
        <p:spPr>
          <a:xfrm>
            <a:off x="457200" y="149945"/>
            <a:ext cx="8229600" cy="857250"/>
          </a:xfrm>
        </p:spPr>
        <p:txBody>
          <a:bodyPr wrap="square" anchor="ctr">
            <a:noAutofit/>
          </a:bodyPr>
          <a:lstStyle/>
          <a:p>
            <a:pPr algn="l">
              <a:spcBef>
                <a:spcPts val="0"/>
              </a:spcBef>
              <a:spcAft>
                <a:spcPts val="0"/>
              </a:spcAft>
              <a:defRPr sz="1900" b="1">
                <a:solidFill>
                  <a:srgbClr val="FFFFFF"/>
                </a:solidFill>
                <a:latin typeface="Calibri"/>
                <a:ea typeface="Calibri"/>
                <a:cs typeface="Calibri"/>
              </a:defRPr>
            </a:pPr>
            <a:r>
              <a:rPr sz="1900" b="1">
                <a:solidFill>
                  <a:srgbClr val="FFFFFF"/>
                </a:solidFill>
                <a:latin typeface="Calibri"/>
                <a:ea typeface="Calibri"/>
                <a:cs typeface="Calibri"/>
              </a:rPr>
              <a:t>Metodología: alineación temporal y espacial</a:t>
            </a:r>
          </a:p>
        </p:txBody>
      </p:sp>
      <p:graphicFrame>
        <p:nvGraphicFramePr>
          <p:cNvPr id="18" name="Tabla 17"/>
          <p:cNvGraphicFramePr/>
          <p:nvPr/>
        </p:nvGraphicFramePr>
        <p:xfrm>
          <a:off x="548640" y="1181100"/>
          <a:ext cx="8046720" cy="2114549"/>
        </p:xfrm>
        <a:graphic>
          <a:graphicData uri="http://schemas.openxmlformats.org/drawingml/2006/table">
            <a:tbl>
              <a:tblPr firstRow="1"/>
              <a:tblGrid>
                <a:gridCol w="1695450">
                  <a:extLst>
                    <a:ext uri="{9D8B030D-6E8A-4147-A177-3AD203B41FA5}">
                      <a16:colId xmlns:a16="http://schemas.microsoft.com/office/drawing/2014/main" val="20000"/>
                    </a:ext>
                  </a:extLst>
                </a:gridCol>
                <a:gridCol w="6351270">
                  <a:extLst>
                    <a:ext uri="{9D8B030D-6E8A-4147-A177-3AD203B41FA5}">
                      <a16:colId xmlns:a16="http://schemas.microsoft.com/office/drawing/2014/main" val="20001"/>
                    </a:ext>
                  </a:extLst>
                </a:gridCol>
              </a:tblGrid>
              <a:tr h="314325">
                <a:tc>
                  <a:txBody>
                    <a:bodyPr/>
                    <a:lstStyle/>
                    <a:p>
                      <a:r>
                        <a:rPr sz="1275" b="1">
                          <a:solidFill>
                            <a:srgbClr val="FFFFFF"/>
                          </a:solidFill>
                          <a:latin typeface="Calibri"/>
                          <a:ea typeface="Calibri"/>
                          <a:cs typeface="Calibri"/>
                        </a:rPr>
                        <a:t>Soporte de origen</a:t>
                      </a:r>
                    </a:p>
                  </a:txBody>
                  <a:tcPr anchor="ctr">
                    <a:solidFill>
                      <a:srgbClr val="17375D"/>
                    </a:solidFill>
                  </a:tcPr>
                </a:tc>
                <a:tc>
                  <a:txBody>
                    <a:bodyPr/>
                    <a:lstStyle/>
                    <a:p>
                      <a:r>
                        <a:rPr sz="1275" b="1">
                          <a:solidFill>
                            <a:srgbClr val="FFFFFF"/>
                          </a:solidFill>
                          <a:latin typeface="Calibri"/>
                          <a:ea typeface="Calibri"/>
                          <a:cs typeface="Calibri"/>
                        </a:rPr>
                        <a:t>Regla de enlace documentada</a:t>
                      </a:r>
                    </a:p>
                  </a:txBody>
                  <a:tcPr anchor="ctr">
                    <a:solidFill>
                      <a:srgbClr val="17375D"/>
                    </a:solidFill>
                  </a:tcPr>
                </a:tc>
                <a:extLst>
                  <a:ext uri="{0D108BD9-81ED-4DB2-BD59-A6C34878D82A}">
                    <a16:rowId xmlns:a16="http://schemas.microsoft.com/office/drawing/2014/main" val="10000"/>
                  </a:ext>
                </a:extLst>
              </a:tr>
              <a:tr h="450056">
                <a:tc>
                  <a:txBody>
                    <a:bodyPr/>
                    <a:lstStyle/>
                    <a:p>
                      <a:r>
                        <a:rPr sz="1275" b="0">
                          <a:solidFill>
                            <a:srgbClr val="1E293B"/>
                          </a:solidFill>
                          <a:latin typeface="Calibri"/>
                          <a:ea typeface="Calibri"/>
                          <a:cs typeface="Calibri"/>
                        </a:rPr>
                        <a:t>Hora</a:t>
                      </a:r>
                    </a:p>
                  </a:txBody>
                  <a:tcPr anchor="ctr">
                    <a:solidFill>
                      <a:srgbClr val="EAF2FD"/>
                    </a:solidFill>
                  </a:tcPr>
                </a:tc>
                <a:tc>
                  <a:txBody>
                    <a:bodyPr/>
                    <a:lstStyle/>
                    <a:p>
                      <a:r>
                        <a:rPr sz="1275" b="0">
                          <a:solidFill>
                            <a:srgbClr val="1E293B"/>
                          </a:solidFill>
                          <a:latin typeface="Calibri"/>
                          <a:ea typeface="Calibri"/>
                          <a:cs typeface="Calibri"/>
                        </a:rPr>
                        <a:t>Inicio de intervalo UTC. Marcas HH:30 alineadas al inicio HH, según producto</a:t>
                      </a:r>
                    </a:p>
                  </a:txBody>
                  <a:tcPr anchor="ctr">
                    <a:solidFill>
                      <a:srgbClr val="EAF2FD"/>
                    </a:solidFill>
                  </a:tcPr>
                </a:tc>
                <a:extLst>
                  <a:ext uri="{0D108BD9-81ED-4DB2-BD59-A6C34878D82A}">
                    <a16:rowId xmlns:a16="http://schemas.microsoft.com/office/drawing/2014/main" val="10001"/>
                  </a:ext>
                </a:extLst>
              </a:tr>
              <a:tr h="450056">
                <a:tc>
                  <a:txBody>
                    <a:bodyPr/>
                    <a:lstStyle/>
                    <a:p>
                      <a:r>
                        <a:rPr sz="1275" b="0">
                          <a:solidFill>
                            <a:srgbClr val="1E293B"/>
                          </a:solidFill>
                          <a:latin typeface="Calibri"/>
                          <a:ea typeface="Calibri"/>
                          <a:cs typeface="Calibri"/>
                        </a:rPr>
                        <a:t>Cada 3 horas</a:t>
                      </a:r>
                    </a:p>
                  </a:txBody>
                  <a:tcPr anchor="ctr">
                    <a:solidFill>
                      <a:srgbClr val="FFFFFF"/>
                    </a:solidFill>
                  </a:tcPr>
                </a:tc>
                <a:tc>
                  <a:txBody>
                    <a:bodyPr/>
                    <a:lstStyle/>
                    <a:p>
                      <a:r>
                        <a:rPr sz="1275" b="0">
                          <a:solidFill>
                            <a:srgbClr val="1E293B"/>
                          </a:solidFill>
                          <a:latin typeface="Calibri"/>
                          <a:ea typeface="Calibri"/>
                          <a:cs typeface="Calibri"/>
                        </a:rPr>
                        <a:t>CAMS: valor del bloque anterior de 3 h para la hora consultada</a:t>
                      </a:r>
                    </a:p>
                  </a:txBody>
                  <a:tcPr anchor="ctr">
                    <a:solidFill>
                      <a:srgbClr val="FFFFFF"/>
                    </a:solidFill>
                  </a:tcPr>
                </a:tc>
                <a:extLst>
                  <a:ext uri="{0D108BD9-81ED-4DB2-BD59-A6C34878D82A}">
                    <a16:rowId xmlns:a16="http://schemas.microsoft.com/office/drawing/2014/main" val="10002"/>
                  </a:ext>
                </a:extLst>
              </a:tr>
              <a:tr h="450056">
                <a:tc>
                  <a:txBody>
                    <a:bodyPr/>
                    <a:lstStyle/>
                    <a:p>
                      <a:r>
                        <a:rPr sz="1275" b="0">
                          <a:solidFill>
                            <a:srgbClr val="1E293B"/>
                          </a:solidFill>
                          <a:latin typeface="Calibri"/>
                          <a:ea typeface="Calibri"/>
                          <a:cs typeface="Calibri"/>
                        </a:rPr>
                        <a:t>Pasada satelital</a:t>
                      </a:r>
                    </a:p>
                  </a:txBody>
                  <a:tcPr anchor="ctr">
                    <a:solidFill>
                      <a:srgbClr val="EAF2FD"/>
                    </a:solidFill>
                  </a:tcPr>
                </a:tc>
                <a:tc>
                  <a:txBody>
                    <a:bodyPr/>
                    <a:lstStyle/>
                    <a:p>
                      <a:r>
                        <a:rPr sz="1275" b="0">
                          <a:solidFill>
                            <a:srgbClr val="1E293B"/>
                          </a:solidFill>
                          <a:latin typeface="Calibri"/>
                          <a:ea typeface="Calibri"/>
                          <a:cs typeface="Calibri"/>
                        </a:rPr>
                        <a:t>MAIAC y TROPOMI: resumen diario por celda, compartido entre horas de ese día</a:t>
                      </a:r>
                    </a:p>
                  </a:txBody>
                  <a:tcPr anchor="ctr">
                    <a:solidFill>
                      <a:srgbClr val="EAF2FD"/>
                    </a:solidFill>
                  </a:tcPr>
                </a:tc>
                <a:extLst>
                  <a:ext uri="{0D108BD9-81ED-4DB2-BD59-A6C34878D82A}">
                    <a16:rowId xmlns:a16="http://schemas.microsoft.com/office/drawing/2014/main" val="10003"/>
                  </a:ext>
                </a:extLst>
              </a:tr>
              <a:tr h="450056">
                <a:tc>
                  <a:txBody>
                    <a:bodyPr/>
                    <a:lstStyle/>
                    <a:p>
                      <a:r>
                        <a:rPr sz="1275" b="0">
                          <a:solidFill>
                            <a:srgbClr val="1E293B"/>
                          </a:solidFill>
                          <a:latin typeface="Calibri"/>
                          <a:ea typeface="Calibri"/>
                          <a:cs typeface="Calibri"/>
                        </a:rPr>
                        <a:t>Mes o año</a:t>
                      </a:r>
                    </a:p>
                  </a:txBody>
                  <a:tcPr anchor="ctr">
                    <a:solidFill>
                      <a:srgbClr val="FFFFFF"/>
                    </a:solidFill>
                  </a:tcPr>
                </a:tc>
                <a:tc>
                  <a:txBody>
                    <a:bodyPr/>
                    <a:lstStyle/>
                    <a:p>
                      <a:r>
                        <a:rPr sz="1275" b="0">
                          <a:solidFill>
                            <a:srgbClr val="1E293B"/>
                          </a:solidFill>
                          <a:latin typeface="Calibri"/>
                          <a:ea typeface="Calibri"/>
                          <a:cs typeface="Calibri"/>
                        </a:rPr>
                        <a:t>ACAG por mes. Suelo y población por año. Sustituciones identificadas</a:t>
                      </a:r>
                    </a:p>
                  </a:txBody>
                  <a:tcPr anchor="ctr">
                    <a:solidFill>
                      <a:srgbClr val="FFFFFF"/>
                    </a:solidFill>
                  </a:tcPr>
                </a:tc>
                <a:extLst>
                  <a:ext uri="{0D108BD9-81ED-4DB2-BD59-A6C34878D82A}">
                    <a16:rowId xmlns:a16="http://schemas.microsoft.com/office/drawing/2014/main" val="10004"/>
                  </a:ext>
                </a:extLst>
              </a:tr>
            </a:tbl>
          </a:graphicData>
        </a:graphic>
      </p:graphicFrame>
      <p:sp>
        <p:nvSpPr>
          <p:cNvPr id="9" name="Enlace espacial">
            <a:extLst>
              <a:ext uri="{FF2B5EF4-FFF2-40B4-BE49-F238E27FC236}">
                <a16:creationId xmlns:a16="http://schemas.microsoft.com/office/drawing/2014/main" id="{B359A108-71BD-4966-8EB0-3DBC539D841D}"/>
              </a:ext>
            </a:extLst>
          </p:cNvPr>
          <p:cNvSpPr>
            <a:spLocks noGrp="1"/>
          </p:cNvSpPr>
          <p:nvPr/>
        </p:nvSpPr>
        <p:spPr>
          <a:xfrm>
            <a:off x="552450" y="3429000"/>
            <a:ext cx="8039100" cy="257175"/>
          </a:xfrm>
          <a:prstGeom prst="rect">
            <a:avLst/>
          </a:prstGeom>
          <a:noFill/>
          <a:ln w="0">
            <a:noFill/>
          </a:ln>
        </p:spPr>
        <p:txBody>
          <a:bodyPr wrap="square" lIns="0" tIns="0" rIns="0" bIns="0" anchor="t">
            <a:noAutofit/>
          </a:bodyPr>
          <a:lstStyle/>
          <a:p>
            <a:pPr algn="l">
              <a:defRPr sz="1500" b="1">
                <a:solidFill>
                  <a:srgbClr val="17375D"/>
                </a:solidFill>
                <a:latin typeface="Calibri"/>
                <a:ea typeface="Calibri"/>
                <a:cs typeface="Calibri"/>
              </a:defRPr>
            </a:pPr>
            <a:r>
              <a:rPr sz="1500" b="1">
                <a:solidFill>
                  <a:srgbClr val="17375D"/>
                </a:solidFill>
                <a:latin typeface="Calibri"/>
                <a:ea typeface="Calibri"/>
                <a:cs typeface="Calibri"/>
              </a:rPr>
              <a:t>Enlace espacial: estación–celda y celda–píxel nativo</a:t>
            </a:r>
          </a:p>
        </p:txBody>
      </p:sp>
      <p:sp>
        <p:nvSpPr>
          <p:cNvPr id="10" name="Reglas espaciales">
            <a:extLst>
              <a:ext uri="{FF2B5EF4-FFF2-40B4-BE49-F238E27FC236}">
                <a16:creationId xmlns:a16="http://schemas.microsoft.com/office/drawing/2014/main" id="{785AD3A2-C0B0-4E33-ABDB-D712DD698347}"/>
              </a:ext>
            </a:extLst>
          </p:cNvPr>
          <p:cNvSpPr>
            <a:spLocks noGrp="1"/>
          </p:cNvSpPr>
          <p:nvPr/>
        </p:nvSpPr>
        <p:spPr>
          <a:xfrm>
            <a:off x="552450" y="3743325"/>
            <a:ext cx="8039100" cy="447675"/>
          </a:xfrm>
          <a:prstGeom prst="rect">
            <a:avLst/>
          </a:prstGeom>
          <a:noFill/>
          <a:ln w="0">
            <a:noFill/>
          </a:ln>
        </p:spPr>
        <p:txBody>
          <a:bodyPr wrap="square" lIns="0" tIns="0" rIns="0" bIns="0" anchor="t">
            <a:noAutofit/>
          </a:bodyPr>
          <a:lstStyle/>
          <a:p>
            <a:pPr algn="l">
              <a:defRPr sz="1350">
                <a:solidFill>
                  <a:srgbClr val="1E293B"/>
                </a:solidFill>
                <a:latin typeface="Calibri"/>
                <a:ea typeface="Calibri"/>
                <a:cs typeface="Calibri"/>
              </a:defRPr>
            </a:pPr>
            <a:r>
              <a:rPr sz="1350">
                <a:solidFill>
                  <a:srgbClr val="1E293B"/>
                </a:solidFill>
                <a:latin typeface="Calibri"/>
                <a:ea typeface="Calibri"/>
                <a:cs typeface="Calibri"/>
              </a:rPr>
              <a:t>MAIAC: hasta 1,5 km. TROPOMI: hasta 5 km. Reanálisis: enlaces por fuente, con distancia y sustituciones documentadas.</a:t>
            </a:r>
          </a:p>
        </p:txBody>
      </p:sp>
      <p:sp>
        <p:nvSpPr>
          <p:cNvPr id="11" name="Trazabilidad">
            <a:extLst>
              <a:ext uri="{FF2B5EF4-FFF2-40B4-BE49-F238E27FC236}">
                <a16:creationId xmlns:a16="http://schemas.microsoft.com/office/drawing/2014/main" id="{64F49E0B-C639-4D73-8553-9FC989EAC99D}"/>
              </a:ext>
            </a:extLst>
          </p:cNvPr>
          <p:cNvSpPr>
            <a:spLocks noGrp="1"/>
          </p:cNvSpPr>
          <p:nvPr/>
        </p:nvSpPr>
        <p:spPr>
          <a:xfrm>
            <a:off x="552450" y="4276725"/>
            <a:ext cx="8039100" cy="247650"/>
          </a:xfrm>
          <a:prstGeom prst="rect">
            <a:avLst/>
          </a:prstGeom>
          <a:noFill/>
          <a:ln w="0">
            <a:noFill/>
          </a:ln>
        </p:spPr>
        <p:txBody>
          <a:bodyPr wrap="square" lIns="0" tIns="0" rIns="0" bIns="0" anchor="t">
            <a:noAutofit/>
          </a:bodyPr>
          <a:lstStyle/>
          <a:p>
            <a:pPr algn="l">
              <a:defRPr sz="1313">
                <a:solidFill>
                  <a:srgbClr val="017EDF"/>
                </a:solidFill>
                <a:latin typeface="Calibri"/>
                <a:ea typeface="Calibri"/>
                <a:cs typeface="Calibri"/>
              </a:defRPr>
            </a:pPr>
            <a:r>
              <a:rPr sz="1313">
                <a:solidFill>
                  <a:srgbClr val="017EDF"/>
                </a:solidFill>
                <a:latin typeface="Calibri"/>
                <a:ea typeface="Calibri"/>
                <a:cs typeface="Calibri"/>
              </a:rPr>
              <a:t>Cierre previsto: tabla de procedencia y conteos antes/después de cada unión.</a:t>
            </a:r>
          </a:p>
        </p:txBody>
      </p:sp>
      <p:sp>
        <p:nvSpPr>
          <p:cNvPr id="12" name="Fuente y alcance">
            <a:extLst>
              <a:ext uri="{FF2B5EF4-FFF2-40B4-BE49-F238E27FC236}">
                <a16:creationId xmlns:a16="http://schemas.microsoft.com/office/drawing/2014/main" id="{D178EEB9-A9D7-4B94-84FE-60698C2F427F}"/>
              </a:ext>
            </a:extLst>
          </p:cNvPr>
          <p:cNvSpPr>
            <a:spLocks noGrp="1"/>
          </p:cNvSpPr>
          <p:nvPr/>
        </p:nvSpPr>
        <p:spPr>
          <a:xfrm>
            <a:off x="548640" y="4619625"/>
            <a:ext cx="8046720" cy="200025"/>
          </a:xfrm>
          <a:prstGeom prst="rect">
            <a:avLst/>
          </a:prstGeom>
          <a:noFill/>
          <a:ln w="0">
            <a:noFill/>
          </a:ln>
        </p:spPr>
        <p:txBody>
          <a:bodyPr wrap="square" lIns="0" tIns="0" rIns="0" bIns="0" anchor="ctr">
            <a:noAutofit/>
          </a:bodyPr>
          <a:lstStyle/>
          <a:p>
            <a:pPr algn="l">
              <a:defRPr sz="848">
                <a:solidFill>
                  <a:srgbClr val="526277"/>
                </a:solidFill>
                <a:latin typeface="Calibri"/>
                <a:ea typeface="Calibri"/>
                <a:cs typeface="Calibri"/>
              </a:defRPr>
            </a:pPr>
            <a:r>
              <a:rPr sz="848">
                <a:solidFill>
                  <a:srgbClr val="526277"/>
                </a:solidFill>
                <a:latin typeface="Calibri"/>
                <a:ea typeface="Calibri"/>
                <a:cs typeface="Calibri"/>
              </a:rPr>
              <a:t>Reglas identificadas en el código. Reloj, unidades y pérdidas del panel final por verificar. Reconstrucción retrospectiva.</a:t>
            </a:r>
          </a:p>
        </p:txBody>
      </p:sp>
    </p:spTree>
    <p:extLst>
      <p:ext uri="{BB962C8B-B14F-4D97-AF65-F5344CB8AC3E}">
        <p14:creationId xmlns:p14="http://schemas.microsoft.com/office/powerpoint/2010/main" val="32275727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abecera azul UC">
            <a:extLst>
              <a:ext uri="{FF2B5EF4-FFF2-40B4-BE49-F238E27FC236}">
                <a16:creationId xmlns:a16="http://schemas.microsoft.com/office/drawing/2014/main" id="{5F8BC7D1-6B2B-4322-898C-9A05FEC3625D}"/>
              </a:ext>
            </a:extLst>
          </p:cNvPr>
          <p:cNvSpPr>
            <a:spLocks noGrp="1"/>
          </p:cNvSpPr>
          <p:nvPr/>
        </p:nvSpPr>
        <p:spPr>
          <a:xfrm>
            <a:off x="158742" y="0"/>
            <a:ext cx="8985258" cy="1007195"/>
          </a:xfrm>
          <a:prstGeom prst="rect">
            <a:avLst/>
          </a:prstGeom>
          <a:solidFill>
            <a:srgbClr val="017EDF"/>
          </a:solidFill>
          <a:ln>
            <a:noFill/>
          </a:ln>
        </p:spPr>
        <p:txBody>
          <a:bodyPr/>
          <a:lstStyle/>
          <a:p>
            <a:endParaRPr lang="es-CL"/>
          </a:p>
        </p:txBody>
      </p:sp>
      <p:sp>
        <p:nvSpPr>
          <p:cNvPr id="4" name="Rectángulo 9">
            <a:extLst>
              <a:ext uri="{FF2B5EF4-FFF2-40B4-BE49-F238E27FC236}">
                <a16:creationId xmlns:a16="http://schemas.microsoft.com/office/drawing/2014/main" id="{243AD123-7368-49D0-8B70-353E6E703936}"/>
              </a:ext>
            </a:extLst>
          </p:cNvPr>
          <p:cNvSpPr>
            <a:spLocks noGrp="1"/>
          </p:cNvSpPr>
          <p:nvPr/>
        </p:nvSpPr>
        <p:spPr>
          <a:xfrm>
            <a:off x="0" y="149945"/>
            <a:ext cx="158742" cy="857250"/>
          </a:xfrm>
          <a:prstGeom prst="rect">
            <a:avLst/>
          </a:prstGeom>
          <a:solidFill>
            <a:srgbClr val="FFE2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Rectángulo 7">
            <a:extLst>
              <a:ext uri="{FF2B5EF4-FFF2-40B4-BE49-F238E27FC236}">
                <a16:creationId xmlns:a16="http://schemas.microsoft.com/office/drawing/2014/main" id="{2AFEA26C-7451-4FB6-BC5B-8D0C7E9FC9F2}"/>
              </a:ext>
            </a:extLst>
          </p:cNvPr>
          <p:cNvSpPr>
            <a:spLocks noGrp="1"/>
          </p:cNvSpPr>
          <p:nvPr/>
        </p:nvSpPr>
        <p:spPr>
          <a:xfrm flipV="1">
            <a:off x="169334" y="4871120"/>
            <a:ext cx="8815911" cy="177311"/>
          </a:xfrm>
          <a:prstGeom prst="rect">
            <a:avLst/>
          </a:prstGeom>
          <a:solidFill>
            <a:schemeClr val="bg1">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Rectángulo 10">
            <a:extLst>
              <a:ext uri="{FF2B5EF4-FFF2-40B4-BE49-F238E27FC236}">
                <a16:creationId xmlns:a16="http://schemas.microsoft.com/office/drawing/2014/main" id="{CF06211B-6E42-4F26-B475-F19F308910DF}"/>
              </a:ext>
            </a:extLst>
          </p:cNvPr>
          <p:cNvSpPr>
            <a:spLocks noGrp="1"/>
          </p:cNvSpPr>
          <p:nvPr/>
        </p:nvSpPr>
        <p:spPr>
          <a:xfrm flipV="1">
            <a:off x="7200957" y="4871118"/>
            <a:ext cx="1119038" cy="177313"/>
          </a:xfrm>
          <a:prstGeom prst="rect">
            <a:avLst/>
          </a:prstGeom>
          <a:solidFill>
            <a:srgbClr val="3366CC"/>
          </a:solidFill>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ítulo 1">
            <a:extLst>
              <a:ext uri="{FF2B5EF4-FFF2-40B4-BE49-F238E27FC236}">
                <a16:creationId xmlns:a16="http://schemas.microsoft.com/office/drawing/2014/main" id="{BA3E11A9-BEEC-4431-AFAD-994326D4DDD0}"/>
              </a:ext>
            </a:extLst>
          </p:cNvPr>
          <p:cNvSpPr>
            <a:spLocks noGrp="1"/>
          </p:cNvSpPr>
          <p:nvPr>
            <p:ph type="title"/>
          </p:nvPr>
        </p:nvSpPr>
        <p:spPr>
          <a:xfrm>
            <a:off x="457200" y="149945"/>
            <a:ext cx="8229600" cy="857250"/>
          </a:xfrm>
        </p:spPr>
        <p:txBody>
          <a:bodyPr wrap="square" anchor="ctr">
            <a:noAutofit/>
          </a:bodyPr>
          <a:lstStyle/>
          <a:p>
            <a:pPr algn="l">
              <a:spcBef>
                <a:spcPts val="0"/>
              </a:spcBef>
              <a:spcAft>
                <a:spcPts val="0"/>
              </a:spcAft>
              <a:defRPr sz="1900" b="1">
                <a:solidFill>
                  <a:srgbClr val="FFFFFF"/>
                </a:solidFill>
                <a:latin typeface="Calibri"/>
                <a:ea typeface="Calibri"/>
                <a:cs typeface="Calibri"/>
              </a:defRPr>
            </a:pPr>
            <a:r>
              <a:rPr sz="1900" b="1">
                <a:solidFill>
                  <a:srgbClr val="FFFFFF"/>
                </a:solidFill>
                <a:latin typeface="Calibri"/>
                <a:ea typeface="Calibri"/>
                <a:cs typeface="Calibri"/>
              </a:rPr>
              <a:t>Metodología: aporte de las familias de métodos</a:t>
            </a:r>
          </a:p>
        </p:txBody>
      </p:sp>
      <p:sp>
        <p:nvSpPr>
          <p:cNvPr id="8" name="Tronco de modelos">
            <a:extLst>
              <a:ext uri="{FF2B5EF4-FFF2-40B4-BE49-F238E27FC236}">
                <a16:creationId xmlns:a16="http://schemas.microsoft.com/office/drawing/2014/main" id="{6A4680D7-EF0E-4D75-B0FF-4629D1757D12}"/>
              </a:ext>
            </a:extLst>
          </p:cNvPr>
          <p:cNvSpPr>
            <a:spLocks noGrp="1"/>
          </p:cNvSpPr>
          <p:nvPr/>
        </p:nvSpPr>
        <p:spPr>
          <a:xfrm>
            <a:off x="4574286" y="1481328"/>
            <a:ext cx="0" cy="226314"/>
          </a:xfrm>
          <a:prstGeom prst="line">
            <a:avLst/>
          </a:prstGeom>
          <a:ln w="15240">
            <a:solidFill>
              <a:srgbClr val="3366CC"/>
            </a:solidFill>
            <a:headEnd type="none"/>
            <a:tailEnd type="none"/>
          </a:ln>
        </p:spPr>
        <p:txBody>
          <a:bodyPr/>
          <a:lstStyle/>
          <a:p>
            <a:endParaRPr lang="es-CL"/>
          </a:p>
        </p:txBody>
      </p:sp>
      <p:sp>
        <p:nvSpPr>
          <p:cNvPr id="9" name="Ramas de familias">
            <a:extLst>
              <a:ext uri="{FF2B5EF4-FFF2-40B4-BE49-F238E27FC236}">
                <a16:creationId xmlns:a16="http://schemas.microsoft.com/office/drawing/2014/main" id="{3EF5B912-9687-4FDD-A415-DF66190ED77F}"/>
              </a:ext>
            </a:extLst>
          </p:cNvPr>
          <p:cNvSpPr>
            <a:spLocks noGrp="1"/>
          </p:cNvSpPr>
          <p:nvPr/>
        </p:nvSpPr>
        <p:spPr>
          <a:xfrm>
            <a:off x="1796796" y="1707642"/>
            <a:ext cx="5541264" cy="0"/>
          </a:xfrm>
          <a:prstGeom prst="line">
            <a:avLst/>
          </a:prstGeom>
          <a:ln w="15240">
            <a:solidFill>
              <a:srgbClr val="3366CC"/>
            </a:solidFill>
            <a:headEnd type="none"/>
            <a:tailEnd type="none"/>
          </a:ln>
        </p:spPr>
        <p:txBody>
          <a:bodyPr/>
          <a:lstStyle/>
          <a:p>
            <a:endParaRPr lang="es-CL"/>
          </a:p>
        </p:txBody>
      </p:sp>
      <p:sp>
        <p:nvSpPr>
          <p:cNvPr id="10" name="Familia 1">
            <a:extLst>
              <a:ext uri="{FF2B5EF4-FFF2-40B4-BE49-F238E27FC236}">
                <a16:creationId xmlns:a16="http://schemas.microsoft.com/office/drawing/2014/main" id="{74BC9DBE-96C2-4500-8B48-83A69A5977F5}"/>
              </a:ext>
            </a:extLst>
          </p:cNvPr>
          <p:cNvSpPr>
            <a:spLocks noGrp="1"/>
          </p:cNvSpPr>
          <p:nvPr/>
        </p:nvSpPr>
        <p:spPr>
          <a:xfrm>
            <a:off x="1796796" y="1707642"/>
            <a:ext cx="0" cy="192024"/>
          </a:xfrm>
          <a:prstGeom prst="line">
            <a:avLst/>
          </a:prstGeom>
          <a:ln w="15240">
            <a:solidFill>
              <a:srgbClr val="3366CC"/>
            </a:solidFill>
            <a:headEnd type="none"/>
            <a:tailEnd type="triangle"/>
          </a:ln>
        </p:spPr>
        <p:txBody>
          <a:bodyPr/>
          <a:lstStyle/>
          <a:p>
            <a:endParaRPr lang="es-CL"/>
          </a:p>
        </p:txBody>
      </p:sp>
      <p:sp>
        <p:nvSpPr>
          <p:cNvPr id="11" name="Familia 2">
            <a:extLst>
              <a:ext uri="{FF2B5EF4-FFF2-40B4-BE49-F238E27FC236}">
                <a16:creationId xmlns:a16="http://schemas.microsoft.com/office/drawing/2014/main" id="{DE70ADFB-9566-4614-9494-F6275A1AB0CA}"/>
              </a:ext>
            </a:extLst>
          </p:cNvPr>
          <p:cNvSpPr>
            <a:spLocks noGrp="1"/>
          </p:cNvSpPr>
          <p:nvPr/>
        </p:nvSpPr>
        <p:spPr>
          <a:xfrm>
            <a:off x="4574286" y="1707642"/>
            <a:ext cx="0" cy="192024"/>
          </a:xfrm>
          <a:prstGeom prst="line">
            <a:avLst/>
          </a:prstGeom>
          <a:ln w="15240">
            <a:solidFill>
              <a:srgbClr val="3366CC"/>
            </a:solidFill>
            <a:headEnd type="none"/>
            <a:tailEnd type="triangle"/>
          </a:ln>
        </p:spPr>
        <p:txBody>
          <a:bodyPr/>
          <a:lstStyle/>
          <a:p>
            <a:endParaRPr lang="es-CL"/>
          </a:p>
        </p:txBody>
      </p:sp>
      <p:sp>
        <p:nvSpPr>
          <p:cNvPr id="12" name="Familia 3">
            <a:extLst>
              <a:ext uri="{FF2B5EF4-FFF2-40B4-BE49-F238E27FC236}">
                <a16:creationId xmlns:a16="http://schemas.microsoft.com/office/drawing/2014/main" id="{A6C1EB58-D50B-4095-BA2B-AB1AE7E4B7DD}"/>
              </a:ext>
            </a:extLst>
          </p:cNvPr>
          <p:cNvSpPr>
            <a:spLocks noGrp="1"/>
          </p:cNvSpPr>
          <p:nvPr/>
        </p:nvSpPr>
        <p:spPr>
          <a:xfrm>
            <a:off x="7338060" y="1707642"/>
            <a:ext cx="0" cy="192024"/>
          </a:xfrm>
          <a:prstGeom prst="line">
            <a:avLst/>
          </a:prstGeom>
          <a:ln w="15240">
            <a:solidFill>
              <a:srgbClr val="3366CC"/>
            </a:solidFill>
            <a:headEnd type="none"/>
            <a:tailEnd type="triangle"/>
          </a:ln>
        </p:spPr>
        <p:txBody>
          <a:bodyPr/>
          <a:lstStyle/>
          <a:p>
            <a:endParaRPr lang="es-CL"/>
          </a:p>
        </p:txBody>
      </p:sp>
      <p:sp>
        <p:nvSpPr>
          <p:cNvPr id="13" name="Diez modelos">
            <a:extLst>
              <a:ext uri="{FF2B5EF4-FFF2-40B4-BE49-F238E27FC236}">
                <a16:creationId xmlns:a16="http://schemas.microsoft.com/office/drawing/2014/main" id="{5B0AF512-1764-4B15-9F34-B773A39C2761}"/>
              </a:ext>
            </a:extLst>
          </p:cNvPr>
          <p:cNvSpPr>
            <a:spLocks noGrp="1"/>
          </p:cNvSpPr>
          <p:nvPr/>
        </p:nvSpPr>
        <p:spPr>
          <a:xfrm>
            <a:off x="3586734" y="1083564"/>
            <a:ext cx="1975104" cy="397764"/>
          </a:xfrm>
          <a:prstGeom prst="rect">
            <a:avLst/>
          </a:prstGeom>
          <a:solidFill>
            <a:srgbClr val="17375D"/>
          </a:solidFill>
          <a:ln w="8573">
            <a:noFill/>
          </a:ln>
        </p:spPr>
        <p:txBody>
          <a:bodyPr wrap="square" lIns="96012" tIns="96012" rIns="96012" bIns="96012" anchor="ctr">
            <a:noAutofit/>
          </a:bodyPr>
          <a:lstStyle/>
          <a:p>
            <a:pPr algn="ctr">
              <a:spcBef>
                <a:spcPts val="0"/>
              </a:spcBef>
              <a:spcAft>
                <a:spcPts val="0"/>
              </a:spcAft>
              <a:buNone/>
              <a:defRPr sz="1200" b="1">
                <a:solidFill>
                  <a:srgbClr val="FFFFFF"/>
                </a:solidFill>
                <a:latin typeface="Calibri"/>
                <a:ea typeface="Calibri"/>
                <a:cs typeface="Calibri"/>
              </a:defRPr>
            </a:pPr>
            <a:r>
              <a:rPr sz="1200" b="1">
                <a:solidFill>
                  <a:srgbClr val="FFFFFF"/>
                </a:solidFill>
                <a:latin typeface="Calibri"/>
                <a:ea typeface="Calibri"/>
                <a:cs typeface="Calibri"/>
              </a:rPr>
              <a:t>10 ENFOQUES</a:t>
            </a:r>
          </a:p>
          <a:p>
            <a:pPr algn="ctr">
              <a:spcBef>
                <a:spcPts val="0"/>
              </a:spcBef>
              <a:spcAft>
                <a:spcPts val="0"/>
              </a:spcAft>
              <a:buNone/>
              <a:defRPr sz="1200" b="1">
                <a:solidFill>
                  <a:srgbClr val="FFFFFF"/>
                </a:solidFill>
                <a:latin typeface="Calibri"/>
                <a:ea typeface="Calibri"/>
                <a:cs typeface="Calibri"/>
              </a:defRPr>
            </a:pPr>
            <a:r>
              <a:rPr sz="1200" b="1">
                <a:solidFill>
                  <a:srgbClr val="FFFFFF"/>
                </a:solidFill>
                <a:latin typeface="Calibri"/>
                <a:ea typeface="Calibri"/>
                <a:cs typeface="Calibri"/>
              </a:rPr>
              <a:t>POR CONTAMINANTE</a:t>
            </a:r>
          </a:p>
        </p:txBody>
      </p:sp>
      <p:sp>
        <p:nvSpPr>
          <p:cNvPr id="14" name="Grupo 1">
            <a:extLst>
              <a:ext uri="{FF2B5EF4-FFF2-40B4-BE49-F238E27FC236}">
                <a16:creationId xmlns:a16="http://schemas.microsoft.com/office/drawing/2014/main" id="{9DB7B8CC-A032-4C17-B113-642C8B400632}"/>
              </a:ext>
            </a:extLst>
          </p:cNvPr>
          <p:cNvSpPr>
            <a:spLocks noGrp="1"/>
          </p:cNvSpPr>
          <p:nvPr/>
        </p:nvSpPr>
        <p:spPr>
          <a:xfrm>
            <a:off x="548640" y="1899666"/>
            <a:ext cx="2496312" cy="2578608"/>
          </a:xfrm>
          <a:prstGeom prst="roundRect">
            <a:avLst>
              <a:gd name="adj" fmla="val 7500"/>
            </a:avLst>
          </a:prstGeom>
          <a:solidFill>
            <a:srgbClr val="F2F6FC"/>
          </a:solidFill>
          <a:ln w="8573">
            <a:solidFill>
              <a:srgbClr val="D6DFEB"/>
            </a:solidFill>
          </a:ln>
          <a:effectLst>
            <a:outerShdw blurRad="38000" dist="23000" dir="5400000" algn="ctr" rotWithShape="0">
              <a:srgbClr val="000000">
                <a:alpha val="14000"/>
              </a:srgbClr>
            </a:outerShdw>
          </a:effectLst>
        </p:spPr>
        <p:txBody>
          <a:bodyPr wrap="square" lIns="157734" tIns="157734" rIns="157734" bIns="157734" anchor="t">
            <a:noAutofit/>
          </a:bodyPr>
          <a:lstStyle/>
          <a:p>
            <a:pPr>
              <a:spcBef>
                <a:spcPts val="0"/>
              </a:spcBef>
              <a:spcAft>
                <a:spcPts val="0"/>
              </a:spcAft>
              <a:buNone/>
              <a:defRPr sz="1275" b="0">
                <a:solidFill>
                  <a:srgbClr val="17375D"/>
                </a:solidFill>
                <a:latin typeface="Calibri"/>
                <a:ea typeface="Calibri"/>
                <a:cs typeface="Calibri"/>
              </a:defRPr>
            </a:pPr>
            <a:r>
              <a:rPr sz="1275" b="0">
                <a:solidFill>
                  <a:srgbClr val="17375D"/>
                </a:solidFill>
                <a:latin typeface="Calibri"/>
                <a:ea typeface="Calibri"/>
                <a:cs typeface="Calibri"/>
              </a:rPr>
              <a:t>Aprendizaje flexible</a:t>
            </a:r>
          </a:p>
          <a:p>
            <a:pPr>
              <a:spcBef>
                <a:spcPts val="0"/>
              </a:spcBef>
              <a:spcAft>
                <a:spcPts val="0"/>
              </a:spcAft>
              <a:buNone/>
            </a:pPr>
            <a:endParaRPr sz="1275" b="0">
              <a:solidFill>
                <a:srgbClr val="17375D"/>
              </a:solidFill>
              <a:latin typeface="Calibri"/>
              <a:ea typeface="Calibri"/>
              <a:cs typeface="Calibri"/>
            </a:endParaRPr>
          </a:p>
          <a:p>
            <a:pPr>
              <a:spcBef>
                <a:spcPts val="0"/>
              </a:spcBef>
              <a:spcAft>
                <a:spcPts val="0"/>
              </a:spcAft>
              <a:buNone/>
              <a:defRPr sz="1275" b="0">
                <a:solidFill>
                  <a:srgbClr val="17375D"/>
                </a:solidFill>
                <a:latin typeface="Calibri"/>
                <a:ea typeface="Calibri"/>
                <a:cs typeface="Calibri"/>
              </a:defRPr>
            </a:pPr>
            <a:r>
              <a:rPr sz="1275" b="0">
                <a:solidFill>
                  <a:srgbClr val="17375D"/>
                </a:solidFill>
                <a:latin typeface="Calibri"/>
                <a:ea typeface="Calibri"/>
                <a:cs typeface="Calibri"/>
              </a:rPr>
              <a:t>1  LightGBM · ajuste log</a:t>
            </a:r>
          </a:p>
          <a:p>
            <a:pPr>
              <a:spcBef>
                <a:spcPts val="0"/>
              </a:spcBef>
              <a:spcAft>
                <a:spcPts val="0"/>
              </a:spcAft>
              <a:buNone/>
              <a:defRPr sz="1275" b="0">
                <a:solidFill>
                  <a:srgbClr val="17375D"/>
                </a:solidFill>
                <a:latin typeface="Calibri"/>
                <a:ea typeface="Calibri"/>
                <a:cs typeface="Calibri"/>
              </a:defRPr>
            </a:pPr>
            <a:r>
              <a:rPr sz="1275" b="0">
                <a:solidFill>
                  <a:srgbClr val="17375D"/>
                </a:solidFill>
                <a:latin typeface="Calibri"/>
                <a:ea typeface="Calibri"/>
                <a:cs typeface="Calibri"/>
              </a:rPr>
              <a:t>2  Random Forest</a:t>
            </a:r>
          </a:p>
          <a:p>
            <a:pPr>
              <a:spcBef>
                <a:spcPts val="0"/>
              </a:spcBef>
              <a:spcAft>
                <a:spcPts val="0"/>
              </a:spcAft>
              <a:buNone/>
              <a:defRPr sz="1275" b="0">
                <a:solidFill>
                  <a:srgbClr val="17375D"/>
                </a:solidFill>
                <a:latin typeface="Calibri"/>
                <a:ea typeface="Calibri"/>
                <a:cs typeface="Calibri"/>
              </a:defRPr>
            </a:pPr>
            <a:r>
              <a:rPr sz="1275" b="0">
                <a:solidFill>
                  <a:srgbClr val="17375D"/>
                </a:solidFill>
                <a:latin typeface="Calibri"/>
                <a:ea typeface="Calibri"/>
                <a:cs typeface="Calibri"/>
              </a:rPr>
              <a:t>3  Red neuronal MLP</a:t>
            </a:r>
          </a:p>
          <a:p>
            <a:pPr>
              <a:spcBef>
                <a:spcPts val="0"/>
              </a:spcBef>
              <a:spcAft>
                <a:spcPts val="0"/>
              </a:spcAft>
              <a:buNone/>
              <a:defRPr sz="1275" b="0">
                <a:solidFill>
                  <a:srgbClr val="17375D"/>
                </a:solidFill>
                <a:latin typeface="Calibri"/>
                <a:ea typeface="Calibri"/>
                <a:cs typeface="Calibri"/>
              </a:defRPr>
            </a:pPr>
            <a:r>
              <a:rPr sz="1275" b="0">
                <a:solidFill>
                  <a:srgbClr val="17375D"/>
                </a:solidFill>
                <a:latin typeface="Calibri"/>
                <a:ea typeface="Calibri"/>
                <a:cs typeface="Calibri"/>
              </a:rPr>
              <a:t>4  Proceso gaussiano Matérn</a:t>
            </a:r>
          </a:p>
          <a:p>
            <a:pPr>
              <a:spcBef>
                <a:spcPts val="0"/>
              </a:spcBef>
              <a:spcAft>
                <a:spcPts val="0"/>
              </a:spcAft>
              <a:buNone/>
            </a:pPr>
            <a:endParaRPr sz="1275" b="0">
              <a:solidFill>
                <a:srgbClr val="17375D"/>
              </a:solidFill>
              <a:latin typeface="Calibri"/>
              <a:ea typeface="Calibri"/>
              <a:cs typeface="Calibri"/>
            </a:endParaRPr>
          </a:p>
          <a:p>
            <a:pPr>
              <a:spcBef>
                <a:spcPts val="0"/>
              </a:spcBef>
              <a:spcAft>
                <a:spcPts val="0"/>
              </a:spcAft>
              <a:buNone/>
              <a:defRPr sz="1275" b="0">
                <a:solidFill>
                  <a:srgbClr val="17375D"/>
                </a:solidFill>
                <a:latin typeface="Calibri"/>
                <a:ea typeface="Calibri"/>
                <a:cs typeface="Calibri"/>
              </a:defRPr>
            </a:pPr>
            <a:r>
              <a:rPr sz="1275" b="0">
                <a:solidFill>
                  <a:srgbClr val="17375D"/>
                </a:solidFill>
                <a:latin typeface="Calibri"/>
                <a:ea typeface="Calibri"/>
                <a:cs typeface="Calibri"/>
              </a:rPr>
              <a:t>Aporte: relaciones no lineales y flexibilidad local.</a:t>
            </a:r>
          </a:p>
        </p:txBody>
      </p:sp>
      <p:sp>
        <p:nvSpPr>
          <p:cNvPr id="15" name="Grupo 2">
            <a:extLst>
              <a:ext uri="{FF2B5EF4-FFF2-40B4-BE49-F238E27FC236}">
                <a16:creationId xmlns:a16="http://schemas.microsoft.com/office/drawing/2014/main" id="{40B8A6B3-88D0-4994-A5A5-5B4877341C31}"/>
              </a:ext>
            </a:extLst>
          </p:cNvPr>
          <p:cNvSpPr>
            <a:spLocks noGrp="1"/>
          </p:cNvSpPr>
          <p:nvPr/>
        </p:nvSpPr>
        <p:spPr>
          <a:xfrm>
            <a:off x="3319272" y="1899666"/>
            <a:ext cx="2496312" cy="2578608"/>
          </a:xfrm>
          <a:prstGeom prst="roundRect">
            <a:avLst>
              <a:gd name="adj" fmla="val 7500"/>
            </a:avLst>
          </a:prstGeom>
          <a:solidFill>
            <a:srgbClr val="F2F6FC"/>
          </a:solidFill>
          <a:ln w="8573">
            <a:solidFill>
              <a:srgbClr val="D6DFEB"/>
            </a:solidFill>
          </a:ln>
          <a:effectLst>
            <a:outerShdw blurRad="38000" dist="23000" dir="5400000" algn="ctr" rotWithShape="0">
              <a:srgbClr val="000000">
                <a:alpha val="14000"/>
              </a:srgbClr>
            </a:outerShdw>
          </a:effectLst>
        </p:spPr>
        <p:txBody>
          <a:bodyPr wrap="square" lIns="157734" tIns="157734" rIns="157734" bIns="157734" anchor="t">
            <a:noAutofit/>
          </a:bodyPr>
          <a:lstStyle/>
          <a:p>
            <a:pPr>
              <a:spcBef>
                <a:spcPts val="0"/>
              </a:spcBef>
              <a:spcAft>
                <a:spcPts val="0"/>
              </a:spcAft>
              <a:buNone/>
              <a:defRPr sz="1275" b="0">
                <a:solidFill>
                  <a:srgbClr val="17375D"/>
                </a:solidFill>
                <a:latin typeface="Calibri"/>
                <a:ea typeface="Calibri"/>
                <a:cs typeface="Calibri"/>
              </a:defRPr>
            </a:pPr>
            <a:r>
              <a:rPr sz="1275" b="0">
                <a:solidFill>
                  <a:srgbClr val="17375D"/>
                </a:solidFill>
                <a:latin typeface="Calibri"/>
                <a:ea typeface="Calibri"/>
                <a:cs typeface="Calibri"/>
              </a:rPr>
              <a:t>Estructura espacial y temporal</a:t>
            </a:r>
          </a:p>
          <a:p>
            <a:pPr>
              <a:spcBef>
                <a:spcPts val="0"/>
              </a:spcBef>
              <a:spcAft>
                <a:spcPts val="0"/>
              </a:spcAft>
              <a:buNone/>
            </a:pPr>
            <a:endParaRPr sz="1275" b="0">
              <a:solidFill>
                <a:srgbClr val="17375D"/>
              </a:solidFill>
              <a:latin typeface="Calibri"/>
              <a:ea typeface="Calibri"/>
              <a:cs typeface="Calibri"/>
            </a:endParaRPr>
          </a:p>
          <a:p>
            <a:pPr>
              <a:spcBef>
                <a:spcPts val="0"/>
              </a:spcBef>
              <a:spcAft>
                <a:spcPts val="0"/>
              </a:spcAft>
              <a:buNone/>
              <a:defRPr sz="1275" b="0">
                <a:solidFill>
                  <a:srgbClr val="17375D"/>
                </a:solidFill>
                <a:latin typeface="Calibri"/>
                <a:ea typeface="Calibri"/>
                <a:cs typeface="Calibri"/>
              </a:defRPr>
            </a:pPr>
            <a:r>
              <a:rPr sz="1275" b="0">
                <a:solidFill>
                  <a:srgbClr val="17375D"/>
                </a:solidFill>
                <a:latin typeface="Calibri"/>
                <a:ea typeface="Calibri"/>
                <a:cs typeface="Calibri"/>
              </a:rPr>
              <a:t>5  GWR</a:t>
            </a:r>
          </a:p>
          <a:p>
            <a:pPr>
              <a:spcBef>
                <a:spcPts val="0"/>
              </a:spcBef>
              <a:spcAft>
                <a:spcPts val="0"/>
              </a:spcAft>
              <a:buNone/>
              <a:defRPr sz="1275" b="0">
                <a:solidFill>
                  <a:srgbClr val="17375D"/>
                </a:solidFill>
                <a:latin typeface="Calibri"/>
                <a:ea typeface="Calibri"/>
                <a:cs typeface="Calibri"/>
              </a:defRPr>
            </a:pPr>
            <a:r>
              <a:rPr sz="1275" b="0">
                <a:solidFill>
                  <a:srgbClr val="17375D"/>
                </a:solidFill>
                <a:latin typeface="Calibri"/>
                <a:ea typeface="Calibri"/>
                <a:cs typeface="Calibri"/>
              </a:rPr>
              <a:t>6  Regresión con kriging</a:t>
            </a:r>
          </a:p>
          <a:p>
            <a:pPr>
              <a:spcBef>
                <a:spcPts val="0"/>
              </a:spcBef>
              <a:spcAft>
                <a:spcPts val="0"/>
              </a:spcAft>
              <a:buNone/>
              <a:defRPr sz="1275" b="0">
                <a:solidFill>
                  <a:srgbClr val="17375D"/>
                </a:solidFill>
                <a:latin typeface="Calibri"/>
                <a:ea typeface="Calibri"/>
                <a:cs typeface="Calibri"/>
              </a:defRPr>
            </a:pPr>
            <a:r>
              <a:rPr sz="1275" b="0">
                <a:solidFill>
                  <a:srgbClr val="17375D"/>
                </a:solidFill>
                <a:latin typeface="Calibri"/>
                <a:ea typeface="Calibri"/>
                <a:cs typeface="Calibri"/>
              </a:rPr>
              <a:t>7  Modelo lineal mixto</a:t>
            </a:r>
          </a:p>
          <a:p>
            <a:pPr>
              <a:spcBef>
                <a:spcPts val="0"/>
              </a:spcBef>
              <a:spcAft>
                <a:spcPts val="0"/>
              </a:spcAft>
              <a:buNone/>
              <a:defRPr sz="1275" b="0">
                <a:solidFill>
                  <a:srgbClr val="17375D"/>
                </a:solidFill>
                <a:latin typeface="Calibri"/>
                <a:ea typeface="Calibri"/>
                <a:cs typeface="Calibri"/>
              </a:defRPr>
            </a:pPr>
            <a:r>
              <a:rPr sz="1275" b="0">
                <a:solidFill>
                  <a:srgbClr val="17375D"/>
                </a:solidFill>
                <a:latin typeface="Calibri"/>
                <a:ea typeface="Calibri"/>
                <a:cs typeface="Calibri"/>
              </a:rPr>
              <a:t>8  Interpolación de vecinas</a:t>
            </a:r>
          </a:p>
          <a:p>
            <a:pPr>
              <a:spcBef>
                <a:spcPts val="0"/>
              </a:spcBef>
              <a:spcAft>
                <a:spcPts val="0"/>
              </a:spcAft>
              <a:buNone/>
            </a:pPr>
            <a:endParaRPr sz="1275" b="0">
              <a:solidFill>
                <a:srgbClr val="17375D"/>
              </a:solidFill>
              <a:latin typeface="Calibri"/>
              <a:ea typeface="Calibri"/>
              <a:cs typeface="Calibri"/>
            </a:endParaRPr>
          </a:p>
          <a:p>
            <a:pPr>
              <a:spcBef>
                <a:spcPts val="0"/>
              </a:spcBef>
              <a:spcAft>
                <a:spcPts val="0"/>
              </a:spcAft>
              <a:buNone/>
              <a:defRPr sz="1275" b="0">
                <a:solidFill>
                  <a:srgbClr val="17375D"/>
                </a:solidFill>
                <a:latin typeface="Calibri"/>
                <a:ea typeface="Calibri"/>
                <a:cs typeface="Calibri"/>
              </a:defRPr>
            </a:pPr>
            <a:r>
              <a:rPr sz="1275" b="0">
                <a:solidFill>
                  <a:srgbClr val="17375D"/>
                </a:solidFill>
                <a:latin typeface="Calibri"/>
                <a:ea typeface="Calibri"/>
                <a:cs typeface="Calibri"/>
              </a:rPr>
              <a:t>Aporte: interpretación espacial y línea base.</a:t>
            </a:r>
          </a:p>
        </p:txBody>
      </p:sp>
      <p:sp>
        <p:nvSpPr>
          <p:cNvPr id="16" name="Grupo 3">
            <a:extLst>
              <a:ext uri="{FF2B5EF4-FFF2-40B4-BE49-F238E27FC236}">
                <a16:creationId xmlns:a16="http://schemas.microsoft.com/office/drawing/2014/main" id="{6485095E-7B33-420D-8D46-E2051CCCDF1F}"/>
              </a:ext>
            </a:extLst>
          </p:cNvPr>
          <p:cNvSpPr>
            <a:spLocks noGrp="1"/>
          </p:cNvSpPr>
          <p:nvPr/>
        </p:nvSpPr>
        <p:spPr>
          <a:xfrm>
            <a:off x="6089904" y="1899666"/>
            <a:ext cx="2496312" cy="2578608"/>
          </a:xfrm>
          <a:prstGeom prst="roundRect">
            <a:avLst>
              <a:gd name="adj" fmla="val 7500"/>
            </a:avLst>
          </a:prstGeom>
          <a:solidFill>
            <a:srgbClr val="F2F6FC"/>
          </a:solidFill>
          <a:ln w="8573">
            <a:solidFill>
              <a:srgbClr val="D6DFEB"/>
            </a:solidFill>
          </a:ln>
          <a:effectLst>
            <a:outerShdw blurRad="38000" dist="23000" dir="5400000" algn="ctr" rotWithShape="0">
              <a:srgbClr val="000000">
                <a:alpha val="14000"/>
              </a:srgbClr>
            </a:outerShdw>
          </a:effectLst>
        </p:spPr>
        <p:txBody>
          <a:bodyPr wrap="square" lIns="157734" tIns="157734" rIns="157734" bIns="157734" anchor="t">
            <a:noAutofit/>
          </a:bodyPr>
          <a:lstStyle/>
          <a:p>
            <a:pPr>
              <a:spcBef>
                <a:spcPts val="0"/>
              </a:spcBef>
              <a:spcAft>
                <a:spcPts val="0"/>
              </a:spcAft>
              <a:buNone/>
              <a:defRPr sz="1275" b="0">
                <a:solidFill>
                  <a:srgbClr val="17375D"/>
                </a:solidFill>
                <a:latin typeface="Calibri"/>
                <a:ea typeface="Calibri"/>
                <a:cs typeface="Calibri"/>
              </a:defRPr>
            </a:pPr>
            <a:r>
              <a:rPr sz="1275" b="0">
                <a:solidFill>
                  <a:srgbClr val="17375D"/>
                </a:solidFill>
                <a:latin typeface="Calibri"/>
                <a:ea typeface="Calibri"/>
                <a:cs typeface="Calibri"/>
              </a:rPr>
              <a:t>Combinación y alertas</a:t>
            </a:r>
          </a:p>
          <a:p>
            <a:pPr>
              <a:spcBef>
                <a:spcPts val="0"/>
              </a:spcBef>
              <a:spcAft>
                <a:spcPts val="0"/>
              </a:spcAft>
              <a:buNone/>
            </a:pPr>
            <a:endParaRPr sz="1275" b="0">
              <a:solidFill>
                <a:srgbClr val="17375D"/>
              </a:solidFill>
              <a:latin typeface="Calibri"/>
              <a:ea typeface="Calibri"/>
              <a:cs typeface="Calibri"/>
            </a:endParaRPr>
          </a:p>
          <a:p>
            <a:pPr>
              <a:spcBef>
                <a:spcPts val="0"/>
              </a:spcBef>
              <a:spcAft>
                <a:spcPts val="0"/>
              </a:spcAft>
              <a:buNone/>
              <a:defRPr sz="1275" b="0">
                <a:solidFill>
                  <a:srgbClr val="17375D"/>
                </a:solidFill>
                <a:latin typeface="Calibri"/>
                <a:ea typeface="Calibri"/>
                <a:cs typeface="Calibri"/>
              </a:defRPr>
            </a:pPr>
            <a:r>
              <a:rPr sz="1275" b="0">
                <a:solidFill>
                  <a:srgbClr val="17375D"/>
                </a:solidFill>
                <a:latin typeface="Calibri"/>
                <a:ea typeface="Calibri"/>
                <a:cs typeface="Calibri"/>
              </a:rPr>
              <a:t>9  LightGBM de alertas</a:t>
            </a:r>
          </a:p>
          <a:p>
            <a:pPr>
              <a:spcBef>
                <a:spcPts val="0"/>
              </a:spcBef>
              <a:spcAft>
                <a:spcPts val="0"/>
              </a:spcAft>
              <a:buNone/>
              <a:defRPr sz="1275" b="0">
                <a:solidFill>
                  <a:srgbClr val="17375D"/>
                </a:solidFill>
                <a:latin typeface="Calibri"/>
                <a:ea typeface="Calibri"/>
                <a:cs typeface="Calibri"/>
              </a:defRPr>
            </a:pPr>
            <a:r>
              <a:rPr sz="1275" b="0">
                <a:solidFill>
                  <a:srgbClr val="17375D"/>
                </a:solidFill>
                <a:latin typeface="Calibri"/>
                <a:ea typeface="Calibri"/>
                <a:cs typeface="Calibri"/>
              </a:rPr>
              <a:t>Cuantil 0,80 / excedencias</a:t>
            </a:r>
          </a:p>
          <a:p>
            <a:pPr>
              <a:spcBef>
                <a:spcPts val="0"/>
              </a:spcBef>
              <a:spcAft>
                <a:spcPts val="0"/>
              </a:spcAft>
              <a:buNone/>
              <a:defRPr sz="1275" b="0">
                <a:solidFill>
                  <a:srgbClr val="17375D"/>
                </a:solidFill>
                <a:latin typeface="Calibri"/>
                <a:ea typeface="Calibri"/>
                <a:cs typeface="Calibri"/>
              </a:defRPr>
            </a:pPr>
            <a:r>
              <a:rPr sz="1275" b="0">
                <a:solidFill>
                  <a:srgbClr val="17375D"/>
                </a:solidFill>
                <a:latin typeface="Calibri"/>
                <a:ea typeface="Calibri"/>
                <a:cs typeface="Calibri"/>
              </a:rPr>
              <a:t>10  Apilado con ridge</a:t>
            </a:r>
          </a:p>
          <a:p>
            <a:pPr>
              <a:spcBef>
                <a:spcPts val="0"/>
              </a:spcBef>
              <a:spcAft>
                <a:spcPts val="0"/>
              </a:spcAft>
              <a:buNone/>
              <a:defRPr sz="1275" b="0">
                <a:solidFill>
                  <a:srgbClr val="17375D"/>
                </a:solidFill>
                <a:latin typeface="Calibri"/>
                <a:ea typeface="Calibri"/>
                <a:cs typeface="Calibri"/>
              </a:defRPr>
            </a:pPr>
            <a:r>
              <a:rPr sz="1275" b="0">
                <a:solidFill>
                  <a:srgbClr val="17375D"/>
                </a:solidFill>
                <a:latin typeface="Calibri"/>
                <a:ea typeface="Calibri"/>
                <a:cs typeface="Calibri"/>
              </a:rPr>
              <a:t>LightGBM + RF + MLP</a:t>
            </a:r>
          </a:p>
          <a:p>
            <a:pPr>
              <a:spcBef>
                <a:spcPts val="0"/>
              </a:spcBef>
              <a:spcAft>
                <a:spcPts val="0"/>
              </a:spcAft>
              <a:buNone/>
            </a:pPr>
            <a:endParaRPr sz="1275" b="0">
              <a:solidFill>
                <a:srgbClr val="17375D"/>
              </a:solidFill>
              <a:latin typeface="Calibri"/>
              <a:ea typeface="Calibri"/>
              <a:cs typeface="Calibri"/>
            </a:endParaRPr>
          </a:p>
          <a:p>
            <a:pPr>
              <a:spcBef>
                <a:spcPts val="0"/>
              </a:spcBef>
              <a:spcAft>
                <a:spcPts val="0"/>
              </a:spcAft>
              <a:buNone/>
              <a:defRPr sz="1275" b="0">
                <a:solidFill>
                  <a:srgbClr val="17375D"/>
                </a:solidFill>
                <a:latin typeface="Calibri"/>
                <a:ea typeface="Calibri"/>
                <a:cs typeface="Calibri"/>
              </a:defRPr>
            </a:pPr>
            <a:r>
              <a:rPr sz="1275" b="0">
                <a:solidFill>
                  <a:srgbClr val="17375D"/>
                </a:solidFill>
                <a:latin typeface="Calibri"/>
                <a:ea typeface="Calibri"/>
                <a:cs typeface="Calibri"/>
              </a:rPr>
              <a:t>Aporte: extremos y combinación.</a:t>
            </a:r>
          </a:p>
        </p:txBody>
      </p:sp>
      <p:sp>
        <p:nvSpPr>
          <p:cNvPr id="17" name="Fuente y alcance">
            <a:extLst>
              <a:ext uri="{FF2B5EF4-FFF2-40B4-BE49-F238E27FC236}">
                <a16:creationId xmlns:a16="http://schemas.microsoft.com/office/drawing/2014/main" id="{32A701D4-4E60-4FAE-868F-0B43EBDDFA7E}"/>
              </a:ext>
            </a:extLst>
          </p:cNvPr>
          <p:cNvSpPr>
            <a:spLocks noGrp="1"/>
          </p:cNvSpPr>
          <p:nvPr/>
        </p:nvSpPr>
        <p:spPr>
          <a:xfrm>
            <a:off x="548640" y="4600575"/>
            <a:ext cx="8046720" cy="228600"/>
          </a:xfrm>
          <a:prstGeom prst="rect">
            <a:avLst/>
          </a:prstGeom>
          <a:noFill/>
          <a:ln w="0">
            <a:noFill/>
          </a:ln>
        </p:spPr>
        <p:txBody>
          <a:bodyPr wrap="square" lIns="0" tIns="0" rIns="0" bIns="0" anchor="ctr">
            <a:noAutofit/>
          </a:bodyPr>
          <a:lstStyle/>
          <a:p>
            <a:pPr>
              <a:buNone/>
              <a:defRPr sz="878">
                <a:solidFill>
                  <a:srgbClr val="526277"/>
                </a:solidFill>
                <a:latin typeface="Calibri"/>
                <a:ea typeface="Calibri"/>
                <a:cs typeface="Calibri"/>
              </a:defRPr>
            </a:pPr>
            <a:r>
              <a:rPr sz="878">
                <a:solidFill>
                  <a:srgbClr val="526277"/>
                </a:solidFill>
                <a:latin typeface="Calibri"/>
                <a:ea typeface="Calibri"/>
                <a:cs typeface="Calibri"/>
              </a:rPr>
              <a:t>Diseño del avance 3. Comparar precisión, sesgo, costo e interpretación; alertas tienen otro objetivo. Apilado anidado aún pendiente.</a:t>
            </a:r>
          </a:p>
        </p:txBody>
      </p:sp>
    </p:spTree>
    <p:extLst>
      <p:ext uri="{BB962C8B-B14F-4D97-AF65-F5344CB8AC3E}">
        <p14:creationId xmlns:p14="http://schemas.microsoft.com/office/powerpoint/2010/main" val="32275727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abecera azul UC">
            <a:extLst>
              <a:ext uri="{FF2B5EF4-FFF2-40B4-BE49-F238E27FC236}">
                <a16:creationId xmlns:a16="http://schemas.microsoft.com/office/drawing/2014/main" id="{3486DB9C-93DE-456A-BF48-2757BBD61ACE}"/>
              </a:ext>
            </a:extLst>
          </p:cNvPr>
          <p:cNvSpPr>
            <a:spLocks noGrp="1"/>
          </p:cNvSpPr>
          <p:nvPr/>
        </p:nvSpPr>
        <p:spPr>
          <a:xfrm>
            <a:off x="158742" y="0"/>
            <a:ext cx="8985258" cy="1007195"/>
          </a:xfrm>
          <a:prstGeom prst="rect">
            <a:avLst/>
          </a:prstGeom>
          <a:solidFill>
            <a:srgbClr val="017EDF"/>
          </a:solidFill>
          <a:ln>
            <a:noFill/>
          </a:ln>
        </p:spPr>
        <p:txBody>
          <a:bodyPr/>
          <a:lstStyle/>
          <a:p>
            <a:endParaRPr lang="es-CL"/>
          </a:p>
        </p:txBody>
      </p:sp>
      <p:sp>
        <p:nvSpPr>
          <p:cNvPr id="4" name="Rectángulo 9">
            <a:extLst>
              <a:ext uri="{FF2B5EF4-FFF2-40B4-BE49-F238E27FC236}">
                <a16:creationId xmlns:a16="http://schemas.microsoft.com/office/drawing/2014/main" id="{2DE33766-2918-41FC-A1B9-B4BF483C8974}"/>
              </a:ext>
            </a:extLst>
          </p:cNvPr>
          <p:cNvSpPr>
            <a:spLocks noGrp="1"/>
          </p:cNvSpPr>
          <p:nvPr/>
        </p:nvSpPr>
        <p:spPr>
          <a:xfrm>
            <a:off x="0" y="149945"/>
            <a:ext cx="158742" cy="857250"/>
          </a:xfrm>
          <a:prstGeom prst="rect">
            <a:avLst/>
          </a:prstGeom>
          <a:solidFill>
            <a:srgbClr val="FFE2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Rectángulo 7">
            <a:extLst>
              <a:ext uri="{FF2B5EF4-FFF2-40B4-BE49-F238E27FC236}">
                <a16:creationId xmlns:a16="http://schemas.microsoft.com/office/drawing/2014/main" id="{3BCD4458-45E8-4C73-A3B6-249CEEFBDB7B}"/>
              </a:ext>
            </a:extLst>
          </p:cNvPr>
          <p:cNvSpPr>
            <a:spLocks noGrp="1"/>
          </p:cNvSpPr>
          <p:nvPr/>
        </p:nvSpPr>
        <p:spPr>
          <a:xfrm flipV="1">
            <a:off x="169334" y="4871120"/>
            <a:ext cx="8815911" cy="177311"/>
          </a:xfrm>
          <a:prstGeom prst="rect">
            <a:avLst/>
          </a:prstGeom>
          <a:solidFill>
            <a:schemeClr val="bg1">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Rectángulo 10">
            <a:extLst>
              <a:ext uri="{FF2B5EF4-FFF2-40B4-BE49-F238E27FC236}">
                <a16:creationId xmlns:a16="http://schemas.microsoft.com/office/drawing/2014/main" id="{A18DC9E6-BD6D-4FE1-AEC0-9715BEE3912A}"/>
              </a:ext>
            </a:extLst>
          </p:cNvPr>
          <p:cNvSpPr>
            <a:spLocks noGrp="1"/>
          </p:cNvSpPr>
          <p:nvPr/>
        </p:nvSpPr>
        <p:spPr>
          <a:xfrm flipV="1">
            <a:off x="7200957" y="4871118"/>
            <a:ext cx="1119038" cy="177313"/>
          </a:xfrm>
          <a:prstGeom prst="rect">
            <a:avLst/>
          </a:prstGeom>
          <a:solidFill>
            <a:srgbClr val="3366CC"/>
          </a:solidFill>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ítulo 1">
            <a:extLst>
              <a:ext uri="{FF2B5EF4-FFF2-40B4-BE49-F238E27FC236}">
                <a16:creationId xmlns:a16="http://schemas.microsoft.com/office/drawing/2014/main" id="{438D0FA2-1899-4EDF-9FA4-D1742768DFC6}"/>
              </a:ext>
            </a:extLst>
          </p:cNvPr>
          <p:cNvSpPr>
            <a:spLocks noGrp="1"/>
          </p:cNvSpPr>
          <p:nvPr>
            <p:ph type="title"/>
          </p:nvPr>
        </p:nvSpPr>
        <p:spPr>
          <a:xfrm>
            <a:off x="457200" y="149945"/>
            <a:ext cx="8229600" cy="857250"/>
          </a:xfrm>
        </p:spPr>
        <p:txBody>
          <a:bodyPr wrap="square" anchor="ctr">
            <a:noAutofit/>
          </a:bodyPr>
          <a:lstStyle/>
          <a:p>
            <a:pPr algn="l">
              <a:spcBef>
                <a:spcPts val="0"/>
              </a:spcBef>
              <a:spcAft>
                <a:spcPts val="0"/>
              </a:spcAft>
              <a:defRPr sz="1900" b="1">
                <a:solidFill>
                  <a:srgbClr val="FFFFFF"/>
                </a:solidFill>
                <a:latin typeface="Calibri"/>
                <a:ea typeface="Calibri"/>
                <a:cs typeface="Calibri"/>
              </a:defRPr>
            </a:pPr>
            <a:r>
              <a:rPr sz="1900" b="1">
                <a:solidFill>
                  <a:srgbClr val="FFFFFF"/>
                </a:solidFill>
                <a:latin typeface="Calibri"/>
                <a:ea typeface="Calibri"/>
                <a:cs typeface="Calibri"/>
              </a:rPr>
              <a:t>Metodología: validación fuera del entrenamiento</a:t>
            </a:r>
          </a:p>
        </p:txBody>
      </p:sp>
      <p:sp>
        <p:nvSpPr>
          <p:cNvPr id="8" name="Diseño">
            <a:extLst>
              <a:ext uri="{FF2B5EF4-FFF2-40B4-BE49-F238E27FC236}">
                <a16:creationId xmlns:a16="http://schemas.microsoft.com/office/drawing/2014/main" id="{0A7F55D1-A37C-46D3-82B0-52EF8B83AF30}"/>
              </a:ext>
            </a:extLst>
          </p:cNvPr>
          <p:cNvSpPr>
            <a:spLocks noGrp="1"/>
          </p:cNvSpPr>
          <p:nvPr/>
        </p:nvSpPr>
        <p:spPr>
          <a:xfrm>
            <a:off x="552450" y="1200150"/>
            <a:ext cx="8039100" cy="295275"/>
          </a:xfrm>
          <a:prstGeom prst="rect">
            <a:avLst/>
          </a:prstGeom>
          <a:noFill/>
          <a:ln w="0">
            <a:noFill/>
          </a:ln>
        </p:spPr>
        <p:txBody>
          <a:bodyPr wrap="square" lIns="0" tIns="0" rIns="0" bIns="0">
            <a:noAutofit/>
          </a:bodyPr>
          <a:lstStyle/>
          <a:p>
            <a:pPr algn="l">
              <a:spcBef>
                <a:spcPts val="0"/>
              </a:spcBef>
              <a:spcAft>
                <a:spcPts val="0"/>
              </a:spcAft>
              <a:buNone/>
              <a:defRPr sz="1575" b="1">
                <a:solidFill>
                  <a:srgbClr val="17375D"/>
                </a:solidFill>
                <a:latin typeface="Calibri"/>
                <a:ea typeface="Calibri"/>
                <a:cs typeface="Calibri"/>
              </a:defRPr>
            </a:pPr>
            <a:r>
              <a:rPr sz="1575" b="1">
                <a:solidFill>
                  <a:srgbClr val="17375D"/>
                </a:solidFill>
                <a:latin typeface="Calibri"/>
                <a:ea typeface="Calibri"/>
                <a:cs typeface="Calibri"/>
              </a:rPr>
              <a:t>Selección interna y prueba externa separadas. Comparación con interpolación.</a:t>
            </a:r>
          </a:p>
        </p:txBody>
      </p:sp>
      <p:graphicFrame>
        <p:nvGraphicFramePr>
          <p:cNvPr id="22" name="Tabla 21"/>
          <p:cNvGraphicFramePr/>
          <p:nvPr/>
        </p:nvGraphicFramePr>
        <p:xfrm>
          <a:off x="548640" y="1657350"/>
          <a:ext cx="8046720" cy="2514600"/>
        </p:xfrm>
        <a:graphic>
          <a:graphicData uri="http://schemas.openxmlformats.org/drawingml/2006/table">
            <a:tbl>
              <a:tblPr firstRow="1"/>
              <a:tblGrid>
                <a:gridCol w="1524000">
                  <a:extLst>
                    <a:ext uri="{9D8B030D-6E8A-4147-A177-3AD203B41FA5}">
                      <a16:colId xmlns:a16="http://schemas.microsoft.com/office/drawing/2014/main" val="20000"/>
                    </a:ext>
                  </a:extLst>
                </a:gridCol>
                <a:gridCol w="3219450">
                  <a:extLst>
                    <a:ext uri="{9D8B030D-6E8A-4147-A177-3AD203B41FA5}">
                      <a16:colId xmlns:a16="http://schemas.microsoft.com/office/drawing/2014/main" val="20001"/>
                    </a:ext>
                  </a:extLst>
                </a:gridCol>
                <a:gridCol w="3303270">
                  <a:extLst>
                    <a:ext uri="{9D8B030D-6E8A-4147-A177-3AD203B41FA5}">
                      <a16:colId xmlns:a16="http://schemas.microsoft.com/office/drawing/2014/main" val="20002"/>
                    </a:ext>
                  </a:extLst>
                </a:gridCol>
              </a:tblGrid>
              <a:tr h="381000">
                <a:tc>
                  <a:txBody>
                    <a:bodyPr/>
                    <a:lstStyle/>
                    <a:p>
                      <a:r>
                        <a:rPr sz="1275" b="1">
                          <a:solidFill>
                            <a:srgbClr val="FFFFFF"/>
                          </a:solidFill>
                          <a:latin typeface="Calibri"/>
                          <a:ea typeface="Calibri"/>
                          <a:cs typeface="Calibri"/>
                        </a:rPr>
                        <a:t>Protocolo</a:t>
                      </a:r>
                    </a:p>
                  </a:txBody>
                  <a:tcPr anchor="ctr">
                    <a:solidFill>
                      <a:srgbClr val="17375D"/>
                    </a:solidFill>
                  </a:tcPr>
                </a:tc>
                <a:tc>
                  <a:txBody>
                    <a:bodyPr/>
                    <a:lstStyle/>
                    <a:p>
                      <a:r>
                        <a:rPr sz="1275" b="1">
                          <a:solidFill>
                            <a:srgbClr val="FFFFFF"/>
                          </a:solidFill>
                          <a:latin typeface="Calibri"/>
                          <a:ea typeface="Calibri"/>
                          <a:cs typeface="Calibri"/>
                        </a:rPr>
                        <a:t>Qué se reserva</a:t>
                      </a:r>
                    </a:p>
                  </a:txBody>
                  <a:tcPr anchor="ctr">
                    <a:solidFill>
                      <a:srgbClr val="17375D"/>
                    </a:solidFill>
                  </a:tcPr>
                </a:tc>
                <a:tc>
                  <a:txBody>
                    <a:bodyPr/>
                    <a:lstStyle/>
                    <a:p>
                      <a:r>
                        <a:rPr sz="1275" b="1">
                          <a:solidFill>
                            <a:srgbClr val="FFFFFF"/>
                          </a:solidFill>
                          <a:latin typeface="Calibri"/>
                          <a:ea typeface="Calibri"/>
                          <a:cs typeface="Calibri"/>
                        </a:rPr>
                        <a:t>Qué se examina</a:t>
                      </a:r>
                    </a:p>
                  </a:txBody>
                  <a:tcPr anchor="ctr">
                    <a:solidFill>
                      <a:srgbClr val="17375D"/>
                    </a:solidFill>
                  </a:tcPr>
                </a:tc>
                <a:extLst>
                  <a:ext uri="{0D108BD9-81ED-4DB2-BD59-A6C34878D82A}">
                    <a16:rowId xmlns:a16="http://schemas.microsoft.com/office/drawing/2014/main" val="10000"/>
                  </a:ext>
                </a:extLst>
              </a:tr>
              <a:tr h="533400">
                <a:tc>
                  <a:txBody>
                    <a:bodyPr/>
                    <a:lstStyle/>
                    <a:p>
                      <a:r>
                        <a:rPr sz="1275" b="0">
                          <a:solidFill>
                            <a:srgbClr val="1E293B"/>
                          </a:solidFill>
                          <a:latin typeface="Calibri"/>
                          <a:ea typeface="Calibri"/>
                          <a:cs typeface="Calibri"/>
                        </a:rPr>
                        <a:t>LOSO · sitio</a:t>
                      </a:r>
                    </a:p>
                  </a:txBody>
                  <a:tcPr anchor="ctr">
                    <a:solidFill>
                      <a:srgbClr val="EAF2FD"/>
                    </a:solidFill>
                  </a:tcPr>
                </a:tc>
                <a:tc>
                  <a:txBody>
                    <a:bodyPr/>
                    <a:lstStyle/>
                    <a:p>
                      <a:r>
                        <a:rPr sz="1275" b="0">
                          <a:solidFill>
                            <a:srgbClr val="1E293B"/>
                          </a:solidFill>
                          <a:latin typeface="Calibri"/>
                          <a:ea typeface="Calibri"/>
                          <a:cs typeface="Calibri"/>
                        </a:rPr>
                        <a:t>Todas las estaciones de una misma celda</a:t>
                      </a:r>
                    </a:p>
                  </a:txBody>
                  <a:tcPr anchor="ctr">
                    <a:solidFill>
                      <a:srgbClr val="EAF2FD"/>
                    </a:solidFill>
                  </a:tcPr>
                </a:tc>
                <a:tc>
                  <a:txBody>
                    <a:bodyPr/>
                    <a:lstStyle/>
                    <a:p>
                      <a:r>
                        <a:rPr sz="1275" b="0">
                          <a:solidFill>
                            <a:srgbClr val="1E293B"/>
                          </a:solidFill>
                          <a:latin typeface="Calibri"/>
                          <a:ea typeface="Calibri"/>
                          <a:cs typeface="Calibri"/>
                        </a:rPr>
                        <a:t>Transferencia a un sitio no observado</a:t>
                      </a:r>
                    </a:p>
                  </a:txBody>
                  <a:tcPr anchor="ctr">
                    <a:solidFill>
                      <a:srgbClr val="EAF2FD"/>
                    </a:solidFill>
                  </a:tcPr>
                </a:tc>
                <a:extLst>
                  <a:ext uri="{0D108BD9-81ED-4DB2-BD59-A6C34878D82A}">
                    <a16:rowId xmlns:a16="http://schemas.microsoft.com/office/drawing/2014/main" val="10001"/>
                  </a:ext>
                </a:extLst>
              </a:tr>
              <a:tr h="533400">
                <a:tc>
                  <a:txBody>
                    <a:bodyPr/>
                    <a:lstStyle/>
                    <a:p>
                      <a:r>
                        <a:rPr sz="1275" b="0">
                          <a:solidFill>
                            <a:srgbClr val="1E293B"/>
                          </a:solidFill>
                          <a:latin typeface="Calibri"/>
                          <a:ea typeface="Calibri"/>
                          <a:cs typeface="Calibri"/>
                        </a:rPr>
                        <a:t>LBO · entorno</a:t>
                      </a:r>
                    </a:p>
                  </a:txBody>
                  <a:tcPr anchor="ctr">
                    <a:solidFill>
                      <a:srgbClr val="FFFFFF"/>
                    </a:solidFill>
                  </a:tcPr>
                </a:tc>
                <a:tc>
                  <a:txBody>
                    <a:bodyPr/>
                    <a:lstStyle/>
                    <a:p>
                      <a:r>
                        <a:rPr sz="1275" b="0">
                          <a:solidFill>
                            <a:srgbClr val="1E293B"/>
                          </a:solidFill>
                          <a:latin typeface="Calibri"/>
                          <a:ea typeface="Calibri"/>
                          <a:cs typeface="Calibri"/>
                        </a:rPr>
                        <a:t>Sitio y estaciones a menos de 10 km</a:t>
                      </a:r>
                    </a:p>
                  </a:txBody>
                  <a:tcPr anchor="ctr">
                    <a:solidFill>
                      <a:srgbClr val="FFFFFF"/>
                    </a:solidFill>
                  </a:tcPr>
                </a:tc>
                <a:tc>
                  <a:txBody>
                    <a:bodyPr/>
                    <a:lstStyle/>
                    <a:p>
                      <a:r>
                        <a:rPr sz="1275" b="0">
                          <a:solidFill>
                            <a:srgbClr val="1E293B"/>
                          </a:solidFill>
                          <a:latin typeface="Calibri"/>
                          <a:ea typeface="Calibri"/>
                          <a:cs typeface="Calibri"/>
                        </a:rPr>
                        <a:t>Sensibilidad a la proximidad de monitores</a:t>
                      </a:r>
                    </a:p>
                  </a:txBody>
                  <a:tcPr anchor="ctr">
                    <a:solidFill>
                      <a:srgbClr val="FFFFFF"/>
                    </a:solidFill>
                  </a:tcPr>
                </a:tc>
                <a:extLst>
                  <a:ext uri="{0D108BD9-81ED-4DB2-BD59-A6C34878D82A}">
                    <a16:rowId xmlns:a16="http://schemas.microsoft.com/office/drawing/2014/main" val="10002"/>
                  </a:ext>
                </a:extLst>
              </a:tr>
              <a:tr h="533400">
                <a:tc>
                  <a:txBody>
                    <a:bodyPr/>
                    <a:lstStyle/>
                    <a:p>
                      <a:r>
                        <a:rPr sz="1275" b="0">
                          <a:solidFill>
                            <a:srgbClr val="1E293B"/>
                          </a:solidFill>
                          <a:latin typeface="Calibri"/>
                          <a:ea typeface="Calibri"/>
                          <a:cs typeface="Calibri"/>
                        </a:rPr>
                        <a:t>LRO · región</a:t>
                      </a:r>
                    </a:p>
                  </a:txBody>
                  <a:tcPr anchor="ctr">
                    <a:solidFill>
                      <a:srgbClr val="EAF2FD"/>
                    </a:solidFill>
                  </a:tcPr>
                </a:tc>
                <a:tc>
                  <a:txBody>
                    <a:bodyPr/>
                    <a:lstStyle/>
                    <a:p>
                      <a:r>
                        <a:rPr sz="1275" b="0">
                          <a:solidFill>
                            <a:srgbClr val="1E293B"/>
                          </a:solidFill>
                          <a:latin typeface="Calibri"/>
                          <a:ea typeface="Calibri"/>
                          <a:cs typeface="Calibri"/>
                        </a:rPr>
                        <a:t>Una región completa</a:t>
                      </a:r>
                    </a:p>
                  </a:txBody>
                  <a:tcPr anchor="ctr">
                    <a:solidFill>
                      <a:srgbClr val="EAF2FD"/>
                    </a:solidFill>
                  </a:tcPr>
                </a:tc>
                <a:tc>
                  <a:txBody>
                    <a:bodyPr/>
                    <a:lstStyle/>
                    <a:p>
                      <a:r>
                        <a:rPr sz="1275" b="0">
                          <a:solidFill>
                            <a:srgbClr val="1E293B"/>
                          </a:solidFill>
                          <a:latin typeface="Calibri"/>
                          <a:ea typeface="Calibri"/>
                          <a:cs typeface="Calibri"/>
                        </a:rPr>
                        <a:t>Transferencia territorial</a:t>
                      </a:r>
                    </a:p>
                  </a:txBody>
                  <a:tcPr anchor="ctr">
                    <a:solidFill>
                      <a:srgbClr val="EAF2FD"/>
                    </a:solidFill>
                  </a:tcPr>
                </a:tc>
                <a:extLst>
                  <a:ext uri="{0D108BD9-81ED-4DB2-BD59-A6C34878D82A}">
                    <a16:rowId xmlns:a16="http://schemas.microsoft.com/office/drawing/2014/main" val="10003"/>
                  </a:ext>
                </a:extLst>
              </a:tr>
              <a:tr h="533400">
                <a:tc>
                  <a:txBody>
                    <a:bodyPr/>
                    <a:lstStyle/>
                    <a:p>
                      <a:r>
                        <a:rPr sz="1275" b="0">
                          <a:solidFill>
                            <a:srgbClr val="1E293B"/>
                          </a:solidFill>
                          <a:latin typeface="Calibri"/>
                          <a:ea typeface="Calibri"/>
                          <a:cs typeface="Calibri"/>
                        </a:rPr>
                        <a:t>LPO · periodo</a:t>
                      </a:r>
                    </a:p>
                  </a:txBody>
                  <a:tcPr anchor="ctr">
                    <a:solidFill>
                      <a:srgbClr val="FFFFFF"/>
                    </a:solidFill>
                  </a:tcPr>
                </a:tc>
                <a:tc>
                  <a:txBody>
                    <a:bodyPr/>
                    <a:lstStyle/>
                    <a:p>
                      <a:r>
                        <a:rPr sz="1275" b="0">
                          <a:solidFill>
                            <a:srgbClr val="1E293B"/>
                          </a:solidFill>
                          <a:latin typeface="Calibri"/>
                          <a:ea typeface="Calibri"/>
                          <a:cs typeface="Calibri"/>
                        </a:rPr>
                        <a:t>Bloques históricos de cuatro años</a:t>
                      </a:r>
                    </a:p>
                  </a:txBody>
                  <a:tcPr anchor="ctr">
                    <a:solidFill>
                      <a:srgbClr val="FFFFFF"/>
                    </a:solidFill>
                  </a:tcPr>
                </a:tc>
                <a:tc>
                  <a:txBody>
                    <a:bodyPr/>
                    <a:lstStyle/>
                    <a:p>
                      <a:r>
                        <a:rPr sz="1275" b="0">
                          <a:solidFill>
                            <a:srgbClr val="1E293B"/>
                          </a:solidFill>
                          <a:latin typeface="Calibri"/>
                          <a:ea typeface="Calibri"/>
                          <a:cs typeface="Calibri"/>
                        </a:rPr>
                        <a:t>Transferencia entre periodos históricos</a:t>
                      </a:r>
                    </a:p>
                  </a:txBody>
                  <a:tcPr anchor="ctr">
                    <a:solidFill>
                      <a:srgbClr val="FFFFFF"/>
                    </a:solidFill>
                  </a:tcPr>
                </a:tc>
                <a:extLst>
                  <a:ext uri="{0D108BD9-81ED-4DB2-BD59-A6C34878D82A}">
                    <a16:rowId xmlns:a16="http://schemas.microsoft.com/office/drawing/2014/main" val="10004"/>
                  </a:ext>
                </a:extLst>
              </a:tr>
            </a:tbl>
          </a:graphicData>
        </a:graphic>
      </p:graphicFrame>
      <p:sp>
        <p:nvSpPr>
          <p:cNvPr id="10" name="Regla">
            <a:extLst>
              <a:ext uri="{FF2B5EF4-FFF2-40B4-BE49-F238E27FC236}">
                <a16:creationId xmlns:a16="http://schemas.microsoft.com/office/drawing/2014/main" id="{9D7113E0-7E79-40AD-8B84-B8830C48344D}"/>
              </a:ext>
            </a:extLst>
          </p:cNvPr>
          <p:cNvSpPr>
            <a:spLocks noGrp="1"/>
          </p:cNvSpPr>
          <p:nvPr/>
        </p:nvSpPr>
        <p:spPr>
          <a:xfrm>
            <a:off x="552450" y="4276725"/>
            <a:ext cx="8039100" cy="361950"/>
          </a:xfrm>
          <a:prstGeom prst="rect">
            <a:avLst/>
          </a:prstGeom>
          <a:noFill/>
          <a:ln w="0">
            <a:noFill/>
          </a:ln>
        </p:spPr>
        <p:txBody>
          <a:bodyPr wrap="square" lIns="0" tIns="0" rIns="0" bIns="0">
            <a:noAutofit/>
          </a:bodyPr>
          <a:lstStyle/>
          <a:p>
            <a:pPr algn="l">
              <a:spcBef>
                <a:spcPts val="0"/>
              </a:spcBef>
              <a:spcAft>
                <a:spcPts val="0"/>
              </a:spcAft>
              <a:defRPr sz="1200" b="0">
                <a:solidFill>
                  <a:srgbClr val="17375D"/>
                </a:solidFill>
                <a:latin typeface="Calibri"/>
                <a:ea typeface="Calibri"/>
                <a:cs typeface="Calibri"/>
              </a:defRPr>
            </a:pPr>
            <a:r>
              <a:rPr sz="1200" b="0">
                <a:solidFill>
                  <a:srgbClr val="17375D"/>
                </a:solidFill>
                <a:latin typeface="Calibri"/>
                <a:ea typeface="Calibri"/>
                <a:cs typeface="Calibri"/>
              </a:rPr>
              <a:t>Protocolo propuesto: retirar sitios reservados de todos los vecindarios.</a:t>
            </a:r>
          </a:p>
          <a:p>
            <a:pPr algn="l">
              <a:spcBef>
                <a:spcPts val="0"/>
              </a:spcBef>
              <a:spcAft>
                <a:spcPts val="0"/>
              </a:spcAft>
              <a:defRPr sz="1200" b="0">
                <a:solidFill>
                  <a:srgbClr val="17375D"/>
                </a:solidFill>
                <a:latin typeface="Calibri"/>
                <a:ea typeface="Calibri"/>
                <a:cs typeface="Calibri"/>
              </a:defRPr>
            </a:pPr>
            <a:r>
              <a:rPr sz="1200" b="0">
                <a:solidFill>
                  <a:srgbClr val="17375D"/>
                </a:solidFill>
                <a:latin typeface="Calibri"/>
                <a:ea typeface="Calibri"/>
                <a:cs typeface="Calibri"/>
              </a:rPr>
              <a:t>Ajustar imputación y escalamiento solo con entrenamiento.</a:t>
            </a:r>
          </a:p>
        </p:txBody>
      </p:sp>
      <p:sp>
        <p:nvSpPr>
          <p:cNvPr id="15" name="Fuente y alcance">
            <a:extLst>
              <a:ext uri="{FF2B5EF4-FFF2-40B4-BE49-F238E27FC236}">
                <a16:creationId xmlns:a16="http://schemas.microsoft.com/office/drawing/2014/main" id="{384B5313-8A49-42AB-818E-4D7CBAFD9073}"/>
              </a:ext>
            </a:extLst>
          </p:cNvPr>
          <p:cNvSpPr>
            <a:spLocks noGrp="1"/>
          </p:cNvSpPr>
          <p:nvPr/>
        </p:nvSpPr>
        <p:spPr>
          <a:xfrm>
            <a:off x="548640" y="4619625"/>
            <a:ext cx="8046720" cy="200025"/>
          </a:xfrm>
          <a:prstGeom prst="rect">
            <a:avLst/>
          </a:prstGeom>
          <a:noFill/>
          <a:ln w="0">
            <a:noFill/>
          </a:ln>
        </p:spPr>
        <p:txBody>
          <a:bodyPr wrap="square" lIns="0" tIns="0" rIns="0" bIns="0" anchor="ctr">
            <a:noAutofit/>
          </a:bodyPr>
          <a:lstStyle/>
          <a:p>
            <a:pPr algn="l">
              <a:defRPr sz="848">
                <a:solidFill>
                  <a:srgbClr val="526277"/>
                </a:solidFill>
                <a:latin typeface="Calibri"/>
                <a:ea typeface="Calibri"/>
                <a:cs typeface="Calibri"/>
              </a:defRPr>
            </a:pPr>
            <a:r>
              <a:rPr sz="848">
                <a:solidFill>
                  <a:srgbClr val="526277"/>
                </a:solidFill>
                <a:latin typeface="Calibri"/>
                <a:ea typeface="Calibri"/>
                <a:cs typeface="Calibri"/>
              </a:rPr>
              <a:t>RMSE principal propuesto, con MAE y sesgo. Implementación completa por verificar. Roberts et al. (2017), Varma y Simon (2006).</a:t>
            </a:r>
          </a:p>
        </p:txBody>
      </p:sp>
    </p:spTree>
    <p:extLst>
      <p:ext uri="{BB962C8B-B14F-4D97-AF65-F5344CB8AC3E}">
        <p14:creationId xmlns:p14="http://schemas.microsoft.com/office/powerpoint/2010/main" val="32275727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abecera azul UC">
            <a:extLst>
              <a:ext uri="{FF2B5EF4-FFF2-40B4-BE49-F238E27FC236}">
                <a16:creationId xmlns:a16="http://schemas.microsoft.com/office/drawing/2014/main" id="{3486DB9C-93DE-456A-BF48-2757BBD61ACE}"/>
              </a:ext>
            </a:extLst>
          </p:cNvPr>
          <p:cNvSpPr>
            <a:spLocks noGrp="1"/>
          </p:cNvSpPr>
          <p:nvPr/>
        </p:nvSpPr>
        <p:spPr>
          <a:xfrm>
            <a:off x="158742" y="0"/>
            <a:ext cx="8985258" cy="1007195"/>
          </a:xfrm>
          <a:prstGeom prst="rect">
            <a:avLst/>
          </a:prstGeom>
          <a:solidFill>
            <a:srgbClr val="017EDF"/>
          </a:solidFill>
          <a:ln>
            <a:noFill/>
          </a:ln>
        </p:spPr>
        <p:txBody>
          <a:bodyPr/>
          <a:lstStyle/>
          <a:p>
            <a:endParaRPr lang="es-CL"/>
          </a:p>
        </p:txBody>
      </p:sp>
      <p:sp>
        <p:nvSpPr>
          <p:cNvPr id="4" name="Rectángulo 9">
            <a:extLst>
              <a:ext uri="{FF2B5EF4-FFF2-40B4-BE49-F238E27FC236}">
                <a16:creationId xmlns:a16="http://schemas.microsoft.com/office/drawing/2014/main" id="{2DE33766-2918-41FC-A1B9-B4BF483C8974}"/>
              </a:ext>
            </a:extLst>
          </p:cNvPr>
          <p:cNvSpPr>
            <a:spLocks noGrp="1"/>
          </p:cNvSpPr>
          <p:nvPr/>
        </p:nvSpPr>
        <p:spPr>
          <a:xfrm>
            <a:off x="0" y="149945"/>
            <a:ext cx="158742" cy="857250"/>
          </a:xfrm>
          <a:prstGeom prst="rect">
            <a:avLst/>
          </a:prstGeom>
          <a:solidFill>
            <a:srgbClr val="FFE2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Rectángulo 7">
            <a:extLst>
              <a:ext uri="{FF2B5EF4-FFF2-40B4-BE49-F238E27FC236}">
                <a16:creationId xmlns:a16="http://schemas.microsoft.com/office/drawing/2014/main" id="{3BCD4458-45E8-4C73-A3B6-249CEEFBDB7B}"/>
              </a:ext>
            </a:extLst>
          </p:cNvPr>
          <p:cNvSpPr>
            <a:spLocks noGrp="1"/>
          </p:cNvSpPr>
          <p:nvPr/>
        </p:nvSpPr>
        <p:spPr>
          <a:xfrm flipV="1">
            <a:off x="169334" y="4871120"/>
            <a:ext cx="8815911" cy="177311"/>
          </a:xfrm>
          <a:prstGeom prst="rect">
            <a:avLst/>
          </a:prstGeom>
          <a:solidFill>
            <a:schemeClr val="bg1">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Rectángulo 10">
            <a:extLst>
              <a:ext uri="{FF2B5EF4-FFF2-40B4-BE49-F238E27FC236}">
                <a16:creationId xmlns:a16="http://schemas.microsoft.com/office/drawing/2014/main" id="{A18DC9E6-BD6D-4FE1-AEC0-9715BEE3912A}"/>
              </a:ext>
            </a:extLst>
          </p:cNvPr>
          <p:cNvSpPr>
            <a:spLocks noGrp="1"/>
          </p:cNvSpPr>
          <p:nvPr/>
        </p:nvSpPr>
        <p:spPr>
          <a:xfrm flipV="1">
            <a:off x="7200957" y="4871118"/>
            <a:ext cx="1119038" cy="177313"/>
          </a:xfrm>
          <a:prstGeom prst="rect">
            <a:avLst/>
          </a:prstGeom>
          <a:solidFill>
            <a:srgbClr val="3366CC"/>
          </a:solidFill>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ítulo 1">
            <a:extLst>
              <a:ext uri="{FF2B5EF4-FFF2-40B4-BE49-F238E27FC236}">
                <a16:creationId xmlns:a16="http://schemas.microsoft.com/office/drawing/2014/main" id="{438D0FA2-1899-4EDF-9FA4-D1742768DFC6}"/>
              </a:ext>
            </a:extLst>
          </p:cNvPr>
          <p:cNvSpPr>
            <a:spLocks noGrp="1"/>
          </p:cNvSpPr>
          <p:nvPr>
            <p:ph type="title"/>
          </p:nvPr>
        </p:nvSpPr>
        <p:spPr>
          <a:xfrm>
            <a:off x="457200" y="149945"/>
            <a:ext cx="8229600" cy="857250"/>
          </a:xfrm>
        </p:spPr>
        <p:txBody>
          <a:bodyPr wrap="square" anchor="ctr">
            <a:noAutofit/>
          </a:bodyPr>
          <a:lstStyle/>
          <a:p>
            <a:pPr algn="l">
              <a:spcBef>
                <a:spcPts val="0"/>
              </a:spcBef>
              <a:spcAft>
                <a:spcPts val="0"/>
              </a:spcAft>
              <a:defRPr sz="1900" b="1">
                <a:solidFill>
                  <a:srgbClr val="FFFFFF"/>
                </a:solidFill>
                <a:latin typeface="Calibri"/>
                <a:ea typeface="Calibri"/>
                <a:cs typeface="Calibri"/>
              </a:defRPr>
            </a:pPr>
            <a:r>
              <a:rPr sz="1900" b="1">
                <a:solidFill>
                  <a:srgbClr val="FFFFFF"/>
                </a:solidFill>
                <a:latin typeface="Calibri"/>
                <a:ea typeface="Calibri"/>
                <a:cs typeface="Calibri"/>
              </a:rPr>
              <a:t>Metodología: propuesta de agregación comunal</a:t>
            </a:r>
          </a:p>
        </p:txBody>
      </p:sp>
      <p:sp>
        <p:nvSpPr>
          <p:cNvPr id="8" name="Estado">
            <a:extLst>
              <a:ext uri="{FF2B5EF4-FFF2-40B4-BE49-F238E27FC236}">
                <a16:creationId xmlns:a16="http://schemas.microsoft.com/office/drawing/2014/main" id="{811869E5-CF79-40B0-92B7-B9F48B0592DB}"/>
              </a:ext>
            </a:extLst>
          </p:cNvPr>
          <p:cNvSpPr>
            <a:spLocks noGrp="1"/>
          </p:cNvSpPr>
          <p:nvPr/>
        </p:nvSpPr>
        <p:spPr>
          <a:xfrm>
            <a:off x="552450" y="1200150"/>
            <a:ext cx="8039100" cy="285750"/>
          </a:xfrm>
          <a:prstGeom prst="rect">
            <a:avLst/>
          </a:prstGeom>
          <a:noFill/>
          <a:ln w="0">
            <a:noFill/>
          </a:ln>
        </p:spPr>
        <p:txBody>
          <a:bodyPr wrap="square" lIns="0" tIns="0" rIns="0" bIns="0">
            <a:noAutofit/>
          </a:bodyPr>
          <a:lstStyle/>
          <a:p>
            <a:pPr algn="l">
              <a:spcBef>
                <a:spcPts val="0"/>
              </a:spcBef>
              <a:spcAft>
                <a:spcPts val="0"/>
              </a:spcAft>
              <a:defRPr sz="1350" b="1">
                <a:solidFill>
                  <a:srgbClr val="017EDF"/>
                </a:solidFill>
                <a:latin typeface="Calibri"/>
                <a:ea typeface="Calibri"/>
                <a:cs typeface="Calibri"/>
              </a:defRPr>
            </a:pPr>
            <a:r>
              <a:rPr sz="1350" b="1">
                <a:solidFill>
                  <a:srgbClr val="017EDF"/>
                </a:solidFill>
                <a:latin typeface="Calibri"/>
                <a:ea typeface="Calibri"/>
                <a:cs typeface="Calibri"/>
              </a:rPr>
              <a:t>Propuesta de producto territorial</a:t>
            </a:r>
          </a:p>
        </p:txBody>
      </p:sp>
      <p:sp>
        <p:nvSpPr>
          <p:cNvPr id="9" name="Regla">
            <a:extLst>
              <a:ext uri="{FF2B5EF4-FFF2-40B4-BE49-F238E27FC236}">
                <a16:creationId xmlns:a16="http://schemas.microsoft.com/office/drawing/2014/main" id="{21897318-703E-4E43-AC60-E6D6E1BF1D91}"/>
              </a:ext>
            </a:extLst>
          </p:cNvPr>
          <p:cNvSpPr>
            <a:spLocks noGrp="1"/>
          </p:cNvSpPr>
          <p:nvPr/>
        </p:nvSpPr>
        <p:spPr>
          <a:xfrm>
            <a:off x="552450" y="1647825"/>
            <a:ext cx="8039100" cy="590550"/>
          </a:xfrm>
          <a:prstGeom prst="rect">
            <a:avLst/>
          </a:prstGeom>
          <a:noFill/>
          <a:ln w="0">
            <a:noFill/>
          </a:ln>
        </p:spPr>
        <p:txBody>
          <a:bodyPr wrap="square" lIns="0" tIns="0" rIns="0" bIns="0">
            <a:noAutofit/>
          </a:bodyPr>
          <a:lstStyle/>
          <a:p>
            <a:pPr>
              <a:buNone/>
              <a:defRPr sz="2025" b="1">
                <a:solidFill>
                  <a:srgbClr val="17375D"/>
                </a:solidFill>
                <a:latin typeface="Calibri"/>
                <a:ea typeface="Calibri"/>
                <a:cs typeface="Calibri"/>
              </a:defRPr>
            </a:pPr>
            <a:r>
              <a:rPr sz="2025" b="1">
                <a:solidFill>
                  <a:srgbClr val="17375D"/>
                </a:solidFill>
                <a:latin typeface="Calibri"/>
                <a:ea typeface="Calibri"/>
                <a:cs typeface="Calibri"/>
              </a:rPr>
              <a:t>Promedio horario ponderado por el área de cada celda que intersecta la comuna</a:t>
            </a:r>
          </a:p>
        </p:txBody>
      </p:sp>
      <p:sp>
        <p:nvSpPr>
          <p:cNvPr id="10" name="Formula">
            <a:extLst>
              <a:ext uri="{FF2B5EF4-FFF2-40B4-BE49-F238E27FC236}">
                <a16:creationId xmlns:a16="http://schemas.microsoft.com/office/drawing/2014/main" id="{755B20DD-ACE0-4793-8931-8DF2D318ED67}"/>
              </a:ext>
            </a:extLst>
          </p:cNvPr>
          <p:cNvSpPr>
            <a:spLocks noGrp="1"/>
          </p:cNvSpPr>
          <p:nvPr/>
        </p:nvSpPr>
        <p:spPr>
          <a:xfrm>
            <a:off x="552450" y="2390775"/>
            <a:ext cx="8039100" cy="695325"/>
          </a:xfrm>
          <a:prstGeom prst="rect">
            <a:avLst/>
          </a:prstGeom>
          <a:noFill/>
          <a:ln w="0">
            <a:noFill/>
          </a:ln>
        </p:spPr>
        <p:txBody>
          <a:bodyPr wrap="square" lIns="0" tIns="0" rIns="0" bIns="0">
            <a:noAutofit/>
          </a:bodyPr>
          <a:lstStyle/>
          <a:p>
            <a:pPr>
              <a:buNone/>
              <a:defRPr sz="1725">
                <a:solidFill>
                  <a:srgbClr val="17375D"/>
                </a:solidFill>
                <a:latin typeface="Calibri"/>
                <a:ea typeface="Calibri"/>
                <a:cs typeface="Calibri"/>
              </a:defRPr>
            </a:pPr>
            <a:r>
              <a:rPr sz="1725">
                <a:solidFill>
                  <a:srgbClr val="17375D"/>
                </a:solidFill>
                <a:latin typeface="Calibri"/>
                <a:ea typeface="Calibri"/>
                <a:cs typeface="Calibri"/>
              </a:rPr>
              <a:t>Concentración comunal = Σ (área de intersección × concentración de celda)</a:t>
            </a:r>
          </a:p>
          <a:p>
            <a:pPr>
              <a:buNone/>
              <a:defRPr sz="1725">
                <a:solidFill>
                  <a:srgbClr val="17375D"/>
                </a:solidFill>
                <a:latin typeface="Calibri"/>
                <a:ea typeface="Calibri"/>
                <a:cs typeface="Calibri"/>
              </a:defRPr>
            </a:pPr>
            <a:r>
              <a:rPr sz="1725">
                <a:solidFill>
                  <a:srgbClr val="17375D"/>
                </a:solidFill>
                <a:latin typeface="Calibri"/>
                <a:ea typeface="Calibri"/>
                <a:cs typeface="Calibri"/>
              </a:rPr>
              <a:t>                                           / Σ áreas de intersección con estimación</a:t>
            </a:r>
          </a:p>
        </p:txBody>
      </p:sp>
      <p:sp>
        <p:nvSpPr>
          <p:cNvPr id="11" name="Condiciones">
            <a:extLst>
              <a:ext uri="{FF2B5EF4-FFF2-40B4-BE49-F238E27FC236}">
                <a16:creationId xmlns:a16="http://schemas.microsoft.com/office/drawing/2014/main" id="{B0415EED-7F0C-42A7-AFDC-64EB268D7479}"/>
              </a:ext>
            </a:extLst>
          </p:cNvPr>
          <p:cNvSpPr>
            <a:spLocks noGrp="1"/>
          </p:cNvSpPr>
          <p:nvPr/>
        </p:nvSpPr>
        <p:spPr>
          <a:xfrm>
            <a:off x="552450" y="3295650"/>
            <a:ext cx="8039100" cy="942975"/>
          </a:xfrm>
          <a:prstGeom prst="rect">
            <a:avLst/>
          </a:prstGeom>
          <a:noFill/>
          <a:ln w="0">
            <a:noFill/>
          </a:ln>
        </p:spPr>
        <p:txBody>
          <a:bodyPr wrap="square" lIns="0" tIns="0" rIns="0" bIns="0">
            <a:noAutofit/>
          </a:bodyPr>
          <a:lstStyle/>
          <a:p>
            <a:pPr algn="l">
              <a:spcBef>
                <a:spcPts val="0"/>
              </a:spcBef>
              <a:spcAft>
                <a:spcPts val="0"/>
              </a:spcAft>
              <a:defRPr sz="1425" b="0">
                <a:solidFill>
                  <a:srgbClr val="1E293B"/>
                </a:solidFill>
                <a:latin typeface="Calibri"/>
                <a:ea typeface="Calibri"/>
                <a:cs typeface="Calibri"/>
              </a:defRPr>
            </a:pPr>
            <a:r>
              <a:rPr sz="1425" b="0">
                <a:solidFill>
                  <a:srgbClr val="1E293B"/>
                </a:solidFill>
                <a:latin typeface="Calibri"/>
                <a:ea typeface="Calibri"/>
                <a:cs typeface="Calibri"/>
              </a:rPr>
              <a:t>1. Usar áreas geodésicas o una proyección de igual área.</a:t>
            </a:r>
          </a:p>
          <a:p>
            <a:pPr algn="l">
              <a:spcBef>
                <a:spcPts val="0"/>
              </a:spcBef>
              <a:spcAft>
                <a:spcPts val="0"/>
              </a:spcAft>
              <a:defRPr sz="1425" b="0">
                <a:solidFill>
                  <a:srgbClr val="1E293B"/>
                </a:solidFill>
                <a:latin typeface="Calibri"/>
                <a:ea typeface="Calibri"/>
                <a:cs typeface="Calibri"/>
              </a:defRPr>
            </a:pPr>
            <a:r>
              <a:rPr sz="1425" b="0">
                <a:solidFill>
                  <a:srgbClr val="1E293B"/>
                </a:solidFill>
                <a:latin typeface="Calibri"/>
                <a:ea typeface="Calibri"/>
                <a:cs typeface="Calibri"/>
              </a:rPr>
              <a:t>2. Informar la fracción de superficie cubierta en cada hora.</a:t>
            </a:r>
          </a:p>
          <a:p>
            <a:pPr algn="l">
              <a:spcBef>
                <a:spcPts val="0"/>
              </a:spcBef>
              <a:spcAft>
                <a:spcPts val="0"/>
              </a:spcAft>
              <a:defRPr sz="1425" b="0">
                <a:solidFill>
                  <a:srgbClr val="1E293B"/>
                </a:solidFill>
                <a:latin typeface="Calibri"/>
                <a:ea typeface="Calibri"/>
                <a:cs typeface="Calibri"/>
              </a:defRPr>
            </a:pPr>
            <a:r>
              <a:rPr sz="1425" b="0">
                <a:solidFill>
                  <a:srgbClr val="1E293B"/>
                </a:solidFill>
                <a:latin typeface="Calibri"/>
                <a:ea typeface="Calibri"/>
                <a:cs typeface="Calibri"/>
              </a:rPr>
              <a:t>3. Conservar como faltante una comuna sin celdas estimadas.</a:t>
            </a:r>
          </a:p>
        </p:txBody>
      </p:sp>
      <p:sp>
        <p:nvSpPr>
          <p:cNvPr id="12" name="Interpretación">
            <a:extLst>
              <a:ext uri="{FF2B5EF4-FFF2-40B4-BE49-F238E27FC236}">
                <a16:creationId xmlns:a16="http://schemas.microsoft.com/office/drawing/2014/main" id="{E1FE6040-EA5C-485B-ABF1-DDF221CB5122}"/>
              </a:ext>
            </a:extLst>
          </p:cNvPr>
          <p:cNvSpPr>
            <a:spLocks noGrp="1"/>
          </p:cNvSpPr>
          <p:nvPr/>
        </p:nvSpPr>
        <p:spPr>
          <a:xfrm>
            <a:off x="552450" y="4333875"/>
            <a:ext cx="8039100" cy="266700"/>
          </a:xfrm>
          <a:prstGeom prst="rect">
            <a:avLst/>
          </a:prstGeom>
          <a:noFill/>
          <a:ln w="0">
            <a:noFill/>
          </a:ln>
        </p:spPr>
        <p:txBody>
          <a:bodyPr wrap="square" lIns="0" tIns="0" rIns="0" bIns="0">
            <a:noAutofit/>
          </a:bodyPr>
          <a:lstStyle/>
          <a:p>
            <a:pPr>
              <a:buNone/>
              <a:defRPr sz="1163">
                <a:solidFill>
                  <a:srgbClr val="17375D"/>
                </a:solidFill>
                <a:latin typeface="Calibri"/>
                <a:ea typeface="Calibri"/>
                <a:cs typeface="Calibri"/>
              </a:defRPr>
            </a:pPr>
            <a:r>
              <a:rPr sz="1163">
                <a:solidFill>
                  <a:srgbClr val="17375D"/>
                </a:solidFill>
                <a:latin typeface="Calibri"/>
                <a:ea typeface="Calibri"/>
                <a:cs typeface="Calibri"/>
              </a:rPr>
              <a:t>Representa concentración media por superficie; no exposición personal ni un promedio ponderado por población.</a:t>
            </a:r>
          </a:p>
        </p:txBody>
      </p:sp>
      <p:sp>
        <p:nvSpPr>
          <p:cNvPr id="13" name="Fuente y alcance">
            <a:extLst>
              <a:ext uri="{FF2B5EF4-FFF2-40B4-BE49-F238E27FC236}">
                <a16:creationId xmlns:a16="http://schemas.microsoft.com/office/drawing/2014/main" id="{CEB870B5-92F0-465A-86FD-E50E0285BA6D}"/>
              </a:ext>
            </a:extLst>
          </p:cNvPr>
          <p:cNvSpPr>
            <a:spLocks noGrp="1"/>
          </p:cNvSpPr>
          <p:nvPr/>
        </p:nvSpPr>
        <p:spPr>
          <a:xfrm>
            <a:off x="548640" y="4619625"/>
            <a:ext cx="8046720" cy="200025"/>
          </a:xfrm>
          <a:prstGeom prst="rect">
            <a:avLst/>
          </a:prstGeom>
          <a:noFill/>
          <a:ln w="0">
            <a:noFill/>
          </a:ln>
        </p:spPr>
        <p:txBody>
          <a:bodyPr wrap="square" lIns="0" tIns="0" rIns="0" bIns="0" anchor="ctr">
            <a:noAutofit/>
          </a:bodyPr>
          <a:lstStyle/>
          <a:p>
            <a:pPr algn="l">
              <a:defRPr sz="848">
                <a:solidFill>
                  <a:srgbClr val="526277"/>
                </a:solidFill>
                <a:latin typeface="Calibri"/>
                <a:ea typeface="Calibri"/>
                <a:cs typeface="Calibri"/>
              </a:defRPr>
            </a:pPr>
            <a:r>
              <a:rPr sz="848">
                <a:solidFill>
                  <a:srgbClr val="526277"/>
                </a:solidFill>
                <a:latin typeface="Calibri"/>
                <a:ea typeface="Calibri"/>
                <a:cs typeface="Calibri"/>
              </a:rPr>
              <a:t>Cobertura mínima y resumen diario por acordar. El catálogo píxel–comuna no basta para calcular este promedio.</a:t>
            </a:r>
          </a:p>
        </p:txBody>
      </p:sp>
    </p:spTree>
    <p:extLst>
      <p:ext uri="{BB962C8B-B14F-4D97-AF65-F5344CB8AC3E}">
        <p14:creationId xmlns:p14="http://schemas.microsoft.com/office/powerpoint/2010/main" val="322757276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abecera azul UC">
            <a:extLst>
              <a:ext uri="{FF2B5EF4-FFF2-40B4-BE49-F238E27FC236}">
                <a16:creationId xmlns:a16="http://schemas.microsoft.com/office/drawing/2014/main" id="{3486DB9C-93DE-456A-BF48-2757BBD61ACE}"/>
              </a:ext>
            </a:extLst>
          </p:cNvPr>
          <p:cNvSpPr>
            <a:spLocks noGrp="1"/>
          </p:cNvSpPr>
          <p:nvPr/>
        </p:nvSpPr>
        <p:spPr>
          <a:xfrm>
            <a:off x="158742" y="0"/>
            <a:ext cx="8985258" cy="1007195"/>
          </a:xfrm>
          <a:prstGeom prst="rect">
            <a:avLst/>
          </a:prstGeom>
          <a:solidFill>
            <a:srgbClr val="017EDF"/>
          </a:solidFill>
          <a:ln>
            <a:noFill/>
          </a:ln>
        </p:spPr>
        <p:txBody>
          <a:bodyPr/>
          <a:lstStyle/>
          <a:p>
            <a:endParaRPr lang="es-CL"/>
          </a:p>
        </p:txBody>
      </p:sp>
      <p:sp>
        <p:nvSpPr>
          <p:cNvPr id="4" name="Rectángulo 9">
            <a:extLst>
              <a:ext uri="{FF2B5EF4-FFF2-40B4-BE49-F238E27FC236}">
                <a16:creationId xmlns:a16="http://schemas.microsoft.com/office/drawing/2014/main" id="{2DE33766-2918-41FC-A1B9-B4BF483C8974}"/>
              </a:ext>
            </a:extLst>
          </p:cNvPr>
          <p:cNvSpPr>
            <a:spLocks noGrp="1"/>
          </p:cNvSpPr>
          <p:nvPr/>
        </p:nvSpPr>
        <p:spPr>
          <a:xfrm>
            <a:off x="0" y="149945"/>
            <a:ext cx="158742" cy="857250"/>
          </a:xfrm>
          <a:prstGeom prst="rect">
            <a:avLst/>
          </a:prstGeom>
          <a:solidFill>
            <a:srgbClr val="FFE2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Rectángulo 7">
            <a:extLst>
              <a:ext uri="{FF2B5EF4-FFF2-40B4-BE49-F238E27FC236}">
                <a16:creationId xmlns:a16="http://schemas.microsoft.com/office/drawing/2014/main" id="{3BCD4458-45E8-4C73-A3B6-249CEEFBDB7B}"/>
              </a:ext>
            </a:extLst>
          </p:cNvPr>
          <p:cNvSpPr>
            <a:spLocks noGrp="1"/>
          </p:cNvSpPr>
          <p:nvPr/>
        </p:nvSpPr>
        <p:spPr>
          <a:xfrm flipV="1">
            <a:off x="169334" y="4871120"/>
            <a:ext cx="8815911" cy="177311"/>
          </a:xfrm>
          <a:prstGeom prst="rect">
            <a:avLst/>
          </a:prstGeom>
          <a:solidFill>
            <a:schemeClr val="bg1">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Rectángulo 10">
            <a:extLst>
              <a:ext uri="{FF2B5EF4-FFF2-40B4-BE49-F238E27FC236}">
                <a16:creationId xmlns:a16="http://schemas.microsoft.com/office/drawing/2014/main" id="{A18DC9E6-BD6D-4FE1-AEC0-9715BEE3912A}"/>
              </a:ext>
            </a:extLst>
          </p:cNvPr>
          <p:cNvSpPr>
            <a:spLocks noGrp="1"/>
          </p:cNvSpPr>
          <p:nvPr/>
        </p:nvSpPr>
        <p:spPr>
          <a:xfrm flipV="1">
            <a:off x="7200957" y="4871118"/>
            <a:ext cx="1119038" cy="177313"/>
          </a:xfrm>
          <a:prstGeom prst="rect">
            <a:avLst/>
          </a:prstGeom>
          <a:solidFill>
            <a:srgbClr val="3366CC"/>
          </a:solidFill>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ítulo 1">
            <a:extLst>
              <a:ext uri="{FF2B5EF4-FFF2-40B4-BE49-F238E27FC236}">
                <a16:creationId xmlns:a16="http://schemas.microsoft.com/office/drawing/2014/main" id="{438D0FA2-1899-4EDF-9FA4-D1742768DFC6}"/>
              </a:ext>
            </a:extLst>
          </p:cNvPr>
          <p:cNvSpPr>
            <a:spLocks noGrp="1"/>
          </p:cNvSpPr>
          <p:nvPr>
            <p:ph type="title"/>
          </p:nvPr>
        </p:nvSpPr>
        <p:spPr>
          <a:xfrm>
            <a:off x="457200" y="149945"/>
            <a:ext cx="8229600" cy="857250"/>
          </a:xfrm>
        </p:spPr>
        <p:txBody>
          <a:bodyPr wrap="square" anchor="ctr">
            <a:noAutofit/>
          </a:bodyPr>
          <a:lstStyle/>
          <a:p>
            <a:pPr algn="l">
              <a:spcBef>
                <a:spcPts val="0"/>
              </a:spcBef>
              <a:spcAft>
                <a:spcPts val="0"/>
              </a:spcAft>
              <a:defRPr sz="1900" b="1">
                <a:solidFill>
                  <a:srgbClr val="FFFFFF"/>
                </a:solidFill>
                <a:latin typeface="Calibri"/>
                <a:ea typeface="Calibri"/>
                <a:cs typeface="Calibri"/>
              </a:defRPr>
            </a:pPr>
            <a:r>
              <a:rPr sz="1900" b="1">
                <a:solidFill>
                  <a:srgbClr val="FFFFFF"/>
                </a:solidFill>
                <a:latin typeface="Calibri"/>
                <a:ea typeface="Calibri"/>
                <a:cs typeface="Calibri"/>
              </a:rPr>
              <a:t>Metodología: consideraciones éticas</a:t>
            </a:r>
          </a:p>
        </p:txBody>
      </p:sp>
      <p:sp>
        <p:nvSpPr>
          <p:cNvPr id="8" name="Estado">
            <a:extLst>
              <a:ext uri="{FF2B5EF4-FFF2-40B4-BE49-F238E27FC236}">
                <a16:creationId xmlns:a16="http://schemas.microsoft.com/office/drawing/2014/main" id="{6C117FFE-4D22-4194-AB5C-F9D5CBFEDC4A}"/>
              </a:ext>
            </a:extLst>
          </p:cNvPr>
          <p:cNvSpPr>
            <a:spLocks noGrp="1"/>
          </p:cNvSpPr>
          <p:nvPr/>
        </p:nvSpPr>
        <p:spPr>
          <a:xfrm>
            <a:off x="552450" y="1200150"/>
            <a:ext cx="8039100" cy="285750"/>
          </a:xfrm>
          <a:prstGeom prst="rect">
            <a:avLst/>
          </a:prstGeom>
          <a:noFill/>
          <a:ln w="0">
            <a:noFill/>
          </a:ln>
        </p:spPr>
        <p:txBody>
          <a:bodyPr wrap="square" lIns="0" tIns="0" rIns="0" bIns="0">
            <a:noAutofit/>
          </a:bodyPr>
          <a:lstStyle/>
          <a:p>
            <a:pPr>
              <a:buNone/>
              <a:defRPr sz="1650" b="1">
                <a:solidFill>
                  <a:srgbClr val="17375D"/>
                </a:solidFill>
                <a:latin typeface="Calibri"/>
                <a:ea typeface="Calibri"/>
                <a:cs typeface="Calibri"/>
              </a:defRPr>
            </a:pPr>
            <a:r>
              <a:rPr sz="1650" b="1">
                <a:solidFill>
                  <a:srgbClr val="17375D"/>
                </a:solidFill>
                <a:latin typeface="Calibri"/>
                <a:ea typeface="Calibri"/>
                <a:cs typeface="Calibri"/>
              </a:rPr>
              <a:t>Medidas propuestas para el uso responsable del producto</a:t>
            </a:r>
          </a:p>
        </p:txBody>
      </p:sp>
      <p:graphicFrame>
        <p:nvGraphicFramePr>
          <p:cNvPr id="19" name="Tabla 18"/>
          <p:cNvGraphicFramePr/>
          <p:nvPr/>
        </p:nvGraphicFramePr>
        <p:xfrm>
          <a:off x="548640" y="1657350"/>
          <a:ext cx="8046720" cy="2581275"/>
        </p:xfrm>
        <a:graphic>
          <a:graphicData uri="http://schemas.openxmlformats.org/drawingml/2006/table">
            <a:tbl>
              <a:tblPr firstRow="1"/>
              <a:tblGrid>
                <a:gridCol w="1924050">
                  <a:extLst>
                    <a:ext uri="{9D8B030D-6E8A-4147-A177-3AD203B41FA5}">
                      <a16:colId xmlns:a16="http://schemas.microsoft.com/office/drawing/2014/main" val="20000"/>
                    </a:ext>
                  </a:extLst>
                </a:gridCol>
                <a:gridCol w="2181225">
                  <a:extLst>
                    <a:ext uri="{9D8B030D-6E8A-4147-A177-3AD203B41FA5}">
                      <a16:colId xmlns:a16="http://schemas.microsoft.com/office/drawing/2014/main" val="20001"/>
                    </a:ext>
                  </a:extLst>
                </a:gridCol>
                <a:gridCol w="3941445">
                  <a:extLst>
                    <a:ext uri="{9D8B030D-6E8A-4147-A177-3AD203B41FA5}">
                      <a16:colId xmlns:a16="http://schemas.microsoft.com/office/drawing/2014/main" val="20002"/>
                    </a:ext>
                  </a:extLst>
                </a:gridCol>
              </a:tblGrid>
              <a:tr h="381000">
                <a:tc>
                  <a:txBody>
                    <a:bodyPr/>
                    <a:lstStyle/>
                    <a:p>
                      <a:r>
                        <a:rPr sz="1275" b="1">
                          <a:solidFill>
                            <a:srgbClr val="FFFFFF"/>
                          </a:solidFill>
                          <a:latin typeface="Calibri"/>
                          <a:ea typeface="Calibri"/>
                          <a:cs typeface="Calibri"/>
                        </a:rPr>
                        <a:t>Riesgo</a:t>
                      </a:r>
                    </a:p>
                  </a:txBody>
                  <a:tcPr anchor="ctr">
                    <a:solidFill>
                      <a:srgbClr val="17375D"/>
                    </a:solidFill>
                  </a:tcPr>
                </a:tc>
                <a:tc>
                  <a:txBody>
                    <a:bodyPr/>
                    <a:lstStyle/>
                    <a:p>
                      <a:r>
                        <a:rPr sz="1275" b="1">
                          <a:solidFill>
                            <a:srgbClr val="FFFFFF"/>
                          </a:solidFill>
                          <a:latin typeface="Calibri"/>
                          <a:ea typeface="Calibri"/>
                          <a:cs typeface="Calibri"/>
                        </a:rPr>
                        <a:t>Actores afectados</a:t>
                      </a:r>
                    </a:p>
                  </a:txBody>
                  <a:tcPr anchor="ctr">
                    <a:solidFill>
                      <a:srgbClr val="17375D"/>
                    </a:solidFill>
                  </a:tcPr>
                </a:tc>
                <a:tc>
                  <a:txBody>
                    <a:bodyPr/>
                    <a:lstStyle/>
                    <a:p>
                      <a:r>
                        <a:rPr sz="1275" b="1">
                          <a:solidFill>
                            <a:srgbClr val="FFFFFF"/>
                          </a:solidFill>
                          <a:latin typeface="Calibri"/>
                          <a:ea typeface="Calibri"/>
                          <a:cs typeface="Calibri"/>
                        </a:rPr>
                        <a:t>Mitigación y evidencia requerida</a:t>
                      </a:r>
                    </a:p>
                  </a:txBody>
                  <a:tcPr anchor="ctr">
                    <a:solidFill>
                      <a:srgbClr val="17375D"/>
                    </a:solidFill>
                  </a:tcPr>
                </a:tc>
                <a:extLst>
                  <a:ext uri="{0D108BD9-81ED-4DB2-BD59-A6C34878D82A}">
                    <a16:rowId xmlns:a16="http://schemas.microsoft.com/office/drawing/2014/main" val="10000"/>
                  </a:ext>
                </a:extLst>
              </a:tr>
              <a:tr h="733425">
                <a:tc>
                  <a:txBody>
                    <a:bodyPr/>
                    <a:lstStyle/>
                    <a:p>
                      <a:r>
                        <a:rPr sz="1275" b="0">
                          <a:solidFill>
                            <a:srgbClr val="1E293B"/>
                          </a:solidFill>
                          <a:latin typeface="Calibri"/>
                          <a:ea typeface="Calibri"/>
                          <a:cs typeface="Calibri"/>
                        </a:rPr>
                        <a:t>Desigualdad de cobertura</a:t>
                      </a:r>
                    </a:p>
                  </a:txBody>
                  <a:tcPr anchor="ctr">
                    <a:solidFill>
                      <a:srgbClr val="EAF2FD"/>
                    </a:solidFill>
                  </a:tcPr>
                </a:tc>
                <a:tc>
                  <a:txBody>
                    <a:bodyPr/>
                    <a:lstStyle/>
                    <a:p>
                      <a:r>
                        <a:rPr sz="1275" b="0">
                          <a:solidFill>
                            <a:srgbClr val="1E293B"/>
                          </a:solidFill>
                          <a:latin typeface="Calibri"/>
                          <a:ea typeface="Calibri"/>
                          <a:cs typeface="Calibri"/>
                        </a:rPr>
                        <a:t>Comunidades con pocos monitores; municipios</a:t>
                      </a:r>
                    </a:p>
                  </a:txBody>
                  <a:tcPr anchor="ctr">
                    <a:solidFill>
                      <a:srgbClr val="EAF2FD"/>
                    </a:solidFill>
                  </a:tcPr>
                </a:tc>
                <a:tc>
                  <a:txBody>
                    <a:bodyPr/>
                    <a:lstStyle/>
                    <a:p>
                      <a:r>
                        <a:rPr sz="1275" b="0">
                          <a:solidFill>
                            <a:srgbClr val="1E293B"/>
                          </a:solidFill>
                          <a:latin typeface="Calibri"/>
                          <a:ea typeface="Calibri"/>
                          <a:cs typeface="Calibri"/>
                        </a:rPr>
                        <a:t>Describir cobertura y evaluar error e incertidumbre por territorio y distancia a estaciones.</a:t>
                      </a:r>
                    </a:p>
                  </a:txBody>
                  <a:tcPr anchor="ctr">
                    <a:solidFill>
                      <a:srgbClr val="EAF2FD"/>
                    </a:solidFill>
                  </a:tcPr>
                </a:tc>
                <a:extLst>
                  <a:ext uri="{0D108BD9-81ED-4DB2-BD59-A6C34878D82A}">
                    <a16:rowId xmlns:a16="http://schemas.microsoft.com/office/drawing/2014/main" val="10001"/>
                  </a:ext>
                </a:extLst>
              </a:tr>
              <a:tr h="733425">
                <a:tc>
                  <a:txBody>
                    <a:bodyPr/>
                    <a:lstStyle/>
                    <a:p>
                      <a:r>
                        <a:rPr sz="1275" b="0">
                          <a:solidFill>
                            <a:srgbClr val="1E293B"/>
                          </a:solidFill>
                          <a:latin typeface="Calibri"/>
                          <a:ea typeface="Calibri"/>
                          <a:cs typeface="Calibri"/>
                        </a:rPr>
                        <a:t>Falsa precisión en episodios</a:t>
                      </a:r>
                    </a:p>
                  </a:txBody>
                  <a:tcPr anchor="ctr">
                    <a:solidFill>
                      <a:srgbClr val="FFFFFF"/>
                    </a:solidFill>
                  </a:tcPr>
                </a:tc>
                <a:tc>
                  <a:txBody>
                    <a:bodyPr/>
                    <a:lstStyle/>
                    <a:p>
                      <a:r>
                        <a:rPr sz="1275" b="0">
                          <a:solidFill>
                            <a:srgbClr val="1E293B"/>
                          </a:solidFill>
                          <a:latin typeface="Calibri"/>
                          <a:ea typeface="Calibri"/>
                          <a:cs typeface="Calibri"/>
                        </a:rPr>
                        <a:t>Población y usuarios ambientales</a:t>
                      </a:r>
                    </a:p>
                  </a:txBody>
                  <a:tcPr anchor="ctr">
                    <a:solidFill>
                      <a:srgbClr val="FFFFFF"/>
                    </a:solidFill>
                  </a:tcPr>
                </a:tc>
                <a:tc>
                  <a:txBody>
                    <a:bodyPr/>
                    <a:lstStyle/>
                    <a:p>
                      <a:r>
                        <a:rPr sz="1275" b="0">
                          <a:solidFill>
                            <a:srgbClr val="1E293B"/>
                          </a:solidFill>
                          <a:latin typeface="Calibri"/>
                          <a:ea typeface="Calibri"/>
                          <a:cs typeface="Calibri"/>
                        </a:rPr>
                        <a:t>Distinguir medición de estimación; señalar límites y evaluar extremos antes de uso operativo.</a:t>
                      </a:r>
                    </a:p>
                  </a:txBody>
                  <a:tcPr anchor="ctr">
                    <a:solidFill>
                      <a:srgbClr val="FFFFFF"/>
                    </a:solidFill>
                  </a:tcPr>
                </a:tc>
                <a:extLst>
                  <a:ext uri="{0D108BD9-81ED-4DB2-BD59-A6C34878D82A}">
                    <a16:rowId xmlns:a16="http://schemas.microsoft.com/office/drawing/2014/main" val="10002"/>
                  </a:ext>
                </a:extLst>
              </a:tr>
              <a:tr h="733425">
                <a:tc>
                  <a:txBody>
                    <a:bodyPr/>
                    <a:lstStyle/>
                    <a:p>
                      <a:r>
                        <a:rPr sz="1275" b="0">
                          <a:solidFill>
                            <a:srgbClr val="1E293B"/>
                          </a:solidFill>
                          <a:latin typeface="Calibri"/>
                          <a:ea typeface="Calibri"/>
                          <a:cs typeface="Calibri"/>
                        </a:rPr>
                        <a:t>Decisiones poco trazables</a:t>
                      </a:r>
                    </a:p>
                  </a:txBody>
                  <a:tcPr anchor="ctr">
                    <a:solidFill>
                      <a:srgbClr val="EAF2FD"/>
                    </a:solidFill>
                  </a:tcPr>
                </a:tc>
                <a:tc>
                  <a:txBody>
                    <a:bodyPr/>
                    <a:lstStyle/>
                    <a:p>
                      <a:r>
                        <a:rPr sz="1275" b="0">
                          <a:solidFill>
                            <a:srgbClr val="1E293B"/>
                          </a:solidFill>
                          <a:latin typeface="Calibri"/>
                          <a:ea typeface="Calibri"/>
                          <a:cs typeface="Calibri"/>
                        </a:rPr>
                        <a:t>Equipo, revisores y proveedores de datos</a:t>
                      </a:r>
                    </a:p>
                  </a:txBody>
                  <a:tcPr anchor="ctr">
                    <a:solidFill>
                      <a:srgbClr val="EAF2FD"/>
                    </a:solidFill>
                  </a:tcPr>
                </a:tc>
                <a:tc>
                  <a:txBody>
                    <a:bodyPr/>
                    <a:lstStyle/>
                    <a:p>
                      <a:r>
                        <a:rPr sz="1275" b="0">
                          <a:solidFill>
                            <a:srgbClr val="1E293B"/>
                          </a:solidFill>
                          <a:latin typeface="Calibri"/>
                          <a:ea typeface="Calibri"/>
                          <a:cs typeface="Calibri"/>
                        </a:rPr>
                        <a:t>Conservar fuentes, versiones y exclusiones; documentar unidades, reloj y pérdidas de integración.</a:t>
                      </a:r>
                    </a:p>
                  </a:txBody>
                  <a:tcPr anchor="ctr">
                    <a:solidFill>
                      <a:srgbClr val="EAF2FD"/>
                    </a:solidFill>
                  </a:tcPr>
                </a:tc>
                <a:extLst>
                  <a:ext uri="{0D108BD9-81ED-4DB2-BD59-A6C34878D82A}">
                    <a16:rowId xmlns:a16="http://schemas.microsoft.com/office/drawing/2014/main" val="10003"/>
                  </a:ext>
                </a:extLst>
              </a:tr>
            </a:tbl>
          </a:graphicData>
        </a:graphic>
      </p:graphicFrame>
      <p:sp>
        <p:nvSpPr>
          <p:cNvPr id="10" name="Privacidad">
            <a:extLst>
              <a:ext uri="{FF2B5EF4-FFF2-40B4-BE49-F238E27FC236}">
                <a16:creationId xmlns:a16="http://schemas.microsoft.com/office/drawing/2014/main" id="{1B4C0D61-6E76-44F9-BACF-33B85B8E4D9B}"/>
              </a:ext>
            </a:extLst>
          </p:cNvPr>
          <p:cNvSpPr>
            <a:spLocks noGrp="1"/>
          </p:cNvSpPr>
          <p:nvPr/>
        </p:nvSpPr>
        <p:spPr>
          <a:xfrm>
            <a:off x="552450" y="4371975"/>
            <a:ext cx="8039100" cy="238125"/>
          </a:xfrm>
          <a:prstGeom prst="rect">
            <a:avLst/>
          </a:prstGeom>
          <a:noFill/>
          <a:ln w="0">
            <a:noFill/>
          </a:ln>
        </p:spPr>
        <p:txBody>
          <a:bodyPr wrap="square" lIns="0" tIns="0" rIns="0" bIns="0">
            <a:noAutofit/>
          </a:bodyPr>
          <a:lstStyle/>
          <a:p>
            <a:pPr>
              <a:buNone/>
              <a:defRPr sz="1163">
                <a:solidFill>
                  <a:srgbClr val="17375D"/>
                </a:solidFill>
                <a:latin typeface="Calibri"/>
                <a:ea typeface="Calibri"/>
                <a:cs typeface="Calibri"/>
              </a:defRPr>
            </a:pPr>
            <a:r>
              <a:rPr sz="1163">
                <a:solidFill>
                  <a:srgbClr val="17375D"/>
                </a:solidFill>
                <a:latin typeface="Calibri"/>
                <a:ea typeface="Calibri"/>
                <a:cs typeface="Calibri"/>
              </a:rPr>
              <a:t>El alcance revisado utiliza datos ambientales y territoriales; no incluye microdatos individuales de salud.</a:t>
            </a:r>
          </a:p>
        </p:txBody>
      </p:sp>
      <p:sp>
        <p:nvSpPr>
          <p:cNvPr id="11" name="Fuente y alcance">
            <a:extLst>
              <a:ext uri="{FF2B5EF4-FFF2-40B4-BE49-F238E27FC236}">
                <a16:creationId xmlns:a16="http://schemas.microsoft.com/office/drawing/2014/main" id="{3AA35407-A78B-4C92-ADA3-8E3B9EABB94D}"/>
              </a:ext>
            </a:extLst>
          </p:cNvPr>
          <p:cNvSpPr>
            <a:spLocks noGrp="1"/>
          </p:cNvSpPr>
          <p:nvPr/>
        </p:nvSpPr>
        <p:spPr>
          <a:xfrm>
            <a:off x="548640" y="4600575"/>
            <a:ext cx="8046720" cy="228600"/>
          </a:xfrm>
          <a:prstGeom prst="rect">
            <a:avLst/>
          </a:prstGeom>
          <a:noFill/>
          <a:ln w="0">
            <a:noFill/>
          </a:ln>
        </p:spPr>
        <p:txBody>
          <a:bodyPr wrap="square" lIns="0" tIns="0" rIns="0" bIns="0" anchor="ctr">
            <a:noAutofit/>
          </a:bodyPr>
          <a:lstStyle/>
          <a:p>
            <a:pPr>
              <a:buNone/>
              <a:defRPr sz="878">
                <a:solidFill>
                  <a:srgbClr val="526277"/>
                </a:solidFill>
                <a:latin typeface="Calibri"/>
                <a:ea typeface="Calibri"/>
                <a:cs typeface="Calibri"/>
              </a:defRPr>
            </a:pPr>
            <a:r>
              <a:rPr sz="878">
                <a:solidFill>
                  <a:srgbClr val="526277"/>
                </a:solidFill>
                <a:latin typeface="Calibri"/>
                <a:ea typeface="Calibri"/>
                <a:cs typeface="Calibri"/>
              </a:rPr>
              <a:t>Fuente: contenidos de ética del curso (semanas 6–7) y diseño del proyecto. La equidad del desempeño todavía debe evaluarse.</a:t>
            </a:r>
          </a:p>
        </p:txBody>
      </p:sp>
    </p:spTree>
    <p:extLst>
      <p:ext uri="{BB962C8B-B14F-4D97-AF65-F5344CB8AC3E}">
        <p14:creationId xmlns:p14="http://schemas.microsoft.com/office/powerpoint/2010/main" val="322757276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abecera azul UC">
            <a:extLst>
              <a:ext uri="{FF2B5EF4-FFF2-40B4-BE49-F238E27FC236}">
                <a16:creationId xmlns:a16="http://schemas.microsoft.com/office/drawing/2014/main" id="{3486DB9C-93DE-456A-BF48-2757BBD61ACE}"/>
              </a:ext>
            </a:extLst>
          </p:cNvPr>
          <p:cNvSpPr>
            <a:spLocks noGrp="1"/>
          </p:cNvSpPr>
          <p:nvPr/>
        </p:nvSpPr>
        <p:spPr>
          <a:xfrm>
            <a:off x="158742" y="0"/>
            <a:ext cx="8985258" cy="1007195"/>
          </a:xfrm>
          <a:prstGeom prst="rect">
            <a:avLst/>
          </a:prstGeom>
          <a:solidFill>
            <a:srgbClr val="017EDF"/>
          </a:solidFill>
          <a:ln>
            <a:noFill/>
          </a:ln>
        </p:spPr>
        <p:txBody>
          <a:bodyPr/>
          <a:lstStyle/>
          <a:p>
            <a:endParaRPr lang="es-CL"/>
          </a:p>
        </p:txBody>
      </p:sp>
      <p:sp>
        <p:nvSpPr>
          <p:cNvPr id="4" name="Rectángulo 9">
            <a:extLst>
              <a:ext uri="{FF2B5EF4-FFF2-40B4-BE49-F238E27FC236}">
                <a16:creationId xmlns:a16="http://schemas.microsoft.com/office/drawing/2014/main" id="{2DE33766-2918-41FC-A1B9-B4BF483C8974}"/>
              </a:ext>
            </a:extLst>
          </p:cNvPr>
          <p:cNvSpPr>
            <a:spLocks noGrp="1"/>
          </p:cNvSpPr>
          <p:nvPr/>
        </p:nvSpPr>
        <p:spPr>
          <a:xfrm>
            <a:off x="0" y="149945"/>
            <a:ext cx="158742" cy="857250"/>
          </a:xfrm>
          <a:prstGeom prst="rect">
            <a:avLst/>
          </a:prstGeom>
          <a:solidFill>
            <a:srgbClr val="FFE2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Rectángulo 7">
            <a:extLst>
              <a:ext uri="{FF2B5EF4-FFF2-40B4-BE49-F238E27FC236}">
                <a16:creationId xmlns:a16="http://schemas.microsoft.com/office/drawing/2014/main" id="{3BCD4458-45E8-4C73-A3B6-249CEEFBDB7B}"/>
              </a:ext>
            </a:extLst>
          </p:cNvPr>
          <p:cNvSpPr>
            <a:spLocks noGrp="1"/>
          </p:cNvSpPr>
          <p:nvPr/>
        </p:nvSpPr>
        <p:spPr>
          <a:xfrm flipV="1">
            <a:off x="169334" y="4871120"/>
            <a:ext cx="8815911" cy="177311"/>
          </a:xfrm>
          <a:prstGeom prst="rect">
            <a:avLst/>
          </a:prstGeom>
          <a:solidFill>
            <a:schemeClr val="bg1">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Rectángulo 10">
            <a:extLst>
              <a:ext uri="{FF2B5EF4-FFF2-40B4-BE49-F238E27FC236}">
                <a16:creationId xmlns:a16="http://schemas.microsoft.com/office/drawing/2014/main" id="{A18DC9E6-BD6D-4FE1-AEC0-9715BEE3912A}"/>
              </a:ext>
            </a:extLst>
          </p:cNvPr>
          <p:cNvSpPr>
            <a:spLocks noGrp="1"/>
          </p:cNvSpPr>
          <p:nvPr/>
        </p:nvSpPr>
        <p:spPr>
          <a:xfrm flipV="1">
            <a:off x="7200957" y="4871118"/>
            <a:ext cx="1119038" cy="177313"/>
          </a:xfrm>
          <a:prstGeom prst="rect">
            <a:avLst/>
          </a:prstGeom>
          <a:solidFill>
            <a:srgbClr val="3366CC"/>
          </a:solidFill>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ítulo 1">
            <a:extLst>
              <a:ext uri="{FF2B5EF4-FFF2-40B4-BE49-F238E27FC236}">
                <a16:creationId xmlns:a16="http://schemas.microsoft.com/office/drawing/2014/main" id="{438D0FA2-1899-4EDF-9FA4-D1742768DFC6}"/>
              </a:ext>
            </a:extLst>
          </p:cNvPr>
          <p:cNvSpPr>
            <a:spLocks noGrp="1"/>
          </p:cNvSpPr>
          <p:nvPr>
            <p:ph type="title"/>
          </p:nvPr>
        </p:nvSpPr>
        <p:spPr>
          <a:xfrm>
            <a:off x="457200" y="149945"/>
            <a:ext cx="8229600" cy="857250"/>
          </a:xfrm>
        </p:spPr>
        <p:txBody>
          <a:bodyPr wrap="square" anchor="ctr">
            <a:noAutofit/>
          </a:bodyPr>
          <a:lstStyle/>
          <a:p>
            <a:pPr algn="l">
              <a:spcBef>
                <a:spcPts val="0"/>
              </a:spcBef>
              <a:spcAft>
                <a:spcPts val="0"/>
              </a:spcAft>
              <a:defRPr sz="1900" b="1">
                <a:solidFill>
                  <a:srgbClr val="FFFFFF"/>
                </a:solidFill>
                <a:latin typeface="Calibri"/>
                <a:ea typeface="Calibri"/>
                <a:cs typeface="Calibri"/>
              </a:defRPr>
            </a:pPr>
            <a:r>
              <a:rPr sz="1900" b="1">
                <a:solidFill>
                  <a:srgbClr val="FFFFFF"/>
                </a:solidFill>
                <a:latin typeface="Calibri"/>
                <a:ea typeface="Calibri"/>
                <a:cs typeface="Calibri"/>
              </a:rPr>
              <a:t>Resultados descriptivos: cobertura de SINCA</a:t>
            </a:r>
          </a:p>
        </p:txBody>
      </p:sp>
      <p:sp>
        <p:nvSpPr>
          <p:cNvPr id="8" name="Cifras">
            <a:extLst>
              <a:ext uri="{FF2B5EF4-FFF2-40B4-BE49-F238E27FC236}">
                <a16:creationId xmlns:a16="http://schemas.microsoft.com/office/drawing/2014/main" id="{8229DC8C-C5A4-4017-8AAA-283EF4965C79}"/>
              </a:ext>
            </a:extLst>
          </p:cNvPr>
          <p:cNvSpPr>
            <a:spLocks noGrp="1"/>
          </p:cNvSpPr>
          <p:nvPr/>
        </p:nvSpPr>
        <p:spPr>
          <a:xfrm>
            <a:off x="552450" y="1209675"/>
            <a:ext cx="8039100" cy="323850"/>
          </a:xfrm>
          <a:prstGeom prst="rect">
            <a:avLst/>
          </a:prstGeom>
          <a:noFill/>
          <a:ln w="0">
            <a:noFill/>
          </a:ln>
        </p:spPr>
        <p:txBody>
          <a:bodyPr wrap="square" lIns="0" tIns="0" rIns="0" bIns="0">
            <a:noAutofit/>
          </a:bodyPr>
          <a:lstStyle/>
          <a:p>
            <a:pPr>
              <a:buNone/>
              <a:defRPr sz="1875" b="1">
                <a:solidFill>
                  <a:srgbClr val="17375D"/>
                </a:solidFill>
                <a:latin typeface="Calibri"/>
                <a:ea typeface="Calibri"/>
                <a:cs typeface="Calibri"/>
              </a:defRPr>
            </a:pPr>
            <a:r>
              <a:rPr sz="1875" b="1">
                <a:solidFill>
                  <a:srgbClr val="17375D"/>
                </a:solidFill>
                <a:latin typeface="Calibri"/>
                <a:ea typeface="Calibri"/>
                <a:cs typeface="Calibri"/>
              </a:rPr>
              <a:t>107 estaciones únicas · 403 series estación–contaminante</a:t>
            </a:r>
          </a:p>
        </p:txBody>
      </p:sp>
      <p:graphicFrame>
        <p:nvGraphicFramePr>
          <p:cNvPr id="19" name="Chart"/>
          <p:cNvGraphicFramePr/>
          <p:nvPr/>
        </p:nvGraphicFramePr>
        <p:xfrm>
          <a:off x="600075" y="1638300"/>
          <a:ext cx="7820025" cy="2724150"/>
        </p:xfrm>
        <a:graphic>
          <a:graphicData uri="http://schemas.openxmlformats.org/drawingml/2006/chart">
            <c:chart xmlns:c="http://schemas.openxmlformats.org/drawingml/2006/chart" xmlns:r="http://schemas.openxmlformats.org/officeDocument/2006/relationships" r:id="rId3"/>
          </a:graphicData>
        </a:graphic>
      </p:graphicFrame>
      <p:sp>
        <p:nvSpPr>
          <p:cNvPr id="10" name="Interpretación">
            <a:extLst>
              <a:ext uri="{FF2B5EF4-FFF2-40B4-BE49-F238E27FC236}">
                <a16:creationId xmlns:a16="http://schemas.microsoft.com/office/drawing/2014/main" id="{55F17CAA-E628-4B02-97BA-DF173C685421}"/>
              </a:ext>
            </a:extLst>
          </p:cNvPr>
          <p:cNvSpPr>
            <a:spLocks noGrp="1"/>
          </p:cNvSpPr>
          <p:nvPr/>
        </p:nvSpPr>
        <p:spPr>
          <a:xfrm>
            <a:off x="552450" y="4352925"/>
            <a:ext cx="8039100" cy="257175"/>
          </a:xfrm>
          <a:prstGeom prst="rect">
            <a:avLst/>
          </a:prstGeom>
          <a:noFill/>
          <a:ln w="0">
            <a:noFill/>
          </a:ln>
        </p:spPr>
        <p:txBody>
          <a:bodyPr wrap="square" lIns="0" tIns="0" rIns="0" bIns="0">
            <a:noAutofit/>
          </a:bodyPr>
          <a:lstStyle/>
          <a:p>
            <a:pPr>
              <a:buNone/>
              <a:defRPr sz="1200">
                <a:solidFill>
                  <a:srgbClr val="17375D"/>
                </a:solidFill>
                <a:latin typeface="Calibri"/>
                <a:ea typeface="Calibri"/>
                <a:cs typeface="Calibri"/>
              </a:defRPr>
            </a:pPr>
            <a:r>
              <a:rPr sz="1200">
                <a:solidFill>
                  <a:srgbClr val="17375D"/>
                </a:solidFill>
                <a:latin typeface="Calibri"/>
                <a:ea typeface="Calibri"/>
                <a:cs typeface="Calibri"/>
              </a:rPr>
              <a:t>Una estación puede aportar varios contaminantes. Estos conteos no equivalen al porcentaje del territorio cubierto.</a:t>
            </a:r>
          </a:p>
        </p:txBody>
      </p:sp>
      <p:sp>
        <p:nvSpPr>
          <p:cNvPr id="11" name="Fuente y alcance">
            <a:extLst>
              <a:ext uri="{FF2B5EF4-FFF2-40B4-BE49-F238E27FC236}">
                <a16:creationId xmlns:a16="http://schemas.microsoft.com/office/drawing/2014/main" id="{CB0F4828-C7BB-4BEB-91C0-8646FE713F39}"/>
              </a:ext>
            </a:extLst>
          </p:cNvPr>
          <p:cNvSpPr>
            <a:spLocks noGrp="1"/>
          </p:cNvSpPr>
          <p:nvPr/>
        </p:nvSpPr>
        <p:spPr>
          <a:xfrm>
            <a:off x="548640" y="4600575"/>
            <a:ext cx="8046720" cy="228600"/>
          </a:xfrm>
          <a:prstGeom prst="rect">
            <a:avLst/>
          </a:prstGeom>
          <a:noFill/>
          <a:ln w="0">
            <a:noFill/>
          </a:ln>
        </p:spPr>
        <p:txBody>
          <a:bodyPr wrap="square" lIns="0" tIns="0" rIns="0" bIns="0" anchor="ctr">
            <a:noAutofit/>
          </a:bodyPr>
          <a:lstStyle/>
          <a:p>
            <a:pPr>
              <a:buNone/>
              <a:defRPr sz="878">
                <a:solidFill>
                  <a:srgbClr val="526277"/>
                </a:solidFill>
                <a:latin typeface="Calibri"/>
                <a:ea typeface="Calibri"/>
                <a:cs typeface="Calibri"/>
              </a:defRPr>
            </a:pPr>
            <a:r>
              <a:rPr sz="878">
                <a:solidFill>
                  <a:srgbClr val="526277"/>
                </a:solidFill>
                <a:latin typeface="Calibri"/>
                <a:ea typeface="Calibri"/>
                <a:cs typeface="Calibri"/>
              </a:rPr>
              <a:t>Fuente: inventario auditado SINCA, 15-sep-2026. Series contabilizadas en el alcance seleccionado.</a:t>
            </a:r>
          </a:p>
        </p:txBody>
      </p:sp>
    </p:spTree>
    <p:extLst>
      <p:ext uri="{BB962C8B-B14F-4D97-AF65-F5344CB8AC3E}">
        <p14:creationId xmlns:p14="http://schemas.microsoft.com/office/powerpoint/2010/main" val="322757276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abecera azul UC">
            <a:extLst>
              <a:ext uri="{FF2B5EF4-FFF2-40B4-BE49-F238E27FC236}">
                <a16:creationId xmlns:a16="http://schemas.microsoft.com/office/drawing/2014/main" id="{3486DB9C-93DE-456A-BF48-2757BBD61ACE}"/>
              </a:ext>
            </a:extLst>
          </p:cNvPr>
          <p:cNvSpPr>
            <a:spLocks noGrp="1"/>
          </p:cNvSpPr>
          <p:nvPr/>
        </p:nvSpPr>
        <p:spPr>
          <a:xfrm>
            <a:off x="158742" y="0"/>
            <a:ext cx="8985258" cy="1007195"/>
          </a:xfrm>
          <a:prstGeom prst="rect">
            <a:avLst/>
          </a:prstGeom>
          <a:solidFill>
            <a:srgbClr val="017EDF"/>
          </a:solidFill>
          <a:ln>
            <a:noFill/>
          </a:ln>
        </p:spPr>
        <p:txBody>
          <a:bodyPr/>
          <a:lstStyle/>
          <a:p>
            <a:endParaRPr lang="es-CL"/>
          </a:p>
        </p:txBody>
      </p:sp>
      <p:sp>
        <p:nvSpPr>
          <p:cNvPr id="4" name="Rectángulo 9">
            <a:extLst>
              <a:ext uri="{FF2B5EF4-FFF2-40B4-BE49-F238E27FC236}">
                <a16:creationId xmlns:a16="http://schemas.microsoft.com/office/drawing/2014/main" id="{2DE33766-2918-41FC-A1B9-B4BF483C8974}"/>
              </a:ext>
            </a:extLst>
          </p:cNvPr>
          <p:cNvSpPr>
            <a:spLocks noGrp="1"/>
          </p:cNvSpPr>
          <p:nvPr/>
        </p:nvSpPr>
        <p:spPr>
          <a:xfrm>
            <a:off x="0" y="149945"/>
            <a:ext cx="158742" cy="857250"/>
          </a:xfrm>
          <a:prstGeom prst="rect">
            <a:avLst/>
          </a:prstGeom>
          <a:solidFill>
            <a:srgbClr val="FFE2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Rectángulo 7">
            <a:extLst>
              <a:ext uri="{FF2B5EF4-FFF2-40B4-BE49-F238E27FC236}">
                <a16:creationId xmlns:a16="http://schemas.microsoft.com/office/drawing/2014/main" id="{3BCD4458-45E8-4C73-A3B6-249CEEFBDB7B}"/>
              </a:ext>
            </a:extLst>
          </p:cNvPr>
          <p:cNvSpPr>
            <a:spLocks noGrp="1"/>
          </p:cNvSpPr>
          <p:nvPr/>
        </p:nvSpPr>
        <p:spPr>
          <a:xfrm flipV="1">
            <a:off x="169334" y="4871120"/>
            <a:ext cx="8815911" cy="177311"/>
          </a:xfrm>
          <a:prstGeom prst="rect">
            <a:avLst/>
          </a:prstGeom>
          <a:solidFill>
            <a:schemeClr val="bg1">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Rectángulo 10">
            <a:extLst>
              <a:ext uri="{FF2B5EF4-FFF2-40B4-BE49-F238E27FC236}">
                <a16:creationId xmlns:a16="http://schemas.microsoft.com/office/drawing/2014/main" id="{A18DC9E6-BD6D-4FE1-AEC0-9715BEE3912A}"/>
              </a:ext>
            </a:extLst>
          </p:cNvPr>
          <p:cNvSpPr>
            <a:spLocks noGrp="1"/>
          </p:cNvSpPr>
          <p:nvPr/>
        </p:nvSpPr>
        <p:spPr>
          <a:xfrm flipV="1">
            <a:off x="7200957" y="4871118"/>
            <a:ext cx="1119038" cy="177313"/>
          </a:xfrm>
          <a:prstGeom prst="rect">
            <a:avLst/>
          </a:prstGeom>
          <a:solidFill>
            <a:srgbClr val="3366CC"/>
          </a:solidFill>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ítulo 1">
            <a:extLst>
              <a:ext uri="{FF2B5EF4-FFF2-40B4-BE49-F238E27FC236}">
                <a16:creationId xmlns:a16="http://schemas.microsoft.com/office/drawing/2014/main" id="{438D0FA2-1899-4EDF-9FA4-D1742768DFC6}"/>
              </a:ext>
            </a:extLst>
          </p:cNvPr>
          <p:cNvSpPr>
            <a:spLocks noGrp="1"/>
          </p:cNvSpPr>
          <p:nvPr>
            <p:ph type="title"/>
          </p:nvPr>
        </p:nvSpPr>
        <p:spPr>
          <a:xfrm>
            <a:off x="457200" y="149945"/>
            <a:ext cx="8229600" cy="857250"/>
          </a:xfrm>
        </p:spPr>
        <p:txBody>
          <a:bodyPr wrap="square" anchor="ctr">
            <a:noAutofit/>
          </a:bodyPr>
          <a:lstStyle/>
          <a:p>
            <a:pPr algn="l">
              <a:spcBef>
                <a:spcPts val="0"/>
              </a:spcBef>
              <a:spcAft>
                <a:spcPts val="0"/>
              </a:spcAft>
              <a:defRPr sz="1900" b="1">
                <a:solidFill>
                  <a:srgbClr val="FFFFFF"/>
                </a:solidFill>
                <a:latin typeface="Calibri"/>
                <a:ea typeface="Calibri"/>
                <a:cs typeface="Calibri"/>
              </a:defRPr>
            </a:pPr>
            <a:r>
              <a:rPr sz="1900" b="1">
                <a:solidFill>
                  <a:srgbClr val="FFFFFF"/>
                </a:solidFill>
                <a:latin typeface="Calibri"/>
                <a:ea typeface="Calibri"/>
                <a:cs typeface="Calibri"/>
              </a:rPr>
              <a:t>Resultados descriptivos: calidad de los registros SINCA</a:t>
            </a:r>
          </a:p>
        </p:txBody>
      </p:sp>
      <p:sp>
        <p:nvSpPr>
          <p:cNvPr id="8" name="Denominador">
            <a:extLst>
              <a:ext uri="{FF2B5EF4-FFF2-40B4-BE49-F238E27FC236}">
                <a16:creationId xmlns:a16="http://schemas.microsoft.com/office/drawing/2014/main" id="{D4DC9827-39C2-4761-ACA2-011E04662E8E}"/>
              </a:ext>
            </a:extLst>
          </p:cNvPr>
          <p:cNvSpPr>
            <a:spLocks noGrp="1"/>
          </p:cNvSpPr>
          <p:nvPr/>
        </p:nvSpPr>
        <p:spPr>
          <a:xfrm>
            <a:off x="552450" y="1200150"/>
            <a:ext cx="8039100" cy="314325"/>
          </a:xfrm>
          <a:prstGeom prst="rect">
            <a:avLst/>
          </a:prstGeom>
          <a:noFill/>
          <a:ln w="0">
            <a:noFill/>
          </a:ln>
        </p:spPr>
        <p:txBody>
          <a:bodyPr wrap="square" lIns="0" tIns="0" rIns="0" bIns="0">
            <a:noAutofit/>
          </a:bodyPr>
          <a:lstStyle/>
          <a:p>
            <a:pPr>
              <a:buNone/>
              <a:defRPr sz="1650" b="1">
                <a:solidFill>
                  <a:srgbClr val="17375D"/>
                </a:solidFill>
                <a:latin typeface="Calibri"/>
                <a:ea typeface="Calibri"/>
                <a:cs typeface="Calibri"/>
              </a:defRPr>
            </a:pPr>
            <a:r>
              <a:rPr sz="1650" b="1">
                <a:solidFill>
                  <a:srgbClr val="17375D"/>
                </a:solidFill>
                <a:latin typeface="Calibri"/>
                <a:ea typeface="Calibri"/>
                <a:cs typeface="Calibri"/>
              </a:rPr>
              <a:t>94.311.869 filas seleccionadas · 42.708.344 con medición (45,28%)</a:t>
            </a:r>
          </a:p>
        </p:txBody>
      </p:sp>
      <p:graphicFrame>
        <p:nvGraphicFramePr>
          <p:cNvPr id="19" name="Chart"/>
          <p:cNvGraphicFramePr/>
          <p:nvPr/>
        </p:nvGraphicFramePr>
        <p:xfrm>
          <a:off x="600075" y="1666875"/>
          <a:ext cx="7820025" cy="2590800"/>
        </p:xfrm>
        <a:graphic>
          <a:graphicData uri="http://schemas.openxmlformats.org/drawingml/2006/chart">
            <c:chart xmlns:c="http://schemas.openxmlformats.org/drawingml/2006/chart" xmlns:r="http://schemas.openxmlformats.org/officeDocument/2006/relationships" r:id="rId3"/>
          </a:graphicData>
        </a:graphic>
      </p:graphicFrame>
      <p:sp>
        <p:nvSpPr>
          <p:cNvPr id="10" name="Cautela">
            <a:extLst>
              <a:ext uri="{FF2B5EF4-FFF2-40B4-BE49-F238E27FC236}">
                <a16:creationId xmlns:a16="http://schemas.microsoft.com/office/drawing/2014/main" id="{461CE665-410F-4170-B7BC-46A1A15AA257}"/>
              </a:ext>
            </a:extLst>
          </p:cNvPr>
          <p:cNvSpPr>
            <a:spLocks noGrp="1"/>
          </p:cNvSpPr>
          <p:nvPr/>
        </p:nvSpPr>
        <p:spPr>
          <a:xfrm>
            <a:off x="552450" y="4333875"/>
            <a:ext cx="8039100" cy="276225"/>
          </a:xfrm>
          <a:prstGeom prst="rect">
            <a:avLst/>
          </a:prstGeom>
          <a:noFill/>
          <a:ln w="0">
            <a:noFill/>
          </a:ln>
        </p:spPr>
        <p:txBody>
          <a:bodyPr wrap="square" lIns="0" tIns="0" rIns="0" bIns="0">
            <a:noAutofit/>
          </a:bodyPr>
          <a:lstStyle/>
          <a:p>
            <a:pPr algn="l">
              <a:spcBef>
                <a:spcPts val="0"/>
              </a:spcBef>
              <a:spcAft>
                <a:spcPts val="0"/>
              </a:spcAft>
              <a:buNone/>
              <a:defRPr sz="1200" b="0">
                <a:solidFill>
                  <a:srgbClr val="17375D"/>
                </a:solidFill>
                <a:latin typeface="Calibri"/>
                <a:ea typeface="Calibri"/>
                <a:cs typeface="Calibri"/>
              </a:defRPr>
            </a:pPr>
            <a:r>
              <a:rPr sz="1200" b="0">
                <a:solidFill>
                  <a:srgbClr val="17375D"/>
                </a:solidFill>
                <a:latin typeface="Calibri"/>
                <a:ea typeface="Calibri"/>
                <a:cs typeface="Calibri"/>
              </a:rPr>
              <a:t>Las figuras del HTML usan filtros propios. El reloj y las unidades aún deben confirmarse por serie.</a:t>
            </a:r>
          </a:p>
        </p:txBody>
      </p:sp>
      <p:sp>
        <p:nvSpPr>
          <p:cNvPr id="11" name="Fuente y alcance">
            <a:extLst>
              <a:ext uri="{FF2B5EF4-FFF2-40B4-BE49-F238E27FC236}">
                <a16:creationId xmlns:a16="http://schemas.microsoft.com/office/drawing/2014/main" id="{5CC8B3C4-48E5-44A8-AAA2-71C8C2ABA65C}"/>
              </a:ext>
            </a:extLst>
          </p:cNvPr>
          <p:cNvSpPr>
            <a:spLocks noGrp="1"/>
          </p:cNvSpPr>
          <p:nvPr/>
        </p:nvSpPr>
        <p:spPr>
          <a:xfrm>
            <a:off x="548640" y="4600575"/>
            <a:ext cx="8046720" cy="228600"/>
          </a:xfrm>
          <a:prstGeom prst="rect">
            <a:avLst/>
          </a:prstGeom>
          <a:noFill/>
          <a:ln w="0">
            <a:noFill/>
          </a:ln>
        </p:spPr>
        <p:txBody>
          <a:bodyPr wrap="square" lIns="0" tIns="0" rIns="0" bIns="0" anchor="ctr">
            <a:noAutofit/>
          </a:bodyPr>
          <a:lstStyle/>
          <a:p>
            <a:pPr>
              <a:buNone/>
              <a:defRPr sz="878">
                <a:solidFill>
                  <a:srgbClr val="526277"/>
                </a:solidFill>
                <a:latin typeface="Calibri"/>
                <a:ea typeface="Calibri"/>
                <a:cs typeface="Calibri"/>
              </a:defRPr>
            </a:pPr>
            <a:r>
              <a:rPr sz="878">
                <a:solidFill>
                  <a:srgbClr val="526277"/>
                </a:solidFill>
                <a:latin typeface="Calibri"/>
                <a:ea typeface="Calibri"/>
                <a:cs typeface="Calibri"/>
              </a:rPr>
              <a:t>Corte SINCA, 15-sep-2026 · 403 series del inventario; no faltancia territorial. Denominador: 94.311.869; redondeo: 100,01%.</a:t>
            </a:r>
          </a:p>
        </p:txBody>
      </p:sp>
    </p:spTree>
    <p:extLst>
      <p:ext uri="{BB962C8B-B14F-4D97-AF65-F5344CB8AC3E}">
        <p14:creationId xmlns:p14="http://schemas.microsoft.com/office/powerpoint/2010/main" val="322757276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abecera azul UC">
            <a:extLst>
              <a:ext uri="{FF2B5EF4-FFF2-40B4-BE49-F238E27FC236}">
                <a16:creationId xmlns:a16="http://schemas.microsoft.com/office/drawing/2014/main" id="{3486DB9C-93DE-456A-BF48-2757BBD61ACE}"/>
              </a:ext>
            </a:extLst>
          </p:cNvPr>
          <p:cNvSpPr>
            <a:spLocks noGrp="1"/>
          </p:cNvSpPr>
          <p:nvPr/>
        </p:nvSpPr>
        <p:spPr>
          <a:xfrm>
            <a:off x="158742" y="0"/>
            <a:ext cx="8985258" cy="1007195"/>
          </a:xfrm>
          <a:prstGeom prst="rect">
            <a:avLst/>
          </a:prstGeom>
          <a:solidFill>
            <a:srgbClr val="017EDF"/>
          </a:solidFill>
          <a:ln>
            <a:noFill/>
          </a:ln>
        </p:spPr>
        <p:txBody>
          <a:bodyPr/>
          <a:lstStyle/>
          <a:p>
            <a:endParaRPr lang="es-CL"/>
          </a:p>
        </p:txBody>
      </p:sp>
      <p:sp>
        <p:nvSpPr>
          <p:cNvPr id="4" name="Rectángulo 9">
            <a:extLst>
              <a:ext uri="{FF2B5EF4-FFF2-40B4-BE49-F238E27FC236}">
                <a16:creationId xmlns:a16="http://schemas.microsoft.com/office/drawing/2014/main" id="{2DE33766-2918-41FC-A1B9-B4BF483C8974}"/>
              </a:ext>
            </a:extLst>
          </p:cNvPr>
          <p:cNvSpPr>
            <a:spLocks noGrp="1"/>
          </p:cNvSpPr>
          <p:nvPr/>
        </p:nvSpPr>
        <p:spPr>
          <a:xfrm>
            <a:off x="0" y="149945"/>
            <a:ext cx="158742" cy="857250"/>
          </a:xfrm>
          <a:prstGeom prst="rect">
            <a:avLst/>
          </a:prstGeom>
          <a:solidFill>
            <a:srgbClr val="FFE2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Rectángulo 7">
            <a:extLst>
              <a:ext uri="{FF2B5EF4-FFF2-40B4-BE49-F238E27FC236}">
                <a16:creationId xmlns:a16="http://schemas.microsoft.com/office/drawing/2014/main" id="{3BCD4458-45E8-4C73-A3B6-249CEEFBDB7B}"/>
              </a:ext>
            </a:extLst>
          </p:cNvPr>
          <p:cNvSpPr>
            <a:spLocks noGrp="1"/>
          </p:cNvSpPr>
          <p:nvPr/>
        </p:nvSpPr>
        <p:spPr>
          <a:xfrm flipV="1">
            <a:off x="169334" y="4871120"/>
            <a:ext cx="8815911" cy="177311"/>
          </a:xfrm>
          <a:prstGeom prst="rect">
            <a:avLst/>
          </a:prstGeom>
          <a:solidFill>
            <a:schemeClr val="bg1">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Rectángulo 10">
            <a:extLst>
              <a:ext uri="{FF2B5EF4-FFF2-40B4-BE49-F238E27FC236}">
                <a16:creationId xmlns:a16="http://schemas.microsoft.com/office/drawing/2014/main" id="{A18DC9E6-BD6D-4FE1-AEC0-9715BEE3912A}"/>
              </a:ext>
            </a:extLst>
          </p:cNvPr>
          <p:cNvSpPr>
            <a:spLocks noGrp="1"/>
          </p:cNvSpPr>
          <p:nvPr/>
        </p:nvSpPr>
        <p:spPr>
          <a:xfrm flipV="1">
            <a:off x="7200957" y="4871118"/>
            <a:ext cx="1119038" cy="177313"/>
          </a:xfrm>
          <a:prstGeom prst="rect">
            <a:avLst/>
          </a:prstGeom>
          <a:solidFill>
            <a:srgbClr val="3366CC"/>
          </a:solidFill>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ítulo 1">
            <a:extLst>
              <a:ext uri="{FF2B5EF4-FFF2-40B4-BE49-F238E27FC236}">
                <a16:creationId xmlns:a16="http://schemas.microsoft.com/office/drawing/2014/main" id="{438D0FA2-1899-4EDF-9FA4-D1742768DFC6}"/>
              </a:ext>
            </a:extLst>
          </p:cNvPr>
          <p:cNvSpPr>
            <a:spLocks noGrp="1"/>
          </p:cNvSpPr>
          <p:nvPr>
            <p:ph type="title"/>
          </p:nvPr>
        </p:nvSpPr>
        <p:spPr>
          <a:xfrm>
            <a:off x="457200" y="149945"/>
            <a:ext cx="8229600" cy="857250"/>
          </a:xfrm>
        </p:spPr>
        <p:txBody>
          <a:bodyPr wrap="square" anchor="ctr">
            <a:noAutofit/>
          </a:bodyPr>
          <a:lstStyle/>
          <a:p>
            <a:pPr algn="l">
              <a:spcBef>
                <a:spcPts val="0"/>
              </a:spcBef>
              <a:spcAft>
                <a:spcPts val="0"/>
              </a:spcAft>
              <a:defRPr sz="1900" b="1">
                <a:solidFill>
                  <a:srgbClr val="FFFFFF"/>
                </a:solidFill>
                <a:latin typeface="Calibri"/>
                <a:ea typeface="Calibri"/>
                <a:cs typeface="Calibri"/>
              </a:defRPr>
            </a:pPr>
            <a:r>
              <a:rPr sz="1900" b="1">
                <a:solidFill>
                  <a:srgbClr val="FFFFFF"/>
                </a:solidFill>
                <a:latin typeface="Calibri"/>
                <a:ea typeface="Calibri"/>
                <a:cs typeface="Calibri"/>
              </a:rPr>
              <a:t>Resultados descriptivos: PM₂.₅ observado</a:t>
            </a:r>
          </a:p>
        </p:txBody>
      </p:sp>
      <p:sp>
        <p:nvSpPr>
          <p:cNvPr id="8" name="Periodo">
            <a:extLst>
              <a:ext uri="{FF2B5EF4-FFF2-40B4-BE49-F238E27FC236}">
                <a16:creationId xmlns:a16="http://schemas.microsoft.com/office/drawing/2014/main" id="{C3BE8E15-1C36-474B-AD31-A03C4DEE62F6}"/>
              </a:ext>
            </a:extLst>
          </p:cNvPr>
          <p:cNvSpPr>
            <a:spLocks noGrp="1"/>
          </p:cNvSpPr>
          <p:nvPr/>
        </p:nvSpPr>
        <p:spPr>
          <a:xfrm>
            <a:off x="552450" y="1143000"/>
            <a:ext cx="8039100" cy="266700"/>
          </a:xfrm>
          <a:prstGeom prst="rect">
            <a:avLst/>
          </a:prstGeom>
          <a:noFill/>
          <a:ln w="0">
            <a:noFill/>
          </a:ln>
        </p:spPr>
        <p:txBody>
          <a:bodyPr wrap="square" lIns="0" tIns="0" rIns="0" bIns="0" anchor="t">
            <a:noAutofit/>
          </a:bodyPr>
          <a:lstStyle/>
          <a:p>
            <a:pPr algn="l">
              <a:buNone/>
              <a:defRPr sz="1575" b="1">
                <a:solidFill>
                  <a:srgbClr val="17375D"/>
                </a:solidFill>
                <a:latin typeface="Calibri"/>
                <a:ea typeface="Calibri"/>
                <a:cs typeface="Calibri"/>
              </a:defRPr>
            </a:pPr>
            <a:r>
              <a:rPr sz="1575" b="1">
                <a:solidFill>
                  <a:srgbClr val="17375D"/>
                </a:solidFill>
                <a:latin typeface="Calibri"/>
                <a:ea typeface="Calibri"/>
                <a:cs typeface="Calibri"/>
              </a:rPr>
              <a:t>2024–13 sep 2026 · período parcial</a:t>
            </a:r>
          </a:p>
        </p:txBody>
      </p:sp>
      <p:sp>
        <p:nvSpPr>
          <p:cNvPr id="9" name="Nacional">
            <a:extLst>
              <a:ext uri="{FF2B5EF4-FFF2-40B4-BE49-F238E27FC236}">
                <a16:creationId xmlns:a16="http://schemas.microsoft.com/office/drawing/2014/main" id="{F2AFDAEA-8D02-4DB5-95CE-47BFC59F6321}"/>
              </a:ext>
            </a:extLst>
          </p:cNvPr>
          <p:cNvSpPr>
            <a:spLocks noGrp="1"/>
          </p:cNvSpPr>
          <p:nvPr/>
        </p:nvSpPr>
        <p:spPr>
          <a:xfrm>
            <a:off x="561975" y="1514475"/>
            <a:ext cx="2000250" cy="266700"/>
          </a:xfrm>
          <a:prstGeom prst="rect">
            <a:avLst/>
          </a:prstGeom>
          <a:noFill/>
          <a:ln w="0">
            <a:noFill/>
          </a:ln>
        </p:spPr>
        <p:txBody>
          <a:bodyPr wrap="square" lIns="0" tIns="0" rIns="0" bIns="0" anchor="t">
            <a:noAutofit/>
          </a:bodyPr>
          <a:lstStyle/>
          <a:p>
            <a:pPr algn="l">
              <a:buNone/>
              <a:defRPr sz="1425" b="1">
                <a:solidFill>
                  <a:srgbClr val="17375D"/>
                </a:solidFill>
                <a:latin typeface="Calibri"/>
                <a:ea typeface="Calibri"/>
                <a:cs typeface="Calibri"/>
              </a:defRPr>
            </a:pPr>
            <a:r>
              <a:rPr sz="1425" b="1">
                <a:solidFill>
                  <a:srgbClr val="17375D"/>
                </a:solidFill>
                <a:latin typeface="Calibri"/>
                <a:ea typeface="Calibri"/>
                <a:cs typeface="Calibri"/>
              </a:rPr>
              <a:t>Chile continental</a:t>
            </a:r>
          </a:p>
        </p:txBody>
      </p:sp>
      <p:sp>
        <p:nvSpPr>
          <p:cNvPr id="10" name="Centro">
            <a:extLst>
              <a:ext uri="{FF2B5EF4-FFF2-40B4-BE49-F238E27FC236}">
                <a16:creationId xmlns:a16="http://schemas.microsoft.com/office/drawing/2014/main" id="{F907E0F4-7DDE-4C51-B47E-865392B57092}"/>
              </a:ext>
            </a:extLst>
          </p:cNvPr>
          <p:cNvSpPr>
            <a:spLocks noGrp="1"/>
          </p:cNvSpPr>
          <p:nvPr/>
        </p:nvSpPr>
        <p:spPr>
          <a:xfrm>
            <a:off x="3000375" y="1514475"/>
            <a:ext cx="3714750" cy="266700"/>
          </a:xfrm>
          <a:prstGeom prst="rect">
            <a:avLst/>
          </a:prstGeom>
          <a:noFill/>
          <a:ln w="0">
            <a:noFill/>
          </a:ln>
        </p:spPr>
        <p:txBody>
          <a:bodyPr wrap="square" lIns="0" tIns="0" rIns="0" bIns="0" anchor="t">
            <a:noAutofit/>
          </a:bodyPr>
          <a:lstStyle/>
          <a:p>
            <a:pPr algn="l">
              <a:buNone/>
              <a:defRPr sz="1425" b="1">
                <a:solidFill>
                  <a:srgbClr val="17375D"/>
                </a:solidFill>
                <a:latin typeface="Calibri"/>
                <a:ea typeface="Calibri"/>
                <a:cs typeface="Calibri"/>
              </a:defRPr>
            </a:pPr>
            <a:r>
              <a:rPr sz="1425" b="1">
                <a:solidFill>
                  <a:srgbClr val="17375D"/>
                </a:solidFill>
                <a:latin typeface="Calibri"/>
                <a:ea typeface="Calibri"/>
                <a:cs typeface="Calibri"/>
              </a:rPr>
              <a:t>Detalle de la zona central</a:t>
            </a:r>
          </a:p>
        </p:txBody>
      </p:sp>
      <p:pic>
        <p:nvPicPr>
          <p:cNvPr id="29" name="pm25_desc_mapa_cuatrienios_nacional.png" descr="PM₂.₅ observado en Chile continental, panel 2024–2026, 97 estaciones. Recorte del mapa descriptivo original del HTML."/>
          <p:cNvPicPr>
            <a:picLocks noChangeAspect="1"/>
          </p:cNvPicPr>
          <p:nvPr/>
        </p:nvPicPr>
        <p:blipFill>
          <a:blip r:embed="rId3"/>
          <a:srcRect l="71931" t="12457" r="16658" b="1365"/>
          <a:stretch>
            <a:fillRect/>
          </a:stretch>
        </p:blipFill>
        <p:spPr>
          <a:xfrm>
            <a:off x="1193322" y="1847850"/>
            <a:ext cx="585156" cy="2638425"/>
          </a:xfrm>
          <a:prstGeom prst="rect">
            <a:avLst/>
          </a:prstGeom>
        </p:spPr>
      </p:pic>
      <p:pic>
        <p:nvPicPr>
          <p:cNvPr id="30" name="pm25_desc_mapa_cuatrienios_centro.png" descr="PM₂.₅ observado en Valparaíso, Metropolitana y O'Higgins, panel 2024–2026. Recorte original sin recalcular valores."/>
          <p:cNvPicPr>
            <a:picLocks noChangeAspect="1"/>
          </p:cNvPicPr>
          <p:nvPr/>
        </p:nvPicPr>
        <p:blipFill>
          <a:blip r:embed="rId4"/>
          <a:srcRect l="73258" t="23459" r="14917" b="1789"/>
          <a:stretch>
            <a:fillRect/>
          </a:stretch>
        </p:blipFill>
        <p:spPr>
          <a:xfrm>
            <a:off x="3307341" y="1847850"/>
            <a:ext cx="1691118" cy="2638425"/>
          </a:xfrm>
          <a:prstGeom prst="rect">
            <a:avLst/>
          </a:prstGeom>
        </p:spPr>
      </p:pic>
      <p:pic>
        <p:nvPicPr>
          <p:cNvPr id="31" name="pm25_desc_mapa_cuatrienios_centro.png" descr="Escala de concentración observada de PM₂.₅ en µg/m³, idéntica al mapa original."/>
          <p:cNvPicPr>
            <a:picLocks noChangeAspect="1"/>
          </p:cNvPicPr>
          <p:nvPr/>
        </p:nvPicPr>
        <p:blipFill>
          <a:blip r:embed="rId4"/>
          <a:srcRect l="95142" t="28429" b="12922"/>
          <a:stretch>
            <a:fillRect/>
          </a:stretch>
        </p:blipFill>
        <p:spPr>
          <a:xfrm>
            <a:off x="5501301" y="1905000"/>
            <a:ext cx="760773" cy="2266950"/>
          </a:xfrm>
          <a:prstGeom prst="rect">
            <a:avLst/>
          </a:prstGeom>
        </p:spPr>
      </p:pic>
      <p:sp>
        <p:nvSpPr>
          <p:cNvPr id="14" name="Lectura1">
            <a:extLst>
              <a:ext uri="{FF2B5EF4-FFF2-40B4-BE49-F238E27FC236}">
                <a16:creationId xmlns:a16="http://schemas.microsoft.com/office/drawing/2014/main" id="{E77AFD83-C843-4AD4-8FBC-F9BE5BEE31D5}"/>
              </a:ext>
            </a:extLst>
          </p:cNvPr>
          <p:cNvSpPr>
            <a:spLocks noGrp="1"/>
          </p:cNvSpPr>
          <p:nvPr/>
        </p:nvSpPr>
        <p:spPr>
          <a:xfrm>
            <a:off x="6629400" y="1924050"/>
            <a:ext cx="1847850" cy="600075"/>
          </a:xfrm>
          <a:prstGeom prst="rect">
            <a:avLst/>
          </a:prstGeom>
          <a:noFill/>
          <a:ln w="0">
            <a:noFill/>
          </a:ln>
        </p:spPr>
        <p:txBody>
          <a:bodyPr wrap="square" lIns="0" tIns="0" rIns="0" bIns="0" anchor="t">
            <a:noAutofit/>
          </a:bodyPr>
          <a:lstStyle/>
          <a:p>
            <a:pPr algn="l">
              <a:buNone/>
              <a:defRPr sz="1725" b="1">
                <a:solidFill>
                  <a:srgbClr val="17375D"/>
                </a:solidFill>
                <a:latin typeface="Calibri"/>
                <a:ea typeface="Calibri"/>
                <a:cs typeface="Calibri"/>
              </a:defRPr>
            </a:pPr>
            <a:r>
              <a:rPr sz="1725" b="1">
                <a:solidFill>
                  <a:srgbClr val="17375D"/>
                </a:solidFill>
                <a:latin typeface="Calibri"/>
                <a:ea typeface="Calibri"/>
                <a:cs typeface="Calibri"/>
              </a:rPr>
              <a:t>97 estaciones</a:t>
            </a:r>
          </a:p>
          <a:p>
            <a:pPr algn="l">
              <a:buNone/>
              <a:defRPr sz="1725" b="1">
                <a:solidFill>
                  <a:srgbClr val="17375D"/>
                </a:solidFill>
                <a:latin typeface="Calibri"/>
                <a:ea typeface="Calibri"/>
                <a:cs typeface="Calibri"/>
              </a:defRPr>
            </a:pPr>
            <a:r>
              <a:rPr sz="1725" b="1">
                <a:solidFill>
                  <a:srgbClr val="17375D"/>
                </a:solidFill>
                <a:latin typeface="Calibri"/>
                <a:ea typeface="Calibri"/>
                <a:cs typeface="Calibri"/>
              </a:rPr>
              <a:t>en la vista nacional</a:t>
            </a:r>
          </a:p>
        </p:txBody>
      </p:sp>
      <p:sp>
        <p:nvSpPr>
          <p:cNvPr id="15" name="Lectura2">
            <a:extLst>
              <a:ext uri="{FF2B5EF4-FFF2-40B4-BE49-F238E27FC236}">
                <a16:creationId xmlns:a16="http://schemas.microsoft.com/office/drawing/2014/main" id="{BB02B59F-B262-449E-B161-A1C10A356487}"/>
              </a:ext>
            </a:extLst>
          </p:cNvPr>
          <p:cNvSpPr>
            <a:spLocks noGrp="1"/>
          </p:cNvSpPr>
          <p:nvPr/>
        </p:nvSpPr>
        <p:spPr>
          <a:xfrm>
            <a:off x="6629400" y="2695575"/>
            <a:ext cx="1914525" cy="1209675"/>
          </a:xfrm>
          <a:prstGeom prst="rect">
            <a:avLst/>
          </a:prstGeom>
          <a:noFill/>
          <a:ln w="0">
            <a:noFill/>
          </a:ln>
        </p:spPr>
        <p:txBody>
          <a:bodyPr wrap="square" lIns="0" tIns="0" rIns="0" bIns="0" anchor="t">
            <a:noAutofit/>
          </a:bodyPr>
          <a:lstStyle/>
          <a:p>
            <a:pPr algn="l">
              <a:buNone/>
              <a:defRPr sz="1425">
                <a:solidFill>
                  <a:srgbClr val="1E293B"/>
                </a:solidFill>
                <a:latin typeface="Calibri"/>
                <a:ea typeface="Calibri"/>
                <a:cs typeface="Calibri"/>
              </a:defRPr>
            </a:pPr>
            <a:r>
              <a:rPr sz="1425">
                <a:solidFill>
                  <a:srgbClr val="1E293B"/>
                </a:solidFill>
                <a:latin typeface="Calibri"/>
                <a:ea typeface="Calibri"/>
                <a:cs typeface="Calibri"/>
              </a:rPr>
              <a:t>Cada punto representa</a:t>
            </a:r>
          </a:p>
          <a:p>
            <a:pPr algn="l">
              <a:buNone/>
              <a:defRPr sz="1425">
                <a:solidFill>
                  <a:srgbClr val="1E293B"/>
                </a:solidFill>
                <a:latin typeface="Calibri"/>
                <a:ea typeface="Calibri"/>
                <a:cs typeface="Calibri"/>
              </a:defRPr>
            </a:pPr>
            <a:r>
              <a:rPr sz="1425">
                <a:solidFill>
                  <a:srgbClr val="1E293B"/>
                </a:solidFill>
                <a:latin typeface="Calibri"/>
                <a:ea typeface="Calibri"/>
                <a:cs typeface="Calibri"/>
              </a:rPr>
              <a:t>una estación.</a:t>
            </a:r>
          </a:p>
          <a:p>
            <a:endParaRPr sz="1425">
              <a:solidFill>
                <a:srgbClr val="1E293B"/>
              </a:solidFill>
              <a:latin typeface="Calibri"/>
              <a:ea typeface="Calibri"/>
              <a:cs typeface="Calibri"/>
            </a:endParaRPr>
          </a:p>
          <a:p>
            <a:pPr algn="l">
              <a:buNone/>
              <a:defRPr sz="1425">
                <a:solidFill>
                  <a:srgbClr val="1E293B"/>
                </a:solidFill>
                <a:latin typeface="Calibri"/>
                <a:ea typeface="Calibri"/>
                <a:cs typeface="Calibri"/>
              </a:defRPr>
            </a:pPr>
            <a:r>
              <a:rPr sz="1425">
                <a:solidFill>
                  <a:srgbClr val="1E293B"/>
                </a:solidFill>
                <a:latin typeface="Calibri"/>
                <a:ea typeface="Calibri"/>
                <a:cs typeface="Calibri"/>
              </a:rPr>
              <a:t>El color muestra su</a:t>
            </a:r>
          </a:p>
          <a:p>
            <a:pPr algn="l">
              <a:buNone/>
              <a:defRPr sz="1425">
                <a:solidFill>
                  <a:srgbClr val="1E293B"/>
                </a:solidFill>
                <a:latin typeface="Calibri"/>
                <a:ea typeface="Calibri"/>
                <a:cs typeface="Calibri"/>
              </a:defRPr>
            </a:pPr>
            <a:r>
              <a:rPr sz="1425">
                <a:solidFill>
                  <a:srgbClr val="1E293B"/>
                </a:solidFill>
                <a:latin typeface="Calibri"/>
                <a:ea typeface="Calibri"/>
                <a:cs typeface="Calibri"/>
              </a:rPr>
              <a:t>concentración media</a:t>
            </a:r>
          </a:p>
          <a:p>
            <a:pPr algn="l">
              <a:buNone/>
              <a:defRPr sz="1425">
                <a:solidFill>
                  <a:srgbClr val="1E293B"/>
                </a:solidFill>
                <a:latin typeface="Calibri"/>
                <a:ea typeface="Calibri"/>
                <a:cs typeface="Calibri"/>
              </a:defRPr>
            </a:pPr>
            <a:r>
              <a:rPr sz="1425">
                <a:solidFill>
                  <a:srgbClr val="1E293B"/>
                </a:solidFill>
                <a:latin typeface="Calibri"/>
                <a:ea typeface="Calibri"/>
                <a:cs typeface="Calibri"/>
              </a:rPr>
              <a:t>observada (µg/m³).</a:t>
            </a:r>
          </a:p>
        </p:txBody>
      </p:sp>
      <p:sp>
        <p:nvSpPr>
          <p:cNvPr id="16" name="Lectura3">
            <a:extLst>
              <a:ext uri="{FF2B5EF4-FFF2-40B4-BE49-F238E27FC236}">
                <a16:creationId xmlns:a16="http://schemas.microsoft.com/office/drawing/2014/main" id="{B5318D9B-4913-4306-BD95-961641EA3725}"/>
              </a:ext>
            </a:extLst>
          </p:cNvPr>
          <p:cNvSpPr>
            <a:spLocks noGrp="1"/>
          </p:cNvSpPr>
          <p:nvPr/>
        </p:nvSpPr>
        <p:spPr>
          <a:xfrm>
            <a:off x="6629400" y="4095750"/>
            <a:ext cx="1933575" cy="409575"/>
          </a:xfrm>
          <a:prstGeom prst="rect">
            <a:avLst/>
          </a:prstGeom>
          <a:noFill/>
          <a:ln w="0">
            <a:noFill/>
          </a:ln>
        </p:spPr>
        <p:txBody>
          <a:bodyPr wrap="square" lIns="0" tIns="0" rIns="0" bIns="0" anchor="t">
            <a:noAutofit/>
          </a:bodyPr>
          <a:lstStyle/>
          <a:p>
            <a:pPr algn="l">
              <a:buNone/>
              <a:defRPr sz="1275">
                <a:solidFill>
                  <a:srgbClr val="17375D"/>
                </a:solidFill>
                <a:latin typeface="Calibri"/>
                <a:ea typeface="Calibri"/>
                <a:cs typeface="Calibri"/>
              </a:defRPr>
            </a:pPr>
            <a:r>
              <a:rPr sz="1275">
                <a:solidFill>
                  <a:srgbClr val="17375D"/>
                </a:solidFill>
                <a:latin typeface="Calibri"/>
                <a:ea typeface="Calibri"/>
                <a:cs typeface="Calibri"/>
              </a:rPr>
              <a:t>Promedios de estación,</a:t>
            </a:r>
          </a:p>
          <a:p>
            <a:pPr algn="l">
              <a:buNone/>
              <a:defRPr sz="1275">
                <a:solidFill>
                  <a:srgbClr val="17375D"/>
                </a:solidFill>
                <a:latin typeface="Calibri"/>
                <a:ea typeface="Calibri"/>
                <a:cs typeface="Calibri"/>
              </a:defRPr>
            </a:pPr>
            <a:r>
              <a:rPr sz="1275">
                <a:solidFill>
                  <a:srgbClr val="17375D"/>
                </a:solidFill>
                <a:latin typeface="Calibri"/>
                <a:ea typeface="Calibri"/>
                <a:cs typeface="Calibri"/>
              </a:rPr>
              <a:t>sin interpolación espacial.</a:t>
            </a:r>
          </a:p>
        </p:txBody>
      </p:sp>
      <p:sp>
        <p:nvSpPr>
          <p:cNvPr id="17" name="Fuente y alcance">
            <a:extLst>
              <a:ext uri="{FF2B5EF4-FFF2-40B4-BE49-F238E27FC236}">
                <a16:creationId xmlns:a16="http://schemas.microsoft.com/office/drawing/2014/main" id="{01E65211-FA0A-4A3A-AA2B-D3BDE437C703}"/>
              </a:ext>
            </a:extLst>
          </p:cNvPr>
          <p:cNvSpPr>
            <a:spLocks noGrp="1"/>
          </p:cNvSpPr>
          <p:nvPr/>
        </p:nvSpPr>
        <p:spPr>
          <a:xfrm>
            <a:off x="548640" y="4610100"/>
            <a:ext cx="8046720" cy="209550"/>
          </a:xfrm>
          <a:prstGeom prst="rect">
            <a:avLst/>
          </a:prstGeom>
          <a:noFill/>
          <a:ln w="0">
            <a:noFill/>
          </a:ln>
        </p:spPr>
        <p:txBody>
          <a:bodyPr wrap="square" lIns="0" tIns="0" rIns="0" bIns="0" anchor="ctr">
            <a:noAutofit/>
          </a:bodyPr>
          <a:lstStyle/>
          <a:p>
            <a:pPr algn="l">
              <a:buNone/>
              <a:defRPr sz="863">
                <a:solidFill>
                  <a:srgbClr val="526277"/>
                </a:solidFill>
                <a:latin typeface="Calibri"/>
                <a:ea typeface="Calibri"/>
                <a:cs typeface="Calibri"/>
              </a:defRPr>
            </a:pPr>
            <a:r>
              <a:rPr sz="863">
                <a:solidFill>
                  <a:srgbClr val="526277"/>
                </a:solidFill>
                <a:latin typeface="Calibri"/>
                <a:ea typeface="Calibri"/>
                <a:cs typeface="Calibri"/>
              </a:rPr>
              <a:t>Fuente: HTML, sección 2, mapas descriptivos de PM₂.₅. Muestra filtrada distinta del inventario. Unidades y reloj sujetos al cierre de controles.</a:t>
            </a:r>
          </a:p>
        </p:txBody>
      </p:sp>
    </p:spTree>
    <p:extLst>
      <p:ext uri="{BB962C8B-B14F-4D97-AF65-F5344CB8AC3E}">
        <p14:creationId xmlns:p14="http://schemas.microsoft.com/office/powerpoint/2010/main" val="322757276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abecera azul UC">
            <a:extLst>
              <a:ext uri="{FF2B5EF4-FFF2-40B4-BE49-F238E27FC236}">
                <a16:creationId xmlns:a16="http://schemas.microsoft.com/office/drawing/2014/main" id="{3486DB9C-93DE-456A-BF48-2757BBD61ACE}"/>
              </a:ext>
            </a:extLst>
          </p:cNvPr>
          <p:cNvSpPr>
            <a:spLocks noGrp="1"/>
          </p:cNvSpPr>
          <p:nvPr/>
        </p:nvSpPr>
        <p:spPr>
          <a:xfrm>
            <a:off x="158742" y="0"/>
            <a:ext cx="8985258" cy="1007195"/>
          </a:xfrm>
          <a:prstGeom prst="rect">
            <a:avLst/>
          </a:prstGeom>
          <a:solidFill>
            <a:srgbClr val="017EDF"/>
          </a:solidFill>
          <a:ln>
            <a:noFill/>
          </a:ln>
        </p:spPr>
        <p:txBody>
          <a:bodyPr/>
          <a:lstStyle/>
          <a:p>
            <a:endParaRPr lang="es-CL"/>
          </a:p>
        </p:txBody>
      </p:sp>
      <p:sp>
        <p:nvSpPr>
          <p:cNvPr id="4" name="Rectángulo 9">
            <a:extLst>
              <a:ext uri="{FF2B5EF4-FFF2-40B4-BE49-F238E27FC236}">
                <a16:creationId xmlns:a16="http://schemas.microsoft.com/office/drawing/2014/main" id="{2DE33766-2918-41FC-A1B9-B4BF483C8974}"/>
              </a:ext>
            </a:extLst>
          </p:cNvPr>
          <p:cNvSpPr>
            <a:spLocks noGrp="1"/>
          </p:cNvSpPr>
          <p:nvPr/>
        </p:nvSpPr>
        <p:spPr>
          <a:xfrm>
            <a:off x="0" y="149945"/>
            <a:ext cx="158742" cy="857250"/>
          </a:xfrm>
          <a:prstGeom prst="rect">
            <a:avLst/>
          </a:prstGeom>
          <a:solidFill>
            <a:srgbClr val="FFE2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Rectángulo 7">
            <a:extLst>
              <a:ext uri="{FF2B5EF4-FFF2-40B4-BE49-F238E27FC236}">
                <a16:creationId xmlns:a16="http://schemas.microsoft.com/office/drawing/2014/main" id="{3BCD4458-45E8-4C73-A3B6-249CEEFBDB7B}"/>
              </a:ext>
            </a:extLst>
          </p:cNvPr>
          <p:cNvSpPr>
            <a:spLocks noGrp="1"/>
          </p:cNvSpPr>
          <p:nvPr/>
        </p:nvSpPr>
        <p:spPr>
          <a:xfrm flipV="1">
            <a:off x="169334" y="4871120"/>
            <a:ext cx="8815911" cy="177311"/>
          </a:xfrm>
          <a:prstGeom prst="rect">
            <a:avLst/>
          </a:prstGeom>
          <a:solidFill>
            <a:schemeClr val="bg1">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Rectángulo 10">
            <a:extLst>
              <a:ext uri="{FF2B5EF4-FFF2-40B4-BE49-F238E27FC236}">
                <a16:creationId xmlns:a16="http://schemas.microsoft.com/office/drawing/2014/main" id="{A18DC9E6-BD6D-4FE1-AEC0-9715BEE3912A}"/>
              </a:ext>
            </a:extLst>
          </p:cNvPr>
          <p:cNvSpPr>
            <a:spLocks noGrp="1"/>
          </p:cNvSpPr>
          <p:nvPr/>
        </p:nvSpPr>
        <p:spPr>
          <a:xfrm flipV="1">
            <a:off x="7200957" y="4871118"/>
            <a:ext cx="1119038" cy="177313"/>
          </a:xfrm>
          <a:prstGeom prst="rect">
            <a:avLst/>
          </a:prstGeom>
          <a:solidFill>
            <a:srgbClr val="3366CC"/>
          </a:solidFill>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ítulo 1">
            <a:extLst>
              <a:ext uri="{FF2B5EF4-FFF2-40B4-BE49-F238E27FC236}">
                <a16:creationId xmlns:a16="http://schemas.microsoft.com/office/drawing/2014/main" id="{438D0FA2-1899-4EDF-9FA4-D1742768DFC6}"/>
              </a:ext>
            </a:extLst>
          </p:cNvPr>
          <p:cNvSpPr>
            <a:spLocks noGrp="1"/>
          </p:cNvSpPr>
          <p:nvPr>
            <p:ph type="title"/>
          </p:nvPr>
        </p:nvSpPr>
        <p:spPr>
          <a:xfrm>
            <a:off x="457200" y="149945"/>
            <a:ext cx="8229600" cy="857250"/>
          </a:xfrm>
        </p:spPr>
        <p:txBody>
          <a:bodyPr wrap="square" anchor="ctr">
            <a:noAutofit/>
          </a:bodyPr>
          <a:lstStyle/>
          <a:p>
            <a:pPr algn="l">
              <a:spcBef>
                <a:spcPts val="0"/>
              </a:spcBef>
              <a:spcAft>
                <a:spcPts val="0"/>
              </a:spcAft>
              <a:buNone/>
              <a:defRPr sz="1900" b="1">
                <a:solidFill>
                  <a:srgbClr val="FFFFFF"/>
                </a:solidFill>
                <a:latin typeface="Calibri"/>
                <a:ea typeface="Calibri"/>
                <a:cs typeface="Calibri"/>
              </a:defRPr>
            </a:pPr>
            <a:r>
              <a:rPr sz="1900" b="1">
                <a:solidFill>
                  <a:srgbClr val="FFFFFF"/>
                </a:solidFill>
                <a:latin typeface="Calibri"/>
                <a:ea typeface="Calibri"/>
                <a:cs typeface="Calibri"/>
              </a:rPr>
              <a:t>Resultados descriptivos: dióxido de nitrógeno</a:t>
            </a:r>
          </a:p>
        </p:txBody>
      </p:sp>
      <p:sp>
        <p:nvSpPr>
          <p:cNvPr id="8" name="Periodo">
            <a:extLst>
              <a:ext uri="{FF2B5EF4-FFF2-40B4-BE49-F238E27FC236}">
                <a16:creationId xmlns:a16="http://schemas.microsoft.com/office/drawing/2014/main" id="{0F91F2C7-8EDF-41D4-821F-798F41684684}"/>
              </a:ext>
            </a:extLst>
          </p:cNvPr>
          <p:cNvSpPr>
            <a:spLocks noGrp="1"/>
          </p:cNvSpPr>
          <p:nvPr/>
        </p:nvSpPr>
        <p:spPr>
          <a:xfrm>
            <a:off x="552450" y="1143000"/>
            <a:ext cx="8039100" cy="266700"/>
          </a:xfrm>
          <a:prstGeom prst="rect">
            <a:avLst/>
          </a:prstGeom>
          <a:noFill/>
          <a:ln w="0">
            <a:noFill/>
          </a:ln>
        </p:spPr>
        <p:txBody>
          <a:bodyPr wrap="square" lIns="0" tIns="0" rIns="0" bIns="0" anchor="t">
            <a:noAutofit/>
          </a:bodyPr>
          <a:lstStyle/>
          <a:p>
            <a:pPr algn="l">
              <a:buNone/>
              <a:defRPr sz="1575" b="1">
                <a:solidFill>
                  <a:srgbClr val="17375D"/>
                </a:solidFill>
                <a:latin typeface="Calibri"/>
                <a:ea typeface="Calibri"/>
                <a:cs typeface="Calibri"/>
              </a:defRPr>
            </a:pPr>
            <a:r>
              <a:rPr sz="1575" b="1">
                <a:solidFill>
                  <a:srgbClr val="17375D"/>
                </a:solidFill>
                <a:latin typeface="Calibri"/>
                <a:ea typeface="Calibri"/>
                <a:cs typeface="Calibri"/>
              </a:rPr>
              <a:t>2024–13 sep 2026 · período parcial</a:t>
            </a:r>
          </a:p>
        </p:txBody>
      </p:sp>
      <p:sp>
        <p:nvSpPr>
          <p:cNvPr id="9" name="Nacional">
            <a:extLst>
              <a:ext uri="{FF2B5EF4-FFF2-40B4-BE49-F238E27FC236}">
                <a16:creationId xmlns:a16="http://schemas.microsoft.com/office/drawing/2014/main" id="{FABACD71-078A-4C65-95F1-5482B9311591}"/>
              </a:ext>
            </a:extLst>
          </p:cNvPr>
          <p:cNvSpPr>
            <a:spLocks noGrp="1"/>
          </p:cNvSpPr>
          <p:nvPr/>
        </p:nvSpPr>
        <p:spPr>
          <a:xfrm>
            <a:off x="561975" y="1514475"/>
            <a:ext cx="2000250" cy="266700"/>
          </a:xfrm>
          <a:prstGeom prst="rect">
            <a:avLst/>
          </a:prstGeom>
          <a:noFill/>
          <a:ln w="0">
            <a:noFill/>
          </a:ln>
        </p:spPr>
        <p:txBody>
          <a:bodyPr wrap="square" lIns="0" tIns="0" rIns="0" bIns="0" anchor="t">
            <a:noAutofit/>
          </a:bodyPr>
          <a:lstStyle/>
          <a:p>
            <a:pPr algn="l">
              <a:buNone/>
              <a:defRPr sz="1425" b="1">
                <a:solidFill>
                  <a:srgbClr val="17375D"/>
                </a:solidFill>
                <a:latin typeface="Calibri"/>
                <a:ea typeface="Calibri"/>
                <a:cs typeface="Calibri"/>
              </a:defRPr>
            </a:pPr>
            <a:r>
              <a:rPr sz="1425" b="1">
                <a:solidFill>
                  <a:srgbClr val="17375D"/>
                </a:solidFill>
                <a:latin typeface="Calibri"/>
                <a:ea typeface="Calibri"/>
                <a:cs typeface="Calibri"/>
              </a:rPr>
              <a:t>Chile continental</a:t>
            </a:r>
          </a:p>
        </p:txBody>
      </p:sp>
      <p:sp>
        <p:nvSpPr>
          <p:cNvPr id="10" name="Centro">
            <a:extLst>
              <a:ext uri="{FF2B5EF4-FFF2-40B4-BE49-F238E27FC236}">
                <a16:creationId xmlns:a16="http://schemas.microsoft.com/office/drawing/2014/main" id="{DEF4FF34-384D-4610-951B-D01B01C00739}"/>
              </a:ext>
            </a:extLst>
          </p:cNvPr>
          <p:cNvSpPr>
            <a:spLocks noGrp="1"/>
          </p:cNvSpPr>
          <p:nvPr/>
        </p:nvSpPr>
        <p:spPr>
          <a:xfrm>
            <a:off x="3000375" y="1514475"/>
            <a:ext cx="3714750" cy="266700"/>
          </a:xfrm>
          <a:prstGeom prst="rect">
            <a:avLst/>
          </a:prstGeom>
          <a:noFill/>
          <a:ln w="0">
            <a:noFill/>
          </a:ln>
        </p:spPr>
        <p:txBody>
          <a:bodyPr wrap="square" lIns="0" tIns="0" rIns="0" bIns="0" anchor="t">
            <a:noAutofit/>
          </a:bodyPr>
          <a:lstStyle/>
          <a:p>
            <a:pPr algn="l">
              <a:buNone/>
              <a:defRPr sz="1425" b="1">
                <a:solidFill>
                  <a:srgbClr val="17375D"/>
                </a:solidFill>
                <a:latin typeface="Calibri"/>
                <a:ea typeface="Calibri"/>
                <a:cs typeface="Calibri"/>
              </a:defRPr>
            </a:pPr>
            <a:r>
              <a:rPr sz="1425" b="1">
                <a:solidFill>
                  <a:srgbClr val="17375D"/>
                </a:solidFill>
                <a:latin typeface="Calibri"/>
                <a:ea typeface="Calibri"/>
                <a:cs typeface="Calibri"/>
              </a:rPr>
              <a:t>Detalle de la zona central</a:t>
            </a:r>
          </a:p>
        </p:txBody>
      </p:sp>
      <p:pic>
        <p:nvPicPr>
          <p:cNvPr id="29" name="no2_desc_mapa_cuatrienios_nacional.png" descr="NO₂ observado en Chile continental, panel 2024–2026, 41 estaciones. Recorte del mapa descriptivo original del HTML."/>
          <p:cNvPicPr>
            <a:picLocks noChangeAspect="1"/>
          </p:cNvPicPr>
          <p:nvPr/>
        </p:nvPicPr>
        <p:blipFill>
          <a:blip r:embed="rId3"/>
          <a:srcRect l="74376" t="10645" r="13347" b="1006"/>
          <a:stretch>
            <a:fillRect/>
          </a:stretch>
        </p:blipFill>
        <p:spPr>
          <a:xfrm>
            <a:off x="1184258" y="1847850"/>
            <a:ext cx="603283" cy="2638425"/>
          </a:xfrm>
          <a:prstGeom prst="rect">
            <a:avLst/>
          </a:prstGeom>
        </p:spPr>
      </p:pic>
      <p:pic>
        <p:nvPicPr>
          <p:cNvPr id="30" name="no2_desc_mapa_cuatrienios_centro.png" descr="NO₂ observado en Valparaíso, Metropolitana y O'Higgins, panel 2024–2026. Recorte original sin recalcular valores."/>
          <p:cNvPicPr>
            <a:picLocks noChangeAspect="1"/>
          </p:cNvPicPr>
          <p:nvPr/>
        </p:nvPicPr>
        <p:blipFill>
          <a:blip r:embed="rId4"/>
          <a:srcRect l="76055" t="21569" r="11825" b="1765"/>
          <a:stretch>
            <a:fillRect/>
          </a:stretch>
        </p:blipFill>
        <p:spPr>
          <a:xfrm>
            <a:off x="3319536" y="1847850"/>
            <a:ext cx="1666729" cy="2638425"/>
          </a:xfrm>
          <a:prstGeom prst="rect">
            <a:avLst/>
          </a:prstGeom>
        </p:spPr>
      </p:pic>
      <p:pic>
        <p:nvPicPr>
          <p:cNvPr id="31" name="no2_desc_mapa_cuatrienios_centro.png" descr="Escala de concentración observada de NO₂ en ppb, idéntica al mapa original."/>
          <p:cNvPicPr>
            <a:picLocks noChangeAspect="1"/>
          </p:cNvPicPr>
          <p:nvPr/>
        </p:nvPicPr>
        <p:blipFill>
          <a:blip r:embed="rId4"/>
          <a:srcRect l="95142" t="28431" b="12549"/>
          <a:stretch>
            <a:fillRect/>
          </a:stretch>
        </p:blipFill>
        <p:spPr>
          <a:xfrm>
            <a:off x="5508883" y="1905000"/>
            <a:ext cx="745608" cy="2266950"/>
          </a:xfrm>
          <a:prstGeom prst="rect">
            <a:avLst/>
          </a:prstGeom>
        </p:spPr>
      </p:pic>
      <p:sp>
        <p:nvSpPr>
          <p:cNvPr id="14" name="Lectura1">
            <a:extLst>
              <a:ext uri="{FF2B5EF4-FFF2-40B4-BE49-F238E27FC236}">
                <a16:creationId xmlns:a16="http://schemas.microsoft.com/office/drawing/2014/main" id="{5027565C-4A09-46E6-AC84-E3E047BDC6D5}"/>
              </a:ext>
            </a:extLst>
          </p:cNvPr>
          <p:cNvSpPr>
            <a:spLocks noGrp="1"/>
          </p:cNvSpPr>
          <p:nvPr/>
        </p:nvSpPr>
        <p:spPr>
          <a:xfrm>
            <a:off x="6629400" y="1924050"/>
            <a:ext cx="1847850" cy="600075"/>
          </a:xfrm>
          <a:prstGeom prst="rect">
            <a:avLst/>
          </a:prstGeom>
          <a:noFill/>
          <a:ln w="0">
            <a:noFill/>
          </a:ln>
        </p:spPr>
        <p:txBody>
          <a:bodyPr wrap="square" lIns="0" tIns="0" rIns="0" bIns="0" anchor="t">
            <a:noAutofit/>
          </a:bodyPr>
          <a:lstStyle/>
          <a:p>
            <a:pPr algn="l">
              <a:buNone/>
              <a:defRPr sz="1725" b="1">
                <a:solidFill>
                  <a:srgbClr val="17375D"/>
                </a:solidFill>
                <a:latin typeface="Calibri"/>
                <a:ea typeface="Calibri"/>
                <a:cs typeface="Calibri"/>
              </a:defRPr>
            </a:pPr>
            <a:r>
              <a:rPr sz="1725" b="1">
                <a:solidFill>
                  <a:srgbClr val="17375D"/>
                </a:solidFill>
                <a:latin typeface="Calibri"/>
                <a:ea typeface="Calibri"/>
                <a:cs typeface="Calibri"/>
              </a:rPr>
              <a:t>41 estaciones</a:t>
            </a:r>
          </a:p>
          <a:p>
            <a:pPr algn="l">
              <a:buNone/>
              <a:defRPr sz="1725" b="1">
                <a:solidFill>
                  <a:srgbClr val="17375D"/>
                </a:solidFill>
                <a:latin typeface="Calibri"/>
                <a:ea typeface="Calibri"/>
                <a:cs typeface="Calibri"/>
              </a:defRPr>
            </a:pPr>
            <a:r>
              <a:rPr sz="1725" b="1">
                <a:solidFill>
                  <a:srgbClr val="17375D"/>
                </a:solidFill>
                <a:latin typeface="Calibri"/>
                <a:ea typeface="Calibri"/>
                <a:cs typeface="Calibri"/>
              </a:rPr>
              <a:t>en la vista nacional</a:t>
            </a:r>
          </a:p>
        </p:txBody>
      </p:sp>
      <p:sp>
        <p:nvSpPr>
          <p:cNvPr id="15" name="Lectura2">
            <a:extLst>
              <a:ext uri="{FF2B5EF4-FFF2-40B4-BE49-F238E27FC236}">
                <a16:creationId xmlns:a16="http://schemas.microsoft.com/office/drawing/2014/main" id="{4FC8A97A-89F2-468C-9DA6-6E41F0A68289}"/>
              </a:ext>
            </a:extLst>
          </p:cNvPr>
          <p:cNvSpPr>
            <a:spLocks noGrp="1"/>
          </p:cNvSpPr>
          <p:nvPr/>
        </p:nvSpPr>
        <p:spPr>
          <a:xfrm>
            <a:off x="6629400" y="2695575"/>
            <a:ext cx="1914525" cy="1209675"/>
          </a:xfrm>
          <a:prstGeom prst="rect">
            <a:avLst/>
          </a:prstGeom>
          <a:noFill/>
          <a:ln w="0">
            <a:noFill/>
          </a:ln>
        </p:spPr>
        <p:txBody>
          <a:bodyPr wrap="square" lIns="0" tIns="0" rIns="0" bIns="0" anchor="t">
            <a:noAutofit/>
          </a:bodyPr>
          <a:lstStyle/>
          <a:p>
            <a:pPr algn="l">
              <a:buNone/>
              <a:defRPr sz="1425">
                <a:solidFill>
                  <a:srgbClr val="1E293B"/>
                </a:solidFill>
                <a:latin typeface="Calibri"/>
                <a:ea typeface="Calibri"/>
                <a:cs typeface="Calibri"/>
              </a:defRPr>
            </a:pPr>
            <a:r>
              <a:rPr sz="1425">
                <a:solidFill>
                  <a:srgbClr val="1E293B"/>
                </a:solidFill>
                <a:latin typeface="Calibri"/>
                <a:ea typeface="Calibri"/>
                <a:cs typeface="Calibri"/>
              </a:rPr>
              <a:t>Cada punto representa</a:t>
            </a:r>
          </a:p>
          <a:p>
            <a:pPr algn="l">
              <a:buNone/>
              <a:defRPr sz="1425">
                <a:solidFill>
                  <a:srgbClr val="1E293B"/>
                </a:solidFill>
                <a:latin typeface="Calibri"/>
                <a:ea typeface="Calibri"/>
                <a:cs typeface="Calibri"/>
              </a:defRPr>
            </a:pPr>
            <a:r>
              <a:rPr sz="1425">
                <a:solidFill>
                  <a:srgbClr val="1E293B"/>
                </a:solidFill>
                <a:latin typeface="Calibri"/>
                <a:ea typeface="Calibri"/>
                <a:cs typeface="Calibri"/>
              </a:rPr>
              <a:t>una estación.</a:t>
            </a:r>
          </a:p>
          <a:p>
            <a:endParaRPr sz="1425">
              <a:solidFill>
                <a:srgbClr val="1E293B"/>
              </a:solidFill>
              <a:latin typeface="Calibri"/>
              <a:ea typeface="Calibri"/>
              <a:cs typeface="Calibri"/>
            </a:endParaRPr>
          </a:p>
          <a:p>
            <a:pPr algn="l">
              <a:buNone/>
              <a:defRPr sz="1425">
                <a:solidFill>
                  <a:srgbClr val="1E293B"/>
                </a:solidFill>
                <a:latin typeface="Calibri"/>
                <a:ea typeface="Calibri"/>
                <a:cs typeface="Calibri"/>
              </a:defRPr>
            </a:pPr>
            <a:r>
              <a:rPr sz="1425">
                <a:solidFill>
                  <a:srgbClr val="1E293B"/>
                </a:solidFill>
                <a:latin typeface="Calibri"/>
                <a:ea typeface="Calibri"/>
                <a:cs typeface="Calibri"/>
              </a:rPr>
              <a:t>El color muestra su</a:t>
            </a:r>
          </a:p>
          <a:p>
            <a:pPr algn="l">
              <a:buNone/>
              <a:defRPr sz="1425">
                <a:solidFill>
                  <a:srgbClr val="1E293B"/>
                </a:solidFill>
                <a:latin typeface="Calibri"/>
                <a:ea typeface="Calibri"/>
                <a:cs typeface="Calibri"/>
              </a:defRPr>
            </a:pPr>
            <a:r>
              <a:rPr sz="1425">
                <a:solidFill>
                  <a:srgbClr val="1E293B"/>
                </a:solidFill>
                <a:latin typeface="Calibri"/>
                <a:ea typeface="Calibri"/>
                <a:cs typeface="Calibri"/>
              </a:rPr>
              <a:t>concentración media</a:t>
            </a:r>
          </a:p>
          <a:p>
            <a:pPr algn="l">
              <a:buNone/>
              <a:defRPr sz="1425">
                <a:solidFill>
                  <a:srgbClr val="1E293B"/>
                </a:solidFill>
                <a:latin typeface="Calibri"/>
                <a:ea typeface="Calibri"/>
                <a:cs typeface="Calibri"/>
              </a:defRPr>
            </a:pPr>
            <a:r>
              <a:rPr sz="1425">
                <a:solidFill>
                  <a:srgbClr val="1E293B"/>
                </a:solidFill>
                <a:latin typeface="Calibri"/>
                <a:ea typeface="Calibri"/>
                <a:cs typeface="Calibri"/>
              </a:rPr>
              <a:t>observada (ppb).</a:t>
            </a:r>
          </a:p>
        </p:txBody>
      </p:sp>
      <p:sp>
        <p:nvSpPr>
          <p:cNvPr id="16" name="Lectura3">
            <a:extLst>
              <a:ext uri="{FF2B5EF4-FFF2-40B4-BE49-F238E27FC236}">
                <a16:creationId xmlns:a16="http://schemas.microsoft.com/office/drawing/2014/main" id="{D402188E-D3C9-4E33-84A1-ED61AF03A9B3}"/>
              </a:ext>
            </a:extLst>
          </p:cNvPr>
          <p:cNvSpPr>
            <a:spLocks noGrp="1"/>
          </p:cNvSpPr>
          <p:nvPr/>
        </p:nvSpPr>
        <p:spPr>
          <a:xfrm>
            <a:off x="6629400" y="4095750"/>
            <a:ext cx="1933575" cy="409575"/>
          </a:xfrm>
          <a:prstGeom prst="rect">
            <a:avLst/>
          </a:prstGeom>
          <a:noFill/>
          <a:ln w="0">
            <a:noFill/>
          </a:ln>
        </p:spPr>
        <p:txBody>
          <a:bodyPr wrap="square" lIns="0" tIns="0" rIns="0" bIns="0" anchor="t">
            <a:noAutofit/>
          </a:bodyPr>
          <a:lstStyle/>
          <a:p>
            <a:pPr algn="l">
              <a:buNone/>
              <a:defRPr sz="1275">
                <a:solidFill>
                  <a:srgbClr val="17375D"/>
                </a:solidFill>
                <a:latin typeface="Calibri"/>
                <a:ea typeface="Calibri"/>
                <a:cs typeface="Calibri"/>
              </a:defRPr>
            </a:pPr>
            <a:r>
              <a:rPr sz="1275">
                <a:solidFill>
                  <a:srgbClr val="17375D"/>
                </a:solidFill>
                <a:latin typeface="Calibri"/>
                <a:ea typeface="Calibri"/>
                <a:cs typeface="Calibri"/>
              </a:rPr>
              <a:t>Promedios de estación,</a:t>
            </a:r>
          </a:p>
          <a:p>
            <a:pPr algn="l">
              <a:buNone/>
              <a:defRPr sz="1275">
                <a:solidFill>
                  <a:srgbClr val="17375D"/>
                </a:solidFill>
                <a:latin typeface="Calibri"/>
                <a:ea typeface="Calibri"/>
                <a:cs typeface="Calibri"/>
              </a:defRPr>
            </a:pPr>
            <a:r>
              <a:rPr sz="1275">
                <a:solidFill>
                  <a:srgbClr val="17375D"/>
                </a:solidFill>
                <a:latin typeface="Calibri"/>
                <a:ea typeface="Calibri"/>
                <a:cs typeface="Calibri"/>
              </a:rPr>
              <a:t>sin interpolación espacial.</a:t>
            </a:r>
          </a:p>
        </p:txBody>
      </p:sp>
      <p:sp>
        <p:nvSpPr>
          <p:cNvPr id="17" name="Fuente y alcance">
            <a:extLst>
              <a:ext uri="{FF2B5EF4-FFF2-40B4-BE49-F238E27FC236}">
                <a16:creationId xmlns:a16="http://schemas.microsoft.com/office/drawing/2014/main" id="{AB45575E-7902-427F-94BA-2048872DA7F2}"/>
              </a:ext>
            </a:extLst>
          </p:cNvPr>
          <p:cNvSpPr>
            <a:spLocks noGrp="1"/>
          </p:cNvSpPr>
          <p:nvPr/>
        </p:nvSpPr>
        <p:spPr>
          <a:xfrm>
            <a:off x="548640" y="4610100"/>
            <a:ext cx="8046720" cy="209550"/>
          </a:xfrm>
          <a:prstGeom prst="rect">
            <a:avLst/>
          </a:prstGeom>
          <a:noFill/>
          <a:ln w="0">
            <a:noFill/>
          </a:ln>
        </p:spPr>
        <p:txBody>
          <a:bodyPr wrap="square" lIns="0" tIns="0" rIns="0" bIns="0" anchor="ctr">
            <a:noAutofit/>
          </a:bodyPr>
          <a:lstStyle/>
          <a:p>
            <a:pPr algn="l">
              <a:buNone/>
              <a:defRPr sz="863">
                <a:solidFill>
                  <a:srgbClr val="526277"/>
                </a:solidFill>
                <a:latin typeface="Calibri"/>
                <a:ea typeface="Calibri"/>
                <a:cs typeface="Calibri"/>
              </a:defRPr>
            </a:pPr>
            <a:r>
              <a:rPr sz="863">
                <a:solidFill>
                  <a:srgbClr val="526277"/>
                </a:solidFill>
                <a:latin typeface="Calibri"/>
                <a:ea typeface="Calibri"/>
                <a:cs typeface="Calibri"/>
              </a:rPr>
              <a:t>Fuente: HTML, sección 2, mapas descriptivos de NO₂. Muestra filtrada distinta del inventario. Unidades y reloj sujetos al cierre de controles.</a:t>
            </a:r>
          </a:p>
        </p:txBody>
      </p:sp>
    </p:spTree>
    <p:extLst>
      <p:ext uri="{BB962C8B-B14F-4D97-AF65-F5344CB8AC3E}">
        <p14:creationId xmlns:p14="http://schemas.microsoft.com/office/powerpoint/2010/main" val="322757276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abecera azul UC">
            <a:extLst>
              <a:ext uri="{FF2B5EF4-FFF2-40B4-BE49-F238E27FC236}">
                <a16:creationId xmlns:a16="http://schemas.microsoft.com/office/drawing/2014/main" id="{3486DB9C-93DE-456A-BF48-2757BBD61ACE}"/>
              </a:ext>
            </a:extLst>
          </p:cNvPr>
          <p:cNvSpPr>
            <a:spLocks noGrp="1"/>
          </p:cNvSpPr>
          <p:nvPr/>
        </p:nvSpPr>
        <p:spPr>
          <a:xfrm>
            <a:off x="158742" y="0"/>
            <a:ext cx="8985258" cy="1007195"/>
          </a:xfrm>
          <a:prstGeom prst="rect">
            <a:avLst/>
          </a:prstGeom>
          <a:solidFill>
            <a:srgbClr val="017EDF"/>
          </a:solidFill>
          <a:ln>
            <a:noFill/>
          </a:ln>
        </p:spPr>
        <p:txBody>
          <a:bodyPr/>
          <a:lstStyle/>
          <a:p>
            <a:endParaRPr lang="es-CL"/>
          </a:p>
        </p:txBody>
      </p:sp>
      <p:sp>
        <p:nvSpPr>
          <p:cNvPr id="4" name="Rectángulo 9">
            <a:extLst>
              <a:ext uri="{FF2B5EF4-FFF2-40B4-BE49-F238E27FC236}">
                <a16:creationId xmlns:a16="http://schemas.microsoft.com/office/drawing/2014/main" id="{2DE33766-2918-41FC-A1B9-B4BF483C8974}"/>
              </a:ext>
            </a:extLst>
          </p:cNvPr>
          <p:cNvSpPr>
            <a:spLocks noGrp="1"/>
          </p:cNvSpPr>
          <p:nvPr/>
        </p:nvSpPr>
        <p:spPr>
          <a:xfrm>
            <a:off x="0" y="149945"/>
            <a:ext cx="158742" cy="857250"/>
          </a:xfrm>
          <a:prstGeom prst="rect">
            <a:avLst/>
          </a:prstGeom>
          <a:solidFill>
            <a:srgbClr val="FFE2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Rectángulo 7">
            <a:extLst>
              <a:ext uri="{FF2B5EF4-FFF2-40B4-BE49-F238E27FC236}">
                <a16:creationId xmlns:a16="http://schemas.microsoft.com/office/drawing/2014/main" id="{3BCD4458-45E8-4C73-A3B6-249CEEFBDB7B}"/>
              </a:ext>
            </a:extLst>
          </p:cNvPr>
          <p:cNvSpPr>
            <a:spLocks noGrp="1"/>
          </p:cNvSpPr>
          <p:nvPr/>
        </p:nvSpPr>
        <p:spPr>
          <a:xfrm flipV="1">
            <a:off x="169334" y="4871120"/>
            <a:ext cx="8815911" cy="177311"/>
          </a:xfrm>
          <a:prstGeom prst="rect">
            <a:avLst/>
          </a:prstGeom>
          <a:solidFill>
            <a:schemeClr val="bg1">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Rectángulo 10">
            <a:extLst>
              <a:ext uri="{FF2B5EF4-FFF2-40B4-BE49-F238E27FC236}">
                <a16:creationId xmlns:a16="http://schemas.microsoft.com/office/drawing/2014/main" id="{A18DC9E6-BD6D-4FE1-AEC0-9715BEE3912A}"/>
              </a:ext>
            </a:extLst>
          </p:cNvPr>
          <p:cNvSpPr>
            <a:spLocks noGrp="1"/>
          </p:cNvSpPr>
          <p:nvPr/>
        </p:nvSpPr>
        <p:spPr>
          <a:xfrm flipV="1">
            <a:off x="7200957" y="4871118"/>
            <a:ext cx="1119038" cy="177313"/>
          </a:xfrm>
          <a:prstGeom prst="rect">
            <a:avLst/>
          </a:prstGeom>
          <a:solidFill>
            <a:srgbClr val="3366CC"/>
          </a:solidFill>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ítulo 1">
            <a:extLst>
              <a:ext uri="{FF2B5EF4-FFF2-40B4-BE49-F238E27FC236}">
                <a16:creationId xmlns:a16="http://schemas.microsoft.com/office/drawing/2014/main" id="{438D0FA2-1899-4EDF-9FA4-D1742768DFC6}"/>
              </a:ext>
            </a:extLst>
          </p:cNvPr>
          <p:cNvSpPr>
            <a:spLocks noGrp="1"/>
          </p:cNvSpPr>
          <p:nvPr>
            <p:ph type="title"/>
          </p:nvPr>
        </p:nvSpPr>
        <p:spPr>
          <a:xfrm>
            <a:off x="457200" y="149945"/>
            <a:ext cx="8229600" cy="857250"/>
          </a:xfrm>
        </p:spPr>
        <p:txBody>
          <a:bodyPr wrap="square" anchor="ctr">
            <a:noAutofit/>
          </a:bodyPr>
          <a:lstStyle/>
          <a:p>
            <a:pPr algn="l">
              <a:spcBef>
                <a:spcPts val="0"/>
              </a:spcBef>
              <a:spcAft>
                <a:spcPts val="0"/>
              </a:spcAft>
              <a:defRPr sz="1900" b="1">
                <a:solidFill>
                  <a:srgbClr val="FFFFFF"/>
                </a:solidFill>
                <a:latin typeface="Calibri"/>
                <a:ea typeface="Calibri"/>
                <a:cs typeface="Calibri"/>
              </a:defRPr>
            </a:pPr>
            <a:r>
              <a:rPr sz="1900" b="1">
                <a:solidFill>
                  <a:srgbClr val="FFFFFF"/>
                </a:solidFill>
                <a:latin typeface="Calibri"/>
                <a:ea typeface="Calibri"/>
                <a:cs typeface="Calibri"/>
              </a:rPr>
              <a:t>Resultados descriptivos: ERA5-Land</a:t>
            </a:r>
          </a:p>
        </p:txBody>
      </p:sp>
      <p:sp>
        <p:nvSpPr>
          <p:cNvPr id="8" name="Mapa 2020">
            <a:extLst>
              <a:ext uri="{FF2B5EF4-FFF2-40B4-BE49-F238E27FC236}">
                <a16:creationId xmlns:a16="http://schemas.microsoft.com/office/drawing/2014/main" id="{CEB77C1C-2B6B-492C-A49D-DA1DAF3D5A25}"/>
              </a:ext>
            </a:extLst>
          </p:cNvPr>
          <p:cNvSpPr>
            <a:spLocks noGrp="1"/>
          </p:cNvSpPr>
          <p:nvPr/>
        </p:nvSpPr>
        <p:spPr>
          <a:xfrm>
            <a:off x="800100" y="1133475"/>
            <a:ext cx="742950" cy="266700"/>
          </a:xfrm>
          <a:prstGeom prst="rect">
            <a:avLst/>
          </a:prstGeom>
          <a:noFill/>
          <a:ln w="0">
            <a:noFill/>
          </a:ln>
        </p:spPr>
        <p:txBody>
          <a:bodyPr wrap="square" lIns="0" tIns="0" rIns="0" bIns="0" anchor="t">
            <a:noAutofit/>
          </a:bodyPr>
          <a:lstStyle/>
          <a:p>
            <a:pPr algn="ctr">
              <a:buNone/>
              <a:defRPr sz="1425" b="1">
                <a:solidFill>
                  <a:srgbClr val="17375D"/>
                </a:solidFill>
                <a:latin typeface="Calibri"/>
                <a:ea typeface="Calibri"/>
                <a:cs typeface="Calibri"/>
              </a:defRPr>
            </a:pPr>
            <a:r>
              <a:rPr sz="1425" b="1">
                <a:solidFill>
                  <a:srgbClr val="17375D"/>
                </a:solidFill>
                <a:latin typeface="Calibri"/>
                <a:ea typeface="Calibri"/>
                <a:cs typeface="Calibri"/>
              </a:rPr>
              <a:t>2020</a:t>
            </a:r>
          </a:p>
        </p:txBody>
      </p:sp>
      <p:sp>
        <p:nvSpPr>
          <p:cNvPr id="9" name="Mapa 2024">
            <a:extLst>
              <a:ext uri="{FF2B5EF4-FFF2-40B4-BE49-F238E27FC236}">
                <a16:creationId xmlns:a16="http://schemas.microsoft.com/office/drawing/2014/main" id="{A3669FD1-1982-45AB-B379-ECC8C94D0E0D}"/>
              </a:ext>
            </a:extLst>
          </p:cNvPr>
          <p:cNvSpPr>
            <a:spLocks noGrp="1"/>
          </p:cNvSpPr>
          <p:nvPr/>
        </p:nvSpPr>
        <p:spPr>
          <a:xfrm>
            <a:off x="1581150" y="1133475"/>
            <a:ext cx="742950" cy="266700"/>
          </a:xfrm>
          <a:prstGeom prst="rect">
            <a:avLst/>
          </a:prstGeom>
          <a:noFill/>
          <a:ln w="0">
            <a:noFill/>
          </a:ln>
        </p:spPr>
        <p:txBody>
          <a:bodyPr wrap="square" lIns="0" tIns="0" rIns="0" bIns="0" anchor="t">
            <a:noAutofit/>
          </a:bodyPr>
          <a:lstStyle/>
          <a:p>
            <a:pPr algn="ctr">
              <a:buNone/>
              <a:defRPr sz="1425" b="1">
                <a:solidFill>
                  <a:srgbClr val="17375D"/>
                </a:solidFill>
                <a:latin typeface="Calibri"/>
                <a:ea typeface="Calibri"/>
                <a:cs typeface="Calibri"/>
              </a:defRPr>
            </a:pPr>
            <a:r>
              <a:rPr sz="1425" b="1">
                <a:solidFill>
                  <a:srgbClr val="17375D"/>
                </a:solidFill>
                <a:latin typeface="Calibri"/>
                <a:ea typeface="Calibri"/>
                <a:cs typeface="Calibri"/>
              </a:rPr>
              <a:t>2024</a:t>
            </a:r>
          </a:p>
        </p:txBody>
      </p:sp>
      <p:pic>
        <p:nvPicPr>
          <p:cNvPr id="35" name="fuente_era5land_t2m_1aa480c9.png" descr="Mapas originales ERA5-Land, años 2020 y 2024, medias anuales."/>
          <p:cNvPicPr>
            <a:picLocks noChangeAspect="1"/>
          </p:cNvPicPr>
          <p:nvPr/>
        </p:nvPicPr>
        <p:blipFill>
          <a:blip r:embed="rId3"/>
          <a:srcRect l="67669" t="5107" r="6316" b="22574"/>
          <a:stretch>
            <a:fillRect/>
          </a:stretch>
        </p:blipFill>
        <p:spPr>
          <a:xfrm>
            <a:off x="826845" y="1438275"/>
            <a:ext cx="1489559" cy="3048000"/>
          </a:xfrm>
          <a:prstGeom prst="rect">
            <a:avLst/>
          </a:prstGeom>
        </p:spPr>
      </p:pic>
      <p:pic>
        <p:nvPicPr>
          <p:cNvPr id="36" name="fuente_era5land_t2m_1aa480c9.png" descr="Eje de latitud compartido original."/>
          <p:cNvPicPr>
            <a:picLocks noChangeAspect="1"/>
          </p:cNvPicPr>
          <p:nvPr/>
        </p:nvPicPr>
        <p:blipFill>
          <a:blip r:embed="rId3"/>
          <a:srcRect t="5107" r="95639" b="24413"/>
          <a:stretch>
            <a:fillRect/>
          </a:stretch>
        </p:blipFill>
        <p:spPr>
          <a:xfrm>
            <a:off x="493147" y="1438275"/>
            <a:ext cx="249803" cy="2971800"/>
          </a:xfrm>
          <a:prstGeom prst="rect">
            <a:avLst/>
          </a:prstGeom>
        </p:spPr>
      </p:pic>
      <p:pic>
        <p:nvPicPr>
          <p:cNvPr id="37" name="fuente_era5land_t2m_1aa480c9.png" descr="Escala original completa de ERA5-Land en °C."/>
          <p:cNvPicPr>
            <a:picLocks noChangeAspect="1"/>
          </p:cNvPicPr>
          <p:nvPr/>
        </p:nvPicPr>
        <p:blipFill>
          <a:blip r:embed="rId3"/>
          <a:srcRect l="93083" t="17365" b="40960"/>
          <a:stretch>
            <a:fillRect/>
          </a:stretch>
        </p:blipFill>
        <p:spPr>
          <a:xfrm>
            <a:off x="2596123" y="1666875"/>
            <a:ext cx="579904" cy="2571750"/>
          </a:xfrm>
          <a:prstGeom prst="rect">
            <a:avLst/>
          </a:prstGeom>
        </p:spPr>
      </p:pic>
      <p:sp>
        <p:nvSpPr>
          <p:cNvPr id="13" name="Tipo">
            <a:extLst>
              <a:ext uri="{FF2B5EF4-FFF2-40B4-BE49-F238E27FC236}">
                <a16:creationId xmlns:a16="http://schemas.microsoft.com/office/drawing/2014/main" id="{2BA2F686-0BE6-4773-909B-9635F19B9FD3}"/>
              </a:ext>
            </a:extLst>
          </p:cNvPr>
          <p:cNvSpPr>
            <a:spLocks noGrp="1"/>
          </p:cNvSpPr>
          <p:nvPr/>
        </p:nvSpPr>
        <p:spPr>
          <a:xfrm>
            <a:off x="3543300" y="1190625"/>
            <a:ext cx="5029200" cy="247650"/>
          </a:xfrm>
          <a:prstGeom prst="rect">
            <a:avLst/>
          </a:prstGeom>
          <a:noFill/>
          <a:ln w="0">
            <a:noFill/>
          </a:ln>
        </p:spPr>
        <p:txBody>
          <a:bodyPr wrap="square" lIns="0" tIns="0" rIns="0" bIns="0" anchor="t">
            <a:noAutofit/>
          </a:bodyPr>
          <a:lstStyle/>
          <a:p>
            <a:pPr algn="l">
              <a:buNone/>
              <a:defRPr sz="1275" b="1">
                <a:solidFill>
                  <a:srgbClr val="017EDF"/>
                </a:solidFill>
                <a:latin typeface="Calibri"/>
                <a:ea typeface="Calibri"/>
                <a:cs typeface="Calibri"/>
              </a:defRPr>
            </a:pPr>
            <a:r>
              <a:rPr sz="1275" b="1">
                <a:solidFill>
                  <a:srgbClr val="017EDF"/>
                </a:solidFill>
                <a:latin typeface="Calibri"/>
                <a:ea typeface="Calibri"/>
                <a:cs typeface="Calibri"/>
              </a:rPr>
              <a:t>Reanálisis meteorológico</a:t>
            </a:r>
          </a:p>
        </p:txBody>
      </p:sp>
      <p:sp>
        <p:nvSpPr>
          <p:cNvPr id="14" name="Variable">
            <a:extLst>
              <a:ext uri="{FF2B5EF4-FFF2-40B4-BE49-F238E27FC236}">
                <a16:creationId xmlns:a16="http://schemas.microsoft.com/office/drawing/2014/main" id="{5A0A448A-0709-48BC-B5B9-AC67831093E5}"/>
              </a:ext>
            </a:extLst>
          </p:cNvPr>
          <p:cNvSpPr>
            <a:spLocks noGrp="1"/>
          </p:cNvSpPr>
          <p:nvPr/>
        </p:nvSpPr>
        <p:spPr>
          <a:xfrm>
            <a:off x="3543300" y="1504950"/>
            <a:ext cx="5029200" cy="542925"/>
          </a:xfrm>
          <a:prstGeom prst="rect">
            <a:avLst/>
          </a:prstGeom>
          <a:noFill/>
          <a:ln w="0">
            <a:noFill/>
          </a:ln>
        </p:spPr>
        <p:txBody>
          <a:bodyPr wrap="square" lIns="0" tIns="0" rIns="0" bIns="0" anchor="t">
            <a:noAutofit/>
          </a:bodyPr>
          <a:lstStyle/>
          <a:p>
            <a:pPr algn="l">
              <a:buNone/>
              <a:defRPr sz="1650" b="1">
                <a:solidFill>
                  <a:srgbClr val="17375D"/>
                </a:solidFill>
                <a:latin typeface="Calibri"/>
                <a:ea typeface="Calibri"/>
                <a:cs typeface="Calibri"/>
              </a:defRPr>
            </a:pPr>
            <a:r>
              <a:rPr sz="1650" b="1">
                <a:solidFill>
                  <a:srgbClr val="17375D"/>
                </a:solidFill>
                <a:latin typeface="Calibri"/>
                <a:ea typeface="Calibri"/>
                <a:cs typeface="Calibri"/>
              </a:rPr>
              <a:t>Temperatura a 2 m (°C)</a:t>
            </a:r>
          </a:p>
          <a:p>
            <a:pPr algn="l">
              <a:buNone/>
              <a:defRPr sz="1650" b="1">
                <a:solidFill>
                  <a:srgbClr val="17375D"/>
                </a:solidFill>
                <a:latin typeface="Calibri"/>
                <a:ea typeface="Calibri"/>
                <a:cs typeface="Calibri"/>
              </a:defRPr>
            </a:pPr>
            <a:r>
              <a:rPr sz="1650" b="1">
                <a:solidFill>
                  <a:srgbClr val="17375D"/>
                </a:solidFill>
                <a:latin typeface="Calibri"/>
                <a:ea typeface="Calibri"/>
                <a:cs typeface="Calibri"/>
              </a:rPr>
              <a:t>0,1°, frecuencia horaria</a:t>
            </a:r>
          </a:p>
        </p:txBody>
      </p:sp>
      <p:sp>
        <p:nvSpPr>
          <p:cNvPr id="15" name="Lectura">
            <a:extLst>
              <a:ext uri="{FF2B5EF4-FFF2-40B4-BE49-F238E27FC236}">
                <a16:creationId xmlns:a16="http://schemas.microsoft.com/office/drawing/2014/main" id="{146705AB-F472-4C63-B075-91CAF19335CD}"/>
              </a:ext>
            </a:extLst>
          </p:cNvPr>
          <p:cNvSpPr>
            <a:spLocks noGrp="1"/>
          </p:cNvSpPr>
          <p:nvPr/>
        </p:nvSpPr>
        <p:spPr>
          <a:xfrm>
            <a:off x="3543300" y="2057400"/>
            <a:ext cx="5029200" cy="523875"/>
          </a:xfrm>
          <a:prstGeom prst="rect">
            <a:avLst/>
          </a:prstGeom>
          <a:noFill/>
          <a:ln w="0">
            <a:noFill/>
          </a:ln>
        </p:spPr>
        <p:txBody>
          <a:bodyPr wrap="square" lIns="0" tIns="0" rIns="0" bIns="0" anchor="t">
            <a:noAutofit/>
          </a:bodyPr>
          <a:lstStyle/>
          <a:p>
            <a:pPr algn="l">
              <a:buNone/>
              <a:defRPr sz="1350">
                <a:solidFill>
                  <a:srgbClr val="1E293B"/>
                </a:solidFill>
                <a:latin typeface="Calibri"/>
                <a:ea typeface="Calibri"/>
                <a:cs typeface="Calibri"/>
              </a:defRPr>
            </a:pPr>
            <a:r>
              <a:rPr sz="1350">
                <a:solidFill>
                  <a:srgbClr val="1E293B"/>
                </a:solidFill>
                <a:latin typeface="Calibri"/>
                <a:ea typeface="Calibri"/>
                <a:cs typeface="Calibri"/>
              </a:rPr>
              <a:t>El ciclo anual y el gradiente territorial describen el contexto meteorológico.</a:t>
            </a:r>
          </a:p>
        </p:txBody>
      </p:sp>
      <p:sp>
        <p:nvSpPr>
          <p:cNvPr id="16" name="Serie 2020">
            <a:extLst>
              <a:ext uri="{FF2B5EF4-FFF2-40B4-BE49-F238E27FC236}">
                <a16:creationId xmlns:a16="http://schemas.microsoft.com/office/drawing/2014/main" id="{BBAC24A0-A0A6-4699-94FA-A9B046145807}"/>
              </a:ext>
            </a:extLst>
          </p:cNvPr>
          <p:cNvSpPr>
            <a:spLocks noGrp="1"/>
          </p:cNvSpPr>
          <p:nvPr/>
        </p:nvSpPr>
        <p:spPr>
          <a:xfrm>
            <a:off x="4029075" y="2638425"/>
            <a:ext cx="1285875" cy="228600"/>
          </a:xfrm>
          <a:prstGeom prst="rect">
            <a:avLst/>
          </a:prstGeom>
          <a:noFill/>
          <a:ln w="0">
            <a:noFill/>
          </a:ln>
        </p:spPr>
        <p:txBody>
          <a:bodyPr wrap="square" lIns="0" tIns="0" rIns="0" bIns="0" anchor="t">
            <a:noAutofit/>
          </a:bodyPr>
          <a:lstStyle/>
          <a:p>
            <a:pPr algn="ctr">
              <a:buNone/>
              <a:defRPr sz="1350" b="1">
                <a:solidFill>
                  <a:srgbClr val="17375D"/>
                </a:solidFill>
                <a:latin typeface="Calibri"/>
                <a:ea typeface="Calibri"/>
                <a:cs typeface="Calibri"/>
              </a:defRPr>
            </a:pPr>
            <a:r>
              <a:rPr sz="1350" b="1">
                <a:solidFill>
                  <a:srgbClr val="17375D"/>
                </a:solidFill>
                <a:latin typeface="Calibri"/>
                <a:ea typeface="Calibri"/>
                <a:cs typeface="Calibri"/>
              </a:rPr>
              <a:t>2020</a:t>
            </a:r>
          </a:p>
        </p:txBody>
      </p:sp>
      <p:sp>
        <p:nvSpPr>
          <p:cNvPr id="17" name="Serie 2024">
            <a:extLst>
              <a:ext uri="{FF2B5EF4-FFF2-40B4-BE49-F238E27FC236}">
                <a16:creationId xmlns:a16="http://schemas.microsoft.com/office/drawing/2014/main" id="{6A8328F4-334F-4B81-AC96-CDA9A7CD4431}"/>
              </a:ext>
            </a:extLst>
          </p:cNvPr>
          <p:cNvSpPr>
            <a:spLocks noGrp="1"/>
          </p:cNvSpPr>
          <p:nvPr/>
        </p:nvSpPr>
        <p:spPr>
          <a:xfrm>
            <a:off x="5419725" y="2638425"/>
            <a:ext cx="1285875" cy="228600"/>
          </a:xfrm>
          <a:prstGeom prst="rect">
            <a:avLst/>
          </a:prstGeom>
          <a:noFill/>
          <a:ln w="0">
            <a:noFill/>
          </a:ln>
        </p:spPr>
        <p:txBody>
          <a:bodyPr wrap="square" lIns="0" tIns="0" rIns="0" bIns="0" anchor="t">
            <a:noAutofit/>
          </a:bodyPr>
          <a:lstStyle/>
          <a:p>
            <a:pPr algn="ctr">
              <a:buNone/>
              <a:defRPr sz="1350" b="1">
                <a:solidFill>
                  <a:srgbClr val="17375D"/>
                </a:solidFill>
                <a:latin typeface="Calibri"/>
                <a:ea typeface="Calibri"/>
                <a:cs typeface="Calibri"/>
              </a:defRPr>
            </a:pPr>
            <a:r>
              <a:rPr sz="1350" b="1">
                <a:solidFill>
                  <a:srgbClr val="17375D"/>
                </a:solidFill>
                <a:latin typeface="Calibri"/>
                <a:ea typeface="Calibri"/>
                <a:cs typeface="Calibri"/>
              </a:rPr>
              <a:t>2024</a:t>
            </a:r>
          </a:p>
        </p:txBody>
      </p:sp>
      <p:pic>
        <p:nvPicPr>
          <p:cNvPr id="43" name="fuente_era5land_t2m_1aa480c9.png" descr="Unidades y escala numérica originales de la serie."/>
          <p:cNvPicPr>
            <a:picLocks noChangeAspect="1"/>
          </p:cNvPicPr>
          <p:nvPr/>
        </p:nvPicPr>
        <p:blipFill>
          <a:blip r:embed="rId3"/>
          <a:srcRect t="78039" r="96617" b="5618"/>
          <a:stretch>
            <a:fillRect/>
          </a:stretch>
        </p:blipFill>
        <p:spPr>
          <a:xfrm>
            <a:off x="3506152" y="2886075"/>
            <a:ext cx="351472" cy="1249680"/>
          </a:xfrm>
          <a:prstGeom prst="rect">
            <a:avLst/>
          </a:prstGeom>
        </p:spPr>
      </p:pic>
      <p:pic>
        <p:nvPicPr>
          <p:cNvPr id="44" name="fuente_era5land_t2m_1aa480c9.png" descr="Series originales de ERA5-Land, 2020 y 2024."/>
          <p:cNvPicPr>
            <a:picLocks noChangeAspect="1"/>
          </p:cNvPicPr>
          <p:nvPr/>
        </p:nvPicPr>
        <p:blipFill>
          <a:blip r:embed="rId3"/>
          <a:srcRect l="67669" t="78039" r="6316" b="3371"/>
          <a:stretch>
            <a:fillRect/>
          </a:stretch>
        </p:blipFill>
        <p:spPr>
          <a:xfrm>
            <a:off x="3924300" y="2886075"/>
            <a:ext cx="2702433" cy="1421511"/>
          </a:xfrm>
          <a:prstGeom prst="rect">
            <a:avLst/>
          </a:prstGeom>
        </p:spPr>
      </p:pic>
      <p:pic>
        <p:nvPicPr>
          <p:cNvPr id="45" name="fuente_era5land_t2m_1aa480c9.png" descr="Leyenda original de Chile y las cinco macrozonas."/>
          <p:cNvPicPr>
            <a:picLocks noChangeAspect="1"/>
          </p:cNvPicPr>
          <p:nvPr/>
        </p:nvPicPr>
        <p:blipFill>
          <a:blip r:embed="rId3"/>
          <a:srcRect l="28045" t="96527" r="38045" b="1124"/>
          <a:stretch>
            <a:fillRect/>
          </a:stretch>
        </p:blipFill>
        <p:spPr>
          <a:xfrm>
            <a:off x="3629025" y="4333875"/>
            <a:ext cx="4295775" cy="219075"/>
          </a:xfrm>
          <a:prstGeom prst="rect">
            <a:avLst/>
          </a:prstGeom>
        </p:spPr>
      </p:pic>
      <p:sp>
        <p:nvSpPr>
          <p:cNvPr id="21" name="Fuente y alcance">
            <a:extLst>
              <a:ext uri="{FF2B5EF4-FFF2-40B4-BE49-F238E27FC236}">
                <a16:creationId xmlns:a16="http://schemas.microsoft.com/office/drawing/2014/main" id="{836EEC47-7809-4ACD-BEFB-A347CB2DD582}"/>
              </a:ext>
            </a:extLst>
          </p:cNvPr>
          <p:cNvSpPr>
            <a:spLocks noGrp="1"/>
          </p:cNvSpPr>
          <p:nvPr/>
        </p:nvSpPr>
        <p:spPr>
          <a:xfrm>
            <a:off x="548640" y="4619625"/>
            <a:ext cx="8046720" cy="200025"/>
          </a:xfrm>
          <a:prstGeom prst="rect">
            <a:avLst/>
          </a:prstGeom>
          <a:noFill/>
          <a:ln w="0">
            <a:noFill/>
          </a:ln>
        </p:spPr>
        <p:txBody>
          <a:bodyPr wrap="square" lIns="0" tIns="0" rIns="0" bIns="0" anchor="ctr">
            <a:noAutofit/>
          </a:bodyPr>
          <a:lstStyle/>
          <a:p>
            <a:pPr algn="l">
              <a:buNone/>
              <a:defRPr sz="848">
                <a:solidFill>
                  <a:srgbClr val="526277"/>
                </a:solidFill>
                <a:latin typeface="Calibri"/>
                <a:ea typeface="Calibri"/>
                <a:cs typeface="Calibri"/>
              </a:defRPr>
            </a:pPr>
            <a:r>
              <a:rPr sz="848">
                <a:solidFill>
                  <a:srgbClr val="526277"/>
                </a:solidFill>
                <a:latin typeface="Calibri"/>
                <a:ea typeface="Calibri"/>
                <a:cs typeface="Calibri"/>
              </a:rPr>
              <a:t>HTML, figura 17. Recortes de 2020 y 2024. Series diarias por área, media móvil 7 días, UTC−4.</a:t>
            </a:r>
          </a:p>
        </p:txBody>
      </p:sp>
    </p:spTree>
    <p:extLst>
      <p:ext uri="{BB962C8B-B14F-4D97-AF65-F5344CB8AC3E}">
        <p14:creationId xmlns:p14="http://schemas.microsoft.com/office/powerpoint/2010/main" val="322757276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abecera azul UC">
            <a:extLst>
              <a:ext uri="{FF2B5EF4-FFF2-40B4-BE49-F238E27FC236}">
                <a16:creationId xmlns:a16="http://schemas.microsoft.com/office/drawing/2014/main" id="{3486DB9C-93DE-456A-BF48-2757BBD61ACE}"/>
              </a:ext>
            </a:extLst>
          </p:cNvPr>
          <p:cNvSpPr>
            <a:spLocks noGrp="1"/>
          </p:cNvSpPr>
          <p:nvPr/>
        </p:nvSpPr>
        <p:spPr>
          <a:xfrm>
            <a:off x="158742" y="0"/>
            <a:ext cx="8985258" cy="1007195"/>
          </a:xfrm>
          <a:prstGeom prst="rect">
            <a:avLst/>
          </a:prstGeom>
          <a:solidFill>
            <a:srgbClr val="017EDF"/>
          </a:solidFill>
          <a:ln>
            <a:noFill/>
          </a:ln>
        </p:spPr>
        <p:txBody>
          <a:bodyPr/>
          <a:lstStyle/>
          <a:p>
            <a:endParaRPr lang="es-CL"/>
          </a:p>
        </p:txBody>
      </p:sp>
      <p:sp>
        <p:nvSpPr>
          <p:cNvPr id="4" name="Rectángulo 9">
            <a:extLst>
              <a:ext uri="{FF2B5EF4-FFF2-40B4-BE49-F238E27FC236}">
                <a16:creationId xmlns:a16="http://schemas.microsoft.com/office/drawing/2014/main" id="{2DE33766-2918-41FC-A1B9-B4BF483C8974}"/>
              </a:ext>
            </a:extLst>
          </p:cNvPr>
          <p:cNvSpPr>
            <a:spLocks noGrp="1"/>
          </p:cNvSpPr>
          <p:nvPr/>
        </p:nvSpPr>
        <p:spPr>
          <a:xfrm>
            <a:off x="0" y="149945"/>
            <a:ext cx="158742" cy="857250"/>
          </a:xfrm>
          <a:prstGeom prst="rect">
            <a:avLst/>
          </a:prstGeom>
          <a:solidFill>
            <a:srgbClr val="FFE2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Rectángulo 7">
            <a:extLst>
              <a:ext uri="{FF2B5EF4-FFF2-40B4-BE49-F238E27FC236}">
                <a16:creationId xmlns:a16="http://schemas.microsoft.com/office/drawing/2014/main" id="{3BCD4458-45E8-4C73-A3B6-249CEEFBDB7B}"/>
              </a:ext>
            </a:extLst>
          </p:cNvPr>
          <p:cNvSpPr>
            <a:spLocks noGrp="1"/>
          </p:cNvSpPr>
          <p:nvPr/>
        </p:nvSpPr>
        <p:spPr>
          <a:xfrm flipV="1">
            <a:off x="169334" y="4871120"/>
            <a:ext cx="8815911" cy="177311"/>
          </a:xfrm>
          <a:prstGeom prst="rect">
            <a:avLst/>
          </a:prstGeom>
          <a:solidFill>
            <a:schemeClr val="bg1">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Rectángulo 10">
            <a:extLst>
              <a:ext uri="{FF2B5EF4-FFF2-40B4-BE49-F238E27FC236}">
                <a16:creationId xmlns:a16="http://schemas.microsoft.com/office/drawing/2014/main" id="{A18DC9E6-BD6D-4FE1-AEC0-9715BEE3912A}"/>
              </a:ext>
            </a:extLst>
          </p:cNvPr>
          <p:cNvSpPr>
            <a:spLocks noGrp="1"/>
          </p:cNvSpPr>
          <p:nvPr/>
        </p:nvSpPr>
        <p:spPr>
          <a:xfrm flipV="1">
            <a:off x="7200957" y="4871118"/>
            <a:ext cx="1119038" cy="177313"/>
          </a:xfrm>
          <a:prstGeom prst="rect">
            <a:avLst/>
          </a:prstGeom>
          <a:solidFill>
            <a:srgbClr val="3366CC"/>
          </a:solidFill>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ítulo 1">
            <a:extLst>
              <a:ext uri="{FF2B5EF4-FFF2-40B4-BE49-F238E27FC236}">
                <a16:creationId xmlns:a16="http://schemas.microsoft.com/office/drawing/2014/main" id="{438D0FA2-1899-4EDF-9FA4-D1742768DFC6}"/>
              </a:ext>
            </a:extLst>
          </p:cNvPr>
          <p:cNvSpPr>
            <a:spLocks noGrp="1"/>
          </p:cNvSpPr>
          <p:nvPr>
            <p:ph type="title"/>
          </p:nvPr>
        </p:nvSpPr>
        <p:spPr>
          <a:xfrm>
            <a:off x="457200" y="149945"/>
            <a:ext cx="8229600" cy="857250"/>
          </a:xfrm>
        </p:spPr>
        <p:txBody>
          <a:bodyPr wrap="square" anchor="ctr">
            <a:noAutofit/>
          </a:bodyPr>
          <a:lstStyle/>
          <a:p>
            <a:pPr algn="l">
              <a:spcBef>
                <a:spcPts val="0"/>
              </a:spcBef>
              <a:spcAft>
                <a:spcPts val="0"/>
              </a:spcAft>
              <a:defRPr sz="1900" b="1">
                <a:solidFill>
                  <a:srgbClr val="FFFFFF"/>
                </a:solidFill>
                <a:latin typeface="Calibri"/>
                <a:ea typeface="Calibri"/>
                <a:cs typeface="Calibri"/>
              </a:defRPr>
            </a:pPr>
            <a:r>
              <a:rPr sz="1900" b="1">
                <a:solidFill>
                  <a:srgbClr val="FFFFFF"/>
                </a:solidFill>
                <a:latin typeface="Calibri"/>
                <a:ea typeface="Calibri"/>
                <a:cs typeface="Calibri"/>
              </a:rPr>
              <a:t>Resultados descriptivos: MAIAC</a:t>
            </a:r>
          </a:p>
        </p:txBody>
      </p:sp>
      <p:sp>
        <p:nvSpPr>
          <p:cNvPr id="8" name="Mapa 2020">
            <a:extLst>
              <a:ext uri="{FF2B5EF4-FFF2-40B4-BE49-F238E27FC236}">
                <a16:creationId xmlns:a16="http://schemas.microsoft.com/office/drawing/2014/main" id="{5C5F3479-50E6-4B46-82D3-3A523B478EAF}"/>
              </a:ext>
            </a:extLst>
          </p:cNvPr>
          <p:cNvSpPr>
            <a:spLocks noGrp="1"/>
          </p:cNvSpPr>
          <p:nvPr/>
        </p:nvSpPr>
        <p:spPr>
          <a:xfrm>
            <a:off x="800100" y="1133475"/>
            <a:ext cx="742950" cy="266700"/>
          </a:xfrm>
          <a:prstGeom prst="rect">
            <a:avLst/>
          </a:prstGeom>
          <a:noFill/>
          <a:ln w="0">
            <a:noFill/>
          </a:ln>
        </p:spPr>
        <p:txBody>
          <a:bodyPr wrap="square" lIns="0" tIns="0" rIns="0" bIns="0" anchor="t">
            <a:noAutofit/>
          </a:bodyPr>
          <a:lstStyle/>
          <a:p>
            <a:pPr algn="ctr">
              <a:buNone/>
              <a:defRPr sz="1425" b="1">
                <a:solidFill>
                  <a:srgbClr val="17375D"/>
                </a:solidFill>
                <a:latin typeface="Calibri"/>
                <a:ea typeface="Calibri"/>
                <a:cs typeface="Calibri"/>
              </a:defRPr>
            </a:pPr>
            <a:r>
              <a:rPr sz="1425" b="1">
                <a:solidFill>
                  <a:srgbClr val="17375D"/>
                </a:solidFill>
                <a:latin typeface="Calibri"/>
                <a:ea typeface="Calibri"/>
                <a:cs typeface="Calibri"/>
              </a:rPr>
              <a:t>2020</a:t>
            </a:r>
          </a:p>
        </p:txBody>
      </p:sp>
      <p:sp>
        <p:nvSpPr>
          <p:cNvPr id="9" name="Mapa 2024">
            <a:extLst>
              <a:ext uri="{FF2B5EF4-FFF2-40B4-BE49-F238E27FC236}">
                <a16:creationId xmlns:a16="http://schemas.microsoft.com/office/drawing/2014/main" id="{E49EAB9C-6E92-4C68-9CBB-BAFF341A068B}"/>
              </a:ext>
            </a:extLst>
          </p:cNvPr>
          <p:cNvSpPr>
            <a:spLocks noGrp="1"/>
          </p:cNvSpPr>
          <p:nvPr/>
        </p:nvSpPr>
        <p:spPr>
          <a:xfrm>
            <a:off x="1581150" y="1133475"/>
            <a:ext cx="742950" cy="266700"/>
          </a:xfrm>
          <a:prstGeom prst="rect">
            <a:avLst/>
          </a:prstGeom>
          <a:noFill/>
          <a:ln w="0">
            <a:noFill/>
          </a:ln>
        </p:spPr>
        <p:txBody>
          <a:bodyPr wrap="square" lIns="0" tIns="0" rIns="0" bIns="0" anchor="t">
            <a:noAutofit/>
          </a:bodyPr>
          <a:lstStyle/>
          <a:p>
            <a:pPr algn="ctr">
              <a:buNone/>
              <a:defRPr sz="1425" b="1">
                <a:solidFill>
                  <a:srgbClr val="17375D"/>
                </a:solidFill>
                <a:latin typeface="Calibri"/>
                <a:ea typeface="Calibri"/>
                <a:cs typeface="Calibri"/>
              </a:defRPr>
            </a:pPr>
            <a:r>
              <a:rPr sz="1425" b="1">
                <a:solidFill>
                  <a:srgbClr val="17375D"/>
                </a:solidFill>
                <a:latin typeface="Calibri"/>
                <a:ea typeface="Calibri"/>
                <a:cs typeface="Calibri"/>
              </a:rPr>
              <a:t>2024</a:t>
            </a:r>
          </a:p>
        </p:txBody>
      </p:sp>
      <p:pic>
        <p:nvPicPr>
          <p:cNvPr id="35" name="fuente_maiac_aod_98e2029c.png" descr="Mapas originales MAIAC, años 2020 y 2024, medias anuales."/>
          <p:cNvPicPr>
            <a:picLocks noChangeAspect="1"/>
          </p:cNvPicPr>
          <p:nvPr/>
        </p:nvPicPr>
        <p:blipFill>
          <a:blip r:embed="rId3"/>
          <a:srcRect l="67669" t="5051" r="6316" b="23434"/>
          <a:stretch>
            <a:fillRect/>
          </a:stretch>
        </p:blipFill>
        <p:spPr>
          <a:xfrm>
            <a:off x="826845" y="1438275"/>
            <a:ext cx="1489559" cy="3048000"/>
          </a:xfrm>
          <a:prstGeom prst="rect">
            <a:avLst/>
          </a:prstGeom>
        </p:spPr>
      </p:pic>
      <p:pic>
        <p:nvPicPr>
          <p:cNvPr id="36" name="fuente_maiac_aod_98e2029c.png" descr="Eje de latitud compartido original."/>
          <p:cNvPicPr>
            <a:picLocks noChangeAspect="1"/>
          </p:cNvPicPr>
          <p:nvPr/>
        </p:nvPicPr>
        <p:blipFill>
          <a:blip r:embed="rId3"/>
          <a:srcRect t="5051" r="95113" b="25253"/>
          <a:stretch>
            <a:fillRect/>
          </a:stretch>
        </p:blipFill>
        <p:spPr>
          <a:xfrm>
            <a:off x="462998" y="1438275"/>
            <a:ext cx="279952" cy="2971800"/>
          </a:xfrm>
          <a:prstGeom prst="rect">
            <a:avLst/>
          </a:prstGeom>
        </p:spPr>
      </p:pic>
      <p:pic>
        <p:nvPicPr>
          <p:cNvPr id="37" name="fuente_maiac_aod_98e2029c.png" descr="Escala original completa de MAIAC en AOD adimensional."/>
          <p:cNvPicPr>
            <a:picLocks noChangeAspect="1"/>
          </p:cNvPicPr>
          <p:nvPr/>
        </p:nvPicPr>
        <p:blipFill>
          <a:blip r:embed="rId3"/>
          <a:srcRect l="93083" t="17172" b="41616"/>
          <a:stretch>
            <a:fillRect/>
          </a:stretch>
        </p:blipFill>
        <p:spPr>
          <a:xfrm>
            <a:off x="2596123" y="1666875"/>
            <a:ext cx="579904" cy="2571750"/>
          </a:xfrm>
          <a:prstGeom prst="rect">
            <a:avLst/>
          </a:prstGeom>
        </p:spPr>
      </p:pic>
      <p:sp>
        <p:nvSpPr>
          <p:cNvPr id="13" name="Tipo">
            <a:extLst>
              <a:ext uri="{FF2B5EF4-FFF2-40B4-BE49-F238E27FC236}">
                <a16:creationId xmlns:a16="http://schemas.microsoft.com/office/drawing/2014/main" id="{A5EB5C8B-D79E-4D99-A402-5CC150AEA6FF}"/>
              </a:ext>
            </a:extLst>
          </p:cNvPr>
          <p:cNvSpPr>
            <a:spLocks noGrp="1"/>
          </p:cNvSpPr>
          <p:nvPr/>
        </p:nvSpPr>
        <p:spPr>
          <a:xfrm>
            <a:off x="3543300" y="1190625"/>
            <a:ext cx="5029200" cy="247650"/>
          </a:xfrm>
          <a:prstGeom prst="rect">
            <a:avLst/>
          </a:prstGeom>
          <a:noFill/>
          <a:ln w="0">
            <a:noFill/>
          </a:ln>
        </p:spPr>
        <p:txBody>
          <a:bodyPr wrap="square" lIns="0" tIns="0" rIns="0" bIns="0" anchor="t">
            <a:noAutofit/>
          </a:bodyPr>
          <a:lstStyle/>
          <a:p>
            <a:pPr algn="l">
              <a:buNone/>
              <a:defRPr sz="1275" b="1">
                <a:solidFill>
                  <a:srgbClr val="017EDF"/>
                </a:solidFill>
                <a:latin typeface="Calibri"/>
                <a:ea typeface="Calibri"/>
                <a:cs typeface="Calibri"/>
              </a:defRPr>
            </a:pPr>
            <a:r>
              <a:rPr sz="1275" b="1">
                <a:solidFill>
                  <a:srgbClr val="017EDF"/>
                </a:solidFill>
                <a:latin typeface="Calibri"/>
                <a:ea typeface="Calibri"/>
                <a:cs typeface="Calibri"/>
              </a:rPr>
              <a:t>Producto satelital MODIS</a:t>
            </a:r>
          </a:p>
        </p:txBody>
      </p:sp>
      <p:sp>
        <p:nvSpPr>
          <p:cNvPr id="14" name="Variable">
            <a:extLst>
              <a:ext uri="{FF2B5EF4-FFF2-40B4-BE49-F238E27FC236}">
                <a16:creationId xmlns:a16="http://schemas.microsoft.com/office/drawing/2014/main" id="{AEA86380-4A03-4302-A546-825ABA7458F8}"/>
              </a:ext>
            </a:extLst>
          </p:cNvPr>
          <p:cNvSpPr>
            <a:spLocks noGrp="1"/>
          </p:cNvSpPr>
          <p:nvPr/>
        </p:nvSpPr>
        <p:spPr>
          <a:xfrm>
            <a:off x="3543300" y="1504950"/>
            <a:ext cx="5029200" cy="542925"/>
          </a:xfrm>
          <a:prstGeom prst="rect">
            <a:avLst/>
          </a:prstGeom>
          <a:noFill/>
          <a:ln w="0">
            <a:noFill/>
          </a:ln>
        </p:spPr>
        <p:txBody>
          <a:bodyPr wrap="square" lIns="0" tIns="0" rIns="0" bIns="0" anchor="t">
            <a:noAutofit/>
          </a:bodyPr>
          <a:lstStyle/>
          <a:p>
            <a:pPr algn="l">
              <a:buNone/>
              <a:defRPr sz="1650" b="1">
                <a:solidFill>
                  <a:srgbClr val="17375D"/>
                </a:solidFill>
                <a:latin typeface="Calibri"/>
                <a:ea typeface="Calibri"/>
                <a:cs typeface="Calibri"/>
              </a:defRPr>
            </a:pPr>
            <a:r>
              <a:rPr sz="1650" b="1">
                <a:solidFill>
                  <a:srgbClr val="17375D"/>
                </a:solidFill>
                <a:latin typeface="Calibri"/>
                <a:ea typeface="Calibri"/>
                <a:cs typeface="Calibri"/>
              </a:rPr>
              <a:t>AOD a 550 nm, adimensional</a:t>
            </a:r>
          </a:p>
          <a:p>
            <a:pPr algn="l">
              <a:buNone/>
              <a:defRPr sz="1650" b="1">
                <a:solidFill>
                  <a:srgbClr val="17375D"/>
                </a:solidFill>
                <a:latin typeface="Calibri"/>
                <a:ea typeface="Calibri"/>
                <a:cs typeface="Calibri"/>
              </a:defRPr>
            </a:pPr>
            <a:r>
              <a:rPr sz="1650" b="1">
                <a:solidFill>
                  <a:srgbClr val="17375D"/>
                </a:solidFill>
                <a:latin typeface="Calibri"/>
                <a:ea typeface="Calibri"/>
                <a:cs typeface="Calibri"/>
              </a:rPr>
              <a:t>1 km, por pasada, QA estricta</a:t>
            </a:r>
          </a:p>
        </p:txBody>
      </p:sp>
      <p:sp>
        <p:nvSpPr>
          <p:cNvPr id="15" name="Lectura">
            <a:extLst>
              <a:ext uri="{FF2B5EF4-FFF2-40B4-BE49-F238E27FC236}">
                <a16:creationId xmlns:a16="http://schemas.microsoft.com/office/drawing/2014/main" id="{8CFEF90E-048F-4B77-B273-6CB2EA5D0078}"/>
              </a:ext>
            </a:extLst>
          </p:cNvPr>
          <p:cNvSpPr>
            <a:spLocks noGrp="1"/>
          </p:cNvSpPr>
          <p:nvPr/>
        </p:nvSpPr>
        <p:spPr>
          <a:xfrm>
            <a:off x="3543300" y="2057400"/>
            <a:ext cx="5029200" cy="523875"/>
          </a:xfrm>
          <a:prstGeom prst="rect">
            <a:avLst/>
          </a:prstGeom>
          <a:noFill/>
          <a:ln w="0">
            <a:noFill/>
          </a:ln>
        </p:spPr>
        <p:txBody>
          <a:bodyPr wrap="square" lIns="0" tIns="0" rIns="0" bIns="0" anchor="t">
            <a:noAutofit/>
          </a:bodyPr>
          <a:lstStyle/>
          <a:p>
            <a:pPr algn="l">
              <a:buNone/>
              <a:defRPr sz="1350">
                <a:solidFill>
                  <a:srgbClr val="1E293B"/>
                </a:solidFill>
                <a:latin typeface="Calibri"/>
                <a:ea typeface="Calibri"/>
                <a:cs typeface="Calibri"/>
              </a:defRPr>
            </a:pPr>
            <a:r>
              <a:rPr sz="1350">
                <a:solidFill>
                  <a:srgbClr val="1E293B"/>
                </a:solidFill>
                <a:latin typeface="Calibri"/>
                <a:ea typeface="Calibri"/>
                <a:cs typeface="Calibri"/>
              </a:rPr>
              <a:t>El espesor óptico aporta información de aerosoles. La disponibilidad depende de las observaciones válidas.</a:t>
            </a:r>
          </a:p>
        </p:txBody>
      </p:sp>
      <p:sp>
        <p:nvSpPr>
          <p:cNvPr id="16" name="Serie 2020">
            <a:extLst>
              <a:ext uri="{FF2B5EF4-FFF2-40B4-BE49-F238E27FC236}">
                <a16:creationId xmlns:a16="http://schemas.microsoft.com/office/drawing/2014/main" id="{53455D3B-23D7-442C-A631-A87977D1C54D}"/>
              </a:ext>
            </a:extLst>
          </p:cNvPr>
          <p:cNvSpPr>
            <a:spLocks noGrp="1"/>
          </p:cNvSpPr>
          <p:nvPr/>
        </p:nvSpPr>
        <p:spPr>
          <a:xfrm>
            <a:off x="4029075" y="2638425"/>
            <a:ext cx="1285875" cy="228600"/>
          </a:xfrm>
          <a:prstGeom prst="rect">
            <a:avLst/>
          </a:prstGeom>
          <a:noFill/>
          <a:ln w="0">
            <a:noFill/>
          </a:ln>
        </p:spPr>
        <p:txBody>
          <a:bodyPr wrap="square" lIns="0" tIns="0" rIns="0" bIns="0" anchor="t">
            <a:noAutofit/>
          </a:bodyPr>
          <a:lstStyle/>
          <a:p>
            <a:pPr algn="ctr">
              <a:buNone/>
              <a:defRPr sz="1350" b="1">
                <a:solidFill>
                  <a:srgbClr val="17375D"/>
                </a:solidFill>
                <a:latin typeface="Calibri"/>
                <a:ea typeface="Calibri"/>
                <a:cs typeface="Calibri"/>
              </a:defRPr>
            </a:pPr>
            <a:r>
              <a:rPr sz="1350" b="1">
                <a:solidFill>
                  <a:srgbClr val="17375D"/>
                </a:solidFill>
                <a:latin typeface="Calibri"/>
                <a:ea typeface="Calibri"/>
                <a:cs typeface="Calibri"/>
              </a:rPr>
              <a:t>2020</a:t>
            </a:r>
          </a:p>
        </p:txBody>
      </p:sp>
      <p:sp>
        <p:nvSpPr>
          <p:cNvPr id="17" name="Serie 2024">
            <a:extLst>
              <a:ext uri="{FF2B5EF4-FFF2-40B4-BE49-F238E27FC236}">
                <a16:creationId xmlns:a16="http://schemas.microsoft.com/office/drawing/2014/main" id="{2A875533-CA52-402D-9D81-02528C6E3B82}"/>
              </a:ext>
            </a:extLst>
          </p:cNvPr>
          <p:cNvSpPr>
            <a:spLocks noGrp="1"/>
          </p:cNvSpPr>
          <p:nvPr/>
        </p:nvSpPr>
        <p:spPr>
          <a:xfrm>
            <a:off x="5419725" y="2638425"/>
            <a:ext cx="1285875" cy="228600"/>
          </a:xfrm>
          <a:prstGeom prst="rect">
            <a:avLst/>
          </a:prstGeom>
          <a:noFill/>
          <a:ln w="0">
            <a:noFill/>
          </a:ln>
        </p:spPr>
        <p:txBody>
          <a:bodyPr wrap="square" lIns="0" tIns="0" rIns="0" bIns="0" anchor="t">
            <a:noAutofit/>
          </a:bodyPr>
          <a:lstStyle/>
          <a:p>
            <a:pPr algn="ctr">
              <a:buNone/>
              <a:defRPr sz="1350" b="1">
                <a:solidFill>
                  <a:srgbClr val="17375D"/>
                </a:solidFill>
                <a:latin typeface="Calibri"/>
                <a:ea typeface="Calibri"/>
                <a:cs typeface="Calibri"/>
              </a:defRPr>
            </a:pPr>
            <a:r>
              <a:rPr sz="1350" b="1">
                <a:solidFill>
                  <a:srgbClr val="17375D"/>
                </a:solidFill>
                <a:latin typeface="Calibri"/>
                <a:ea typeface="Calibri"/>
                <a:cs typeface="Calibri"/>
              </a:rPr>
              <a:t>2024</a:t>
            </a:r>
          </a:p>
        </p:txBody>
      </p:sp>
      <p:pic>
        <p:nvPicPr>
          <p:cNvPr id="43" name="fuente_maiac_aod_98e2029c.png" descr="Unidades y escala numérica originales de la serie."/>
          <p:cNvPicPr>
            <a:picLocks noChangeAspect="1"/>
          </p:cNvPicPr>
          <p:nvPr/>
        </p:nvPicPr>
        <p:blipFill>
          <a:blip r:embed="rId3"/>
          <a:srcRect t="77172" r="96015" b="6667"/>
          <a:stretch>
            <a:fillRect/>
          </a:stretch>
        </p:blipFill>
        <p:spPr>
          <a:xfrm>
            <a:off x="3443668" y="2886075"/>
            <a:ext cx="413956" cy="1249680"/>
          </a:xfrm>
          <a:prstGeom prst="rect">
            <a:avLst/>
          </a:prstGeom>
        </p:spPr>
      </p:pic>
      <p:pic>
        <p:nvPicPr>
          <p:cNvPr id="44" name="fuente_maiac_aod_98e2029c.png" descr="Series originales de MAIAC, 2020 y 2024."/>
          <p:cNvPicPr>
            <a:picLocks noChangeAspect="1"/>
          </p:cNvPicPr>
          <p:nvPr/>
        </p:nvPicPr>
        <p:blipFill>
          <a:blip r:embed="rId3"/>
          <a:srcRect l="67669" t="77172" r="6316" b="4444"/>
          <a:stretch>
            <a:fillRect/>
          </a:stretch>
        </p:blipFill>
        <p:spPr>
          <a:xfrm>
            <a:off x="3924300" y="2886075"/>
            <a:ext cx="2702433" cy="1421511"/>
          </a:xfrm>
          <a:prstGeom prst="rect">
            <a:avLst/>
          </a:prstGeom>
        </p:spPr>
      </p:pic>
      <p:pic>
        <p:nvPicPr>
          <p:cNvPr id="45" name="fuente_maiac_aod_98e2029c.png" descr="Leyenda original de Chile y las cinco macrozonas."/>
          <p:cNvPicPr>
            <a:picLocks noChangeAspect="1"/>
          </p:cNvPicPr>
          <p:nvPr/>
        </p:nvPicPr>
        <p:blipFill>
          <a:blip r:embed="rId3"/>
          <a:srcRect l="28045" t="95455" r="38045" b="2222"/>
          <a:stretch>
            <a:fillRect/>
          </a:stretch>
        </p:blipFill>
        <p:spPr>
          <a:xfrm>
            <a:off x="3629025" y="4333875"/>
            <a:ext cx="4295775" cy="219075"/>
          </a:xfrm>
          <a:prstGeom prst="rect">
            <a:avLst/>
          </a:prstGeom>
        </p:spPr>
      </p:pic>
      <p:sp>
        <p:nvSpPr>
          <p:cNvPr id="21" name="Fuente y alcance">
            <a:extLst>
              <a:ext uri="{FF2B5EF4-FFF2-40B4-BE49-F238E27FC236}">
                <a16:creationId xmlns:a16="http://schemas.microsoft.com/office/drawing/2014/main" id="{2E7C45F0-1F30-4767-B06E-B5588B41D7D3}"/>
              </a:ext>
            </a:extLst>
          </p:cNvPr>
          <p:cNvSpPr>
            <a:spLocks noGrp="1"/>
          </p:cNvSpPr>
          <p:nvPr/>
        </p:nvSpPr>
        <p:spPr>
          <a:xfrm>
            <a:off x="548640" y="4619625"/>
            <a:ext cx="8046720" cy="200025"/>
          </a:xfrm>
          <a:prstGeom prst="rect">
            <a:avLst/>
          </a:prstGeom>
          <a:noFill/>
          <a:ln w="0">
            <a:noFill/>
          </a:ln>
        </p:spPr>
        <p:txBody>
          <a:bodyPr wrap="square" lIns="0" tIns="0" rIns="0" bIns="0" anchor="ctr">
            <a:noAutofit/>
          </a:bodyPr>
          <a:lstStyle/>
          <a:p>
            <a:pPr algn="l">
              <a:buNone/>
              <a:defRPr sz="848">
                <a:solidFill>
                  <a:srgbClr val="526277"/>
                </a:solidFill>
                <a:latin typeface="Calibri"/>
                <a:ea typeface="Calibri"/>
                <a:cs typeface="Calibri"/>
              </a:defRPr>
            </a:pPr>
            <a:r>
              <a:rPr sz="848">
                <a:solidFill>
                  <a:srgbClr val="526277"/>
                </a:solidFill>
                <a:latin typeface="Calibri"/>
                <a:ea typeface="Calibri"/>
                <a:cs typeface="Calibri"/>
              </a:rPr>
              <a:t>HTML, figura 37. Recortes de 2020 y 2024. Series diarias por área, media móvil 7 días, UTC−4.</a:t>
            </a:r>
          </a:p>
        </p:txBody>
      </p:sp>
    </p:spTree>
    <p:extLst>
      <p:ext uri="{BB962C8B-B14F-4D97-AF65-F5344CB8AC3E}">
        <p14:creationId xmlns:p14="http://schemas.microsoft.com/office/powerpoint/2010/main" val="322757276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abecera azul UC">
            <a:extLst>
              <a:ext uri="{FF2B5EF4-FFF2-40B4-BE49-F238E27FC236}">
                <a16:creationId xmlns:a16="http://schemas.microsoft.com/office/drawing/2014/main" id="{3486DB9C-93DE-456A-BF48-2757BBD61ACE}"/>
              </a:ext>
            </a:extLst>
          </p:cNvPr>
          <p:cNvSpPr>
            <a:spLocks noGrp="1"/>
          </p:cNvSpPr>
          <p:nvPr/>
        </p:nvSpPr>
        <p:spPr>
          <a:xfrm>
            <a:off x="158742" y="0"/>
            <a:ext cx="8985258" cy="1007195"/>
          </a:xfrm>
          <a:prstGeom prst="rect">
            <a:avLst/>
          </a:prstGeom>
          <a:solidFill>
            <a:srgbClr val="017EDF"/>
          </a:solidFill>
          <a:ln>
            <a:noFill/>
          </a:ln>
        </p:spPr>
        <p:txBody>
          <a:bodyPr/>
          <a:lstStyle/>
          <a:p>
            <a:endParaRPr lang="es-CL"/>
          </a:p>
        </p:txBody>
      </p:sp>
      <p:sp>
        <p:nvSpPr>
          <p:cNvPr id="4" name="Rectángulo 9">
            <a:extLst>
              <a:ext uri="{FF2B5EF4-FFF2-40B4-BE49-F238E27FC236}">
                <a16:creationId xmlns:a16="http://schemas.microsoft.com/office/drawing/2014/main" id="{2DE33766-2918-41FC-A1B9-B4BF483C8974}"/>
              </a:ext>
            </a:extLst>
          </p:cNvPr>
          <p:cNvSpPr>
            <a:spLocks noGrp="1"/>
          </p:cNvSpPr>
          <p:nvPr/>
        </p:nvSpPr>
        <p:spPr>
          <a:xfrm>
            <a:off x="0" y="149945"/>
            <a:ext cx="158742" cy="857250"/>
          </a:xfrm>
          <a:prstGeom prst="rect">
            <a:avLst/>
          </a:prstGeom>
          <a:solidFill>
            <a:srgbClr val="FFE2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Rectángulo 7">
            <a:extLst>
              <a:ext uri="{FF2B5EF4-FFF2-40B4-BE49-F238E27FC236}">
                <a16:creationId xmlns:a16="http://schemas.microsoft.com/office/drawing/2014/main" id="{3BCD4458-45E8-4C73-A3B6-249CEEFBDB7B}"/>
              </a:ext>
            </a:extLst>
          </p:cNvPr>
          <p:cNvSpPr>
            <a:spLocks noGrp="1"/>
          </p:cNvSpPr>
          <p:nvPr/>
        </p:nvSpPr>
        <p:spPr>
          <a:xfrm flipV="1">
            <a:off x="169334" y="4871120"/>
            <a:ext cx="8815911" cy="177311"/>
          </a:xfrm>
          <a:prstGeom prst="rect">
            <a:avLst/>
          </a:prstGeom>
          <a:solidFill>
            <a:schemeClr val="bg1">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Rectángulo 10">
            <a:extLst>
              <a:ext uri="{FF2B5EF4-FFF2-40B4-BE49-F238E27FC236}">
                <a16:creationId xmlns:a16="http://schemas.microsoft.com/office/drawing/2014/main" id="{A18DC9E6-BD6D-4FE1-AEC0-9715BEE3912A}"/>
              </a:ext>
            </a:extLst>
          </p:cNvPr>
          <p:cNvSpPr>
            <a:spLocks noGrp="1"/>
          </p:cNvSpPr>
          <p:nvPr/>
        </p:nvSpPr>
        <p:spPr>
          <a:xfrm flipV="1">
            <a:off x="7200957" y="4871118"/>
            <a:ext cx="1119038" cy="177313"/>
          </a:xfrm>
          <a:prstGeom prst="rect">
            <a:avLst/>
          </a:prstGeom>
          <a:solidFill>
            <a:srgbClr val="3366CC"/>
          </a:solidFill>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ítulo 1">
            <a:extLst>
              <a:ext uri="{FF2B5EF4-FFF2-40B4-BE49-F238E27FC236}">
                <a16:creationId xmlns:a16="http://schemas.microsoft.com/office/drawing/2014/main" id="{438D0FA2-1899-4EDF-9FA4-D1742768DFC6}"/>
              </a:ext>
            </a:extLst>
          </p:cNvPr>
          <p:cNvSpPr>
            <a:spLocks noGrp="1"/>
          </p:cNvSpPr>
          <p:nvPr>
            <p:ph type="title"/>
          </p:nvPr>
        </p:nvSpPr>
        <p:spPr>
          <a:xfrm>
            <a:off x="457200" y="149945"/>
            <a:ext cx="8229600" cy="857250"/>
          </a:xfrm>
        </p:spPr>
        <p:txBody>
          <a:bodyPr wrap="square" anchor="ctr">
            <a:noAutofit/>
          </a:bodyPr>
          <a:lstStyle/>
          <a:p>
            <a:pPr algn="l">
              <a:spcBef>
                <a:spcPts val="0"/>
              </a:spcBef>
              <a:spcAft>
                <a:spcPts val="0"/>
              </a:spcAft>
              <a:defRPr sz="1900" b="1">
                <a:solidFill>
                  <a:srgbClr val="FFFFFF"/>
                </a:solidFill>
                <a:latin typeface="Calibri"/>
                <a:ea typeface="Calibri"/>
                <a:cs typeface="Calibri"/>
              </a:defRPr>
            </a:pPr>
            <a:r>
              <a:rPr sz="1900" b="1">
                <a:solidFill>
                  <a:srgbClr val="FFFFFF"/>
                </a:solidFill>
                <a:latin typeface="Calibri"/>
                <a:ea typeface="Calibri"/>
                <a:cs typeface="Calibri"/>
              </a:rPr>
              <a:t>Resultados descriptivos: TROPOMI</a:t>
            </a:r>
          </a:p>
        </p:txBody>
      </p:sp>
      <p:sp>
        <p:nvSpPr>
          <p:cNvPr id="8" name="Mapa 2020">
            <a:extLst>
              <a:ext uri="{FF2B5EF4-FFF2-40B4-BE49-F238E27FC236}">
                <a16:creationId xmlns:a16="http://schemas.microsoft.com/office/drawing/2014/main" id="{D0622A37-3A60-422E-9304-958317C27638}"/>
              </a:ext>
            </a:extLst>
          </p:cNvPr>
          <p:cNvSpPr>
            <a:spLocks noGrp="1"/>
          </p:cNvSpPr>
          <p:nvPr/>
        </p:nvSpPr>
        <p:spPr>
          <a:xfrm>
            <a:off x="800100" y="1133475"/>
            <a:ext cx="742950" cy="266700"/>
          </a:xfrm>
          <a:prstGeom prst="rect">
            <a:avLst/>
          </a:prstGeom>
          <a:noFill/>
          <a:ln w="0">
            <a:noFill/>
          </a:ln>
        </p:spPr>
        <p:txBody>
          <a:bodyPr wrap="square" lIns="0" tIns="0" rIns="0" bIns="0" anchor="t">
            <a:noAutofit/>
          </a:bodyPr>
          <a:lstStyle/>
          <a:p>
            <a:pPr algn="ctr">
              <a:buNone/>
              <a:defRPr sz="1425" b="1">
                <a:solidFill>
                  <a:srgbClr val="17375D"/>
                </a:solidFill>
                <a:latin typeface="Calibri"/>
                <a:ea typeface="Calibri"/>
                <a:cs typeface="Calibri"/>
              </a:defRPr>
            </a:pPr>
            <a:r>
              <a:rPr sz="1425" b="1">
                <a:solidFill>
                  <a:srgbClr val="17375D"/>
                </a:solidFill>
                <a:latin typeface="Calibri"/>
                <a:ea typeface="Calibri"/>
                <a:cs typeface="Calibri"/>
              </a:rPr>
              <a:t>2020</a:t>
            </a:r>
          </a:p>
        </p:txBody>
      </p:sp>
      <p:sp>
        <p:nvSpPr>
          <p:cNvPr id="9" name="Mapa 2024">
            <a:extLst>
              <a:ext uri="{FF2B5EF4-FFF2-40B4-BE49-F238E27FC236}">
                <a16:creationId xmlns:a16="http://schemas.microsoft.com/office/drawing/2014/main" id="{C31AB203-D916-46C4-8E8D-155E17C4AE49}"/>
              </a:ext>
            </a:extLst>
          </p:cNvPr>
          <p:cNvSpPr>
            <a:spLocks noGrp="1"/>
          </p:cNvSpPr>
          <p:nvPr/>
        </p:nvSpPr>
        <p:spPr>
          <a:xfrm>
            <a:off x="1581150" y="1133475"/>
            <a:ext cx="742950" cy="266700"/>
          </a:xfrm>
          <a:prstGeom prst="rect">
            <a:avLst/>
          </a:prstGeom>
          <a:noFill/>
          <a:ln w="0">
            <a:noFill/>
          </a:ln>
        </p:spPr>
        <p:txBody>
          <a:bodyPr wrap="square" lIns="0" tIns="0" rIns="0" bIns="0" anchor="t">
            <a:noAutofit/>
          </a:bodyPr>
          <a:lstStyle/>
          <a:p>
            <a:pPr algn="ctr">
              <a:buNone/>
              <a:defRPr sz="1425" b="1">
                <a:solidFill>
                  <a:srgbClr val="17375D"/>
                </a:solidFill>
                <a:latin typeface="Calibri"/>
                <a:ea typeface="Calibri"/>
                <a:cs typeface="Calibri"/>
              </a:defRPr>
            </a:pPr>
            <a:r>
              <a:rPr sz="1425" b="1">
                <a:solidFill>
                  <a:srgbClr val="17375D"/>
                </a:solidFill>
                <a:latin typeface="Calibri"/>
                <a:ea typeface="Calibri"/>
                <a:cs typeface="Calibri"/>
              </a:rPr>
              <a:t>2024</a:t>
            </a:r>
          </a:p>
        </p:txBody>
      </p:sp>
      <p:pic>
        <p:nvPicPr>
          <p:cNvPr id="35" name="fuente_tropomi_no2_trop_a2a56401.png" descr="Mapas originales TROPOMI, años 2020 y 2024, medias anuales."/>
          <p:cNvPicPr>
            <a:picLocks noChangeAspect="1"/>
          </p:cNvPicPr>
          <p:nvPr/>
        </p:nvPicPr>
        <p:blipFill>
          <a:blip r:embed="rId3"/>
          <a:srcRect l="67618" t="5107" r="7288" b="22574"/>
          <a:stretch>
            <a:fillRect/>
          </a:stretch>
        </p:blipFill>
        <p:spPr>
          <a:xfrm>
            <a:off x="852676" y="1438275"/>
            <a:ext cx="1437898" cy="3048000"/>
          </a:xfrm>
          <a:prstGeom prst="rect">
            <a:avLst/>
          </a:prstGeom>
        </p:spPr>
      </p:pic>
      <p:pic>
        <p:nvPicPr>
          <p:cNvPr id="36" name="fuente_tropomi_no2_trop_a2a56401.png" descr="Eje de latitud compartido original."/>
          <p:cNvPicPr>
            <a:picLocks noChangeAspect="1"/>
          </p:cNvPicPr>
          <p:nvPr/>
        </p:nvPicPr>
        <p:blipFill>
          <a:blip r:embed="rId3"/>
          <a:srcRect t="5107" r="96544" b="24413"/>
          <a:stretch>
            <a:fillRect/>
          </a:stretch>
        </p:blipFill>
        <p:spPr>
          <a:xfrm>
            <a:off x="544830" y="1438275"/>
            <a:ext cx="198120" cy="2971800"/>
          </a:xfrm>
          <a:prstGeom prst="rect">
            <a:avLst/>
          </a:prstGeom>
        </p:spPr>
      </p:pic>
      <p:pic>
        <p:nvPicPr>
          <p:cNvPr id="37" name="fuente_tropomi_no2_trop_a2a56401.png" descr="Escala original completa de TROPOMI en 10¹⁵ moléculas/cm²."/>
          <p:cNvPicPr>
            <a:picLocks noChangeAspect="1"/>
          </p:cNvPicPr>
          <p:nvPr/>
        </p:nvPicPr>
        <p:blipFill>
          <a:blip r:embed="rId3"/>
          <a:srcRect l="93013" t="17365" b="36159"/>
          <a:stretch>
            <a:fillRect/>
          </a:stretch>
        </p:blipFill>
        <p:spPr>
          <a:xfrm>
            <a:off x="2594045" y="1524000"/>
            <a:ext cx="584060" cy="2857500"/>
          </a:xfrm>
          <a:prstGeom prst="rect">
            <a:avLst/>
          </a:prstGeom>
        </p:spPr>
      </p:pic>
      <p:sp>
        <p:nvSpPr>
          <p:cNvPr id="13" name="Tipo">
            <a:extLst>
              <a:ext uri="{FF2B5EF4-FFF2-40B4-BE49-F238E27FC236}">
                <a16:creationId xmlns:a16="http://schemas.microsoft.com/office/drawing/2014/main" id="{5EDCC43D-CEA3-43F7-BD0A-BD9128DA21E3}"/>
              </a:ext>
            </a:extLst>
          </p:cNvPr>
          <p:cNvSpPr>
            <a:spLocks noGrp="1"/>
          </p:cNvSpPr>
          <p:nvPr/>
        </p:nvSpPr>
        <p:spPr>
          <a:xfrm>
            <a:off x="3543300" y="1190625"/>
            <a:ext cx="5029200" cy="247650"/>
          </a:xfrm>
          <a:prstGeom prst="rect">
            <a:avLst/>
          </a:prstGeom>
          <a:noFill/>
          <a:ln w="0">
            <a:noFill/>
          </a:ln>
        </p:spPr>
        <p:txBody>
          <a:bodyPr wrap="square" lIns="0" tIns="0" rIns="0" bIns="0" anchor="t">
            <a:noAutofit/>
          </a:bodyPr>
          <a:lstStyle/>
          <a:p>
            <a:pPr algn="l">
              <a:buNone/>
              <a:defRPr sz="1275" b="1">
                <a:solidFill>
                  <a:srgbClr val="017EDF"/>
                </a:solidFill>
                <a:latin typeface="Calibri"/>
                <a:ea typeface="Calibri"/>
                <a:cs typeface="Calibri"/>
              </a:defRPr>
            </a:pPr>
            <a:r>
              <a:rPr sz="1275" b="1">
                <a:solidFill>
                  <a:srgbClr val="017EDF"/>
                </a:solidFill>
                <a:latin typeface="Calibri"/>
                <a:ea typeface="Calibri"/>
                <a:cs typeface="Calibri"/>
              </a:rPr>
              <a:t>Producto satelital Sentinel-5P</a:t>
            </a:r>
          </a:p>
        </p:txBody>
      </p:sp>
      <p:sp>
        <p:nvSpPr>
          <p:cNvPr id="14" name="Variable">
            <a:extLst>
              <a:ext uri="{FF2B5EF4-FFF2-40B4-BE49-F238E27FC236}">
                <a16:creationId xmlns:a16="http://schemas.microsoft.com/office/drawing/2014/main" id="{0FD68B5F-877E-4BFF-8679-25B9C70521DF}"/>
              </a:ext>
            </a:extLst>
          </p:cNvPr>
          <p:cNvSpPr>
            <a:spLocks noGrp="1"/>
          </p:cNvSpPr>
          <p:nvPr/>
        </p:nvSpPr>
        <p:spPr>
          <a:xfrm>
            <a:off x="3543300" y="1504950"/>
            <a:ext cx="5029200" cy="542925"/>
          </a:xfrm>
          <a:prstGeom prst="rect">
            <a:avLst/>
          </a:prstGeom>
          <a:noFill/>
          <a:ln w="0">
            <a:noFill/>
          </a:ln>
        </p:spPr>
        <p:txBody>
          <a:bodyPr wrap="square" lIns="0" tIns="0" rIns="0" bIns="0" anchor="t">
            <a:noAutofit/>
          </a:bodyPr>
          <a:lstStyle/>
          <a:p>
            <a:pPr algn="l">
              <a:buNone/>
              <a:defRPr sz="1650" b="1">
                <a:solidFill>
                  <a:srgbClr val="17375D"/>
                </a:solidFill>
                <a:latin typeface="Calibri"/>
                <a:ea typeface="Calibri"/>
                <a:cs typeface="Calibri"/>
              </a:defRPr>
            </a:pPr>
            <a:r>
              <a:rPr sz="1650" b="1">
                <a:solidFill>
                  <a:srgbClr val="17375D"/>
                </a:solidFill>
                <a:latin typeface="Calibri"/>
                <a:ea typeface="Calibri"/>
                <a:cs typeface="Calibri"/>
              </a:rPr>
              <a:t>Columna troposférica de NO₂</a:t>
            </a:r>
          </a:p>
          <a:p>
            <a:pPr algn="l">
              <a:buNone/>
              <a:defRPr sz="1650" b="1">
                <a:solidFill>
                  <a:srgbClr val="17375D"/>
                </a:solidFill>
                <a:latin typeface="Calibri"/>
                <a:ea typeface="Calibri"/>
                <a:cs typeface="Calibri"/>
              </a:defRPr>
            </a:pPr>
            <a:r>
              <a:rPr sz="1650" b="1">
                <a:solidFill>
                  <a:srgbClr val="17375D"/>
                </a:solidFill>
                <a:latin typeface="Calibri"/>
                <a:ea typeface="Calibri"/>
                <a:cs typeface="Calibri"/>
              </a:rPr>
              <a:t>10¹⁵ moléculas/cm², qa ≥ 0,75</a:t>
            </a:r>
          </a:p>
        </p:txBody>
      </p:sp>
      <p:sp>
        <p:nvSpPr>
          <p:cNvPr id="15" name="Lectura">
            <a:extLst>
              <a:ext uri="{FF2B5EF4-FFF2-40B4-BE49-F238E27FC236}">
                <a16:creationId xmlns:a16="http://schemas.microsoft.com/office/drawing/2014/main" id="{228C1D69-BDA8-40D0-9D53-F165180A47DC}"/>
              </a:ext>
            </a:extLst>
          </p:cNvPr>
          <p:cNvSpPr>
            <a:spLocks noGrp="1"/>
          </p:cNvSpPr>
          <p:nvPr/>
        </p:nvSpPr>
        <p:spPr>
          <a:xfrm>
            <a:off x="3543300" y="2057400"/>
            <a:ext cx="5029200" cy="523875"/>
          </a:xfrm>
          <a:prstGeom prst="rect">
            <a:avLst/>
          </a:prstGeom>
          <a:noFill/>
          <a:ln w="0">
            <a:noFill/>
          </a:ln>
        </p:spPr>
        <p:txBody>
          <a:bodyPr wrap="square" lIns="0" tIns="0" rIns="0" bIns="0" anchor="t">
            <a:noAutofit/>
          </a:bodyPr>
          <a:lstStyle/>
          <a:p>
            <a:pPr algn="l">
              <a:buNone/>
              <a:defRPr sz="1350">
                <a:solidFill>
                  <a:srgbClr val="1E293B"/>
                </a:solidFill>
                <a:latin typeface="Calibri"/>
                <a:ea typeface="Calibri"/>
                <a:cs typeface="Calibri"/>
              </a:defRPr>
            </a:pPr>
            <a:r>
              <a:rPr sz="1350">
                <a:solidFill>
                  <a:srgbClr val="1E293B"/>
                </a:solidFill>
                <a:latin typeface="Calibri"/>
                <a:ea typeface="Calibri"/>
                <a:cs typeface="Calibri"/>
              </a:rPr>
              <a:t>Aporta información de la columna atmosférica. La variable objetivo del proyecto es la concentración superficial.</a:t>
            </a:r>
          </a:p>
        </p:txBody>
      </p:sp>
      <p:sp>
        <p:nvSpPr>
          <p:cNvPr id="16" name="Serie 2020">
            <a:extLst>
              <a:ext uri="{FF2B5EF4-FFF2-40B4-BE49-F238E27FC236}">
                <a16:creationId xmlns:a16="http://schemas.microsoft.com/office/drawing/2014/main" id="{0410D540-E2CA-4929-ADEF-F24AAC9A436E}"/>
              </a:ext>
            </a:extLst>
          </p:cNvPr>
          <p:cNvSpPr>
            <a:spLocks noGrp="1"/>
          </p:cNvSpPr>
          <p:nvPr/>
        </p:nvSpPr>
        <p:spPr>
          <a:xfrm>
            <a:off x="4029075" y="2638425"/>
            <a:ext cx="1285875" cy="228600"/>
          </a:xfrm>
          <a:prstGeom prst="rect">
            <a:avLst/>
          </a:prstGeom>
          <a:noFill/>
          <a:ln w="0">
            <a:noFill/>
          </a:ln>
        </p:spPr>
        <p:txBody>
          <a:bodyPr wrap="square" lIns="0" tIns="0" rIns="0" bIns="0" anchor="t">
            <a:noAutofit/>
          </a:bodyPr>
          <a:lstStyle/>
          <a:p>
            <a:pPr algn="ctr">
              <a:buNone/>
              <a:defRPr sz="1350" b="1">
                <a:solidFill>
                  <a:srgbClr val="17375D"/>
                </a:solidFill>
                <a:latin typeface="Calibri"/>
                <a:ea typeface="Calibri"/>
                <a:cs typeface="Calibri"/>
              </a:defRPr>
            </a:pPr>
            <a:r>
              <a:rPr sz="1350" b="1">
                <a:solidFill>
                  <a:srgbClr val="17375D"/>
                </a:solidFill>
                <a:latin typeface="Calibri"/>
                <a:ea typeface="Calibri"/>
                <a:cs typeface="Calibri"/>
              </a:rPr>
              <a:t>2020</a:t>
            </a:r>
          </a:p>
        </p:txBody>
      </p:sp>
      <p:sp>
        <p:nvSpPr>
          <p:cNvPr id="17" name="Serie 2024">
            <a:extLst>
              <a:ext uri="{FF2B5EF4-FFF2-40B4-BE49-F238E27FC236}">
                <a16:creationId xmlns:a16="http://schemas.microsoft.com/office/drawing/2014/main" id="{7C6AA785-74FD-441E-B834-873445534D4A}"/>
              </a:ext>
            </a:extLst>
          </p:cNvPr>
          <p:cNvSpPr>
            <a:spLocks noGrp="1"/>
          </p:cNvSpPr>
          <p:nvPr/>
        </p:nvSpPr>
        <p:spPr>
          <a:xfrm>
            <a:off x="5419725" y="2638425"/>
            <a:ext cx="1285875" cy="228600"/>
          </a:xfrm>
          <a:prstGeom prst="rect">
            <a:avLst/>
          </a:prstGeom>
          <a:noFill/>
          <a:ln w="0">
            <a:noFill/>
          </a:ln>
        </p:spPr>
        <p:txBody>
          <a:bodyPr wrap="square" lIns="0" tIns="0" rIns="0" bIns="0" anchor="t">
            <a:noAutofit/>
          </a:bodyPr>
          <a:lstStyle/>
          <a:p>
            <a:pPr algn="ctr">
              <a:buNone/>
              <a:defRPr sz="1350" b="1">
                <a:solidFill>
                  <a:srgbClr val="17375D"/>
                </a:solidFill>
                <a:latin typeface="Calibri"/>
                <a:ea typeface="Calibri"/>
                <a:cs typeface="Calibri"/>
              </a:defRPr>
            </a:pPr>
            <a:r>
              <a:rPr sz="1350" b="1">
                <a:solidFill>
                  <a:srgbClr val="17375D"/>
                </a:solidFill>
                <a:latin typeface="Calibri"/>
                <a:ea typeface="Calibri"/>
                <a:cs typeface="Calibri"/>
              </a:rPr>
              <a:t>2024</a:t>
            </a:r>
          </a:p>
        </p:txBody>
      </p:sp>
      <p:pic>
        <p:nvPicPr>
          <p:cNvPr id="43" name="fuente_tropomi_no2_trop_a2a56401.png" descr="Unidades y escala numérica originales de la serie."/>
          <p:cNvPicPr>
            <a:picLocks noChangeAspect="1"/>
          </p:cNvPicPr>
          <p:nvPr/>
        </p:nvPicPr>
        <p:blipFill>
          <a:blip r:embed="rId3"/>
          <a:srcRect t="78039" r="96544" b="5618"/>
          <a:stretch>
            <a:fillRect/>
          </a:stretch>
        </p:blipFill>
        <p:spPr>
          <a:xfrm>
            <a:off x="3498342" y="2886075"/>
            <a:ext cx="359283" cy="1249680"/>
          </a:xfrm>
          <a:prstGeom prst="rect">
            <a:avLst/>
          </a:prstGeom>
        </p:spPr>
      </p:pic>
      <p:pic>
        <p:nvPicPr>
          <p:cNvPr id="44" name="fuente_tropomi_no2_trop_a2a56401.png" descr="Series originales de TROPOMI, 2020 y 2024."/>
          <p:cNvPicPr>
            <a:picLocks noChangeAspect="1"/>
          </p:cNvPicPr>
          <p:nvPr/>
        </p:nvPicPr>
        <p:blipFill>
          <a:blip r:embed="rId3"/>
          <a:srcRect l="67618" t="78039" r="6386" b="3371"/>
          <a:stretch>
            <a:fillRect/>
          </a:stretch>
        </p:blipFill>
        <p:spPr>
          <a:xfrm>
            <a:off x="3924300" y="2886075"/>
            <a:ext cx="2702433" cy="1421511"/>
          </a:xfrm>
          <a:prstGeom prst="rect">
            <a:avLst/>
          </a:prstGeom>
        </p:spPr>
      </p:pic>
      <p:pic>
        <p:nvPicPr>
          <p:cNvPr id="45" name="fuente_tropomi_no2_trop_a2a56401.png" descr="Leyenda original de Chile y las cinco macrozonas."/>
          <p:cNvPicPr>
            <a:picLocks noChangeAspect="1"/>
          </p:cNvPicPr>
          <p:nvPr/>
        </p:nvPicPr>
        <p:blipFill>
          <a:blip r:embed="rId3"/>
          <a:srcRect l="28024" t="96527" r="38092" b="1124"/>
          <a:stretch>
            <a:fillRect/>
          </a:stretch>
        </p:blipFill>
        <p:spPr>
          <a:xfrm>
            <a:off x="3629025" y="4333875"/>
            <a:ext cx="4295775" cy="219075"/>
          </a:xfrm>
          <a:prstGeom prst="rect">
            <a:avLst/>
          </a:prstGeom>
        </p:spPr>
      </p:pic>
      <p:sp>
        <p:nvSpPr>
          <p:cNvPr id="21" name="Fuente y alcance">
            <a:extLst>
              <a:ext uri="{FF2B5EF4-FFF2-40B4-BE49-F238E27FC236}">
                <a16:creationId xmlns:a16="http://schemas.microsoft.com/office/drawing/2014/main" id="{71AFB9B0-006F-4E23-9A1E-13A02BDD0B83}"/>
              </a:ext>
            </a:extLst>
          </p:cNvPr>
          <p:cNvSpPr>
            <a:spLocks noGrp="1"/>
          </p:cNvSpPr>
          <p:nvPr/>
        </p:nvSpPr>
        <p:spPr>
          <a:xfrm>
            <a:off x="548640" y="4619625"/>
            <a:ext cx="8046720" cy="200025"/>
          </a:xfrm>
          <a:prstGeom prst="rect">
            <a:avLst/>
          </a:prstGeom>
          <a:noFill/>
          <a:ln w="0">
            <a:noFill/>
          </a:ln>
        </p:spPr>
        <p:txBody>
          <a:bodyPr wrap="square" lIns="0" tIns="0" rIns="0" bIns="0" anchor="ctr">
            <a:noAutofit/>
          </a:bodyPr>
          <a:lstStyle/>
          <a:p>
            <a:pPr algn="l">
              <a:buNone/>
              <a:defRPr sz="848">
                <a:solidFill>
                  <a:srgbClr val="526277"/>
                </a:solidFill>
                <a:latin typeface="Calibri"/>
                <a:ea typeface="Calibri"/>
                <a:cs typeface="Calibri"/>
              </a:defRPr>
            </a:pPr>
            <a:r>
              <a:rPr sz="848">
                <a:solidFill>
                  <a:srgbClr val="526277"/>
                </a:solidFill>
                <a:latin typeface="Calibri"/>
                <a:ea typeface="Calibri"/>
                <a:cs typeface="Calibri"/>
              </a:rPr>
              <a:t>HTML, figura 39. Recortes de 2020 y 2024. Series diarias por área, media móvil 7 días, UTC−4.</a:t>
            </a:r>
          </a:p>
        </p:txBody>
      </p:sp>
    </p:spTree>
    <p:extLst>
      <p:ext uri="{BB962C8B-B14F-4D97-AF65-F5344CB8AC3E}">
        <p14:creationId xmlns:p14="http://schemas.microsoft.com/office/powerpoint/2010/main" val="322757276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abecera azul UC">
            <a:extLst>
              <a:ext uri="{FF2B5EF4-FFF2-40B4-BE49-F238E27FC236}">
                <a16:creationId xmlns:a16="http://schemas.microsoft.com/office/drawing/2014/main" id="{3486DB9C-93DE-456A-BF48-2757BBD61ACE}"/>
              </a:ext>
            </a:extLst>
          </p:cNvPr>
          <p:cNvSpPr>
            <a:spLocks noGrp="1"/>
          </p:cNvSpPr>
          <p:nvPr/>
        </p:nvSpPr>
        <p:spPr>
          <a:xfrm>
            <a:off x="158742" y="0"/>
            <a:ext cx="8985258" cy="1007195"/>
          </a:xfrm>
          <a:prstGeom prst="rect">
            <a:avLst/>
          </a:prstGeom>
          <a:solidFill>
            <a:srgbClr val="017EDF"/>
          </a:solidFill>
          <a:ln>
            <a:noFill/>
          </a:ln>
        </p:spPr>
        <p:txBody>
          <a:bodyPr/>
          <a:lstStyle/>
          <a:p>
            <a:endParaRPr lang="es-CL"/>
          </a:p>
        </p:txBody>
      </p:sp>
      <p:sp>
        <p:nvSpPr>
          <p:cNvPr id="4" name="Rectángulo 9">
            <a:extLst>
              <a:ext uri="{FF2B5EF4-FFF2-40B4-BE49-F238E27FC236}">
                <a16:creationId xmlns:a16="http://schemas.microsoft.com/office/drawing/2014/main" id="{2DE33766-2918-41FC-A1B9-B4BF483C8974}"/>
              </a:ext>
            </a:extLst>
          </p:cNvPr>
          <p:cNvSpPr>
            <a:spLocks noGrp="1"/>
          </p:cNvSpPr>
          <p:nvPr/>
        </p:nvSpPr>
        <p:spPr>
          <a:xfrm>
            <a:off x="0" y="149945"/>
            <a:ext cx="158742" cy="857250"/>
          </a:xfrm>
          <a:prstGeom prst="rect">
            <a:avLst/>
          </a:prstGeom>
          <a:solidFill>
            <a:srgbClr val="FFE2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Rectángulo 7">
            <a:extLst>
              <a:ext uri="{FF2B5EF4-FFF2-40B4-BE49-F238E27FC236}">
                <a16:creationId xmlns:a16="http://schemas.microsoft.com/office/drawing/2014/main" id="{3BCD4458-45E8-4C73-A3B6-249CEEFBDB7B}"/>
              </a:ext>
            </a:extLst>
          </p:cNvPr>
          <p:cNvSpPr>
            <a:spLocks noGrp="1"/>
          </p:cNvSpPr>
          <p:nvPr/>
        </p:nvSpPr>
        <p:spPr>
          <a:xfrm flipV="1">
            <a:off x="169334" y="4871120"/>
            <a:ext cx="8815911" cy="177311"/>
          </a:xfrm>
          <a:prstGeom prst="rect">
            <a:avLst/>
          </a:prstGeom>
          <a:solidFill>
            <a:schemeClr val="bg1">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Rectángulo 10">
            <a:extLst>
              <a:ext uri="{FF2B5EF4-FFF2-40B4-BE49-F238E27FC236}">
                <a16:creationId xmlns:a16="http://schemas.microsoft.com/office/drawing/2014/main" id="{A18DC9E6-BD6D-4FE1-AEC0-9715BEE3912A}"/>
              </a:ext>
            </a:extLst>
          </p:cNvPr>
          <p:cNvSpPr>
            <a:spLocks noGrp="1"/>
          </p:cNvSpPr>
          <p:nvPr/>
        </p:nvSpPr>
        <p:spPr>
          <a:xfrm flipV="1">
            <a:off x="7200957" y="4871118"/>
            <a:ext cx="1119038" cy="177313"/>
          </a:xfrm>
          <a:prstGeom prst="rect">
            <a:avLst/>
          </a:prstGeom>
          <a:solidFill>
            <a:srgbClr val="3366CC"/>
          </a:solidFill>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ítulo 1">
            <a:extLst>
              <a:ext uri="{FF2B5EF4-FFF2-40B4-BE49-F238E27FC236}">
                <a16:creationId xmlns:a16="http://schemas.microsoft.com/office/drawing/2014/main" id="{438D0FA2-1899-4EDF-9FA4-D1742768DFC6}"/>
              </a:ext>
            </a:extLst>
          </p:cNvPr>
          <p:cNvSpPr>
            <a:spLocks noGrp="1"/>
          </p:cNvSpPr>
          <p:nvPr>
            <p:ph type="title"/>
          </p:nvPr>
        </p:nvSpPr>
        <p:spPr>
          <a:xfrm>
            <a:off x="457200" y="149945"/>
            <a:ext cx="8229600" cy="857250"/>
          </a:xfrm>
        </p:spPr>
        <p:txBody>
          <a:bodyPr wrap="square" anchor="ctr">
            <a:noAutofit/>
          </a:bodyPr>
          <a:lstStyle/>
          <a:p>
            <a:pPr algn="l">
              <a:spcBef>
                <a:spcPts val="0"/>
              </a:spcBef>
              <a:spcAft>
                <a:spcPts val="0"/>
              </a:spcAft>
              <a:defRPr sz="1900" b="1">
                <a:solidFill>
                  <a:srgbClr val="FFFFFF"/>
                </a:solidFill>
                <a:latin typeface="Calibri"/>
                <a:ea typeface="Calibri"/>
                <a:cs typeface="Calibri"/>
              </a:defRPr>
            </a:pPr>
            <a:r>
              <a:rPr sz="1900" b="1">
                <a:solidFill>
                  <a:srgbClr val="FFFFFF"/>
                </a:solidFill>
                <a:latin typeface="Calibri"/>
                <a:ea typeface="Calibri"/>
                <a:cs typeface="Calibri"/>
              </a:rPr>
              <a:t>Resultados descriptivos: ACAG</a:t>
            </a:r>
          </a:p>
        </p:txBody>
      </p:sp>
      <p:sp>
        <p:nvSpPr>
          <p:cNvPr id="8" name="Mapa 2020">
            <a:extLst>
              <a:ext uri="{FF2B5EF4-FFF2-40B4-BE49-F238E27FC236}">
                <a16:creationId xmlns:a16="http://schemas.microsoft.com/office/drawing/2014/main" id="{65A3A817-3090-427D-B3C1-CCEB10C5ADEA}"/>
              </a:ext>
            </a:extLst>
          </p:cNvPr>
          <p:cNvSpPr>
            <a:spLocks noGrp="1"/>
          </p:cNvSpPr>
          <p:nvPr/>
        </p:nvSpPr>
        <p:spPr>
          <a:xfrm>
            <a:off x="800100" y="1133475"/>
            <a:ext cx="742950" cy="266700"/>
          </a:xfrm>
          <a:prstGeom prst="rect">
            <a:avLst/>
          </a:prstGeom>
          <a:noFill/>
          <a:ln w="0">
            <a:noFill/>
          </a:ln>
        </p:spPr>
        <p:txBody>
          <a:bodyPr wrap="square" lIns="0" tIns="0" rIns="0" bIns="0" anchor="t">
            <a:noAutofit/>
          </a:bodyPr>
          <a:lstStyle/>
          <a:p>
            <a:pPr algn="ctr">
              <a:buNone/>
              <a:defRPr sz="1425" b="1">
                <a:solidFill>
                  <a:srgbClr val="17375D"/>
                </a:solidFill>
                <a:latin typeface="Calibri"/>
                <a:ea typeface="Calibri"/>
                <a:cs typeface="Calibri"/>
              </a:defRPr>
            </a:pPr>
            <a:r>
              <a:rPr sz="1425" b="1">
                <a:solidFill>
                  <a:srgbClr val="17375D"/>
                </a:solidFill>
                <a:latin typeface="Calibri"/>
                <a:ea typeface="Calibri"/>
                <a:cs typeface="Calibri"/>
              </a:rPr>
              <a:t>2020</a:t>
            </a:r>
          </a:p>
        </p:txBody>
      </p:sp>
      <p:sp>
        <p:nvSpPr>
          <p:cNvPr id="9" name="Mapa 2024">
            <a:extLst>
              <a:ext uri="{FF2B5EF4-FFF2-40B4-BE49-F238E27FC236}">
                <a16:creationId xmlns:a16="http://schemas.microsoft.com/office/drawing/2014/main" id="{2AB50EBD-A699-48C1-BCC9-4304D75A033C}"/>
              </a:ext>
            </a:extLst>
          </p:cNvPr>
          <p:cNvSpPr>
            <a:spLocks noGrp="1"/>
          </p:cNvSpPr>
          <p:nvPr/>
        </p:nvSpPr>
        <p:spPr>
          <a:xfrm>
            <a:off x="1581150" y="1133475"/>
            <a:ext cx="742950" cy="266700"/>
          </a:xfrm>
          <a:prstGeom prst="rect">
            <a:avLst/>
          </a:prstGeom>
          <a:noFill/>
          <a:ln w="0">
            <a:noFill/>
          </a:ln>
        </p:spPr>
        <p:txBody>
          <a:bodyPr wrap="square" lIns="0" tIns="0" rIns="0" bIns="0" anchor="t">
            <a:noAutofit/>
          </a:bodyPr>
          <a:lstStyle/>
          <a:p>
            <a:pPr algn="ctr">
              <a:buNone/>
              <a:defRPr sz="1425" b="1">
                <a:solidFill>
                  <a:srgbClr val="17375D"/>
                </a:solidFill>
                <a:latin typeface="Calibri"/>
                <a:ea typeface="Calibri"/>
                <a:cs typeface="Calibri"/>
              </a:defRPr>
            </a:pPr>
            <a:r>
              <a:rPr sz="1425" b="1">
                <a:solidFill>
                  <a:srgbClr val="17375D"/>
                </a:solidFill>
                <a:latin typeface="Calibri"/>
                <a:ea typeface="Calibri"/>
                <a:cs typeface="Calibri"/>
              </a:rPr>
              <a:t>2024</a:t>
            </a:r>
          </a:p>
        </p:txBody>
      </p:sp>
      <p:pic>
        <p:nvPicPr>
          <p:cNvPr id="35" name="fuente_acag_pm25_46bbb047.png" descr="Mapas originales ACAG, años 2020 y 2024, medias anuales."/>
          <p:cNvPicPr>
            <a:picLocks noChangeAspect="1"/>
          </p:cNvPicPr>
          <p:nvPr/>
        </p:nvPicPr>
        <p:blipFill>
          <a:blip r:embed="rId3"/>
          <a:srcRect l="67669" t="5107" r="6316" b="22574"/>
          <a:stretch>
            <a:fillRect/>
          </a:stretch>
        </p:blipFill>
        <p:spPr>
          <a:xfrm>
            <a:off x="826845" y="1438275"/>
            <a:ext cx="1489559" cy="3048000"/>
          </a:xfrm>
          <a:prstGeom prst="rect">
            <a:avLst/>
          </a:prstGeom>
        </p:spPr>
      </p:pic>
      <p:pic>
        <p:nvPicPr>
          <p:cNvPr id="36" name="fuente_acag_pm25_46bbb047.png" descr="Eje de latitud compartido original."/>
          <p:cNvPicPr>
            <a:picLocks noChangeAspect="1"/>
          </p:cNvPicPr>
          <p:nvPr/>
        </p:nvPicPr>
        <p:blipFill>
          <a:blip r:embed="rId3"/>
          <a:srcRect t="5107" r="95263" b="24413"/>
          <a:stretch>
            <a:fillRect/>
          </a:stretch>
        </p:blipFill>
        <p:spPr>
          <a:xfrm>
            <a:off x="471612" y="1438275"/>
            <a:ext cx="271338" cy="2971800"/>
          </a:xfrm>
          <a:prstGeom prst="rect">
            <a:avLst/>
          </a:prstGeom>
        </p:spPr>
      </p:pic>
      <p:pic>
        <p:nvPicPr>
          <p:cNvPr id="37" name="fuente_acag_pm25_46bbb047.png" descr="Escala original completa de ACAG en µg/m³."/>
          <p:cNvPicPr>
            <a:picLocks noChangeAspect="1"/>
          </p:cNvPicPr>
          <p:nvPr/>
        </p:nvPicPr>
        <p:blipFill>
          <a:blip r:embed="rId3"/>
          <a:srcRect l="93083" t="17365" b="40960"/>
          <a:stretch>
            <a:fillRect/>
          </a:stretch>
        </p:blipFill>
        <p:spPr>
          <a:xfrm>
            <a:off x="2596123" y="1666875"/>
            <a:ext cx="579904" cy="2571750"/>
          </a:xfrm>
          <a:prstGeom prst="rect">
            <a:avLst/>
          </a:prstGeom>
        </p:spPr>
      </p:pic>
      <p:sp>
        <p:nvSpPr>
          <p:cNvPr id="13" name="Tipo">
            <a:extLst>
              <a:ext uri="{FF2B5EF4-FFF2-40B4-BE49-F238E27FC236}">
                <a16:creationId xmlns:a16="http://schemas.microsoft.com/office/drawing/2014/main" id="{5BFCD671-A50A-40D3-B833-9EADD224B084}"/>
              </a:ext>
            </a:extLst>
          </p:cNvPr>
          <p:cNvSpPr>
            <a:spLocks noGrp="1"/>
          </p:cNvSpPr>
          <p:nvPr/>
        </p:nvSpPr>
        <p:spPr>
          <a:xfrm>
            <a:off x="3543300" y="1190625"/>
            <a:ext cx="5029200" cy="247650"/>
          </a:xfrm>
          <a:prstGeom prst="rect">
            <a:avLst/>
          </a:prstGeom>
          <a:noFill/>
          <a:ln w="0">
            <a:noFill/>
          </a:ln>
        </p:spPr>
        <p:txBody>
          <a:bodyPr wrap="square" lIns="0" tIns="0" rIns="0" bIns="0" anchor="t">
            <a:noAutofit/>
          </a:bodyPr>
          <a:lstStyle/>
          <a:p>
            <a:pPr algn="l">
              <a:buNone/>
              <a:defRPr sz="1275" b="1">
                <a:solidFill>
                  <a:srgbClr val="017EDF"/>
                </a:solidFill>
                <a:latin typeface="Calibri"/>
                <a:ea typeface="Calibri"/>
                <a:cs typeface="Calibri"/>
              </a:defRPr>
            </a:pPr>
            <a:r>
              <a:rPr sz="1275" b="1">
                <a:solidFill>
                  <a:srgbClr val="017EDF"/>
                </a:solidFill>
                <a:latin typeface="Calibri"/>
                <a:ea typeface="Calibri"/>
                <a:cs typeface="Calibri"/>
              </a:rPr>
              <a:t>Producto integrado de satélites, modelos y monitores</a:t>
            </a:r>
          </a:p>
        </p:txBody>
      </p:sp>
      <p:sp>
        <p:nvSpPr>
          <p:cNvPr id="14" name="Variable">
            <a:extLst>
              <a:ext uri="{FF2B5EF4-FFF2-40B4-BE49-F238E27FC236}">
                <a16:creationId xmlns:a16="http://schemas.microsoft.com/office/drawing/2014/main" id="{AFE377E5-EAB1-418F-BCF3-FD1DC74D02AF}"/>
              </a:ext>
            </a:extLst>
          </p:cNvPr>
          <p:cNvSpPr>
            <a:spLocks noGrp="1"/>
          </p:cNvSpPr>
          <p:nvPr/>
        </p:nvSpPr>
        <p:spPr>
          <a:xfrm>
            <a:off x="3543300" y="1504950"/>
            <a:ext cx="5029200" cy="542925"/>
          </a:xfrm>
          <a:prstGeom prst="rect">
            <a:avLst/>
          </a:prstGeom>
          <a:noFill/>
          <a:ln w="0">
            <a:noFill/>
          </a:ln>
        </p:spPr>
        <p:txBody>
          <a:bodyPr wrap="square" lIns="0" tIns="0" rIns="0" bIns="0" anchor="t">
            <a:noAutofit/>
          </a:bodyPr>
          <a:lstStyle/>
          <a:p>
            <a:pPr algn="l">
              <a:buNone/>
              <a:defRPr sz="1650" b="1">
                <a:solidFill>
                  <a:srgbClr val="17375D"/>
                </a:solidFill>
                <a:latin typeface="Calibri"/>
                <a:ea typeface="Calibri"/>
                <a:cs typeface="Calibri"/>
              </a:defRPr>
            </a:pPr>
            <a:r>
              <a:rPr sz="1650" b="1">
                <a:solidFill>
                  <a:srgbClr val="17375D"/>
                </a:solidFill>
                <a:latin typeface="Calibri"/>
                <a:ea typeface="Calibri"/>
                <a:cs typeface="Calibri"/>
              </a:rPr>
              <a:t>PM₂.₅ superficial (µg/m³)</a:t>
            </a:r>
          </a:p>
          <a:p>
            <a:pPr algn="l">
              <a:buNone/>
              <a:defRPr sz="1650" b="1">
                <a:solidFill>
                  <a:srgbClr val="17375D"/>
                </a:solidFill>
                <a:latin typeface="Calibri"/>
                <a:ea typeface="Calibri"/>
                <a:cs typeface="Calibri"/>
              </a:defRPr>
            </a:pPr>
            <a:r>
              <a:rPr sz="1650" b="1">
                <a:solidFill>
                  <a:srgbClr val="17375D"/>
                </a:solidFill>
                <a:latin typeface="Calibri"/>
                <a:ea typeface="Calibri"/>
                <a:cs typeface="Calibri"/>
              </a:rPr>
              <a:t>0,01°, frecuencia mensual</a:t>
            </a:r>
          </a:p>
        </p:txBody>
      </p:sp>
      <p:sp>
        <p:nvSpPr>
          <p:cNvPr id="15" name="Lectura">
            <a:extLst>
              <a:ext uri="{FF2B5EF4-FFF2-40B4-BE49-F238E27FC236}">
                <a16:creationId xmlns:a16="http://schemas.microsoft.com/office/drawing/2014/main" id="{B4D45834-1AFF-4425-B555-317FB701FAB8}"/>
              </a:ext>
            </a:extLst>
          </p:cNvPr>
          <p:cNvSpPr>
            <a:spLocks noGrp="1"/>
          </p:cNvSpPr>
          <p:nvPr/>
        </p:nvSpPr>
        <p:spPr>
          <a:xfrm>
            <a:off x="3543300" y="2057400"/>
            <a:ext cx="5029200" cy="523875"/>
          </a:xfrm>
          <a:prstGeom prst="rect">
            <a:avLst/>
          </a:prstGeom>
          <a:noFill/>
          <a:ln w="0">
            <a:noFill/>
          </a:ln>
        </p:spPr>
        <p:txBody>
          <a:bodyPr wrap="square" lIns="0" tIns="0" rIns="0" bIns="0" anchor="t">
            <a:noAutofit/>
          </a:bodyPr>
          <a:lstStyle/>
          <a:p>
            <a:pPr algn="l">
              <a:buNone/>
              <a:defRPr sz="1350">
                <a:solidFill>
                  <a:srgbClr val="1E293B"/>
                </a:solidFill>
                <a:latin typeface="Calibri"/>
                <a:ea typeface="Calibri"/>
                <a:cs typeface="Calibri"/>
              </a:defRPr>
            </a:pPr>
            <a:r>
              <a:rPr sz="1350">
                <a:solidFill>
                  <a:srgbClr val="1E293B"/>
                </a:solidFill>
                <a:latin typeface="Calibri"/>
                <a:ea typeface="Calibri"/>
                <a:cs typeface="Calibri"/>
              </a:rPr>
              <a:t>Producto externo estimado. El HTML advierte posibles artefactos en cordillera patagónica y campos de hielo.</a:t>
            </a:r>
          </a:p>
        </p:txBody>
      </p:sp>
      <p:sp>
        <p:nvSpPr>
          <p:cNvPr id="16" name="Serie 2020">
            <a:extLst>
              <a:ext uri="{FF2B5EF4-FFF2-40B4-BE49-F238E27FC236}">
                <a16:creationId xmlns:a16="http://schemas.microsoft.com/office/drawing/2014/main" id="{E8A9D1AB-DF39-4E22-83FF-1645ADABDEE8}"/>
              </a:ext>
            </a:extLst>
          </p:cNvPr>
          <p:cNvSpPr>
            <a:spLocks noGrp="1"/>
          </p:cNvSpPr>
          <p:nvPr/>
        </p:nvSpPr>
        <p:spPr>
          <a:xfrm>
            <a:off x="4029075" y="2638425"/>
            <a:ext cx="1285875" cy="228600"/>
          </a:xfrm>
          <a:prstGeom prst="rect">
            <a:avLst/>
          </a:prstGeom>
          <a:noFill/>
          <a:ln w="0">
            <a:noFill/>
          </a:ln>
        </p:spPr>
        <p:txBody>
          <a:bodyPr wrap="square" lIns="0" tIns="0" rIns="0" bIns="0" anchor="t">
            <a:noAutofit/>
          </a:bodyPr>
          <a:lstStyle/>
          <a:p>
            <a:pPr algn="ctr">
              <a:buNone/>
              <a:defRPr sz="1350" b="1">
                <a:solidFill>
                  <a:srgbClr val="17375D"/>
                </a:solidFill>
                <a:latin typeface="Calibri"/>
                <a:ea typeface="Calibri"/>
                <a:cs typeface="Calibri"/>
              </a:defRPr>
            </a:pPr>
            <a:r>
              <a:rPr sz="1350" b="1">
                <a:solidFill>
                  <a:srgbClr val="17375D"/>
                </a:solidFill>
                <a:latin typeface="Calibri"/>
                <a:ea typeface="Calibri"/>
                <a:cs typeface="Calibri"/>
              </a:rPr>
              <a:t>2020</a:t>
            </a:r>
          </a:p>
        </p:txBody>
      </p:sp>
      <p:sp>
        <p:nvSpPr>
          <p:cNvPr id="17" name="Serie 2024">
            <a:extLst>
              <a:ext uri="{FF2B5EF4-FFF2-40B4-BE49-F238E27FC236}">
                <a16:creationId xmlns:a16="http://schemas.microsoft.com/office/drawing/2014/main" id="{64D42D1D-6299-4223-B1C6-32C89AFF8F1F}"/>
              </a:ext>
            </a:extLst>
          </p:cNvPr>
          <p:cNvSpPr>
            <a:spLocks noGrp="1"/>
          </p:cNvSpPr>
          <p:nvPr/>
        </p:nvSpPr>
        <p:spPr>
          <a:xfrm>
            <a:off x="5419725" y="2638425"/>
            <a:ext cx="1285875" cy="228600"/>
          </a:xfrm>
          <a:prstGeom prst="rect">
            <a:avLst/>
          </a:prstGeom>
          <a:noFill/>
          <a:ln w="0">
            <a:noFill/>
          </a:ln>
        </p:spPr>
        <p:txBody>
          <a:bodyPr wrap="square" lIns="0" tIns="0" rIns="0" bIns="0" anchor="t">
            <a:noAutofit/>
          </a:bodyPr>
          <a:lstStyle/>
          <a:p>
            <a:pPr algn="ctr">
              <a:buNone/>
              <a:defRPr sz="1350" b="1">
                <a:solidFill>
                  <a:srgbClr val="17375D"/>
                </a:solidFill>
                <a:latin typeface="Calibri"/>
                <a:ea typeface="Calibri"/>
                <a:cs typeface="Calibri"/>
              </a:defRPr>
            </a:pPr>
            <a:r>
              <a:rPr sz="1350" b="1">
                <a:solidFill>
                  <a:srgbClr val="17375D"/>
                </a:solidFill>
                <a:latin typeface="Calibri"/>
                <a:ea typeface="Calibri"/>
                <a:cs typeface="Calibri"/>
              </a:rPr>
              <a:t>2024</a:t>
            </a:r>
          </a:p>
        </p:txBody>
      </p:sp>
      <p:pic>
        <p:nvPicPr>
          <p:cNvPr id="43" name="fuente_acag_pm25_46bbb047.png" descr="Unidades y escala numérica originales de la serie."/>
          <p:cNvPicPr>
            <a:picLocks noChangeAspect="1"/>
          </p:cNvPicPr>
          <p:nvPr/>
        </p:nvPicPr>
        <p:blipFill>
          <a:blip r:embed="rId3"/>
          <a:srcRect t="78039" r="96316" b="5618"/>
          <a:stretch>
            <a:fillRect/>
          </a:stretch>
        </p:blipFill>
        <p:spPr>
          <a:xfrm>
            <a:off x="3474910" y="2886075"/>
            <a:ext cx="382714" cy="1249680"/>
          </a:xfrm>
          <a:prstGeom prst="rect">
            <a:avLst/>
          </a:prstGeom>
        </p:spPr>
      </p:pic>
      <p:pic>
        <p:nvPicPr>
          <p:cNvPr id="44" name="fuente_acag_pm25_46bbb047.png" descr="Series originales de ACAG, 2020 y 2024."/>
          <p:cNvPicPr>
            <a:picLocks noChangeAspect="1"/>
          </p:cNvPicPr>
          <p:nvPr/>
        </p:nvPicPr>
        <p:blipFill>
          <a:blip r:embed="rId3"/>
          <a:srcRect l="67669" t="78039" r="6316" b="3371"/>
          <a:stretch>
            <a:fillRect/>
          </a:stretch>
        </p:blipFill>
        <p:spPr>
          <a:xfrm>
            <a:off x="3924300" y="2886075"/>
            <a:ext cx="2702433" cy="1421511"/>
          </a:xfrm>
          <a:prstGeom prst="rect">
            <a:avLst/>
          </a:prstGeom>
        </p:spPr>
      </p:pic>
      <p:pic>
        <p:nvPicPr>
          <p:cNvPr id="45" name="fuente_acag_pm25_46bbb047.png" descr="Leyenda original de Chile y las cinco macrozonas."/>
          <p:cNvPicPr>
            <a:picLocks noChangeAspect="1"/>
          </p:cNvPicPr>
          <p:nvPr/>
        </p:nvPicPr>
        <p:blipFill>
          <a:blip r:embed="rId3"/>
          <a:srcRect l="28045" t="96527" r="38045" b="1124"/>
          <a:stretch>
            <a:fillRect/>
          </a:stretch>
        </p:blipFill>
        <p:spPr>
          <a:xfrm>
            <a:off x="3629025" y="4333875"/>
            <a:ext cx="4295775" cy="219075"/>
          </a:xfrm>
          <a:prstGeom prst="rect">
            <a:avLst/>
          </a:prstGeom>
        </p:spPr>
      </p:pic>
      <p:sp>
        <p:nvSpPr>
          <p:cNvPr id="21" name="Fuente y alcance">
            <a:extLst>
              <a:ext uri="{FF2B5EF4-FFF2-40B4-BE49-F238E27FC236}">
                <a16:creationId xmlns:a16="http://schemas.microsoft.com/office/drawing/2014/main" id="{1DFB9C47-43C5-440D-A76D-905CDB0BD18C}"/>
              </a:ext>
            </a:extLst>
          </p:cNvPr>
          <p:cNvSpPr>
            <a:spLocks noGrp="1"/>
          </p:cNvSpPr>
          <p:nvPr/>
        </p:nvSpPr>
        <p:spPr>
          <a:xfrm>
            <a:off x="548640" y="4619625"/>
            <a:ext cx="8046720" cy="200025"/>
          </a:xfrm>
          <a:prstGeom prst="rect">
            <a:avLst/>
          </a:prstGeom>
          <a:noFill/>
          <a:ln w="0">
            <a:noFill/>
          </a:ln>
        </p:spPr>
        <p:txBody>
          <a:bodyPr wrap="square" lIns="0" tIns="0" rIns="0" bIns="0" anchor="ctr">
            <a:noAutofit/>
          </a:bodyPr>
          <a:lstStyle/>
          <a:p>
            <a:pPr algn="l">
              <a:buNone/>
              <a:defRPr sz="848">
                <a:solidFill>
                  <a:srgbClr val="526277"/>
                </a:solidFill>
                <a:latin typeface="Calibri"/>
                <a:ea typeface="Calibri"/>
                <a:cs typeface="Calibri"/>
              </a:defRPr>
            </a:pPr>
            <a:r>
              <a:rPr sz="848">
                <a:solidFill>
                  <a:srgbClr val="526277"/>
                </a:solidFill>
                <a:latin typeface="Calibri"/>
                <a:ea typeface="Calibri"/>
                <a:cs typeface="Calibri"/>
              </a:rPr>
              <a:t>HTML, figura 40. Recortes de 2020 y 2024. Series mensuales.</a:t>
            </a:r>
          </a:p>
        </p:txBody>
      </p:sp>
    </p:spTree>
    <p:extLst>
      <p:ext uri="{BB962C8B-B14F-4D97-AF65-F5344CB8AC3E}">
        <p14:creationId xmlns:p14="http://schemas.microsoft.com/office/powerpoint/2010/main" val="322757276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00" name="Fondo azul UC">
            <a:extLst>
              <a:ext uri="{FF2B5EF4-FFF2-40B4-BE49-F238E27FC236}">
                <a16:creationId xmlns:a16="http://schemas.microsoft.com/office/drawing/2014/main" id="{D0503770-9B26-486E-ACD8-8DDDA2237C2D}"/>
              </a:ext>
            </a:extLst>
          </p:cNvPr>
          <p:cNvSpPr>
            <a:spLocks noGrp="1"/>
          </p:cNvSpPr>
          <p:nvPr/>
        </p:nvSpPr>
        <p:spPr>
          <a:xfrm>
            <a:off x="0" y="0"/>
            <a:ext cx="9144000" cy="4277301"/>
          </a:xfrm>
          <a:prstGeom prst="rect">
            <a:avLst/>
          </a:prstGeom>
          <a:solidFill>
            <a:srgbClr val="017EDF"/>
          </a:solidFill>
          <a:ln>
            <a:noFill/>
          </a:ln>
        </p:spPr>
        <p:txBody>
          <a:bodyPr/>
          <a:lstStyle/>
          <a:p>
            <a:endParaRPr lang="es-CL"/>
          </a:p>
        </p:txBody>
      </p:sp>
      <p:sp>
        <p:nvSpPr>
          <p:cNvPr id="301" name="Rectángulo 9">
            <a:extLst>
              <a:ext uri="{FF2B5EF4-FFF2-40B4-BE49-F238E27FC236}">
                <a16:creationId xmlns:a16="http://schemas.microsoft.com/office/drawing/2014/main" id="{2A3DD574-74E6-48D5-88B4-C9C436394AB8}"/>
              </a:ext>
            </a:extLst>
          </p:cNvPr>
          <p:cNvSpPr>
            <a:spLocks noGrp="1"/>
          </p:cNvSpPr>
          <p:nvPr/>
        </p:nvSpPr>
        <p:spPr>
          <a:xfrm>
            <a:off x="0" y="149945"/>
            <a:ext cx="158742" cy="857250"/>
          </a:xfrm>
          <a:prstGeom prst="rect">
            <a:avLst/>
          </a:prstGeom>
          <a:solidFill>
            <a:srgbClr val="FFE2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02" name="Continuidad fondo UC">
            <a:extLst>
              <a:ext uri="{FF2B5EF4-FFF2-40B4-BE49-F238E27FC236}">
                <a16:creationId xmlns:a16="http://schemas.microsoft.com/office/drawing/2014/main" id="{265CFD3F-A75C-4214-A9A8-00C801F40CB8}"/>
              </a:ext>
            </a:extLst>
          </p:cNvPr>
          <p:cNvSpPr>
            <a:spLocks noGrp="1"/>
          </p:cNvSpPr>
          <p:nvPr/>
        </p:nvSpPr>
        <p:spPr>
          <a:xfrm>
            <a:off x="0" y="784483"/>
            <a:ext cx="9144000" cy="3492818"/>
          </a:xfrm>
          <a:prstGeom prst="rect">
            <a:avLst/>
          </a:prstGeom>
          <a:solidFill>
            <a:srgbClr val="017EDF"/>
          </a:solidFill>
          <a:ln>
            <a:noFill/>
          </a:ln>
        </p:spPr>
        <p:txBody>
          <a:bodyPr/>
          <a:lstStyle/>
          <a:p>
            <a:endParaRPr lang="es-CL"/>
          </a:p>
        </p:txBody>
      </p:sp>
      <p:sp>
        <p:nvSpPr>
          <p:cNvPr id="2" name="TextBox 1">
            <a:extLst>
              <a:ext uri="{FF2B5EF4-FFF2-40B4-BE49-F238E27FC236}">
                <a16:creationId xmlns:a16="http://schemas.microsoft.com/office/drawing/2014/main" id="{F04C3933-2D70-4861-B5B1-DA02FA9A8192}"/>
              </a:ext>
            </a:extLst>
          </p:cNvPr>
          <p:cNvSpPr>
            <a:spLocks noGrp="1"/>
          </p:cNvSpPr>
          <p:nvPr/>
        </p:nvSpPr>
        <p:spPr>
          <a:xfrm>
            <a:off x="502920" y="932688"/>
            <a:ext cx="5394960" cy="685800"/>
          </a:xfrm>
          <a:prstGeom prst="rect">
            <a:avLst/>
          </a:prstGeom>
          <a:noFill/>
        </p:spPr>
        <p:txBody>
          <a:bodyPr wrap="square" lIns="0" tIns="0" rIns="0" bIns="0" anchor="t">
            <a:noAutofit/>
          </a:bodyPr>
          <a:lstStyle/>
          <a:p>
            <a:pPr algn="l">
              <a:spcBef>
                <a:spcPts val="0"/>
              </a:spcBef>
              <a:spcAft>
                <a:spcPts val="0"/>
              </a:spcAft>
              <a:buNone/>
              <a:defRPr sz="2250" b="1">
                <a:solidFill>
                  <a:srgbClr val="FFFFFF"/>
                </a:solidFill>
                <a:latin typeface="Calibri"/>
                <a:ea typeface="Calibri"/>
                <a:cs typeface="Calibri"/>
              </a:defRPr>
            </a:pPr>
            <a:r>
              <a:rPr sz="2250" b="1">
                <a:solidFill>
                  <a:srgbClr val="FFFFFF"/>
                </a:solidFill>
                <a:latin typeface="Calibri"/>
                <a:ea typeface="Calibri"/>
                <a:cs typeface="Calibri"/>
              </a:rPr>
              <a:t>Datos descritos y</a:t>
            </a:r>
          </a:p>
          <a:p>
            <a:pPr algn="l">
              <a:spcBef>
                <a:spcPts val="0"/>
              </a:spcBef>
              <a:spcAft>
                <a:spcPts val="0"/>
              </a:spcAft>
              <a:buNone/>
              <a:defRPr sz="2250" b="1">
                <a:solidFill>
                  <a:srgbClr val="FFFFFF"/>
                </a:solidFill>
                <a:latin typeface="Calibri"/>
                <a:ea typeface="Calibri"/>
                <a:cs typeface="Calibri"/>
              </a:defRPr>
            </a:pPr>
            <a:r>
              <a:rPr sz="2250" b="1">
                <a:solidFill>
                  <a:srgbClr val="FFFFFF"/>
                </a:solidFill>
                <a:latin typeface="Calibri"/>
                <a:ea typeface="Calibri"/>
                <a:cs typeface="Calibri"/>
              </a:rPr>
              <a:t>estimación prevista</a:t>
            </a:r>
          </a:p>
        </p:txBody>
      </p:sp>
      <p:sp>
        <p:nvSpPr>
          <p:cNvPr id="3" name="TextBox 2">
            <a:extLst>
              <a:ext uri="{FF2B5EF4-FFF2-40B4-BE49-F238E27FC236}">
                <a16:creationId xmlns:a16="http://schemas.microsoft.com/office/drawing/2014/main" id="{961B564C-34D2-44FE-8125-4423D0409CA8}"/>
              </a:ext>
            </a:extLst>
          </p:cNvPr>
          <p:cNvSpPr>
            <a:spLocks noGrp="1"/>
          </p:cNvSpPr>
          <p:nvPr/>
        </p:nvSpPr>
        <p:spPr>
          <a:xfrm>
            <a:off x="502920" y="1783080"/>
            <a:ext cx="5394960" cy="1920240"/>
          </a:xfrm>
          <a:prstGeom prst="rect">
            <a:avLst/>
          </a:prstGeom>
          <a:noFill/>
        </p:spPr>
        <p:txBody>
          <a:bodyPr wrap="square" lIns="0" tIns="0" rIns="0" bIns="0">
            <a:noAutofit/>
          </a:bodyPr>
          <a:lstStyle/>
          <a:p>
            <a:pPr algn="l">
              <a:spcBef>
                <a:spcPts val="0"/>
              </a:spcBef>
              <a:spcAft>
                <a:spcPts val="0"/>
              </a:spcAft>
              <a:defRPr sz="1650" b="0">
                <a:solidFill>
                  <a:srgbClr val="FFFFFF"/>
                </a:solidFill>
                <a:latin typeface="Calibri"/>
                <a:ea typeface="Calibri"/>
                <a:cs typeface="Calibri"/>
              </a:defRPr>
            </a:pPr>
            <a:r>
              <a:rPr sz="1650" b="0">
                <a:solidFill>
                  <a:srgbClr val="FFFFFF"/>
                </a:solidFill>
                <a:latin typeface="Calibri"/>
                <a:ea typeface="Calibri"/>
                <a:cs typeface="Calibri"/>
              </a:rPr>
              <a:t>Avance: fuentes, cobertura y calidad descritas.</a:t>
            </a:r>
          </a:p>
          <a:p>
            <a:pPr>
              <a:spcBef>
                <a:spcPts val="0"/>
              </a:spcBef>
              <a:spcAft>
                <a:spcPts val="0"/>
              </a:spcAft>
            </a:pPr>
            <a:endParaRPr sz="1650" b="0">
              <a:solidFill>
                <a:srgbClr val="FFFFFF"/>
              </a:solidFill>
              <a:latin typeface="Calibri"/>
              <a:ea typeface="Calibri"/>
              <a:cs typeface="Calibri"/>
            </a:endParaRPr>
          </a:p>
          <a:p>
            <a:pPr algn="l">
              <a:spcBef>
                <a:spcPts val="0"/>
              </a:spcBef>
              <a:spcAft>
                <a:spcPts val="0"/>
              </a:spcAft>
              <a:defRPr sz="1650" b="0">
                <a:solidFill>
                  <a:srgbClr val="FFFFFF"/>
                </a:solidFill>
                <a:latin typeface="Calibri"/>
                <a:ea typeface="Calibri"/>
                <a:cs typeface="Calibri"/>
              </a:defRPr>
            </a:pPr>
            <a:r>
              <a:rPr sz="1650" b="0">
                <a:solidFill>
                  <a:srgbClr val="FFFFFF"/>
                </a:solidFill>
                <a:latin typeface="Calibri"/>
                <a:ea typeface="Calibri"/>
                <a:cs typeface="Calibri"/>
              </a:rPr>
              <a:t>1. Cerrar unidades, reloj y pérdidas de integración.</a:t>
            </a:r>
          </a:p>
          <a:p>
            <a:pPr algn="l">
              <a:spcBef>
                <a:spcPts val="0"/>
              </a:spcBef>
              <a:spcAft>
                <a:spcPts val="0"/>
              </a:spcAft>
              <a:defRPr sz="1650" b="0">
                <a:solidFill>
                  <a:srgbClr val="FFFFFF"/>
                </a:solidFill>
                <a:latin typeface="Calibri"/>
                <a:ea typeface="Calibri"/>
                <a:cs typeface="Calibri"/>
              </a:defRPr>
            </a:pPr>
            <a:r>
              <a:rPr sz="1650" b="0">
                <a:solidFill>
                  <a:srgbClr val="FFFFFF"/>
                </a:solidFill>
                <a:latin typeface="Calibri"/>
                <a:ea typeface="Calibri"/>
                <a:cs typeface="Calibri"/>
              </a:rPr>
              <a:t>2. Fijar particiones, métrica y reglas territoriales.</a:t>
            </a:r>
          </a:p>
          <a:p>
            <a:pPr algn="l">
              <a:spcBef>
                <a:spcPts val="0"/>
              </a:spcBef>
              <a:spcAft>
                <a:spcPts val="0"/>
              </a:spcAft>
              <a:defRPr sz="1650" b="0">
                <a:solidFill>
                  <a:srgbClr val="FFFFFF"/>
                </a:solidFill>
                <a:latin typeface="Calibri"/>
                <a:ea typeface="Calibri"/>
                <a:cs typeface="Calibri"/>
              </a:defRPr>
            </a:pPr>
            <a:r>
              <a:rPr sz="1650" b="0">
                <a:solidFill>
                  <a:srgbClr val="FFFFFF"/>
                </a:solidFill>
                <a:latin typeface="Calibri"/>
                <a:ea typeface="Calibri"/>
                <a:cs typeface="Calibri"/>
              </a:rPr>
              <a:t>3. Evaluar error, extremos e incertidumbre.</a:t>
            </a:r>
          </a:p>
        </p:txBody>
      </p:sp>
      <p:sp>
        <p:nvSpPr>
          <p:cNvPr id="4" name="Rounded Rectangle 3">
            <a:extLst>
              <a:ext uri="{FF2B5EF4-FFF2-40B4-BE49-F238E27FC236}">
                <a16:creationId xmlns:a16="http://schemas.microsoft.com/office/drawing/2014/main" id="{FF72C57E-7A2A-481D-911D-330A4F98628B}"/>
              </a:ext>
            </a:extLst>
          </p:cNvPr>
          <p:cNvSpPr>
            <a:spLocks noGrp="1"/>
          </p:cNvSpPr>
          <p:nvPr/>
        </p:nvSpPr>
        <p:spPr>
          <a:xfrm>
            <a:off x="502920" y="3456432"/>
            <a:ext cx="5394960" cy="512064"/>
          </a:xfrm>
          <a:prstGeom prst="roundRect">
            <a:avLst>
              <a:gd name="adj" fmla="val 10000"/>
            </a:avLst>
          </a:prstGeom>
          <a:solidFill>
            <a:srgbClr val="113E8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pic>
        <p:nvPicPr>
          <p:cNvPr id="819" name="Picture 4"/>
          <p:cNvPicPr>
            <a:picLocks noChangeAspect="1"/>
          </p:cNvPicPr>
          <p:nvPr/>
        </p:nvPicPr>
        <p:blipFill>
          <a:blip r:embed="rId3"/>
          <a:stretch>
            <a:fillRect/>
          </a:stretch>
        </p:blipFill>
        <p:spPr>
          <a:xfrm>
            <a:off x="658368" y="3584448"/>
            <a:ext cx="256032" cy="256032"/>
          </a:xfrm>
          <a:prstGeom prst="rect">
            <a:avLst/>
          </a:prstGeom>
        </p:spPr>
      </p:pic>
      <p:sp>
        <p:nvSpPr>
          <p:cNvPr id="6" name="TextBox 5">
            <a:extLst>
              <a:ext uri="{FF2B5EF4-FFF2-40B4-BE49-F238E27FC236}">
                <a16:creationId xmlns:a16="http://schemas.microsoft.com/office/drawing/2014/main" id="{B47427B5-A623-420A-ABFD-3CE7EB974746}"/>
              </a:ext>
            </a:extLst>
          </p:cNvPr>
          <p:cNvSpPr>
            <a:spLocks noGrp="1"/>
          </p:cNvSpPr>
          <p:nvPr/>
        </p:nvSpPr>
        <p:spPr>
          <a:xfrm>
            <a:off x="1005840" y="3456432"/>
            <a:ext cx="4846320" cy="512064"/>
          </a:xfrm>
          <a:prstGeom prst="rect">
            <a:avLst/>
          </a:prstGeom>
          <a:noFill/>
        </p:spPr>
        <p:txBody>
          <a:bodyPr wrap="square" lIns="0" tIns="0" rIns="0" bIns="0" anchor="ctr">
            <a:spAutoFit/>
          </a:bodyPr>
          <a:lstStyle/>
          <a:p>
            <a:pPr algn="l">
              <a:buNone/>
            </a:pPr>
            <a:r>
              <a:rPr sz="1150" b="1" i="0">
                <a:solidFill>
                  <a:srgbClr val="FFFFFF"/>
                </a:solidFill>
                <a:latin typeface="Calibri"/>
                <a:ea typeface="Calibri"/>
                <a:cs typeface="Calibri"/>
              </a:rPr>
              <a:t>github.com/AmaruSimonAgueroJimenez/Air-Pollution</a:t>
            </a:r>
          </a:p>
        </p:txBody>
      </p:sp>
      <p:sp>
        <p:nvSpPr>
          <p:cNvPr id="7" name="Rounded Rectangle 6">
            <a:extLst>
              <a:ext uri="{FF2B5EF4-FFF2-40B4-BE49-F238E27FC236}">
                <a16:creationId xmlns:a16="http://schemas.microsoft.com/office/drawing/2014/main" id="{E874C09F-30FB-415B-B410-CAA4DE99AD87}"/>
              </a:ext>
            </a:extLst>
          </p:cNvPr>
          <p:cNvSpPr>
            <a:spLocks noGrp="1"/>
          </p:cNvSpPr>
          <p:nvPr/>
        </p:nvSpPr>
        <p:spPr>
          <a:xfrm>
            <a:off x="6355080" y="932688"/>
            <a:ext cx="2331720" cy="3035808"/>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pic>
        <p:nvPicPr>
          <p:cNvPr id="822" name="Picture 7"/>
          <p:cNvPicPr>
            <a:picLocks noChangeAspect="1"/>
          </p:cNvPicPr>
          <p:nvPr/>
        </p:nvPicPr>
        <p:blipFill>
          <a:blip r:embed="rId4"/>
          <a:stretch>
            <a:fillRect/>
          </a:stretch>
        </p:blipFill>
        <p:spPr>
          <a:xfrm>
            <a:off x="6556248" y="1133856"/>
            <a:ext cx="1929384" cy="1929384"/>
          </a:xfrm>
          <a:prstGeom prst="rect">
            <a:avLst/>
          </a:prstGeom>
        </p:spPr>
      </p:pic>
      <p:sp>
        <p:nvSpPr>
          <p:cNvPr id="9" name="TextBox 8">
            <a:extLst>
              <a:ext uri="{FF2B5EF4-FFF2-40B4-BE49-F238E27FC236}">
                <a16:creationId xmlns:a16="http://schemas.microsoft.com/office/drawing/2014/main" id="{7645EEAC-3E7E-48FC-B4F4-3D35F44895B4}"/>
              </a:ext>
            </a:extLst>
          </p:cNvPr>
          <p:cNvSpPr>
            <a:spLocks noGrp="1"/>
          </p:cNvSpPr>
          <p:nvPr/>
        </p:nvSpPr>
        <p:spPr>
          <a:xfrm>
            <a:off x="6446520" y="3127248"/>
            <a:ext cx="2148840" cy="1097280"/>
          </a:xfrm>
          <a:prstGeom prst="rect">
            <a:avLst/>
          </a:prstGeom>
          <a:noFill/>
        </p:spPr>
        <p:txBody>
          <a:bodyPr wrap="square" lIns="0" tIns="0" rIns="0" bIns="0" anchor="ctr">
            <a:noAutofit/>
          </a:bodyPr>
          <a:lstStyle/>
          <a:p>
            <a:pPr algn="ctr">
              <a:spcBef>
                <a:spcPts val="0"/>
              </a:spcBef>
              <a:spcAft>
                <a:spcPts val="0"/>
              </a:spcAft>
              <a:buNone/>
              <a:defRPr sz="1275" b="0">
                <a:solidFill>
                  <a:srgbClr val="17375D"/>
                </a:solidFill>
                <a:latin typeface="Calibri"/>
                <a:ea typeface="Calibri"/>
                <a:cs typeface="Calibri"/>
              </a:defRPr>
            </a:pPr>
            <a:r>
              <a:rPr sz="1275" b="0">
                <a:solidFill>
                  <a:srgbClr val="17375D"/>
                </a:solidFill>
                <a:latin typeface="Calibri"/>
                <a:ea typeface="Calibri"/>
                <a:cs typeface="Calibri"/>
              </a:rPr>
              <a:t>Repositorio del proyecto</a:t>
            </a:r>
          </a:p>
          <a:p>
            <a:pPr algn="ctr">
              <a:spcBef>
                <a:spcPts val="0"/>
              </a:spcBef>
              <a:spcAft>
                <a:spcPts val="0"/>
              </a:spcAft>
              <a:buNone/>
              <a:defRPr sz="1275" b="0">
                <a:solidFill>
                  <a:srgbClr val="17375D"/>
                </a:solidFill>
                <a:latin typeface="Calibri"/>
                <a:ea typeface="Calibri"/>
                <a:cs typeface="Calibri"/>
              </a:defRPr>
            </a:pPr>
            <a:r>
              <a:rPr sz="1275" b="0">
                <a:solidFill>
                  <a:srgbClr val="17375D"/>
                </a:solidFill>
                <a:latin typeface="Calibri"/>
                <a:ea typeface="Calibri"/>
                <a:cs typeface="Calibri"/>
              </a:rPr>
              <a:t>Código y documentación</a:t>
            </a:r>
          </a:p>
        </p:txBody>
      </p:sp>
      <p:sp>
        <p:nvSpPr>
          <p:cNvPr id="10" name="TextBox 9">
            <a:extLst>
              <a:ext uri="{FF2B5EF4-FFF2-40B4-BE49-F238E27FC236}">
                <a16:creationId xmlns:a16="http://schemas.microsoft.com/office/drawing/2014/main" id="{6CB327F6-6D7D-40F2-BBEA-9B1D50B966FE}"/>
              </a:ext>
            </a:extLst>
          </p:cNvPr>
          <p:cNvSpPr>
            <a:spLocks noGrp="1"/>
          </p:cNvSpPr>
          <p:nvPr/>
        </p:nvSpPr>
        <p:spPr>
          <a:xfrm>
            <a:off x="502920" y="4389120"/>
            <a:ext cx="8138160" cy="548640"/>
          </a:xfrm>
          <a:prstGeom prst="rect">
            <a:avLst/>
          </a:prstGeom>
          <a:noFill/>
        </p:spPr>
        <p:txBody>
          <a:bodyPr wrap="square" lIns="0" tIns="0" rIns="0" bIns="0" anchor="t">
            <a:noAutofit/>
          </a:bodyPr>
          <a:lstStyle/>
          <a:p>
            <a:pPr>
              <a:spcBef>
                <a:spcPts val="0"/>
              </a:spcBef>
              <a:spcAft>
                <a:spcPts val="0"/>
              </a:spcAft>
              <a:buNone/>
              <a:defRPr sz="1125" b="0">
                <a:solidFill>
                  <a:srgbClr val="17375D"/>
                </a:solidFill>
                <a:latin typeface="Calibri"/>
                <a:ea typeface="Calibri"/>
                <a:cs typeface="Calibri"/>
              </a:defRPr>
            </a:pPr>
            <a:r>
              <a:rPr sz="1125" b="0">
                <a:solidFill>
                  <a:srgbClr val="17375D"/>
                </a:solidFill>
                <a:latin typeface="Calibri"/>
                <a:ea typeface="Calibri"/>
                <a:cs typeface="Calibri"/>
              </a:rPr>
              <a:t>Equipo 2 · José J. Romero · Roberto I. Ávila · Amaru S. Agüero · Esteban A. González</a:t>
            </a:r>
          </a:p>
        </p:txBody>
      </p:sp>
      <p:sp>
        <p:nvSpPr>
          <p:cNvPr id="810" name="Referencias científicas">
            <a:extLst>
              <a:ext uri="{FF2B5EF4-FFF2-40B4-BE49-F238E27FC236}">
                <a16:creationId xmlns:a16="http://schemas.microsoft.com/office/drawing/2014/main" id="{FFE9D03F-C96C-40DD-828F-DA09A8830180}"/>
              </a:ext>
            </a:extLst>
          </p:cNvPr>
          <p:cNvSpPr>
            <a:spLocks noGrp="1"/>
          </p:cNvSpPr>
          <p:nvPr/>
        </p:nvSpPr>
        <p:spPr>
          <a:xfrm>
            <a:off x="502920" y="4718304"/>
            <a:ext cx="8138160" cy="182880"/>
          </a:xfrm>
          <a:prstGeom prst="rect">
            <a:avLst/>
          </a:prstGeom>
          <a:noFill/>
          <a:ln>
            <a:noFill/>
          </a:ln>
        </p:spPr>
        <p:txBody>
          <a:bodyPr wrap="square" lIns="0" tIns="0" rIns="0" bIns="0" anchor="t">
            <a:noAutofit/>
          </a:bodyPr>
          <a:lstStyle/>
          <a:p>
            <a:pPr algn="l">
              <a:spcBef>
                <a:spcPts val="0"/>
              </a:spcBef>
              <a:spcAft>
                <a:spcPts val="0"/>
              </a:spcAft>
              <a:defRPr sz="975" b="0">
                <a:solidFill>
                  <a:srgbClr val="526277"/>
                </a:solidFill>
                <a:latin typeface="Calibri"/>
                <a:ea typeface="Calibri"/>
                <a:cs typeface="Calibri"/>
              </a:defRPr>
            </a:pPr>
            <a:r>
              <a:rPr sz="975" b="0">
                <a:solidFill>
                  <a:srgbClr val="526277"/>
                </a:solidFill>
                <a:latin typeface="Calibri"/>
                <a:ea typeface="Calibri"/>
                <a:cs typeface="Calibri"/>
              </a:rPr>
              <a:t>La siguiente etapa comienza con el cierre del panel y del protocolo de evaluación.</a:t>
            </a:r>
          </a:p>
        </p:txBody>
      </p:sp>
    </p:spTree>
    <p:extLst>
      <p:ext uri="{BB962C8B-B14F-4D97-AF65-F5344CB8AC3E}">
        <p14:creationId xmlns:p14="http://schemas.microsoft.com/office/powerpoint/2010/main" val="78538428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abecera azul UC">
            <a:extLst>
              <a:ext uri="{FF2B5EF4-FFF2-40B4-BE49-F238E27FC236}">
                <a16:creationId xmlns:a16="http://schemas.microsoft.com/office/drawing/2014/main" id="{3486DB9C-93DE-456A-BF48-2757BBD61ACE}"/>
              </a:ext>
            </a:extLst>
          </p:cNvPr>
          <p:cNvSpPr>
            <a:spLocks noGrp="1"/>
          </p:cNvSpPr>
          <p:nvPr/>
        </p:nvSpPr>
        <p:spPr>
          <a:xfrm>
            <a:off x="158742" y="0"/>
            <a:ext cx="8985258" cy="1007195"/>
          </a:xfrm>
          <a:prstGeom prst="rect">
            <a:avLst/>
          </a:prstGeom>
          <a:solidFill>
            <a:srgbClr val="017EDF"/>
          </a:solidFill>
          <a:ln>
            <a:noFill/>
          </a:ln>
        </p:spPr>
        <p:txBody>
          <a:bodyPr/>
          <a:lstStyle/>
          <a:p>
            <a:endParaRPr lang="es-CL"/>
          </a:p>
        </p:txBody>
      </p:sp>
      <p:sp>
        <p:nvSpPr>
          <p:cNvPr id="4" name="Rectángulo 9">
            <a:extLst>
              <a:ext uri="{FF2B5EF4-FFF2-40B4-BE49-F238E27FC236}">
                <a16:creationId xmlns:a16="http://schemas.microsoft.com/office/drawing/2014/main" id="{2DE33766-2918-41FC-A1B9-B4BF483C8974}"/>
              </a:ext>
            </a:extLst>
          </p:cNvPr>
          <p:cNvSpPr>
            <a:spLocks noGrp="1"/>
          </p:cNvSpPr>
          <p:nvPr/>
        </p:nvSpPr>
        <p:spPr>
          <a:xfrm>
            <a:off x="0" y="149945"/>
            <a:ext cx="158742" cy="857250"/>
          </a:xfrm>
          <a:prstGeom prst="rect">
            <a:avLst/>
          </a:prstGeom>
          <a:solidFill>
            <a:srgbClr val="FFE2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Rectángulo 7">
            <a:extLst>
              <a:ext uri="{FF2B5EF4-FFF2-40B4-BE49-F238E27FC236}">
                <a16:creationId xmlns:a16="http://schemas.microsoft.com/office/drawing/2014/main" id="{3BCD4458-45E8-4C73-A3B6-249CEEFBDB7B}"/>
              </a:ext>
            </a:extLst>
          </p:cNvPr>
          <p:cNvSpPr>
            <a:spLocks noGrp="1"/>
          </p:cNvSpPr>
          <p:nvPr/>
        </p:nvSpPr>
        <p:spPr>
          <a:xfrm flipV="1">
            <a:off x="169334" y="4871120"/>
            <a:ext cx="8815911" cy="177311"/>
          </a:xfrm>
          <a:prstGeom prst="rect">
            <a:avLst/>
          </a:prstGeom>
          <a:solidFill>
            <a:schemeClr val="bg1">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Rectángulo 10">
            <a:extLst>
              <a:ext uri="{FF2B5EF4-FFF2-40B4-BE49-F238E27FC236}">
                <a16:creationId xmlns:a16="http://schemas.microsoft.com/office/drawing/2014/main" id="{A18DC9E6-BD6D-4FE1-AEC0-9715BEE3912A}"/>
              </a:ext>
            </a:extLst>
          </p:cNvPr>
          <p:cNvSpPr>
            <a:spLocks noGrp="1"/>
          </p:cNvSpPr>
          <p:nvPr/>
        </p:nvSpPr>
        <p:spPr>
          <a:xfrm flipV="1">
            <a:off x="7200957" y="4871118"/>
            <a:ext cx="1119038" cy="177313"/>
          </a:xfrm>
          <a:prstGeom prst="rect">
            <a:avLst/>
          </a:prstGeom>
          <a:solidFill>
            <a:srgbClr val="3366CC"/>
          </a:solidFill>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ítulo 1">
            <a:extLst>
              <a:ext uri="{FF2B5EF4-FFF2-40B4-BE49-F238E27FC236}">
                <a16:creationId xmlns:a16="http://schemas.microsoft.com/office/drawing/2014/main" id="{438D0FA2-1899-4EDF-9FA4-D1742768DFC6}"/>
              </a:ext>
            </a:extLst>
          </p:cNvPr>
          <p:cNvSpPr>
            <a:spLocks noGrp="1"/>
          </p:cNvSpPr>
          <p:nvPr>
            <p:ph type="title"/>
          </p:nvPr>
        </p:nvSpPr>
        <p:spPr>
          <a:xfrm>
            <a:off x="457200" y="149945"/>
            <a:ext cx="8229600" cy="857250"/>
          </a:xfrm>
        </p:spPr>
        <p:txBody>
          <a:bodyPr wrap="square" anchor="ctr">
            <a:noAutofit/>
          </a:bodyPr>
          <a:lstStyle/>
          <a:p>
            <a:pPr algn="l">
              <a:spcBef>
                <a:spcPts val="0"/>
              </a:spcBef>
              <a:spcAft>
                <a:spcPts val="0"/>
              </a:spcAft>
              <a:defRPr sz="1900" b="1">
                <a:solidFill>
                  <a:srgbClr val="FFFFFF"/>
                </a:solidFill>
                <a:latin typeface="Calibri"/>
                <a:ea typeface="Calibri"/>
                <a:cs typeface="Calibri"/>
              </a:defRPr>
            </a:pPr>
            <a:r>
              <a:rPr sz="1900" b="1">
                <a:solidFill>
                  <a:srgbClr val="FFFFFF"/>
                </a:solidFill>
                <a:latin typeface="Calibri"/>
                <a:ea typeface="Calibri"/>
                <a:cs typeface="Calibri"/>
              </a:rPr>
              <a:t>Referencias principales</a:t>
            </a:r>
          </a:p>
        </p:txBody>
      </p:sp>
      <p:sp>
        <p:nvSpPr>
          <p:cNvPr id="13" name="Referencia 1">
            <a:extLst>
              <a:ext uri="{FF2B5EF4-FFF2-40B4-BE49-F238E27FC236}">
                <a16:creationId xmlns:a16="http://schemas.microsoft.com/office/drawing/2014/main" id="{59C622F1-B022-4533-B9F1-D8B7F883C152}"/>
              </a:ext>
            </a:extLst>
          </p:cNvPr>
          <p:cNvSpPr>
            <a:spLocks noGrp="1"/>
          </p:cNvSpPr>
          <p:nvPr/>
        </p:nvSpPr>
        <p:spPr>
          <a:xfrm>
            <a:off x="552450" y="1181100"/>
            <a:ext cx="8039100" cy="457200"/>
          </a:xfrm>
          <a:prstGeom prst="rect">
            <a:avLst/>
          </a:prstGeom>
          <a:noFill/>
          <a:ln w="0">
            <a:noFill/>
          </a:ln>
        </p:spPr>
        <p:txBody>
          <a:bodyPr wrap="square" lIns="0" tIns="0" rIns="0" bIns="0" anchor="t">
            <a:noAutofit/>
          </a:bodyPr>
          <a:lstStyle/>
          <a:p>
            <a:pPr algn="l">
              <a:defRPr sz="1252">
                <a:solidFill>
                  <a:srgbClr val="1E293B"/>
                </a:solidFill>
                <a:latin typeface="Calibri"/>
                <a:ea typeface="Calibri"/>
                <a:cs typeface="Calibri"/>
              </a:defRPr>
            </a:pPr>
            <a:r>
              <a:rPr sz="1252">
                <a:solidFill>
                  <a:srgbClr val="1E293B"/>
                </a:solidFill>
                <a:latin typeface="Calibri"/>
                <a:ea typeface="Calibri"/>
                <a:cs typeface="Calibri"/>
              </a:rPr>
              <a:t>van Donkelaar et al. (2016). Environmental Science &amp; Technology, 50(7), 3762–3772.</a:t>
            </a:r>
          </a:p>
          <a:p>
            <a:pPr algn="l">
              <a:defRPr sz="1252">
                <a:solidFill>
                  <a:srgbClr val="1E293B"/>
                </a:solidFill>
                <a:latin typeface="Calibri"/>
                <a:ea typeface="Calibri"/>
                <a:cs typeface="Calibri"/>
              </a:defRPr>
            </a:pPr>
            <a:r>
              <a:rPr sz="1252">
                <a:solidFill>
                  <a:srgbClr val="1E293B"/>
                </a:solidFill>
                <a:latin typeface="Calibri"/>
                <a:ea typeface="Calibri"/>
                <a:cs typeface="Calibri"/>
              </a:rPr>
              <a:t>https://doi.org/10.1021/acs.est.5b05833</a:t>
            </a:r>
          </a:p>
        </p:txBody>
      </p:sp>
      <p:sp>
        <p:nvSpPr>
          <p:cNvPr id="14" name="Referencia 2">
            <a:extLst>
              <a:ext uri="{FF2B5EF4-FFF2-40B4-BE49-F238E27FC236}">
                <a16:creationId xmlns:a16="http://schemas.microsoft.com/office/drawing/2014/main" id="{8212F996-7C18-4FC3-BE76-2FB42695A8B3}"/>
              </a:ext>
            </a:extLst>
          </p:cNvPr>
          <p:cNvSpPr>
            <a:spLocks noGrp="1"/>
          </p:cNvSpPr>
          <p:nvPr/>
        </p:nvSpPr>
        <p:spPr>
          <a:xfrm>
            <a:off x="552450" y="1733550"/>
            <a:ext cx="8039100" cy="457200"/>
          </a:xfrm>
          <a:prstGeom prst="rect">
            <a:avLst/>
          </a:prstGeom>
          <a:noFill/>
          <a:ln w="0">
            <a:noFill/>
          </a:ln>
        </p:spPr>
        <p:txBody>
          <a:bodyPr wrap="square" lIns="0" tIns="0" rIns="0" bIns="0" anchor="t">
            <a:noAutofit/>
          </a:bodyPr>
          <a:lstStyle/>
          <a:p>
            <a:pPr algn="l">
              <a:defRPr sz="1252">
                <a:solidFill>
                  <a:srgbClr val="1E293B"/>
                </a:solidFill>
                <a:latin typeface="Calibri"/>
                <a:ea typeface="Calibri"/>
                <a:cs typeface="Calibri"/>
              </a:defRPr>
            </a:pPr>
            <a:r>
              <a:rPr sz="1252">
                <a:solidFill>
                  <a:srgbClr val="1E293B"/>
                </a:solidFill>
                <a:latin typeface="Calibri"/>
                <a:ea typeface="Calibri"/>
                <a:cs typeface="Calibri"/>
              </a:rPr>
              <a:t>Di et al. (2019). Environment International, 130, 104909.</a:t>
            </a:r>
          </a:p>
          <a:p>
            <a:pPr algn="l">
              <a:defRPr sz="1252">
                <a:solidFill>
                  <a:srgbClr val="1E293B"/>
                </a:solidFill>
                <a:latin typeface="Calibri"/>
                <a:ea typeface="Calibri"/>
                <a:cs typeface="Calibri"/>
              </a:defRPr>
            </a:pPr>
            <a:r>
              <a:rPr sz="1252">
                <a:solidFill>
                  <a:srgbClr val="1E293B"/>
                </a:solidFill>
                <a:latin typeface="Calibri"/>
                <a:ea typeface="Calibri"/>
                <a:cs typeface="Calibri"/>
              </a:rPr>
              <a:t>https://doi.org/10.1016/j.envint.2019.104909</a:t>
            </a:r>
          </a:p>
        </p:txBody>
      </p:sp>
      <p:sp>
        <p:nvSpPr>
          <p:cNvPr id="15" name="Referencia 3">
            <a:extLst>
              <a:ext uri="{FF2B5EF4-FFF2-40B4-BE49-F238E27FC236}">
                <a16:creationId xmlns:a16="http://schemas.microsoft.com/office/drawing/2014/main" id="{33B3C76A-B00D-433F-9ABD-019538BDB73E}"/>
              </a:ext>
            </a:extLst>
          </p:cNvPr>
          <p:cNvSpPr>
            <a:spLocks noGrp="1"/>
          </p:cNvSpPr>
          <p:nvPr/>
        </p:nvSpPr>
        <p:spPr>
          <a:xfrm>
            <a:off x="552450" y="2286000"/>
            <a:ext cx="8039100" cy="457200"/>
          </a:xfrm>
          <a:prstGeom prst="rect">
            <a:avLst/>
          </a:prstGeom>
          <a:noFill/>
          <a:ln w="0">
            <a:noFill/>
          </a:ln>
        </p:spPr>
        <p:txBody>
          <a:bodyPr wrap="square" lIns="0" tIns="0" rIns="0" bIns="0" anchor="t">
            <a:noAutofit/>
          </a:bodyPr>
          <a:lstStyle/>
          <a:p>
            <a:pPr algn="l">
              <a:defRPr sz="1252">
                <a:solidFill>
                  <a:srgbClr val="1E293B"/>
                </a:solidFill>
                <a:latin typeface="Calibri"/>
                <a:ea typeface="Calibri"/>
                <a:cs typeface="Calibri"/>
              </a:defRPr>
            </a:pPr>
            <a:r>
              <a:rPr sz="1252">
                <a:solidFill>
                  <a:srgbClr val="1E293B"/>
                </a:solidFill>
                <a:latin typeface="Calibri"/>
                <a:ea typeface="Calibri"/>
                <a:cs typeface="Calibri"/>
              </a:rPr>
              <a:t>Pérez y Gramsch (2016). Atmospheric Environment, 124, 22–27.</a:t>
            </a:r>
          </a:p>
          <a:p>
            <a:pPr algn="l">
              <a:defRPr sz="1252">
                <a:solidFill>
                  <a:srgbClr val="1E293B"/>
                </a:solidFill>
                <a:latin typeface="Calibri"/>
                <a:ea typeface="Calibri"/>
                <a:cs typeface="Calibri"/>
              </a:defRPr>
            </a:pPr>
            <a:r>
              <a:rPr sz="1252">
                <a:solidFill>
                  <a:srgbClr val="1E293B"/>
                </a:solidFill>
                <a:latin typeface="Calibri"/>
                <a:ea typeface="Calibri"/>
                <a:cs typeface="Calibri"/>
              </a:rPr>
              <a:t>https://doi.org/10.1016/j.atmosenv.2015.11.016</a:t>
            </a:r>
          </a:p>
        </p:txBody>
      </p:sp>
      <p:sp>
        <p:nvSpPr>
          <p:cNvPr id="16" name="Referencia 4">
            <a:extLst>
              <a:ext uri="{FF2B5EF4-FFF2-40B4-BE49-F238E27FC236}">
                <a16:creationId xmlns:a16="http://schemas.microsoft.com/office/drawing/2014/main" id="{9A281ABA-63A4-454D-8761-F811654FE493}"/>
              </a:ext>
            </a:extLst>
          </p:cNvPr>
          <p:cNvSpPr>
            <a:spLocks noGrp="1"/>
          </p:cNvSpPr>
          <p:nvPr/>
        </p:nvSpPr>
        <p:spPr>
          <a:xfrm>
            <a:off x="552450" y="2838450"/>
            <a:ext cx="8039100" cy="457200"/>
          </a:xfrm>
          <a:prstGeom prst="rect">
            <a:avLst/>
          </a:prstGeom>
          <a:noFill/>
          <a:ln w="0">
            <a:noFill/>
          </a:ln>
        </p:spPr>
        <p:txBody>
          <a:bodyPr wrap="square" lIns="0" tIns="0" rIns="0" bIns="0" anchor="t">
            <a:noAutofit/>
          </a:bodyPr>
          <a:lstStyle/>
          <a:p>
            <a:pPr algn="l">
              <a:defRPr sz="1252">
                <a:solidFill>
                  <a:srgbClr val="1E293B"/>
                </a:solidFill>
                <a:latin typeface="Calibri"/>
                <a:ea typeface="Calibri"/>
                <a:cs typeface="Calibri"/>
              </a:defRPr>
            </a:pPr>
            <a:r>
              <a:rPr sz="1252">
                <a:solidFill>
                  <a:srgbClr val="1E293B"/>
                </a:solidFill>
                <a:latin typeface="Calibri"/>
                <a:ea typeface="Calibri"/>
                <a:cs typeface="Calibri"/>
              </a:rPr>
              <a:t>Peralta et al. (2022). Applied Sciences, 12(22), 11317.</a:t>
            </a:r>
          </a:p>
          <a:p>
            <a:pPr algn="l">
              <a:defRPr sz="1252">
                <a:solidFill>
                  <a:srgbClr val="1E293B"/>
                </a:solidFill>
                <a:latin typeface="Calibri"/>
                <a:ea typeface="Calibri"/>
                <a:cs typeface="Calibri"/>
              </a:defRPr>
            </a:pPr>
            <a:r>
              <a:rPr sz="1252">
                <a:solidFill>
                  <a:srgbClr val="1E293B"/>
                </a:solidFill>
                <a:latin typeface="Calibri"/>
                <a:ea typeface="Calibri"/>
                <a:cs typeface="Calibri"/>
              </a:rPr>
              <a:t>https://doi.org/10.3390/app122211317</a:t>
            </a:r>
          </a:p>
        </p:txBody>
      </p:sp>
      <p:sp>
        <p:nvSpPr>
          <p:cNvPr id="17" name="Referencia 5">
            <a:extLst>
              <a:ext uri="{FF2B5EF4-FFF2-40B4-BE49-F238E27FC236}">
                <a16:creationId xmlns:a16="http://schemas.microsoft.com/office/drawing/2014/main" id="{CB99C13D-9D4F-4EE2-A2DF-7C3944D795F0}"/>
              </a:ext>
            </a:extLst>
          </p:cNvPr>
          <p:cNvSpPr>
            <a:spLocks noGrp="1"/>
          </p:cNvSpPr>
          <p:nvPr/>
        </p:nvSpPr>
        <p:spPr>
          <a:xfrm>
            <a:off x="552450" y="3390900"/>
            <a:ext cx="8039100" cy="457200"/>
          </a:xfrm>
          <a:prstGeom prst="rect">
            <a:avLst/>
          </a:prstGeom>
          <a:noFill/>
          <a:ln w="0">
            <a:noFill/>
          </a:ln>
        </p:spPr>
        <p:txBody>
          <a:bodyPr wrap="square" lIns="0" tIns="0" rIns="0" bIns="0" anchor="t">
            <a:noAutofit/>
          </a:bodyPr>
          <a:lstStyle/>
          <a:p>
            <a:pPr algn="l">
              <a:defRPr sz="1252">
                <a:solidFill>
                  <a:srgbClr val="1E293B"/>
                </a:solidFill>
                <a:latin typeface="Calibri"/>
                <a:ea typeface="Calibri"/>
                <a:cs typeface="Calibri"/>
              </a:defRPr>
            </a:pPr>
            <a:r>
              <a:rPr sz="1252">
                <a:solidFill>
                  <a:srgbClr val="1E293B"/>
                </a:solidFill>
                <a:latin typeface="Calibri"/>
                <a:ea typeface="Calibri"/>
                <a:cs typeface="Calibri"/>
              </a:rPr>
              <a:t>Roberts et al. (2017). Ecography, 40(8), 913–929.</a:t>
            </a:r>
          </a:p>
          <a:p>
            <a:pPr algn="l">
              <a:defRPr sz="1252">
                <a:solidFill>
                  <a:srgbClr val="1E293B"/>
                </a:solidFill>
                <a:latin typeface="Calibri"/>
                <a:ea typeface="Calibri"/>
                <a:cs typeface="Calibri"/>
              </a:defRPr>
            </a:pPr>
            <a:r>
              <a:rPr sz="1252">
                <a:solidFill>
                  <a:srgbClr val="1E293B"/>
                </a:solidFill>
                <a:latin typeface="Calibri"/>
                <a:ea typeface="Calibri"/>
                <a:cs typeface="Calibri"/>
              </a:rPr>
              <a:t>https://doi.org/10.1111/ecog.02881</a:t>
            </a:r>
          </a:p>
        </p:txBody>
      </p:sp>
      <p:sp>
        <p:nvSpPr>
          <p:cNvPr id="18" name="Referencia 6">
            <a:extLst>
              <a:ext uri="{FF2B5EF4-FFF2-40B4-BE49-F238E27FC236}">
                <a16:creationId xmlns:a16="http://schemas.microsoft.com/office/drawing/2014/main" id="{B0F8C19B-9E8F-430D-A383-718B8EAD3EAA}"/>
              </a:ext>
            </a:extLst>
          </p:cNvPr>
          <p:cNvSpPr>
            <a:spLocks noGrp="1"/>
          </p:cNvSpPr>
          <p:nvPr/>
        </p:nvSpPr>
        <p:spPr>
          <a:xfrm>
            <a:off x="552450" y="3943350"/>
            <a:ext cx="8039100" cy="457200"/>
          </a:xfrm>
          <a:prstGeom prst="rect">
            <a:avLst/>
          </a:prstGeom>
          <a:noFill/>
          <a:ln w="0">
            <a:noFill/>
          </a:ln>
        </p:spPr>
        <p:txBody>
          <a:bodyPr wrap="square" lIns="0" tIns="0" rIns="0" bIns="0" anchor="t">
            <a:noAutofit/>
          </a:bodyPr>
          <a:lstStyle/>
          <a:p>
            <a:pPr algn="l">
              <a:defRPr sz="1252">
                <a:solidFill>
                  <a:srgbClr val="1E293B"/>
                </a:solidFill>
                <a:latin typeface="Calibri"/>
                <a:ea typeface="Calibri"/>
                <a:cs typeface="Calibri"/>
              </a:defRPr>
            </a:pPr>
            <a:r>
              <a:rPr sz="1252">
                <a:solidFill>
                  <a:srgbClr val="1E293B"/>
                </a:solidFill>
                <a:latin typeface="Calibri"/>
                <a:ea typeface="Calibri"/>
                <a:cs typeface="Calibri"/>
              </a:rPr>
              <a:t>Varma y Simon (2006). BMC Bioinformatics, 7, 91.</a:t>
            </a:r>
          </a:p>
          <a:p>
            <a:pPr algn="l">
              <a:defRPr sz="1252">
                <a:solidFill>
                  <a:srgbClr val="1E293B"/>
                </a:solidFill>
                <a:latin typeface="Calibri"/>
                <a:ea typeface="Calibri"/>
                <a:cs typeface="Calibri"/>
              </a:defRPr>
            </a:pPr>
            <a:r>
              <a:rPr sz="1252">
                <a:solidFill>
                  <a:srgbClr val="1E293B"/>
                </a:solidFill>
                <a:latin typeface="Calibri"/>
                <a:ea typeface="Calibri"/>
                <a:cs typeface="Calibri"/>
              </a:rPr>
              <a:t>https://doi.org/10.1186/1471-2105-7-91</a:t>
            </a:r>
          </a:p>
        </p:txBody>
      </p:sp>
      <p:sp>
        <p:nvSpPr>
          <p:cNvPr id="19" name="Fuente y alcance">
            <a:extLst>
              <a:ext uri="{FF2B5EF4-FFF2-40B4-BE49-F238E27FC236}">
                <a16:creationId xmlns:a16="http://schemas.microsoft.com/office/drawing/2014/main" id="{F1482C8C-89D7-428B-81E7-5A053CFE08BD}"/>
              </a:ext>
            </a:extLst>
          </p:cNvPr>
          <p:cNvSpPr>
            <a:spLocks noGrp="1"/>
          </p:cNvSpPr>
          <p:nvPr/>
        </p:nvSpPr>
        <p:spPr>
          <a:xfrm>
            <a:off x="548640" y="4619625"/>
            <a:ext cx="8046720" cy="200025"/>
          </a:xfrm>
          <a:prstGeom prst="rect">
            <a:avLst/>
          </a:prstGeom>
          <a:noFill/>
          <a:ln w="0">
            <a:noFill/>
          </a:ln>
        </p:spPr>
        <p:txBody>
          <a:bodyPr wrap="square" lIns="0" tIns="0" rIns="0" bIns="0" anchor="ctr">
            <a:noAutofit/>
          </a:bodyPr>
          <a:lstStyle/>
          <a:p>
            <a:pPr algn="l">
              <a:defRPr sz="848">
                <a:solidFill>
                  <a:srgbClr val="526277"/>
                </a:solidFill>
                <a:latin typeface="Calibri"/>
                <a:ea typeface="Calibri"/>
                <a:cs typeface="Calibri"/>
              </a:defRPr>
            </a:pPr>
            <a:r>
              <a:rPr sz="848">
                <a:solidFill>
                  <a:srgbClr val="526277"/>
                </a:solidFill>
                <a:latin typeface="Calibri"/>
                <a:ea typeface="Calibri"/>
                <a:cs typeface="Calibri"/>
              </a:rPr>
              <a:t>Referencias completas, fuentes de datos y precisiones metodológicas en las notas del presentador.</a:t>
            </a:r>
          </a:p>
        </p:txBody>
      </p:sp>
    </p:spTree>
    <p:extLst>
      <p:ext uri="{BB962C8B-B14F-4D97-AF65-F5344CB8AC3E}">
        <p14:creationId xmlns:p14="http://schemas.microsoft.com/office/powerpoint/2010/main" val="322757276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3" name="Cabecera azul UC">
            <a:extLst>
              <a:ext uri="{FF2B5EF4-FFF2-40B4-BE49-F238E27FC236}">
                <a16:creationId xmlns:a16="http://schemas.microsoft.com/office/drawing/2014/main" id="{3486DB9C-93DE-456A-BF48-2757BBD61ACE}"/>
              </a:ext>
            </a:extLst>
          </p:cNvPr>
          <p:cNvSpPr>
            <a:spLocks noGrp="1"/>
          </p:cNvSpPr>
          <p:nvPr/>
        </p:nvSpPr>
        <p:spPr>
          <a:xfrm>
            <a:off x="158742" y="0"/>
            <a:ext cx="8985258" cy="1007195"/>
          </a:xfrm>
          <a:prstGeom prst="rect">
            <a:avLst/>
          </a:prstGeom>
          <a:solidFill>
            <a:srgbClr val="017EDF"/>
          </a:solidFill>
          <a:ln>
            <a:noFill/>
          </a:ln>
        </p:spPr>
        <p:txBody>
          <a:bodyPr/>
          <a:lstStyle/>
          <a:p>
            <a:endParaRPr lang="es-CL"/>
          </a:p>
        </p:txBody>
      </p:sp>
      <p:sp>
        <p:nvSpPr>
          <p:cNvPr id="4" name="Rectángulo 9">
            <a:extLst>
              <a:ext uri="{FF2B5EF4-FFF2-40B4-BE49-F238E27FC236}">
                <a16:creationId xmlns:a16="http://schemas.microsoft.com/office/drawing/2014/main" id="{2DE33766-2918-41FC-A1B9-B4BF483C8974}"/>
              </a:ext>
            </a:extLst>
          </p:cNvPr>
          <p:cNvSpPr>
            <a:spLocks noGrp="1"/>
          </p:cNvSpPr>
          <p:nvPr/>
        </p:nvSpPr>
        <p:spPr>
          <a:xfrm>
            <a:off x="0" y="149945"/>
            <a:ext cx="158742" cy="857250"/>
          </a:xfrm>
          <a:prstGeom prst="rect">
            <a:avLst/>
          </a:prstGeom>
          <a:solidFill>
            <a:srgbClr val="FFE2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Rectángulo 7">
            <a:extLst>
              <a:ext uri="{FF2B5EF4-FFF2-40B4-BE49-F238E27FC236}">
                <a16:creationId xmlns:a16="http://schemas.microsoft.com/office/drawing/2014/main" id="{3BCD4458-45E8-4C73-A3B6-249CEEFBDB7B}"/>
              </a:ext>
            </a:extLst>
          </p:cNvPr>
          <p:cNvSpPr>
            <a:spLocks noGrp="1"/>
          </p:cNvSpPr>
          <p:nvPr/>
        </p:nvSpPr>
        <p:spPr>
          <a:xfrm flipV="1">
            <a:off x="169334" y="4871120"/>
            <a:ext cx="8815911" cy="177311"/>
          </a:xfrm>
          <a:prstGeom prst="rect">
            <a:avLst/>
          </a:prstGeom>
          <a:solidFill>
            <a:schemeClr val="bg1">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Rectángulo 10">
            <a:extLst>
              <a:ext uri="{FF2B5EF4-FFF2-40B4-BE49-F238E27FC236}">
                <a16:creationId xmlns:a16="http://schemas.microsoft.com/office/drawing/2014/main" id="{A18DC9E6-BD6D-4FE1-AEC0-9715BEE3912A}"/>
              </a:ext>
            </a:extLst>
          </p:cNvPr>
          <p:cNvSpPr>
            <a:spLocks noGrp="1"/>
          </p:cNvSpPr>
          <p:nvPr/>
        </p:nvSpPr>
        <p:spPr>
          <a:xfrm flipV="1">
            <a:off x="7200957" y="4871118"/>
            <a:ext cx="1119038" cy="177313"/>
          </a:xfrm>
          <a:prstGeom prst="rect">
            <a:avLst/>
          </a:prstGeom>
          <a:solidFill>
            <a:srgbClr val="3366CC"/>
          </a:solidFill>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ítulo 1">
            <a:extLst>
              <a:ext uri="{FF2B5EF4-FFF2-40B4-BE49-F238E27FC236}">
                <a16:creationId xmlns:a16="http://schemas.microsoft.com/office/drawing/2014/main" id="{438D0FA2-1899-4EDF-9FA4-D1742768DFC6}"/>
              </a:ext>
            </a:extLst>
          </p:cNvPr>
          <p:cNvSpPr>
            <a:spLocks noGrp="1"/>
          </p:cNvSpPr>
          <p:nvPr>
            <p:ph type="title"/>
          </p:nvPr>
        </p:nvSpPr>
        <p:spPr>
          <a:xfrm>
            <a:off x="457200" y="149945"/>
            <a:ext cx="8229600" cy="857250"/>
          </a:xfrm>
        </p:spPr>
        <p:txBody>
          <a:bodyPr wrap="square" anchor="ctr">
            <a:noAutofit/>
          </a:bodyPr>
          <a:lstStyle/>
          <a:p>
            <a:pPr algn="l">
              <a:spcBef>
                <a:spcPts val="0"/>
              </a:spcBef>
              <a:spcAft>
                <a:spcPts val="0"/>
              </a:spcAft>
              <a:defRPr sz="1900" b="1">
                <a:solidFill>
                  <a:srgbClr val="FFFFFF"/>
                </a:solidFill>
                <a:latin typeface="Calibri"/>
                <a:ea typeface="Calibri"/>
                <a:cs typeface="Calibri"/>
              </a:defRPr>
            </a:pPr>
            <a:r>
              <a:rPr sz="1900" b="1">
                <a:solidFill>
                  <a:srgbClr val="FFFFFF"/>
                </a:solidFill>
                <a:latin typeface="Calibri"/>
                <a:ea typeface="Calibri"/>
                <a:cs typeface="Calibri"/>
              </a:rPr>
              <a:t>Anexo: ESA CCI, cobertura de suelo</a:t>
            </a:r>
          </a:p>
        </p:txBody>
      </p:sp>
      <p:pic>
        <p:nvPicPr>
          <p:cNvPr id="19" name="fuente_lulc_lulc_bosque_bad8e868.png" descr="Figura original completa ESA CCI, cobertura de suelo, años 2000, 2004, 2008, 2012, 2016, 2020 y 2024, con serie anual y escala."/>
          <p:cNvPicPr>
            <a:picLocks noChangeAspect="1"/>
          </p:cNvPicPr>
          <p:nvPr/>
        </p:nvPicPr>
        <p:blipFill>
          <a:blip r:embed="rId3"/>
          <a:srcRect/>
          <a:stretch>
            <a:fillRect/>
          </a:stretch>
        </p:blipFill>
        <p:spPr>
          <a:xfrm>
            <a:off x="554902" y="1219200"/>
            <a:ext cx="4528996" cy="3333750"/>
          </a:xfrm>
          <a:prstGeom prst="rect">
            <a:avLst/>
          </a:prstGeom>
        </p:spPr>
      </p:pic>
      <p:sp>
        <p:nvSpPr>
          <p:cNvPr id="9" name="Tipo">
            <a:extLst>
              <a:ext uri="{FF2B5EF4-FFF2-40B4-BE49-F238E27FC236}">
                <a16:creationId xmlns:a16="http://schemas.microsoft.com/office/drawing/2014/main" id="{4BC1486A-B3A8-4F6B-ABE4-F89E99A8B9E0}"/>
              </a:ext>
            </a:extLst>
          </p:cNvPr>
          <p:cNvSpPr>
            <a:spLocks noGrp="1"/>
          </p:cNvSpPr>
          <p:nvPr/>
        </p:nvSpPr>
        <p:spPr>
          <a:xfrm>
            <a:off x="5276850" y="1381125"/>
            <a:ext cx="3314700" cy="495300"/>
          </a:xfrm>
          <a:prstGeom prst="rect">
            <a:avLst/>
          </a:prstGeom>
          <a:noFill/>
          <a:ln w="0">
            <a:noFill/>
          </a:ln>
        </p:spPr>
        <p:txBody>
          <a:bodyPr wrap="square" lIns="0" tIns="0" rIns="0" bIns="0" anchor="t">
            <a:noAutofit/>
          </a:bodyPr>
          <a:lstStyle/>
          <a:p>
            <a:pPr algn="l">
              <a:buNone/>
              <a:defRPr sz="1425" b="1">
                <a:solidFill>
                  <a:srgbClr val="017EDF"/>
                </a:solidFill>
                <a:latin typeface="Calibri"/>
                <a:ea typeface="Calibri"/>
                <a:cs typeface="Calibri"/>
              </a:defRPr>
            </a:pPr>
            <a:r>
              <a:rPr sz="1425" b="1">
                <a:solidFill>
                  <a:srgbClr val="017EDF"/>
                </a:solidFill>
                <a:latin typeface="Calibri"/>
                <a:ea typeface="Calibri"/>
                <a:cs typeface="Calibri"/>
              </a:rPr>
              <a:t>Cobertura de suelo a partir de satélites</a:t>
            </a:r>
          </a:p>
        </p:txBody>
      </p:sp>
      <p:sp>
        <p:nvSpPr>
          <p:cNvPr id="10" name="Variable">
            <a:extLst>
              <a:ext uri="{FF2B5EF4-FFF2-40B4-BE49-F238E27FC236}">
                <a16:creationId xmlns:a16="http://schemas.microsoft.com/office/drawing/2014/main" id="{F604893D-FB27-4037-8C0F-05E343484C18}"/>
              </a:ext>
            </a:extLst>
          </p:cNvPr>
          <p:cNvSpPr>
            <a:spLocks noGrp="1"/>
          </p:cNvSpPr>
          <p:nvPr/>
        </p:nvSpPr>
        <p:spPr>
          <a:xfrm>
            <a:off x="5276850" y="2038350"/>
            <a:ext cx="3314700" cy="800100"/>
          </a:xfrm>
          <a:prstGeom prst="rect">
            <a:avLst/>
          </a:prstGeom>
          <a:noFill/>
          <a:ln w="0">
            <a:noFill/>
          </a:ln>
        </p:spPr>
        <p:txBody>
          <a:bodyPr wrap="square" lIns="0" tIns="0" rIns="0" bIns="0" anchor="t">
            <a:noAutofit/>
          </a:bodyPr>
          <a:lstStyle/>
          <a:p>
            <a:pPr algn="l">
              <a:buNone/>
              <a:defRPr sz="1725" b="1">
                <a:solidFill>
                  <a:srgbClr val="17375D"/>
                </a:solidFill>
                <a:latin typeface="Calibri"/>
                <a:ea typeface="Calibri"/>
                <a:cs typeface="Calibri"/>
              </a:defRPr>
            </a:pPr>
            <a:r>
              <a:rPr sz="1725" b="1">
                <a:solidFill>
                  <a:srgbClr val="17375D"/>
                </a:solidFill>
                <a:latin typeface="Calibri"/>
                <a:ea typeface="Calibri"/>
                <a:cs typeface="Calibri"/>
              </a:rPr>
              <a:t>Fracción de bosque, adimensional</a:t>
            </a:r>
          </a:p>
          <a:p>
            <a:pPr algn="l">
              <a:buNone/>
              <a:defRPr sz="1725" b="1">
                <a:solidFill>
                  <a:srgbClr val="17375D"/>
                </a:solidFill>
                <a:latin typeface="Calibri"/>
                <a:ea typeface="Calibri"/>
                <a:cs typeface="Calibri"/>
              </a:defRPr>
            </a:pPr>
            <a:r>
              <a:rPr sz="1725" b="1">
                <a:solidFill>
                  <a:srgbClr val="17375D"/>
                </a:solidFill>
                <a:latin typeface="Calibri"/>
                <a:ea typeface="Calibri"/>
                <a:cs typeface="Calibri"/>
              </a:rPr>
              <a:t>300 m, resumen en grilla 0,01°</a:t>
            </a:r>
          </a:p>
        </p:txBody>
      </p:sp>
      <p:sp>
        <p:nvSpPr>
          <p:cNvPr id="11" name="Lectura">
            <a:extLst>
              <a:ext uri="{FF2B5EF4-FFF2-40B4-BE49-F238E27FC236}">
                <a16:creationId xmlns:a16="http://schemas.microsoft.com/office/drawing/2014/main" id="{48278718-EC2B-4DB8-BBD0-2F2749DBEDDC}"/>
              </a:ext>
            </a:extLst>
          </p:cNvPr>
          <p:cNvSpPr>
            <a:spLocks noGrp="1"/>
          </p:cNvSpPr>
          <p:nvPr/>
        </p:nvSpPr>
        <p:spPr>
          <a:xfrm>
            <a:off x="5276850" y="3086100"/>
            <a:ext cx="3314700" cy="1095375"/>
          </a:xfrm>
          <a:prstGeom prst="rect">
            <a:avLst/>
          </a:prstGeom>
          <a:noFill/>
          <a:ln w="0">
            <a:noFill/>
          </a:ln>
        </p:spPr>
        <p:txBody>
          <a:bodyPr wrap="square" lIns="0" tIns="0" rIns="0" bIns="0" anchor="t">
            <a:noAutofit/>
          </a:bodyPr>
          <a:lstStyle/>
          <a:p>
            <a:pPr algn="l">
              <a:buNone/>
              <a:defRPr sz="1575">
                <a:solidFill>
                  <a:srgbClr val="1E293B"/>
                </a:solidFill>
                <a:latin typeface="Calibri"/>
                <a:ea typeface="Calibri"/>
                <a:cs typeface="Calibri"/>
              </a:defRPr>
            </a:pPr>
            <a:r>
              <a:rPr sz="1575">
                <a:solidFill>
                  <a:srgbClr val="1E293B"/>
                </a:solidFill>
                <a:latin typeface="Calibri"/>
                <a:ea typeface="Calibri"/>
                <a:cs typeface="Calibri"/>
              </a:rPr>
              <a:t>Describe la composición del territorio. El panel 2024 reutiliza la cobertura de 2022.</a:t>
            </a:r>
          </a:p>
        </p:txBody>
      </p:sp>
      <p:sp>
        <p:nvSpPr>
          <p:cNvPr id="12" name="Fuente y alcance">
            <a:extLst>
              <a:ext uri="{FF2B5EF4-FFF2-40B4-BE49-F238E27FC236}">
                <a16:creationId xmlns:a16="http://schemas.microsoft.com/office/drawing/2014/main" id="{5BE644D3-8AC3-4165-9386-7CCAD8BAA0A9}"/>
              </a:ext>
            </a:extLst>
          </p:cNvPr>
          <p:cNvSpPr>
            <a:spLocks noGrp="1"/>
          </p:cNvSpPr>
          <p:nvPr/>
        </p:nvSpPr>
        <p:spPr>
          <a:xfrm>
            <a:off x="548640" y="4619625"/>
            <a:ext cx="8046720" cy="200025"/>
          </a:xfrm>
          <a:prstGeom prst="rect">
            <a:avLst/>
          </a:prstGeom>
          <a:noFill/>
          <a:ln w="0">
            <a:noFill/>
          </a:ln>
        </p:spPr>
        <p:txBody>
          <a:bodyPr wrap="square" lIns="0" tIns="0" rIns="0" bIns="0" anchor="ctr">
            <a:noAutofit/>
          </a:bodyPr>
          <a:lstStyle/>
          <a:p>
            <a:pPr algn="l">
              <a:buNone/>
              <a:defRPr sz="848">
                <a:solidFill>
                  <a:srgbClr val="526277"/>
                </a:solidFill>
                <a:latin typeface="Calibri"/>
                <a:ea typeface="Calibri"/>
                <a:cs typeface="Calibri"/>
              </a:defRPr>
            </a:pPr>
            <a:r>
              <a:rPr sz="848">
                <a:solidFill>
                  <a:srgbClr val="526277"/>
                </a:solidFill>
                <a:latin typeface="Calibri"/>
                <a:ea typeface="Calibri"/>
                <a:cs typeface="Calibri"/>
              </a:rPr>
              <a:t>HTML, figura 43. Figura original completa. Mapas de años seleccionados y serie anual por macrozona.</a:t>
            </a:r>
          </a:p>
        </p:txBody>
      </p:sp>
    </p:spTree>
    <p:extLst>
      <p:ext uri="{BB962C8B-B14F-4D97-AF65-F5344CB8AC3E}">
        <p14:creationId xmlns:p14="http://schemas.microsoft.com/office/powerpoint/2010/main" val="322757276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3" name="Cabecera azul UC">
            <a:extLst>
              <a:ext uri="{FF2B5EF4-FFF2-40B4-BE49-F238E27FC236}">
                <a16:creationId xmlns:a16="http://schemas.microsoft.com/office/drawing/2014/main" id="{3486DB9C-93DE-456A-BF48-2757BBD61ACE}"/>
              </a:ext>
            </a:extLst>
          </p:cNvPr>
          <p:cNvSpPr>
            <a:spLocks noGrp="1"/>
          </p:cNvSpPr>
          <p:nvPr/>
        </p:nvSpPr>
        <p:spPr>
          <a:xfrm>
            <a:off x="158742" y="0"/>
            <a:ext cx="8985258" cy="1007195"/>
          </a:xfrm>
          <a:prstGeom prst="rect">
            <a:avLst/>
          </a:prstGeom>
          <a:solidFill>
            <a:srgbClr val="017EDF"/>
          </a:solidFill>
          <a:ln>
            <a:noFill/>
          </a:ln>
        </p:spPr>
        <p:txBody>
          <a:bodyPr/>
          <a:lstStyle/>
          <a:p>
            <a:endParaRPr lang="es-CL"/>
          </a:p>
        </p:txBody>
      </p:sp>
      <p:sp>
        <p:nvSpPr>
          <p:cNvPr id="4" name="Rectángulo 9">
            <a:extLst>
              <a:ext uri="{FF2B5EF4-FFF2-40B4-BE49-F238E27FC236}">
                <a16:creationId xmlns:a16="http://schemas.microsoft.com/office/drawing/2014/main" id="{2DE33766-2918-41FC-A1B9-B4BF483C8974}"/>
              </a:ext>
            </a:extLst>
          </p:cNvPr>
          <p:cNvSpPr>
            <a:spLocks noGrp="1"/>
          </p:cNvSpPr>
          <p:nvPr/>
        </p:nvSpPr>
        <p:spPr>
          <a:xfrm>
            <a:off x="0" y="149945"/>
            <a:ext cx="158742" cy="857250"/>
          </a:xfrm>
          <a:prstGeom prst="rect">
            <a:avLst/>
          </a:prstGeom>
          <a:solidFill>
            <a:srgbClr val="FFE2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Rectángulo 7">
            <a:extLst>
              <a:ext uri="{FF2B5EF4-FFF2-40B4-BE49-F238E27FC236}">
                <a16:creationId xmlns:a16="http://schemas.microsoft.com/office/drawing/2014/main" id="{3BCD4458-45E8-4C73-A3B6-249CEEFBDB7B}"/>
              </a:ext>
            </a:extLst>
          </p:cNvPr>
          <p:cNvSpPr>
            <a:spLocks noGrp="1"/>
          </p:cNvSpPr>
          <p:nvPr/>
        </p:nvSpPr>
        <p:spPr>
          <a:xfrm flipV="1">
            <a:off x="169334" y="4871120"/>
            <a:ext cx="8815911" cy="177311"/>
          </a:xfrm>
          <a:prstGeom prst="rect">
            <a:avLst/>
          </a:prstGeom>
          <a:solidFill>
            <a:schemeClr val="bg1">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Rectángulo 10">
            <a:extLst>
              <a:ext uri="{FF2B5EF4-FFF2-40B4-BE49-F238E27FC236}">
                <a16:creationId xmlns:a16="http://schemas.microsoft.com/office/drawing/2014/main" id="{A18DC9E6-BD6D-4FE1-AEC0-9715BEE3912A}"/>
              </a:ext>
            </a:extLst>
          </p:cNvPr>
          <p:cNvSpPr>
            <a:spLocks noGrp="1"/>
          </p:cNvSpPr>
          <p:nvPr/>
        </p:nvSpPr>
        <p:spPr>
          <a:xfrm flipV="1">
            <a:off x="7200957" y="4871118"/>
            <a:ext cx="1119038" cy="177313"/>
          </a:xfrm>
          <a:prstGeom prst="rect">
            <a:avLst/>
          </a:prstGeom>
          <a:solidFill>
            <a:srgbClr val="3366CC"/>
          </a:solidFill>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ítulo 1">
            <a:extLst>
              <a:ext uri="{FF2B5EF4-FFF2-40B4-BE49-F238E27FC236}">
                <a16:creationId xmlns:a16="http://schemas.microsoft.com/office/drawing/2014/main" id="{438D0FA2-1899-4EDF-9FA4-D1742768DFC6}"/>
              </a:ext>
            </a:extLst>
          </p:cNvPr>
          <p:cNvSpPr>
            <a:spLocks noGrp="1"/>
          </p:cNvSpPr>
          <p:nvPr>
            <p:ph type="title"/>
          </p:nvPr>
        </p:nvSpPr>
        <p:spPr>
          <a:xfrm>
            <a:off x="457200" y="149945"/>
            <a:ext cx="8229600" cy="857250"/>
          </a:xfrm>
        </p:spPr>
        <p:txBody>
          <a:bodyPr wrap="square" anchor="ctr">
            <a:noAutofit/>
          </a:bodyPr>
          <a:lstStyle/>
          <a:p>
            <a:pPr algn="l">
              <a:spcBef>
                <a:spcPts val="0"/>
              </a:spcBef>
              <a:spcAft>
                <a:spcPts val="0"/>
              </a:spcAft>
              <a:defRPr sz="1900" b="1">
                <a:solidFill>
                  <a:srgbClr val="FFFFFF"/>
                </a:solidFill>
                <a:latin typeface="Calibri"/>
                <a:ea typeface="Calibri"/>
                <a:cs typeface="Calibri"/>
              </a:defRPr>
            </a:pPr>
            <a:r>
              <a:rPr sz="1900" b="1">
                <a:solidFill>
                  <a:srgbClr val="FFFFFF"/>
                </a:solidFill>
                <a:latin typeface="Calibri"/>
                <a:ea typeface="Calibri"/>
                <a:cs typeface="Calibri"/>
              </a:rPr>
              <a:t>Anexo: MERRA-2</a:t>
            </a:r>
          </a:p>
        </p:txBody>
      </p:sp>
      <p:sp>
        <p:nvSpPr>
          <p:cNvPr id="8" name="Mapa 2020">
            <a:extLst>
              <a:ext uri="{FF2B5EF4-FFF2-40B4-BE49-F238E27FC236}">
                <a16:creationId xmlns:a16="http://schemas.microsoft.com/office/drawing/2014/main" id="{BD032420-9F44-4F46-8B89-8C4B74542820}"/>
              </a:ext>
            </a:extLst>
          </p:cNvPr>
          <p:cNvSpPr>
            <a:spLocks noGrp="1"/>
          </p:cNvSpPr>
          <p:nvPr/>
        </p:nvSpPr>
        <p:spPr>
          <a:xfrm>
            <a:off x="800100" y="1133475"/>
            <a:ext cx="742950" cy="266700"/>
          </a:xfrm>
          <a:prstGeom prst="rect">
            <a:avLst/>
          </a:prstGeom>
          <a:noFill/>
          <a:ln w="0">
            <a:noFill/>
          </a:ln>
        </p:spPr>
        <p:txBody>
          <a:bodyPr wrap="square" lIns="0" tIns="0" rIns="0" bIns="0" anchor="t">
            <a:noAutofit/>
          </a:bodyPr>
          <a:lstStyle/>
          <a:p>
            <a:pPr algn="ctr">
              <a:buNone/>
              <a:defRPr sz="1425" b="1">
                <a:solidFill>
                  <a:srgbClr val="17375D"/>
                </a:solidFill>
                <a:latin typeface="Calibri"/>
                <a:ea typeface="Calibri"/>
                <a:cs typeface="Calibri"/>
              </a:defRPr>
            </a:pPr>
            <a:r>
              <a:rPr sz="1425" b="1">
                <a:solidFill>
                  <a:srgbClr val="17375D"/>
                </a:solidFill>
                <a:latin typeface="Calibri"/>
                <a:ea typeface="Calibri"/>
                <a:cs typeface="Calibri"/>
              </a:rPr>
              <a:t>2020</a:t>
            </a:r>
          </a:p>
        </p:txBody>
      </p:sp>
      <p:sp>
        <p:nvSpPr>
          <p:cNvPr id="9" name="Mapa 2024">
            <a:extLst>
              <a:ext uri="{FF2B5EF4-FFF2-40B4-BE49-F238E27FC236}">
                <a16:creationId xmlns:a16="http://schemas.microsoft.com/office/drawing/2014/main" id="{64890975-DF7B-4EBD-BB6C-6880D5D80AA5}"/>
              </a:ext>
            </a:extLst>
          </p:cNvPr>
          <p:cNvSpPr>
            <a:spLocks noGrp="1"/>
          </p:cNvSpPr>
          <p:nvPr/>
        </p:nvSpPr>
        <p:spPr>
          <a:xfrm>
            <a:off x="1581150" y="1133475"/>
            <a:ext cx="742950" cy="266700"/>
          </a:xfrm>
          <a:prstGeom prst="rect">
            <a:avLst/>
          </a:prstGeom>
          <a:noFill/>
          <a:ln w="0">
            <a:noFill/>
          </a:ln>
        </p:spPr>
        <p:txBody>
          <a:bodyPr wrap="square" lIns="0" tIns="0" rIns="0" bIns="0" anchor="t">
            <a:noAutofit/>
          </a:bodyPr>
          <a:lstStyle/>
          <a:p>
            <a:pPr algn="ctr">
              <a:buNone/>
              <a:defRPr sz="1425" b="1">
                <a:solidFill>
                  <a:srgbClr val="17375D"/>
                </a:solidFill>
                <a:latin typeface="Calibri"/>
                <a:ea typeface="Calibri"/>
                <a:cs typeface="Calibri"/>
              </a:defRPr>
            </a:pPr>
            <a:r>
              <a:rPr sz="1425" b="1">
                <a:solidFill>
                  <a:srgbClr val="17375D"/>
                </a:solidFill>
                <a:latin typeface="Calibri"/>
                <a:ea typeface="Calibri"/>
                <a:cs typeface="Calibri"/>
              </a:rPr>
              <a:t>2024</a:t>
            </a:r>
          </a:p>
        </p:txBody>
      </p:sp>
      <p:pic>
        <p:nvPicPr>
          <p:cNvPr id="35" name="fuente_merra2_aod_3e1ea473.png" descr="Mapas originales MERRA-2, años 2020 y 2024, medias anuales."/>
          <p:cNvPicPr>
            <a:picLocks noChangeAspect="1"/>
          </p:cNvPicPr>
          <p:nvPr/>
        </p:nvPicPr>
        <p:blipFill>
          <a:blip r:embed="rId3"/>
          <a:srcRect l="67669" t="5107" r="6316" b="22574"/>
          <a:stretch>
            <a:fillRect/>
          </a:stretch>
        </p:blipFill>
        <p:spPr>
          <a:xfrm>
            <a:off x="826845" y="1438275"/>
            <a:ext cx="1489559" cy="3048000"/>
          </a:xfrm>
          <a:prstGeom prst="rect">
            <a:avLst/>
          </a:prstGeom>
        </p:spPr>
      </p:pic>
      <p:pic>
        <p:nvPicPr>
          <p:cNvPr id="36" name="fuente_merra2_aod_3e1ea473.png" descr="Eje de latitud compartido original."/>
          <p:cNvPicPr>
            <a:picLocks noChangeAspect="1"/>
          </p:cNvPicPr>
          <p:nvPr/>
        </p:nvPicPr>
        <p:blipFill>
          <a:blip r:embed="rId3"/>
          <a:srcRect t="5107" r="95113" b="24413"/>
          <a:stretch>
            <a:fillRect/>
          </a:stretch>
        </p:blipFill>
        <p:spPr>
          <a:xfrm>
            <a:off x="462998" y="1438275"/>
            <a:ext cx="279952" cy="2971800"/>
          </a:xfrm>
          <a:prstGeom prst="rect">
            <a:avLst/>
          </a:prstGeom>
        </p:spPr>
      </p:pic>
      <p:pic>
        <p:nvPicPr>
          <p:cNvPr id="37" name="fuente_merra2_aod_3e1ea473.png" descr="Escala original completa de MERRA-2 en AOD adimensional."/>
          <p:cNvPicPr>
            <a:picLocks noChangeAspect="1"/>
          </p:cNvPicPr>
          <p:nvPr/>
        </p:nvPicPr>
        <p:blipFill>
          <a:blip r:embed="rId3"/>
          <a:srcRect l="93083" t="17365" b="40960"/>
          <a:stretch>
            <a:fillRect/>
          </a:stretch>
        </p:blipFill>
        <p:spPr>
          <a:xfrm>
            <a:off x="2596123" y="1666875"/>
            <a:ext cx="579904" cy="2571750"/>
          </a:xfrm>
          <a:prstGeom prst="rect">
            <a:avLst/>
          </a:prstGeom>
        </p:spPr>
      </p:pic>
      <p:sp>
        <p:nvSpPr>
          <p:cNvPr id="13" name="Tipo">
            <a:extLst>
              <a:ext uri="{FF2B5EF4-FFF2-40B4-BE49-F238E27FC236}">
                <a16:creationId xmlns:a16="http://schemas.microsoft.com/office/drawing/2014/main" id="{71401EF7-3438-49F8-B9A3-037B97D68B05}"/>
              </a:ext>
            </a:extLst>
          </p:cNvPr>
          <p:cNvSpPr>
            <a:spLocks noGrp="1"/>
          </p:cNvSpPr>
          <p:nvPr/>
        </p:nvSpPr>
        <p:spPr>
          <a:xfrm>
            <a:off x="3543300" y="1190625"/>
            <a:ext cx="5029200" cy="247650"/>
          </a:xfrm>
          <a:prstGeom prst="rect">
            <a:avLst/>
          </a:prstGeom>
          <a:noFill/>
          <a:ln w="0">
            <a:noFill/>
          </a:ln>
        </p:spPr>
        <p:txBody>
          <a:bodyPr wrap="square" lIns="0" tIns="0" rIns="0" bIns="0" anchor="t">
            <a:noAutofit/>
          </a:bodyPr>
          <a:lstStyle/>
          <a:p>
            <a:pPr algn="l">
              <a:buNone/>
              <a:defRPr sz="1275" b="1">
                <a:solidFill>
                  <a:srgbClr val="017EDF"/>
                </a:solidFill>
                <a:latin typeface="Calibri"/>
                <a:ea typeface="Calibri"/>
                <a:cs typeface="Calibri"/>
              </a:defRPr>
            </a:pPr>
            <a:r>
              <a:rPr sz="1275" b="1">
                <a:solidFill>
                  <a:srgbClr val="017EDF"/>
                </a:solidFill>
                <a:latin typeface="Calibri"/>
                <a:ea typeface="Calibri"/>
                <a:cs typeface="Calibri"/>
              </a:rPr>
              <a:t>Reanálisis atmosférico</a:t>
            </a:r>
          </a:p>
        </p:txBody>
      </p:sp>
      <p:sp>
        <p:nvSpPr>
          <p:cNvPr id="14" name="Variable">
            <a:extLst>
              <a:ext uri="{FF2B5EF4-FFF2-40B4-BE49-F238E27FC236}">
                <a16:creationId xmlns:a16="http://schemas.microsoft.com/office/drawing/2014/main" id="{BE4D3E16-D22C-4CC3-A932-A033CC75F7D9}"/>
              </a:ext>
            </a:extLst>
          </p:cNvPr>
          <p:cNvSpPr>
            <a:spLocks noGrp="1"/>
          </p:cNvSpPr>
          <p:nvPr/>
        </p:nvSpPr>
        <p:spPr>
          <a:xfrm>
            <a:off x="3543300" y="1504950"/>
            <a:ext cx="5029200" cy="542925"/>
          </a:xfrm>
          <a:prstGeom prst="rect">
            <a:avLst/>
          </a:prstGeom>
          <a:noFill/>
          <a:ln w="0">
            <a:noFill/>
          </a:ln>
        </p:spPr>
        <p:txBody>
          <a:bodyPr wrap="square" lIns="0" tIns="0" rIns="0" bIns="0" anchor="t">
            <a:noAutofit/>
          </a:bodyPr>
          <a:lstStyle/>
          <a:p>
            <a:pPr algn="l">
              <a:buNone/>
              <a:defRPr sz="1650" b="1">
                <a:solidFill>
                  <a:srgbClr val="17375D"/>
                </a:solidFill>
                <a:latin typeface="Calibri"/>
                <a:ea typeface="Calibri"/>
                <a:cs typeface="Calibri"/>
              </a:defRPr>
            </a:pPr>
            <a:r>
              <a:rPr sz="1650" b="1">
                <a:solidFill>
                  <a:srgbClr val="17375D"/>
                </a:solidFill>
                <a:latin typeface="Calibri"/>
                <a:ea typeface="Calibri"/>
                <a:cs typeface="Calibri"/>
              </a:rPr>
              <a:t>AOD a 550 nm, adimensional</a:t>
            </a:r>
          </a:p>
          <a:p>
            <a:pPr algn="l">
              <a:buNone/>
              <a:defRPr sz="1650" b="1">
                <a:solidFill>
                  <a:srgbClr val="17375D"/>
                </a:solidFill>
                <a:latin typeface="Calibri"/>
                <a:ea typeface="Calibri"/>
                <a:cs typeface="Calibri"/>
              </a:defRPr>
            </a:pPr>
            <a:r>
              <a:rPr sz="1650" b="1">
                <a:solidFill>
                  <a:srgbClr val="17375D"/>
                </a:solidFill>
                <a:latin typeface="Calibri"/>
                <a:ea typeface="Calibri"/>
                <a:cs typeface="Calibri"/>
              </a:rPr>
              <a:t>0,5° × 0,625°, frecuencia horaria</a:t>
            </a:r>
          </a:p>
        </p:txBody>
      </p:sp>
      <p:sp>
        <p:nvSpPr>
          <p:cNvPr id="15" name="Lectura">
            <a:extLst>
              <a:ext uri="{FF2B5EF4-FFF2-40B4-BE49-F238E27FC236}">
                <a16:creationId xmlns:a16="http://schemas.microsoft.com/office/drawing/2014/main" id="{CC01D16A-1100-4DE9-9D0A-E534EDDF7F29}"/>
              </a:ext>
            </a:extLst>
          </p:cNvPr>
          <p:cNvSpPr>
            <a:spLocks noGrp="1"/>
          </p:cNvSpPr>
          <p:nvPr/>
        </p:nvSpPr>
        <p:spPr>
          <a:xfrm>
            <a:off x="3543300" y="2057400"/>
            <a:ext cx="5029200" cy="523875"/>
          </a:xfrm>
          <a:prstGeom prst="rect">
            <a:avLst/>
          </a:prstGeom>
          <a:noFill/>
          <a:ln w="0">
            <a:noFill/>
          </a:ln>
        </p:spPr>
        <p:txBody>
          <a:bodyPr wrap="square" lIns="0" tIns="0" rIns="0" bIns="0" anchor="t">
            <a:noAutofit/>
          </a:bodyPr>
          <a:lstStyle/>
          <a:p>
            <a:pPr algn="l">
              <a:buNone/>
              <a:defRPr sz="1350">
                <a:solidFill>
                  <a:srgbClr val="1E293B"/>
                </a:solidFill>
                <a:latin typeface="Calibri"/>
                <a:ea typeface="Calibri"/>
                <a:cs typeface="Calibri"/>
              </a:defRPr>
            </a:pPr>
            <a:r>
              <a:rPr sz="1350">
                <a:solidFill>
                  <a:srgbClr val="1E293B"/>
                </a:solidFill>
                <a:latin typeface="Calibri"/>
                <a:ea typeface="Calibri"/>
                <a:cs typeface="Calibri"/>
              </a:rPr>
              <a:t>La textura de los mapas muestra el soporte espacial grueso del reanálisis.</a:t>
            </a:r>
          </a:p>
        </p:txBody>
      </p:sp>
      <p:sp>
        <p:nvSpPr>
          <p:cNvPr id="16" name="Serie 2020">
            <a:extLst>
              <a:ext uri="{FF2B5EF4-FFF2-40B4-BE49-F238E27FC236}">
                <a16:creationId xmlns:a16="http://schemas.microsoft.com/office/drawing/2014/main" id="{A2BFB0EC-8279-4837-B99B-00FCCF51891A}"/>
              </a:ext>
            </a:extLst>
          </p:cNvPr>
          <p:cNvSpPr>
            <a:spLocks noGrp="1"/>
          </p:cNvSpPr>
          <p:nvPr/>
        </p:nvSpPr>
        <p:spPr>
          <a:xfrm>
            <a:off x="4029075" y="2638425"/>
            <a:ext cx="1285875" cy="228600"/>
          </a:xfrm>
          <a:prstGeom prst="rect">
            <a:avLst/>
          </a:prstGeom>
          <a:noFill/>
          <a:ln w="0">
            <a:noFill/>
          </a:ln>
        </p:spPr>
        <p:txBody>
          <a:bodyPr wrap="square" lIns="0" tIns="0" rIns="0" bIns="0" anchor="t">
            <a:noAutofit/>
          </a:bodyPr>
          <a:lstStyle/>
          <a:p>
            <a:pPr algn="ctr">
              <a:buNone/>
              <a:defRPr sz="1350" b="1">
                <a:solidFill>
                  <a:srgbClr val="17375D"/>
                </a:solidFill>
                <a:latin typeface="Calibri"/>
                <a:ea typeface="Calibri"/>
                <a:cs typeface="Calibri"/>
              </a:defRPr>
            </a:pPr>
            <a:r>
              <a:rPr sz="1350" b="1">
                <a:solidFill>
                  <a:srgbClr val="17375D"/>
                </a:solidFill>
                <a:latin typeface="Calibri"/>
                <a:ea typeface="Calibri"/>
                <a:cs typeface="Calibri"/>
              </a:rPr>
              <a:t>2020</a:t>
            </a:r>
          </a:p>
        </p:txBody>
      </p:sp>
      <p:sp>
        <p:nvSpPr>
          <p:cNvPr id="17" name="Serie 2024">
            <a:extLst>
              <a:ext uri="{FF2B5EF4-FFF2-40B4-BE49-F238E27FC236}">
                <a16:creationId xmlns:a16="http://schemas.microsoft.com/office/drawing/2014/main" id="{FFF6D0FF-DBA1-4B2B-AEC7-95194F667AA6}"/>
              </a:ext>
            </a:extLst>
          </p:cNvPr>
          <p:cNvSpPr>
            <a:spLocks noGrp="1"/>
          </p:cNvSpPr>
          <p:nvPr/>
        </p:nvSpPr>
        <p:spPr>
          <a:xfrm>
            <a:off x="5419725" y="2638425"/>
            <a:ext cx="1285875" cy="228600"/>
          </a:xfrm>
          <a:prstGeom prst="rect">
            <a:avLst/>
          </a:prstGeom>
          <a:noFill/>
          <a:ln w="0">
            <a:noFill/>
          </a:ln>
        </p:spPr>
        <p:txBody>
          <a:bodyPr wrap="square" lIns="0" tIns="0" rIns="0" bIns="0" anchor="t">
            <a:noAutofit/>
          </a:bodyPr>
          <a:lstStyle/>
          <a:p>
            <a:pPr algn="ctr">
              <a:buNone/>
              <a:defRPr sz="1350" b="1">
                <a:solidFill>
                  <a:srgbClr val="17375D"/>
                </a:solidFill>
                <a:latin typeface="Calibri"/>
                <a:ea typeface="Calibri"/>
                <a:cs typeface="Calibri"/>
              </a:defRPr>
            </a:pPr>
            <a:r>
              <a:rPr sz="1350" b="1">
                <a:solidFill>
                  <a:srgbClr val="17375D"/>
                </a:solidFill>
                <a:latin typeface="Calibri"/>
                <a:ea typeface="Calibri"/>
                <a:cs typeface="Calibri"/>
              </a:rPr>
              <a:t>2024</a:t>
            </a:r>
          </a:p>
        </p:txBody>
      </p:sp>
      <p:pic>
        <p:nvPicPr>
          <p:cNvPr id="43" name="fuente_merra2_aod_3e1ea473.png" descr="Unidades y escala numérica originales de la serie."/>
          <p:cNvPicPr>
            <a:picLocks noChangeAspect="1"/>
          </p:cNvPicPr>
          <p:nvPr/>
        </p:nvPicPr>
        <p:blipFill>
          <a:blip r:embed="rId3"/>
          <a:srcRect t="78039" r="96015" b="5618"/>
          <a:stretch>
            <a:fillRect/>
          </a:stretch>
        </p:blipFill>
        <p:spPr>
          <a:xfrm>
            <a:off x="3443668" y="2886075"/>
            <a:ext cx="413956" cy="1249680"/>
          </a:xfrm>
          <a:prstGeom prst="rect">
            <a:avLst/>
          </a:prstGeom>
        </p:spPr>
      </p:pic>
      <p:pic>
        <p:nvPicPr>
          <p:cNvPr id="44" name="fuente_merra2_aod_3e1ea473.png" descr="Series originales de MERRA-2, 2020 y 2024."/>
          <p:cNvPicPr>
            <a:picLocks noChangeAspect="1"/>
          </p:cNvPicPr>
          <p:nvPr/>
        </p:nvPicPr>
        <p:blipFill>
          <a:blip r:embed="rId3"/>
          <a:srcRect l="67669" t="78039" r="6316" b="3371"/>
          <a:stretch>
            <a:fillRect/>
          </a:stretch>
        </p:blipFill>
        <p:spPr>
          <a:xfrm>
            <a:off x="3924300" y="2886075"/>
            <a:ext cx="2702433" cy="1421511"/>
          </a:xfrm>
          <a:prstGeom prst="rect">
            <a:avLst/>
          </a:prstGeom>
        </p:spPr>
      </p:pic>
      <p:pic>
        <p:nvPicPr>
          <p:cNvPr id="45" name="fuente_merra2_aod_3e1ea473.png" descr="Leyenda original de Chile y las cinco macrozonas."/>
          <p:cNvPicPr>
            <a:picLocks noChangeAspect="1"/>
          </p:cNvPicPr>
          <p:nvPr/>
        </p:nvPicPr>
        <p:blipFill>
          <a:blip r:embed="rId3"/>
          <a:srcRect l="28045" t="96527" r="38045" b="1124"/>
          <a:stretch>
            <a:fillRect/>
          </a:stretch>
        </p:blipFill>
        <p:spPr>
          <a:xfrm>
            <a:off x="3629025" y="4333875"/>
            <a:ext cx="4295775" cy="219075"/>
          </a:xfrm>
          <a:prstGeom prst="rect">
            <a:avLst/>
          </a:prstGeom>
        </p:spPr>
      </p:pic>
      <p:sp>
        <p:nvSpPr>
          <p:cNvPr id="21" name="Fuente y alcance">
            <a:extLst>
              <a:ext uri="{FF2B5EF4-FFF2-40B4-BE49-F238E27FC236}">
                <a16:creationId xmlns:a16="http://schemas.microsoft.com/office/drawing/2014/main" id="{0057A1E9-0108-49AB-A17F-460BB5A33978}"/>
              </a:ext>
            </a:extLst>
          </p:cNvPr>
          <p:cNvSpPr>
            <a:spLocks noGrp="1"/>
          </p:cNvSpPr>
          <p:nvPr/>
        </p:nvSpPr>
        <p:spPr>
          <a:xfrm>
            <a:off x="548640" y="4619625"/>
            <a:ext cx="8046720" cy="200025"/>
          </a:xfrm>
          <a:prstGeom prst="rect">
            <a:avLst/>
          </a:prstGeom>
          <a:noFill/>
          <a:ln w="0">
            <a:noFill/>
          </a:ln>
        </p:spPr>
        <p:txBody>
          <a:bodyPr wrap="square" lIns="0" tIns="0" rIns="0" bIns="0" anchor="ctr">
            <a:noAutofit/>
          </a:bodyPr>
          <a:lstStyle/>
          <a:p>
            <a:pPr algn="l">
              <a:buNone/>
              <a:defRPr sz="848">
                <a:solidFill>
                  <a:srgbClr val="526277"/>
                </a:solidFill>
                <a:latin typeface="Calibri"/>
                <a:ea typeface="Calibri"/>
                <a:cs typeface="Calibri"/>
              </a:defRPr>
            </a:pPr>
            <a:r>
              <a:rPr sz="848">
                <a:solidFill>
                  <a:srgbClr val="526277"/>
                </a:solidFill>
                <a:latin typeface="Calibri"/>
                <a:ea typeface="Calibri"/>
                <a:cs typeface="Calibri"/>
              </a:rPr>
              <a:t>HTML, figura 27. Recortes de 2020 y 2024. Series diarias por área, media móvil 7 días, UTC−4.</a:t>
            </a:r>
          </a:p>
        </p:txBody>
      </p:sp>
    </p:spTree>
    <p:extLst>
      <p:ext uri="{BB962C8B-B14F-4D97-AF65-F5344CB8AC3E}">
        <p14:creationId xmlns:p14="http://schemas.microsoft.com/office/powerpoint/2010/main" val="322757276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3" name="Cabecera azul UC">
            <a:extLst>
              <a:ext uri="{FF2B5EF4-FFF2-40B4-BE49-F238E27FC236}">
                <a16:creationId xmlns:a16="http://schemas.microsoft.com/office/drawing/2014/main" id="{3486DB9C-93DE-456A-BF48-2757BBD61ACE}"/>
              </a:ext>
            </a:extLst>
          </p:cNvPr>
          <p:cNvSpPr>
            <a:spLocks noGrp="1"/>
          </p:cNvSpPr>
          <p:nvPr/>
        </p:nvSpPr>
        <p:spPr>
          <a:xfrm>
            <a:off x="158742" y="0"/>
            <a:ext cx="8985258" cy="1007195"/>
          </a:xfrm>
          <a:prstGeom prst="rect">
            <a:avLst/>
          </a:prstGeom>
          <a:solidFill>
            <a:srgbClr val="017EDF"/>
          </a:solidFill>
          <a:ln>
            <a:noFill/>
          </a:ln>
        </p:spPr>
        <p:txBody>
          <a:bodyPr/>
          <a:lstStyle/>
          <a:p>
            <a:endParaRPr lang="es-CL"/>
          </a:p>
        </p:txBody>
      </p:sp>
      <p:sp>
        <p:nvSpPr>
          <p:cNvPr id="4" name="Rectángulo 9">
            <a:extLst>
              <a:ext uri="{FF2B5EF4-FFF2-40B4-BE49-F238E27FC236}">
                <a16:creationId xmlns:a16="http://schemas.microsoft.com/office/drawing/2014/main" id="{2DE33766-2918-41FC-A1B9-B4BF483C8974}"/>
              </a:ext>
            </a:extLst>
          </p:cNvPr>
          <p:cNvSpPr>
            <a:spLocks noGrp="1"/>
          </p:cNvSpPr>
          <p:nvPr/>
        </p:nvSpPr>
        <p:spPr>
          <a:xfrm>
            <a:off x="0" y="149945"/>
            <a:ext cx="158742" cy="857250"/>
          </a:xfrm>
          <a:prstGeom prst="rect">
            <a:avLst/>
          </a:prstGeom>
          <a:solidFill>
            <a:srgbClr val="FFE2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Rectángulo 7">
            <a:extLst>
              <a:ext uri="{FF2B5EF4-FFF2-40B4-BE49-F238E27FC236}">
                <a16:creationId xmlns:a16="http://schemas.microsoft.com/office/drawing/2014/main" id="{3BCD4458-45E8-4C73-A3B6-249CEEFBDB7B}"/>
              </a:ext>
            </a:extLst>
          </p:cNvPr>
          <p:cNvSpPr>
            <a:spLocks noGrp="1"/>
          </p:cNvSpPr>
          <p:nvPr/>
        </p:nvSpPr>
        <p:spPr>
          <a:xfrm flipV="1">
            <a:off x="169334" y="4871120"/>
            <a:ext cx="8815911" cy="177311"/>
          </a:xfrm>
          <a:prstGeom prst="rect">
            <a:avLst/>
          </a:prstGeom>
          <a:solidFill>
            <a:schemeClr val="bg1">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Rectángulo 10">
            <a:extLst>
              <a:ext uri="{FF2B5EF4-FFF2-40B4-BE49-F238E27FC236}">
                <a16:creationId xmlns:a16="http://schemas.microsoft.com/office/drawing/2014/main" id="{A18DC9E6-BD6D-4FE1-AEC0-9715BEE3912A}"/>
              </a:ext>
            </a:extLst>
          </p:cNvPr>
          <p:cNvSpPr>
            <a:spLocks noGrp="1"/>
          </p:cNvSpPr>
          <p:nvPr/>
        </p:nvSpPr>
        <p:spPr>
          <a:xfrm flipV="1">
            <a:off x="7200957" y="4871118"/>
            <a:ext cx="1119038" cy="177313"/>
          </a:xfrm>
          <a:prstGeom prst="rect">
            <a:avLst/>
          </a:prstGeom>
          <a:solidFill>
            <a:srgbClr val="3366CC"/>
          </a:solidFill>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ítulo 1">
            <a:extLst>
              <a:ext uri="{FF2B5EF4-FFF2-40B4-BE49-F238E27FC236}">
                <a16:creationId xmlns:a16="http://schemas.microsoft.com/office/drawing/2014/main" id="{438D0FA2-1899-4EDF-9FA4-D1742768DFC6}"/>
              </a:ext>
            </a:extLst>
          </p:cNvPr>
          <p:cNvSpPr>
            <a:spLocks noGrp="1"/>
          </p:cNvSpPr>
          <p:nvPr>
            <p:ph type="title"/>
          </p:nvPr>
        </p:nvSpPr>
        <p:spPr>
          <a:xfrm>
            <a:off x="457200" y="149945"/>
            <a:ext cx="8229600" cy="857250"/>
          </a:xfrm>
        </p:spPr>
        <p:txBody>
          <a:bodyPr wrap="square" anchor="ctr">
            <a:noAutofit/>
          </a:bodyPr>
          <a:lstStyle/>
          <a:p>
            <a:pPr algn="l">
              <a:spcBef>
                <a:spcPts val="0"/>
              </a:spcBef>
              <a:spcAft>
                <a:spcPts val="0"/>
              </a:spcAft>
              <a:defRPr sz="1900" b="1">
                <a:solidFill>
                  <a:srgbClr val="FFFFFF"/>
                </a:solidFill>
                <a:latin typeface="Calibri"/>
                <a:ea typeface="Calibri"/>
                <a:cs typeface="Calibri"/>
              </a:defRPr>
            </a:pPr>
            <a:r>
              <a:rPr sz="1900" b="1">
                <a:solidFill>
                  <a:srgbClr val="FFFFFF"/>
                </a:solidFill>
                <a:latin typeface="Calibri"/>
                <a:ea typeface="Calibri"/>
                <a:cs typeface="Calibri"/>
              </a:rPr>
              <a:t>Anexo: ERA5, capa límite</a:t>
            </a:r>
          </a:p>
        </p:txBody>
      </p:sp>
      <p:sp>
        <p:nvSpPr>
          <p:cNvPr id="8" name="Mapa 2020">
            <a:extLst>
              <a:ext uri="{FF2B5EF4-FFF2-40B4-BE49-F238E27FC236}">
                <a16:creationId xmlns:a16="http://schemas.microsoft.com/office/drawing/2014/main" id="{71E882F2-A05F-454A-B292-2E4111CF1CD9}"/>
              </a:ext>
            </a:extLst>
          </p:cNvPr>
          <p:cNvSpPr>
            <a:spLocks noGrp="1"/>
          </p:cNvSpPr>
          <p:nvPr/>
        </p:nvSpPr>
        <p:spPr>
          <a:xfrm>
            <a:off x="800100" y="1133475"/>
            <a:ext cx="742950" cy="266700"/>
          </a:xfrm>
          <a:prstGeom prst="rect">
            <a:avLst/>
          </a:prstGeom>
          <a:noFill/>
          <a:ln w="0">
            <a:noFill/>
          </a:ln>
        </p:spPr>
        <p:txBody>
          <a:bodyPr wrap="square" lIns="0" tIns="0" rIns="0" bIns="0" anchor="t">
            <a:noAutofit/>
          </a:bodyPr>
          <a:lstStyle/>
          <a:p>
            <a:pPr algn="ctr">
              <a:buNone/>
              <a:defRPr sz="1425" b="1">
                <a:solidFill>
                  <a:srgbClr val="17375D"/>
                </a:solidFill>
                <a:latin typeface="Calibri"/>
                <a:ea typeface="Calibri"/>
                <a:cs typeface="Calibri"/>
              </a:defRPr>
            </a:pPr>
            <a:r>
              <a:rPr sz="1425" b="1">
                <a:solidFill>
                  <a:srgbClr val="17375D"/>
                </a:solidFill>
                <a:latin typeface="Calibri"/>
                <a:ea typeface="Calibri"/>
                <a:cs typeface="Calibri"/>
              </a:rPr>
              <a:t>2020</a:t>
            </a:r>
          </a:p>
        </p:txBody>
      </p:sp>
      <p:sp>
        <p:nvSpPr>
          <p:cNvPr id="9" name="Mapa 2024">
            <a:extLst>
              <a:ext uri="{FF2B5EF4-FFF2-40B4-BE49-F238E27FC236}">
                <a16:creationId xmlns:a16="http://schemas.microsoft.com/office/drawing/2014/main" id="{2EBAA3BC-1029-4B36-94B0-8ADC921EF27A}"/>
              </a:ext>
            </a:extLst>
          </p:cNvPr>
          <p:cNvSpPr>
            <a:spLocks noGrp="1"/>
          </p:cNvSpPr>
          <p:nvPr/>
        </p:nvSpPr>
        <p:spPr>
          <a:xfrm>
            <a:off x="1581150" y="1133475"/>
            <a:ext cx="742950" cy="266700"/>
          </a:xfrm>
          <a:prstGeom prst="rect">
            <a:avLst/>
          </a:prstGeom>
          <a:noFill/>
          <a:ln w="0">
            <a:noFill/>
          </a:ln>
        </p:spPr>
        <p:txBody>
          <a:bodyPr wrap="square" lIns="0" tIns="0" rIns="0" bIns="0" anchor="t">
            <a:noAutofit/>
          </a:bodyPr>
          <a:lstStyle/>
          <a:p>
            <a:pPr algn="ctr">
              <a:buNone/>
              <a:defRPr sz="1425" b="1">
                <a:solidFill>
                  <a:srgbClr val="17375D"/>
                </a:solidFill>
                <a:latin typeface="Calibri"/>
                <a:ea typeface="Calibri"/>
                <a:cs typeface="Calibri"/>
              </a:defRPr>
            </a:pPr>
            <a:r>
              <a:rPr sz="1425" b="1">
                <a:solidFill>
                  <a:srgbClr val="17375D"/>
                </a:solidFill>
                <a:latin typeface="Calibri"/>
                <a:ea typeface="Calibri"/>
                <a:cs typeface="Calibri"/>
              </a:rPr>
              <a:t>2024</a:t>
            </a:r>
          </a:p>
        </p:txBody>
      </p:sp>
      <p:pic>
        <p:nvPicPr>
          <p:cNvPr id="35" name="fuente_era5blh_blh_99969ab0.png" descr="Mapas originales ERA5, capa límite, años 2020 y 2024, medias anuales."/>
          <p:cNvPicPr>
            <a:picLocks noChangeAspect="1"/>
          </p:cNvPicPr>
          <p:nvPr/>
        </p:nvPicPr>
        <p:blipFill>
          <a:blip r:embed="rId3"/>
          <a:srcRect l="67669" t="5107" r="6316" b="22574"/>
          <a:stretch>
            <a:fillRect/>
          </a:stretch>
        </p:blipFill>
        <p:spPr>
          <a:xfrm>
            <a:off x="826845" y="1438275"/>
            <a:ext cx="1489559" cy="3048000"/>
          </a:xfrm>
          <a:prstGeom prst="rect">
            <a:avLst/>
          </a:prstGeom>
        </p:spPr>
      </p:pic>
      <p:pic>
        <p:nvPicPr>
          <p:cNvPr id="36" name="fuente_era5blh_blh_99969ab0.png" descr="Eje de latitud compartido original."/>
          <p:cNvPicPr>
            <a:picLocks noChangeAspect="1"/>
          </p:cNvPicPr>
          <p:nvPr/>
        </p:nvPicPr>
        <p:blipFill>
          <a:blip r:embed="rId3"/>
          <a:srcRect t="5107" r="94962" b="24413"/>
          <a:stretch>
            <a:fillRect/>
          </a:stretch>
        </p:blipFill>
        <p:spPr>
          <a:xfrm>
            <a:off x="454384" y="1438275"/>
            <a:ext cx="288566" cy="2971800"/>
          </a:xfrm>
          <a:prstGeom prst="rect">
            <a:avLst/>
          </a:prstGeom>
        </p:spPr>
      </p:pic>
      <p:pic>
        <p:nvPicPr>
          <p:cNvPr id="37" name="fuente_era5blh_blh_99969ab0.png" descr="Escala original completa de ERA5, capa límite en m."/>
          <p:cNvPicPr>
            <a:picLocks noChangeAspect="1"/>
          </p:cNvPicPr>
          <p:nvPr/>
        </p:nvPicPr>
        <p:blipFill>
          <a:blip r:embed="rId3"/>
          <a:srcRect l="93083" t="17365" b="40960"/>
          <a:stretch>
            <a:fillRect/>
          </a:stretch>
        </p:blipFill>
        <p:spPr>
          <a:xfrm>
            <a:off x="2596123" y="1666875"/>
            <a:ext cx="579904" cy="2571750"/>
          </a:xfrm>
          <a:prstGeom prst="rect">
            <a:avLst/>
          </a:prstGeom>
        </p:spPr>
      </p:pic>
      <p:sp>
        <p:nvSpPr>
          <p:cNvPr id="13" name="Tipo">
            <a:extLst>
              <a:ext uri="{FF2B5EF4-FFF2-40B4-BE49-F238E27FC236}">
                <a16:creationId xmlns:a16="http://schemas.microsoft.com/office/drawing/2014/main" id="{7DA83B4C-E720-4506-A424-D49DA8754848}"/>
              </a:ext>
            </a:extLst>
          </p:cNvPr>
          <p:cNvSpPr>
            <a:spLocks noGrp="1"/>
          </p:cNvSpPr>
          <p:nvPr/>
        </p:nvSpPr>
        <p:spPr>
          <a:xfrm>
            <a:off x="3543300" y="1190625"/>
            <a:ext cx="5029200" cy="247650"/>
          </a:xfrm>
          <a:prstGeom prst="rect">
            <a:avLst/>
          </a:prstGeom>
          <a:noFill/>
          <a:ln w="0">
            <a:noFill/>
          </a:ln>
        </p:spPr>
        <p:txBody>
          <a:bodyPr wrap="square" lIns="0" tIns="0" rIns="0" bIns="0" anchor="t">
            <a:noAutofit/>
          </a:bodyPr>
          <a:lstStyle/>
          <a:p>
            <a:pPr algn="l">
              <a:buNone/>
              <a:defRPr sz="1275" b="1">
                <a:solidFill>
                  <a:srgbClr val="017EDF"/>
                </a:solidFill>
                <a:latin typeface="Calibri"/>
                <a:ea typeface="Calibri"/>
                <a:cs typeface="Calibri"/>
              </a:defRPr>
            </a:pPr>
            <a:r>
              <a:rPr sz="1275" b="1">
                <a:solidFill>
                  <a:srgbClr val="017EDF"/>
                </a:solidFill>
                <a:latin typeface="Calibri"/>
                <a:ea typeface="Calibri"/>
                <a:cs typeface="Calibri"/>
              </a:rPr>
              <a:t>Reanálisis meteorológico</a:t>
            </a:r>
          </a:p>
        </p:txBody>
      </p:sp>
      <p:sp>
        <p:nvSpPr>
          <p:cNvPr id="14" name="Variable">
            <a:extLst>
              <a:ext uri="{FF2B5EF4-FFF2-40B4-BE49-F238E27FC236}">
                <a16:creationId xmlns:a16="http://schemas.microsoft.com/office/drawing/2014/main" id="{1ABF82BF-D83D-4C22-A1E7-13BAB188F6A3}"/>
              </a:ext>
            </a:extLst>
          </p:cNvPr>
          <p:cNvSpPr>
            <a:spLocks noGrp="1"/>
          </p:cNvSpPr>
          <p:nvPr/>
        </p:nvSpPr>
        <p:spPr>
          <a:xfrm>
            <a:off x="3543300" y="1504950"/>
            <a:ext cx="5029200" cy="542925"/>
          </a:xfrm>
          <a:prstGeom prst="rect">
            <a:avLst/>
          </a:prstGeom>
          <a:noFill/>
          <a:ln w="0">
            <a:noFill/>
          </a:ln>
        </p:spPr>
        <p:txBody>
          <a:bodyPr wrap="square" lIns="0" tIns="0" rIns="0" bIns="0" anchor="t">
            <a:noAutofit/>
          </a:bodyPr>
          <a:lstStyle/>
          <a:p>
            <a:pPr algn="l">
              <a:buNone/>
              <a:defRPr sz="1650" b="1">
                <a:solidFill>
                  <a:srgbClr val="17375D"/>
                </a:solidFill>
                <a:latin typeface="Calibri"/>
                <a:ea typeface="Calibri"/>
                <a:cs typeface="Calibri"/>
              </a:defRPr>
            </a:pPr>
            <a:r>
              <a:rPr sz="1650" b="1">
                <a:solidFill>
                  <a:srgbClr val="17375D"/>
                </a:solidFill>
                <a:latin typeface="Calibri"/>
                <a:ea typeface="Calibri"/>
                <a:cs typeface="Calibri"/>
              </a:rPr>
              <a:t>Altura de la capa límite (m)</a:t>
            </a:r>
          </a:p>
          <a:p>
            <a:pPr algn="l">
              <a:buNone/>
              <a:defRPr sz="1650" b="1">
                <a:solidFill>
                  <a:srgbClr val="17375D"/>
                </a:solidFill>
                <a:latin typeface="Calibri"/>
                <a:ea typeface="Calibri"/>
                <a:cs typeface="Calibri"/>
              </a:defRPr>
            </a:pPr>
            <a:r>
              <a:rPr sz="1650" b="1">
                <a:solidFill>
                  <a:srgbClr val="17375D"/>
                </a:solidFill>
                <a:latin typeface="Calibri"/>
                <a:ea typeface="Calibri"/>
                <a:cs typeface="Calibri"/>
              </a:rPr>
              <a:t>0,25°, frecuencia horaria</a:t>
            </a:r>
          </a:p>
        </p:txBody>
      </p:sp>
      <p:sp>
        <p:nvSpPr>
          <p:cNvPr id="15" name="Lectura">
            <a:extLst>
              <a:ext uri="{FF2B5EF4-FFF2-40B4-BE49-F238E27FC236}">
                <a16:creationId xmlns:a16="http://schemas.microsoft.com/office/drawing/2014/main" id="{2C70DBFE-8C97-4330-8223-AB3C469042E6}"/>
              </a:ext>
            </a:extLst>
          </p:cNvPr>
          <p:cNvSpPr>
            <a:spLocks noGrp="1"/>
          </p:cNvSpPr>
          <p:nvPr/>
        </p:nvSpPr>
        <p:spPr>
          <a:xfrm>
            <a:off x="3543300" y="2057400"/>
            <a:ext cx="5029200" cy="523875"/>
          </a:xfrm>
          <a:prstGeom prst="rect">
            <a:avLst/>
          </a:prstGeom>
          <a:noFill/>
          <a:ln w="0">
            <a:noFill/>
          </a:ln>
        </p:spPr>
        <p:txBody>
          <a:bodyPr wrap="square" lIns="0" tIns="0" rIns="0" bIns="0" anchor="t">
            <a:noAutofit/>
          </a:bodyPr>
          <a:lstStyle/>
          <a:p>
            <a:pPr algn="l">
              <a:buNone/>
              <a:defRPr sz="1350">
                <a:solidFill>
                  <a:srgbClr val="1E293B"/>
                </a:solidFill>
                <a:latin typeface="Calibri"/>
                <a:ea typeface="Calibri"/>
                <a:cs typeface="Calibri"/>
              </a:defRPr>
            </a:pPr>
            <a:r>
              <a:rPr sz="1350">
                <a:solidFill>
                  <a:srgbClr val="1E293B"/>
                </a:solidFill>
                <a:latin typeface="Calibri"/>
                <a:ea typeface="Calibri"/>
                <a:cs typeface="Calibri"/>
              </a:rPr>
              <a:t>Caracteriza la profundidad de mezcla de la atmósfera como predictor de dispersión.</a:t>
            </a:r>
          </a:p>
        </p:txBody>
      </p:sp>
      <p:sp>
        <p:nvSpPr>
          <p:cNvPr id="16" name="Serie 2020">
            <a:extLst>
              <a:ext uri="{FF2B5EF4-FFF2-40B4-BE49-F238E27FC236}">
                <a16:creationId xmlns:a16="http://schemas.microsoft.com/office/drawing/2014/main" id="{7921284E-598C-477D-BF64-AAAF1C08EA5C}"/>
              </a:ext>
            </a:extLst>
          </p:cNvPr>
          <p:cNvSpPr>
            <a:spLocks noGrp="1"/>
          </p:cNvSpPr>
          <p:nvPr/>
        </p:nvSpPr>
        <p:spPr>
          <a:xfrm>
            <a:off x="4029075" y="2638425"/>
            <a:ext cx="1285875" cy="228600"/>
          </a:xfrm>
          <a:prstGeom prst="rect">
            <a:avLst/>
          </a:prstGeom>
          <a:noFill/>
          <a:ln w="0">
            <a:noFill/>
          </a:ln>
        </p:spPr>
        <p:txBody>
          <a:bodyPr wrap="square" lIns="0" tIns="0" rIns="0" bIns="0" anchor="t">
            <a:noAutofit/>
          </a:bodyPr>
          <a:lstStyle/>
          <a:p>
            <a:pPr algn="ctr">
              <a:buNone/>
              <a:defRPr sz="1350" b="1">
                <a:solidFill>
                  <a:srgbClr val="17375D"/>
                </a:solidFill>
                <a:latin typeface="Calibri"/>
                <a:ea typeface="Calibri"/>
                <a:cs typeface="Calibri"/>
              </a:defRPr>
            </a:pPr>
            <a:r>
              <a:rPr sz="1350" b="1">
                <a:solidFill>
                  <a:srgbClr val="17375D"/>
                </a:solidFill>
                <a:latin typeface="Calibri"/>
                <a:ea typeface="Calibri"/>
                <a:cs typeface="Calibri"/>
              </a:rPr>
              <a:t>2020</a:t>
            </a:r>
          </a:p>
        </p:txBody>
      </p:sp>
      <p:sp>
        <p:nvSpPr>
          <p:cNvPr id="17" name="Serie 2024">
            <a:extLst>
              <a:ext uri="{FF2B5EF4-FFF2-40B4-BE49-F238E27FC236}">
                <a16:creationId xmlns:a16="http://schemas.microsoft.com/office/drawing/2014/main" id="{059F2769-8EB7-4A93-B304-B333746CFCA1}"/>
              </a:ext>
            </a:extLst>
          </p:cNvPr>
          <p:cNvSpPr>
            <a:spLocks noGrp="1"/>
          </p:cNvSpPr>
          <p:nvPr/>
        </p:nvSpPr>
        <p:spPr>
          <a:xfrm>
            <a:off x="5419725" y="2638425"/>
            <a:ext cx="1285875" cy="228600"/>
          </a:xfrm>
          <a:prstGeom prst="rect">
            <a:avLst/>
          </a:prstGeom>
          <a:noFill/>
          <a:ln w="0">
            <a:noFill/>
          </a:ln>
        </p:spPr>
        <p:txBody>
          <a:bodyPr wrap="square" lIns="0" tIns="0" rIns="0" bIns="0" anchor="t">
            <a:noAutofit/>
          </a:bodyPr>
          <a:lstStyle/>
          <a:p>
            <a:pPr algn="ctr">
              <a:buNone/>
              <a:defRPr sz="1350" b="1">
                <a:solidFill>
                  <a:srgbClr val="17375D"/>
                </a:solidFill>
                <a:latin typeface="Calibri"/>
                <a:ea typeface="Calibri"/>
                <a:cs typeface="Calibri"/>
              </a:defRPr>
            </a:pPr>
            <a:r>
              <a:rPr sz="1350" b="1">
                <a:solidFill>
                  <a:srgbClr val="17375D"/>
                </a:solidFill>
                <a:latin typeface="Calibri"/>
                <a:ea typeface="Calibri"/>
                <a:cs typeface="Calibri"/>
              </a:rPr>
              <a:t>2024</a:t>
            </a:r>
          </a:p>
        </p:txBody>
      </p:sp>
      <p:pic>
        <p:nvPicPr>
          <p:cNvPr id="43" name="fuente_era5blh_blh_99969ab0.png" descr="Unidades y escala numérica originales de la serie."/>
          <p:cNvPicPr>
            <a:picLocks noChangeAspect="1"/>
          </p:cNvPicPr>
          <p:nvPr/>
        </p:nvPicPr>
        <p:blipFill>
          <a:blip r:embed="rId3"/>
          <a:srcRect t="78039" r="95865" b="5618"/>
          <a:stretch>
            <a:fillRect/>
          </a:stretch>
        </p:blipFill>
        <p:spPr>
          <a:xfrm>
            <a:off x="3428048" y="2886075"/>
            <a:ext cx="429577" cy="1249680"/>
          </a:xfrm>
          <a:prstGeom prst="rect">
            <a:avLst/>
          </a:prstGeom>
        </p:spPr>
      </p:pic>
      <p:pic>
        <p:nvPicPr>
          <p:cNvPr id="44" name="fuente_era5blh_blh_99969ab0.png" descr="Series originales de ERA5, capa límite, 2020 y 2024."/>
          <p:cNvPicPr>
            <a:picLocks noChangeAspect="1"/>
          </p:cNvPicPr>
          <p:nvPr/>
        </p:nvPicPr>
        <p:blipFill>
          <a:blip r:embed="rId3"/>
          <a:srcRect l="67669" t="78039" r="6316" b="3371"/>
          <a:stretch>
            <a:fillRect/>
          </a:stretch>
        </p:blipFill>
        <p:spPr>
          <a:xfrm>
            <a:off x="3924300" y="2886075"/>
            <a:ext cx="2702433" cy="1421511"/>
          </a:xfrm>
          <a:prstGeom prst="rect">
            <a:avLst/>
          </a:prstGeom>
        </p:spPr>
      </p:pic>
      <p:pic>
        <p:nvPicPr>
          <p:cNvPr id="45" name="fuente_era5blh_blh_99969ab0.png" descr="Leyenda original de Chile y las cinco macrozonas."/>
          <p:cNvPicPr>
            <a:picLocks noChangeAspect="1"/>
          </p:cNvPicPr>
          <p:nvPr/>
        </p:nvPicPr>
        <p:blipFill>
          <a:blip r:embed="rId3"/>
          <a:srcRect l="28045" t="96527" r="38045" b="1124"/>
          <a:stretch>
            <a:fillRect/>
          </a:stretch>
        </p:blipFill>
        <p:spPr>
          <a:xfrm>
            <a:off x="3629025" y="4333875"/>
            <a:ext cx="4295775" cy="219075"/>
          </a:xfrm>
          <a:prstGeom prst="rect">
            <a:avLst/>
          </a:prstGeom>
        </p:spPr>
      </p:pic>
      <p:sp>
        <p:nvSpPr>
          <p:cNvPr id="21" name="Fuente y alcance">
            <a:extLst>
              <a:ext uri="{FF2B5EF4-FFF2-40B4-BE49-F238E27FC236}">
                <a16:creationId xmlns:a16="http://schemas.microsoft.com/office/drawing/2014/main" id="{2A61198D-1A03-476C-8FFF-FE51D89098A0}"/>
              </a:ext>
            </a:extLst>
          </p:cNvPr>
          <p:cNvSpPr>
            <a:spLocks noGrp="1"/>
          </p:cNvSpPr>
          <p:nvPr/>
        </p:nvSpPr>
        <p:spPr>
          <a:xfrm>
            <a:off x="548640" y="4619625"/>
            <a:ext cx="8046720" cy="200025"/>
          </a:xfrm>
          <a:prstGeom prst="rect">
            <a:avLst/>
          </a:prstGeom>
          <a:noFill/>
          <a:ln w="0">
            <a:noFill/>
          </a:ln>
        </p:spPr>
        <p:txBody>
          <a:bodyPr wrap="square" lIns="0" tIns="0" rIns="0" bIns="0" anchor="ctr">
            <a:noAutofit/>
          </a:bodyPr>
          <a:lstStyle/>
          <a:p>
            <a:pPr algn="l">
              <a:buNone/>
              <a:defRPr sz="848">
                <a:solidFill>
                  <a:srgbClr val="526277"/>
                </a:solidFill>
                <a:latin typeface="Calibri"/>
                <a:ea typeface="Calibri"/>
                <a:cs typeface="Calibri"/>
              </a:defRPr>
            </a:pPr>
            <a:r>
              <a:rPr sz="848">
                <a:solidFill>
                  <a:srgbClr val="526277"/>
                </a:solidFill>
                <a:latin typeface="Calibri"/>
                <a:ea typeface="Calibri"/>
                <a:cs typeface="Calibri"/>
              </a:rPr>
              <a:t>HTML, figura 22. Recortes de 2020 y 2024. Series diarias por área, media móvil 7 días, UTC−4.</a:t>
            </a:r>
          </a:p>
        </p:txBody>
      </p:sp>
    </p:spTree>
    <p:extLst>
      <p:ext uri="{BB962C8B-B14F-4D97-AF65-F5344CB8AC3E}">
        <p14:creationId xmlns:p14="http://schemas.microsoft.com/office/powerpoint/2010/main" val="322757276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3" name="Cabecera azul UC">
            <a:extLst>
              <a:ext uri="{FF2B5EF4-FFF2-40B4-BE49-F238E27FC236}">
                <a16:creationId xmlns:a16="http://schemas.microsoft.com/office/drawing/2014/main" id="{3486DB9C-93DE-456A-BF48-2757BBD61ACE}"/>
              </a:ext>
            </a:extLst>
          </p:cNvPr>
          <p:cNvSpPr>
            <a:spLocks noGrp="1"/>
          </p:cNvSpPr>
          <p:nvPr/>
        </p:nvSpPr>
        <p:spPr>
          <a:xfrm>
            <a:off x="158742" y="0"/>
            <a:ext cx="8985258" cy="1007195"/>
          </a:xfrm>
          <a:prstGeom prst="rect">
            <a:avLst/>
          </a:prstGeom>
          <a:solidFill>
            <a:srgbClr val="017EDF"/>
          </a:solidFill>
          <a:ln>
            <a:noFill/>
          </a:ln>
        </p:spPr>
        <p:txBody>
          <a:bodyPr/>
          <a:lstStyle/>
          <a:p>
            <a:endParaRPr lang="es-CL"/>
          </a:p>
        </p:txBody>
      </p:sp>
      <p:sp>
        <p:nvSpPr>
          <p:cNvPr id="4" name="Rectángulo 9">
            <a:extLst>
              <a:ext uri="{FF2B5EF4-FFF2-40B4-BE49-F238E27FC236}">
                <a16:creationId xmlns:a16="http://schemas.microsoft.com/office/drawing/2014/main" id="{2DE33766-2918-41FC-A1B9-B4BF483C8974}"/>
              </a:ext>
            </a:extLst>
          </p:cNvPr>
          <p:cNvSpPr>
            <a:spLocks noGrp="1"/>
          </p:cNvSpPr>
          <p:nvPr/>
        </p:nvSpPr>
        <p:spPr>
          <a:xfrm>
            <a:off x="0" y="149945"/>
            <a:ext cx="158742" cy="857250"/>
          </a:xfrm>
          <a:prstGeom prst="rect">
            <a:avLst/>
          </a:prstGeom>
          <a:solidFill>
            <a:srgbClr val="FFE2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Rectángulo 7">
            <a:extLst>
              <a:ext uri="{FF2B5EF4-FFF2-40B4-BE49-F238E27FC236}">
                <a16:creationId xmlns:a16="http://schemas.microsoft.com/office/drawing/2014/main" id="{3BCD4458-45E8-4C73-A3B6-249CEEFBDB7B}"/>
              </a:ext>
            </a:extLst>
          </p:cNvPr>
          <p:cNvSpPr>
            <a:spLocks noGrp="1"/>
          </p:cNvSpPr>
          <p:nvPr/>
        </p:nvSpPr>
        <p:spPr>
          <a:xfrm flipV="1">
            <a:off x="169334" y="4871120"/>
            <a:ext cx="8815911" cy="177311"/>
          </a:xfrm>
          <a:prstGeom prst="rect">
            <a:avLst/>
          </a:prstGeom>
          <a:solidFill>
            <a:schemeClr val="bg1">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Rectángulo 10">
            <a:extLst>
              <a:ext uri="{FF2B5EF4-FFF2-40B4-BE49-F238E27FC236}">
                <a16:creationId xmlns:a16="http://schemas.microsoft.com/office/drawing/2014/main" id="{A18DC9E6-BD6D-4FE1-AEC0-9715BEE3912A}"/>
              </a:ext>
            </a:extLst>
          </p:cNvPr>
          <p:cNvSpPr>
            <a:spLocks noGrp="1"/>
          </p:cNvSpPr>
          <p:nvPr/>
        </p:nvSpPr>
        <p:spPr>
          <a:xfrm flipV="1">
            <a:off x="7200957" y="4871118"/>
            <a:ext cx="1119038" cy="177313"/>
          </a:xfrm>
          <a:prstGeom prst="rect">
            <a:avLst/>
          </a:prstGeom>
          <a:solidFill>
            <a:srgbClr val="3366CC"/>
          </a:solidFill>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ítulo 1">
            <a:extLst>
              <a:ext uri="{FF2B5EF4-FFF2-40B4-BE49-F238E27FC236}">
                <a16:creationId xmlns:a16="http://schemas.microsoft.com/office/drawing/2014/main" id="{438D0FA2-1899-4EDF-9FA4-D1742768DFC6}"/>
              </a:ext>
            </a:extLst>
          </p:cNvPr>
          <p:cNvSpPr>
            <a:spLocks noGrp="1"/>
          </p:cNvSpPr>
          <p:nvPr>
            <p:ph type="title"/>
          </p:nvPr>
        </p:nvSpPr>
        <p:spPr>
          <a:xfrm>
            <a:off x="457200" y="149945"/>
            <a:ext cx="8229600" cy="857250"/>
          </a:xfrm>
        </p:spPr>
        <p:txBody>
          <a:bodyPr wrap="square" anchor="ctr">
            <a:noAutofit/>
          </a:bodyPr>
          <a:lstStyle/>
          <a:p>
            <a:pPr algn="l">
              <a:spcBef>
                <a:spcPts val="0"/>
              </a:spcBef>
              <a:spcAft>
                <a:spcPts val="0"/>
              </a:spcAft>
              <a:defRPr sz="1900" b="1">
                <a:solidFill>
                  <a:srgbClr val="FFFFFF"/>
                </a:solidFill>
                <a:latin typeface="Calibri"/>
                <a:ea typeface="Calibri"/>
                <a:cs typeface="Calibri"/>
              </a:defRPr>
            </a:pPr>
            <a:r>
              <a:rPr sz="1900" b="1">
                <a:solidFill>
                  <a:srgbClr val="FFFFFF"/>
                </a:solidFill>
                <a:latin typeface="Calibri"/>
                <a:ea typeface="Calibri"/>
                <a:cs typeface="Calibri"/>
              </a:rPr>
              <a:t>Anexo: CAMS EAC4</a:t>
            </a:r>
          </a:p>
        </p:txBody>
      </p:sp>
      <p:sp>
        <p:nvSpPr>
          <p:cNvPr id="8" name="Mapa 2020">
            <a:extLst>
              <a:ext uri="{FF2B5EF4-FFF2-40B4-BE49-F238E27FC236}">
                <a16:creationId xmlns:a16="http://schemas.microsoft.com/office/drawing/2014/main" id="{61E774D1-221F-419A-AD1A-A2475F4DA040}"/>
              </a:ext>
            </a:extLst>
          </p:cNvPr>
          <p:cNvSpPr>
            <a:spLocks noGrp="1"/>
          </p:cNvSpPr>
          <p:nvPr/>
        </p:nvSpPr>
        <p:spPr>
          <a:xfrm>
            <a:off x="800100" y="1133475"/>
            <a:ext cx="742950" cy="266700"/>
          </a:xfrm>
          <a:prstGeom prst="rect">
            <a:avLst/>
          </a:prstGeom>
          <a:noFill/>
          <a:ln w="0">
            <a:noFill/>
          </a:ln>
        </p:spPr>
        <p:txBody>
          <a:bodyPr wrap="square" lIns="0" tIns="0" rIns="0" bIns="0" anchor="t">
            <a:noAutofit/>
          </a:bodyPr>
          <a:lstStyle/>
          <a:p>
            <a:pPr algn="ctr">
              <a:buNone/>
              <a:defRPr sz="1425" b="1">
                <a:solidFill>
                  <a:srgbClr val="17375D"/>
                </a:solidFill>
                <a:latin typeface="Calibri"/>
                <a:ea typeface="Calibri"/>
                <a:cs typeface="Calibri"/>
              </a:defRPr>
            </a:pPr>
            <a:r>
              <a:rPr sz="1425" b="1">
                <a:solidFill>
                  <a:srgbClr val="17375D"/>
                </a:solidFill>
                <a:latin typeface="Calibri"/>
                <a:ea typeface="Calibri"/>
                <a:cs typeface="Calibri"/>
              </a:rPr>
              <a:t>2020</a:t>
            </a:r>
          </a:p>
        </p:txBody>
      </p:sp>
      <p:sp>
        <p:nvSpPr>
          <p:cNvPr id="9" name="Mapa 2024">
            <a:extLst>
              <a:ext uri="{FF2B5EF4-FFF2-40B4-BE49-F238E27FC236}">
                <a16:creationId xmlns:a16="http://schemas.microsoft.com/office/drawing/2014/main" id="{5B6F6DEB-3774-4BBD-A96E-B29015A421FC}"/>
              </a:ext>
            </a:extLst>
          </p:cNvPr>
          <p:cNvSpPr>
            <a:spLocks noGrp="1"/>
          </p:cNvSpPr>
          <p:nvPr/>
        </p:nvSpPr>
        <p:spPr>
          <a:xfrm>
            <a:off x="1581150" y="1133475"/>
            <a:ext cx="742950" cy="266700"/>
          </a:xfrm>
          <a:prstGeom prst="rect">
            <a:avLst/>
          </a:prstGeom>
          <a:noFill/>
          <a:ln w="0">
            <a:noFill/>
          </a:ln>
        </p:spPr>
        <p:txBody>
          <a:bodyPr wrap="square" lIns="0" tIns="0" rIns="0" bIns="0" anchor="t">
            <a:noAutofit/>
          </a:bodyPr>
          <a:lstStyle/>
          <a:p>
            <a:pPr algn="ctr">
              <a:buNone/>
              <a:defRPr sz="1425" b="1">
                <a:solidFill>
                  <a:srgbClr val="17375D"/>
                </a:solidFill>
                <a:latin typeface="Calibri"/>
                <a:ea typeface="Calibri"/>
                <a:cs typeface="Calibri"/>
              </a:defRPr>
            </a:pPr>
            <a:r>
              <a:rPr sz="1425" b="1">
                <a:solidFill>
                  <a:srgbClr val="17375D"/>
                </a:solidFill>
                <a:latin typeface="Calibri"/>
                <a:ea typeface="Calibri"/>
                <a:cs typeface="Calibri"/>
              </a:rPr>
              <a:t>2024</a:t>
            </a:r>
          </a:p>
        </p:txBody>
      </p:sp>
      <p:pic>
        <p:nvPicPr>
          <p:cNvPr id="35" name="fuente_cams_pm25_c3f419e1.png" descr="Mapas originales CAMS EAC4, años 2020 y 2024, medias anuales."/>
          <p:cNvPicPr>
            <a:picLocks noChangeAspect="1"/>
          </p:cNvPicPr>
          <p:nvPr/>
        </p:nvPicPr>
        <p:blipFill>
          <a:blip r:embed="rId3"/>
          <a:srcRect l="67618" t="5107" r="6386" b="22574"/>
          <a:stretch>
            <a:fillRect/>
          </a:stretch>
        </p:blipFill>
        <p:spPr>
          <a:xfrm>
            <a:off x="826845" y="1438275"/>
            <a:ext cx="1489559" cy="3048000"/>
          </a:xfrm>
          <a:prstGeom prst="rect">
            <a:avLst/>
          </a:prstGeom>
        </p:spPr>
      </p:pic>
      <p:pic>
        <p:nvPicPr>
          <p:cNvPr id="36" name="fuente_cams_pm25_c3f419e1.png" descr="Eje de latitud compartido original."/>
          <p:cNvPicPr>
            <a:picLocks noChangeAspect="1"/>
          </p:cNvPicPr>
          <p:nvPr/>
        </p:nvPicPr>
        <p:blipFill>
          <a:blip r:embed="rId3"/>
          <a:srcRect t="5107" r="95868" b="24413"/>
          <a:stretch>
            <a:fillRect/>
          </a:stretch>
        </p:blipFill>
        <p:spPr>
          <a:xfrm>
            <a:off x="506067" y="1438275"/>
            <a:ext cx="236883" cy="2971800"/>
          </a:xfrm>
          <a:prstGeom prst="rect">
            <a:avLst/>
          </a:prstGeom>
        </p:spPr>
      </p:pic>
      <p:pic>
        <p:nvPicPr>
          <p:cNvPr id="37" name="fuente_cams_pm25_c3f419e1.png" descr="Escala original completa de CAMS EAC4 en µg/m³."/>
          <p:cNvPicPr>
            <a:picLocks noChangeAspect="1"/>
          </p:cNvPicPr>
          <p:nvPr/>
        </p:nvPicPr>
        <p:blipFill>
          <a:blip r:embed="rId3"/>
          <a:srcRect l="93013" t="17365" b="40960"/>
          <a:stretch>
            <a:fillRect/>
          </a:stretch>
        </p:blipFill>
        <p:spPr>
          <a:xfrm>
            <a:off x="2592971" y="1666875"/>
            <a:ext cx="586208" cy="2571750"/>
          </a:xfrm>
          <a:prstGeom prst="rect">
            <a:avLst/>
          </a:prstGeom>
        </p:spPr>
      </p:pic>
      <p:sp>
        <p:nvSpPr>
          <p:cNvPr id="13" name="Tipo">
            <a:extLst>
              <a:ext uri="{FF2B5EF4-FFF2-40B4-BE49-F238E27FC236}">
                <a16:creationId xmlns:a16="http://schemas.microsoft.com/office/drawing/2014/main" id="{B2111397-8CA8-4F73-99DC-8CDC32E549EA}"/>
              </a:ext>
            </a:extLst>
          </p:cNvPr>
          <p:cNvSpPr>
            <a:spLocks noGrp="1"/>
          </p:cNvSpPr>
          <p:nvPr/>
        </p:nvSpPr>
        <p:spPr>
          <a:xfrm>
            <a:off x="3543300" y="1190625"/>
            <a:ext cx="5029200" cy="247650"/>
          </a:xfrm>
          <a:prstGeom prst="rect">
            <a:avLst/>
          </a:prstGeom>
          <a:noFill/>
          <a:ln w="0">
            <a:noFill/>
          </a:ln>
        </p:spPr>
        <p:txBody>
          <a:bodyPr wrap="square" lIns="0" tIns="0" rIns="0" bIns="0" anchor="t">
            <a:noAutofit/>
          </a:bodyPr>
          <a:lstStyle/>
          <a:p>
            <a:pPr algn="l">
              <a:buNone/>
              <a:defRPr sz="1275" b="1">
                <a:solidFill>
                  <a:srgbClr val="017EDF"/>
                </a:solidFill>
                <a:latin typeface="Calibri"/>
                <a:ea typeface="Calibri"/>
                <a:cs typeface="Calibri"/>
              </a:defRPr>
            </a:pPr>
            <a:r>
              <a:rPr sz="1275" b="1">
                <a:solidFill>
                  <a:srgbClr val="017EDF"/>
                </a:solidFill>
                <a:latin typeface="Calibri"/>
                <a:ea typeface="Calibri"/>
                <a:cs typeface="Calibri"/>
              </a:rPr>
              <a:t>Reanálisis de composición atmosférica</a:t>
            </a:r>
          </a:p>
        </p:txBody>
      </p:sp>
      <p:sp>
        <p:nvSpPr>
          <p:cNvPr id="14" name="Variable">
            <a:extLst>
              <a:ext uri="{FF2B5EF4-FFF2-40B4-BE49-F238E27FC236}">
                <a16:creationId xmlns:a16="http://schemas.microsoft.com/office/drawing/2014/main" id="{EFEB1663-B20C-4D25-93FA-0B7C5291A49D}"/>
              </a:ext>
            </a:extLst>
          </p:cNvPr>
          <p:cNvSpPr>
            <a:spLocks noGrp="1"/>
          </p:cNvSpPr>
          <p:nvPr/>
        </p:nvSpPr>
        <p:spPr>
          <a:xfrm>
            <a:off x="3543300" y="1504950"/>
            <a:ext cx="5029200" cy="542925"/>
          </a:xfrm>
          <a:prstGeom prst="rect">
            <a:avLst/>
          </a:prstGeom>
          <a:noFill/>
          <a:ln w="0">
            <a:noFill/>
          </a:ln>
        </p:spPr>
        <p:txBody>
          <a:bodyPr wrap="square" lIns="0" tIns="0" rIns="0" bIns="0" anchor="t">
            <a:noAutofit/>
          </a:bodyPr>
          <a:lstStyle/>
          <a:p>
            <a:pPr algn="l">
              <a:buNone/>
              <a:defRPr sz="1650" b="1">
                <a:solidFill>
                  <a:srgbClr val="17375D"/>
                </a:solidFill>
                <a:latin typeface="Calibri"/>
                <a:ea typeface="Calibri"/>
                <a:cs typeface="Calibri"/>
              </a:defRPr>
            </a:pPr>
            <a:r>
              <a:rPr sz="1650" b="1">
                <a:solidFill>
                  <a:srgbClr val="17375D"/>
                </a:solidFill>
                <a:latin typeface="Calibri"/>
                <a:ea typeface="Calibri"/>
                <a:cs typeface="Calibri"/>
              </a:rPr>
              <a:t>PM₂.₅ superficial (µg/m³)</a:t>
            </a:r>
          </a:p>
          <a:p>
            <a:pPr algn="l">
              <a:buNone/>
              <a:defRPr sz="1650" b="1">
                <a:solidFill>
                  <a:srgbClr val="17375D"/>
                </a:solidFill>
                <a:latin typeface="Calibri"/>
                <a:ea typeface="Calibri"/>
                <a:cs typeface="Calibri"/>
              </a:defRPr>
            </a:pPr>
            <a:r>
              <a:rPr sz="1650" b="1">
                <a:solidFill>
                  <a:srgbClr val="17375D"/>
                </a:solidFill>
                <a:latin typeface="Calibri"/>
                <a:ea typeface="Calibri"/>
                <a:cs typeface="Calibri"/>
              </a:rPr>
              <a:t>0,75°, cada 3 horas</a:t>
            </a:r>
          </a:p>
        </p:txBody>
      </p:sp>
      <p:sp>
        <p:nvSpPr>
          <p:cNvPr id="15" name="Lectura">
            <a:extLst>
              <a:ext uri="{FF2B5EF4-FFF2-40B4-BE49-F238E27FC236}">
                <a16:creationId xmlns:a16="http://schemas.microsoft.com/office/drawing/2014/main" id="{30D2A785-1513-47D4-9E71-EBEFF8987532}"/>
              </a:ext>
            </a:extLst>
          </p:cNvPr>
          <p:cNvSpPr>
            <a:spLocks noGrp="1"/>
          </p:cNvSpPr>
          <p:nvPr/>
        </p:nvSpPr>
        <p:spPr>
          <a:xfrm>
            <a:off x="3543300" y="2057400"/>
            <a:ext cx="5029200" cy="523875"/>
          </a:xfrm>
          <a:prstGeom prst="rect">
            <a:avLst/>
          </a:prstGeom>
          <a:noFill/>
          <a:ln w="0">
            <a:noFill/>
          </a:ln>
        </p:spPr>
        <p:txBody>
          <a:bodyPr wrap="square" lIns="0" tIns="0" rIns="0" bIns="0" anchor="t">
            <a:noAutofit/>
          </a:bodyPr>
          <a:lstStyle/>
          <a:p>
            <a:pPr algn="l">
              <a:buNone/>
              <a:defRPr sz="1350">
                <a:solidFill>
                  <a:srgbClr val="1E293B"/>
                </a:solidFill>
                <a:latin typeface="Calibri"/>
                <a:ea typeface="Calibri"/>
                <a:cs typeface="Calibri"/>
              </a:defRPr>
            </a:pPr>
            <a:r>
              <a:rPr sz="1350">
                <a:solidFill>
                  <a:srgbClr val="1E293B"/>
                </a:solidFill>
                <a:latin typeface="Calibri"/>
                <a:ea typeface="Calibri"/>
                <a:cs typeface="Calibri"/>
              </a:rPr>
              <a:t>Aporta composición atmosférica a escala regional. La serie local comienza en 2003.</a:t>
            </a:r>
          </a:p>
        </p:txBody>
      </p:sp>
      <p:sp>
        <p:nvSpPr>
          <p:cNvPr id="16" name="Serie 2020">
            <a:extLst>
              <a:ext uri="{FF2B5EF4-FFF2-40B4-BE49-F238E27FC236}">
                <a16:creationId xmlns:a16="http://schemas.microsoft.com/office/drawing/2014/main" id="{D7BA818A-750A-4B59-AC5C-E1F7AFDCB305}"/>
              </a:ext>
            </a:extLst>
          </p:cNvPr>
          <p:cNvSpPr>
            <a:spLocks noGrp="1"/>
          </p:cNvSpPr>
          <p:nvPr/>
        </p:nvSpPr>
        <p:spPr>
          <a:xfrm>
            <a:off x="4029075" y="2638425"/>
            <a:ext cx="1285875" cy="228600"/>
          </a:xfrm>
          <a:prstGeom prst="rect">
            <a:avLst/>
          </a:prstGeom>
          <a:noFill/>
          <a:ln w="0">
            <a:noFill/>
          </a:ln>
        </p:spPr>
        <p:txBody>
          <a:bodyPr wrap="square" lIns="0" tIns="0" rIns="0" bIns="0" anchor="t">
            <a:noAutofit/>
          </a:bodyPr>
          <a:lstStyle/>
          <a:p>
            <a:pPr algn="ctr">
              <a:buNone/>
              <a:defRPr sz="1350" b="1">
                <a:solidFill>
                  <a:srgbClr val="17375D"/>
                </a:solidFill>
                <a:latin typeface="Calibri"/>
                <a:ea typeface="Calibri"/>
                <a:cs typeface="Calibri"/>
              </a:defRPr>
            </a:pPr>
            <a:r>
              <a:rPr sz="1350" b="1">
                <a:solidFill>
                  <a:srgbClr val="17375D"/>
                </a:solidFill>
                <a:latin typeface="Calibri"/>
                <a:ea typeface="Calibri"/>
                <a:cs typeface="Calibri"/>
              </a:rPr>
              <a:t>2020</a:t>
            </a:r>
          </a:p>
        </p:txBody>
      </p:sp>
      <p:sp>
        <p:nvSpPr>
          <p:cNvPr id="17" name="Serie 2024">
            <a:extLst>
              <a:ext uri="{FF2B5EF4-FFF2-40B4-BE49-F238E27FC236}">
                <a16:creationId xmlns:a16="http://schemas.microsoft.com/office/drawing/2014/main" id="{9A2322ED-84C7-4FFB-9AB5-EE01663EC80E}"/>
              </a:ext>
            </a:extLst>
          </p:cNvPr>
          <p:cNvSpPr>
            <a:spLocks noGrp="1"/>
          </p:cNvSpPr>
          <p:nvPr/>
        </p:nvSpPr>
        <p:spPr>
          <a:xfrm>
            <a:off x="5419725" y="2638425"/>
            <a:ext cx="1285875" cy="228600"/>
          </a:xfrm>
          <a:prstGeom prst="rect">
            <a:avLst/>
          </a:prstGeom>
          <a:noFill/>
          <a:ln w="0">
            <a:noFill/>
          </a:ln>
        </p:spPr>
        <p:txBody>
          <a:bodyPr wrap="square" lIns="0" tIns="0" rIns="0" bIns="0" anchor="t">
            <a:noAutofit/>
          </a:bodyPr>
          <a:lstStyle/>
          <a:p>
            <a:pPr algn="ctr">
              <a:buNone/>
              <a:defRPr sz="1350" b="1">
                <a:solidFill>
                  <a:srgbClr val="17375D"/>
                </a:solidFill>
                <a:latin typeface="Calibri"/>
                <a:ea typeface="Calibri"/>
                <a:cs typeface="Calibri"/>
              </a:defRPr>
            </a:pPr>
            <a:r>
              <a:rPr sz="1350" b="1">
                <a:solidFill>
                  <a:srgbClr val="17375D"/>
                </a:solidFill>
                <a:latin typeface="Calibri"/>
                <a:ea typeface="Calibri"/>
                <a:cs typeface="Calibri"/>
              </a:rPr>
              <a:t>2024</a:t>
            </a:r>
          </a:p>
        </p:txBody>
      </p:sp>
      <p:pic>
        <p:nvPicPr>
          <p:cNvPr id="43" name="fuente_cams_pm25_c3f419e1.png" descr="Unidades y escala numérica originales de la serie."/>
          <p:cNvPicPr>
            <a:picLocks noChangeAspect="1"/>
          </p:cNvPicPr>
          <p:nvPr/>
        </p:nvPicPr>
        <p:blipFill>
          <a:blip r:embed="rId3"/>
          <a:srcRect t="78039" r="95868" b="5618"/>
          <a:stretch>
            <a:fillRect/>
          </a:stretch>
        </p:blipFill>
        <p:spPr>
          <a:xfrm>
            <a:off x="3428048" y="2886075"/>
            <a:ext cx="429577" cy="1249680"/>
          </a:xfrm>
          <a:prstGeom prst="rect">
            <a:avLst/>
          </a:prstGeom>
        </p:spPr>
      </p:pic>
      <p:pic>
        <p:nvPicPr>
          <p:cNvPr id="44" name="fuente_cams_pm25_c3f419e1.png" descr="Series originales de CAMS EAC4, 2020 y 2024."/>
          <p:cNvPicPr>
            <a:picLocks noChangeAspect="1"/>
          </p:cNvPicPr>
          <p:nvPr/>
        </p:nvPicPr>
        <p:blipFill>
          <a:blip r:embed="rId3"/>
          <a:srcRect l="67618" t="78039" r="6386" b="3371"/>
          <a:stretch>
            <a:fillRect/>
          </a:stretch>
        </p:blipFill>
        <p:spPr>
          <a:xfrm>
            <a:off x="3924300" y="2886075"/>
            <a:ext cx="2702433" cy="1421511"/>
          </a:xfrm>
          <a:prstGeom prst="rect">
            <a:avLst/>
          </a:prstGeom>
        </p:spPr>
      </p:pic>
      <p:pic>
        <p:nvPicPr>
          <p:cNvPr id="45" name="fuente_cams_pm25_c3f419e1.png" descr="Leyenda original de Chile y las cinco macrozonas."/>
          <p:cNvPicPr>
            <a:picLocks noChangeAspect="1"/>
          </p:cNvPicPr>
          <p:nvPr/>
        </p:nvPicPr>
        <p:blipFill>
          <a:blip r:embed="rId3"/>
          <a:srcRect l="28024" t="96527" r="38092" b="1124"/>
          <a:stretch>
            <a:fillRect/>
          </a:stretch>
        </p:blipFill>
        <p:spPr>
          <a:xfrm>
            <a:off x="3629025" y="4333875"/>
            <a:ext cx="4295775" cy="219075"/>
          </a:xfrm>
          <a:prstGeom prst="rect">
            <a:avLst/>
          </a:prstGeom>
        </p:spPr>
      </p:pic>
      <p:sp>
        <p:nvSpPr>
          <p:cNvPr id="21" name="Fuente y alcance">
            <a:extLst>
              <a:ext uri="{FF2B5EF4-FFF2-40B4-BE49-F238E27FC236}">
                <a16:creationId xmlns:a16="http://schemas.microsoft.com/office/drawing/2014/main" id="{3B19E218-D93E-4063-83EC-C3C7C41EFFB6}"/>
              </a:ext>
            </a:extLst>
          </p:cNvPr>
          <p:cNvSpPr>
            <a:spLocks noGrp="1"/>
          </p:cNvSpPr>
          <p:nvPr/>
        </p:nvSpPr>
        <p:spPr>
          <a:xfrm>
            <a:off x="548640" y="4619625"/>
            <a:ext cx="8046720" cy="200025"/>
          </a:xfrm>
          <a:prstGeom prst="rect">
            <a:avLst/>
          </a:prstGeom>
          <a:noFill/>
          <a:ln w="0">
            <a:noFill/>
          </a:ln>
        </p:spPr>
        <p:txBody>
          <a:bodyPr wrap="square" lIns="0" tIns="0" rIns="0" bIns="0" anchor="ctr">
            <a:noAutofit/>
          </a:bodyPr>
          <a:lstStyle/>
          <a:p>
            <a:pPr algn="l">
              <a:buNone/>
              <a:defRPr sz="848">
                <a:solidFill>
                  <a:srgbClr val="526277"/>
                </a:solidFill>
                <a:latin typeface="Calibri"/>
                <a:ea typeface="Calibri"/>
                <a:cs typeface="Calibri"/>
              </a:defRPr>
            </a:pPr>
            <a:r>
              <a:rPr sz="848">
                <a:solidFill>
                  <a:srgbClr val="526277"/>
                </a:solidFill>
                <a:latin typeface="Calibri"/>
                <a:ea typeface="Calibri"/>
                <a:cs typeface="Calibri"/>
              </a:rPr>
              <a:t>HTML, figura 30. Recortes de 2020 y 2024. Series diarias por área, media móvil 7 días, UTC−4.</a:t>
            </a:r>
          </a:p>
        </p:txBody>
      </p:sp>
    </p:spTree>
    <p:extLst>
      <p:ext uri="{BB962C8B-B14F-4D97-AF65-F5344CB8AC3E}">
        <p14:creationId xmlns:p14="http://schemas.microsoft.com/office/powerpoint/2010/main" val="322757276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3" name="Cabecera azul UC">
            <a:extLst>
              <a:ext uri="{FF2B5EF4-FFF2-40B4-BE49-F238E27FC236}">
                <a16:creationId xmlns:a16="http://schemas.microsoft.com/office/drawing/2014/main" id="{3486DB9C-93DE-456A-BF48-2757BBD61ACE}"/>
              </a:ext>
            </a:extLst>
          </p:cNvPr>
          <p:cNvSpPr>
            <a:spLocks noGrp="1"/>
          </p:cNvSpPr>
          <p:nvPr/>
        </p:nvSpPr>
        <p:spPr>
          <a:xfrm>
            <a:off x="158742" y="0"/>
            <a:ext cx="8985258" cy="1007195"/>
          </a:xfrm>
          <a:prstGeom prst="rect">
            <a:avLst/>
          </a:prstGeom>
          <a:solidFill>
            <a:srgbClr val="017EDF"/>
          </a:solidFill>
          <a:ln>
            <a:noFill/>
          </a:ln>
        </p:spPr>
        <p:txBody>
          <a:bodyPr/>
          <a:lstStyle/>
          <a:p>
            <a:endParaRPr lang="es-CL"/>
          </a:p>
        </p:txBody>
      </p:sp>
      <p:sp>
        <p:nvSpPr>
          <p:cNvPr id="4" name="Rectángulo 9">
            <a:extLst>
              <a:ext uri="{FF2B5EF4-FFF2-40B4-BE49-F238E27FC236}">
                <a16:creationId xmlns:a16="http://schemas.microsoft.com/office/drawing/2014/main" id="{2DE33766-2918-41FC-A1B9-B4BF483C8974}"/>
              </a:ext>
            </a:extLst>
          </p:cNvPr>
          <p:cNvSpPr>
            <a:spLocks noGrp="1"/>
          </p:cNvSpPr>
          <p:nvPr/>
        </p:nvSpPr>
        <p:spPr>
          <a:xfrm>
            <a:off x="0" y="149945"/>
            <a:ext cx="158742" cy="857250"/>
          </a:xfrm>
          <a:prstGeom prst="rect">
            <a:avLst/>
          </a:prstGeom>
          <a:solidFill>
            <a:srgbClr val="FFE2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Rectángulo 7">
            <a:extLst>
              <a:ext uri="{FF2B5EF4-FFF2-40B4-BE49-F238E27FC236}">
                <a16:creationId xmlns:a16="http://schemas.microsoft.com/office/drawing/2014/main" id="{3BCD4458-45E8-4C73-A3B6-249CEEFBDB7B}"/>
              </a:ext>
            </a:extLst>
          </p:cNvPr>
          <p:cNvSpPr>
            <a:spLocks noGrp="1"/>
          </p:cNvSpPr>
          <p:nvPr/>
        </p:nvSpPr>
        <p:spPr>
          <a:xfrm flipV="1">
            <a:off x="169334" y="4871120"/>
            <a:ext cx="8815911" cy="177311"/>
          </a:xfrm>
          <a:prstGeom prst="rect">
            <a:avLst/>
          </a:prstGeom>
          <a:solidFill>
            <a:schemeClr val="bg1">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Rectángulo 10">
            <a:extLst>
              <a:ext uri="{FF2B5EF4-FFF2-40B4-BE49-F238E27FC236}">
                <a16:creationId xmlns:a16="http://schemas.microsoft.com/office/drawing/2014/main" id="{A18DC9E6-BD6D-4FE1-AEC0-9715BEE3912A}"/>
              </a:ext>
            </a:extLst>
          </p:cNvPr>
          <p:cNvSpPr>
            <a:spLocks noGrp="1"/>
          </p:cNvSpPr>
          <p:nvPr/>
        </p:nvSpPr>
        <p:spPr>
          <a:xfrm flipV="1">
            <a:off x="7200957" y="4871118"/>
            <a:ext cx="1119038" cy="177313"/>
          </a:xfrm>
          <a:prstGeom prst="rect">
            <a:avLst/>
          </a:prstGeom>
          <a:solidFill>
            <a:srgbClr val="3366CC"/>
          </a:solidFill>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ítulo 1">
            <a:extLst>
              <a:ext uri="{FF2B5EF4-FFF2-40B4-BE49-F238E27FC236}">
                <a16:creationId xmlns:a16="http://schemas.microsoft.com/office/drawing/2014/main" id="{438D0FA2-1899-4EDF-9FA4-D1742768DFC6}"/>
              </a:ext>
            </a:extLst>
          </p:cNvPr>
          <p:cNvSpPr>
            <a:spLocks noGrp="1"/>
          </p:cNvSpPr>
          <p:nvPr>
            <p:ph type="title"/>
          </p:nvPr>
        </p:nvSpPr>
        <p:spPr>
          <a:xfrm>
            <a:off x="457200" y="149945"/>
            <a:ext cx="8229600" cy="857250"/>
          </a:xfrm>
        </p:spPr>
        <p:txBody>
          <a:bodyPr wrap="square" anchor="ctr">
            <a:noAutofit/>
          </a:bodyPr>
          <a:lstStyle/>
          <a:p>
            <a:pPr algn="l">
              <a:spcBef>
                <a:spcPts val="0"/>
              </a:spcBef>
              <a:spcAft>
                <a:spcPts val="0"/>
              </a:spcAft>
              <a:defRPr sz="1900" b="1">
                <a:solidFill>
                  <a:srgbClr val="FFFFFF"/>
                </a:solidFill>
                <a:latin typeface="Calibri"/>
                <a:ea typeface="Calibri"/>
                <a:cs typeface="Calibri"/>
              </a:defRPr>
            </a:pPr>
            <a:r>
              <a:rPr sz="1900" b="1">
                <a:solidFill>
                  <a:srgbClr val="FFFFFF"/>
                </a:solidFill>
                <a:latin typeface="Calibri"/>
                <a:ea typeface="Calibri"/>
                <a:cs typeface="Calibri"/>
              </a:rPr>
              <a:t>Anexo: GEOS-CF</a:t>
            </a:r>
          </a:p>
        </p:txBody>
      </p:sp>
      <p:sp>
        <p:nvSpPr>
          <p:cNvPr id="8" name="Mapa 2020">
            <a:extLst>
              <a:ext uri="{FF2B5EF4-FFF2-40B4-BE49-F238E27FC236}">
                <a16:creationId xmlns:a16="http://schemas.microsoft.com/office/drawing/2014/main" id="{D6FC62C4-547B-45D7-8F1C-EAC0813D026F}"/>
              </a:ext>
            </a:extLst>
          </p:cNvPr>
          <p:cNvSpPr>
            <a:spLocks noGrp="1"/>
          </p:cNvSpPr>
          <p:nvPr/>
        </p:nvSpPr>
        <p:spPr>
          <a:xfrm>
            <a:off x="800100" y="1133475"/>
            <a:ext cx="742950" cy="266700"/>
          </a:xfrm>
          <a:prstGeom prst="rect">
            <a:avLst/>
          </a:prstGeom>
          <a:noFill/>
          <a:ln w="0">
            <a:noFill/>
          </a:ln>
        </p:spPr>
        <p:txBody>
          <a:bodyPr wrap="square" lIns="0" tIns="0" rIns="0" bIns="0" anchor="t">
            <a:noAutofit/>
          </a:bodyPr>
          <a:lstStyle/>
          <a:p>
            <a:pPr algn="ctr">
              <a:buNone/>
              <a:defRPr sz="1425" b="1">
                <a:solidFill>
                  <a:srgbClr val="17375D"/>
                </a:solidFill>
                <a:latin typeface="Calibri"/>
                <a:ea typeface="Calibri"/>
                <a:cs typeface="Calibri"/>
              </a:defRPr>
            </a:pPr>
            <a:r>
              <a:rPr sz="1425" b="1">
                <a:solidFill>
                  <a:srgbClr val="17375D"/>
                </a:solidFill>
                <a:latin typeface="Calibri"/>
                <a:ea typeface="Calibri"/>
                <a:cs typeface="Calibri"/>
              </a:rPr>
              <a:t>2020</a:t>
            </a:r>
          </a:p>
        </p:txBody>
      </p:sp>
      <p:sp>
        <p:nvSpPr>
          <p:cNvPr id="9" name="Mapa 2024">
            <a:extLst>
              <a:ext uri="{FF2B5EF4-FFF2-40B4-BE49-F238E27FC236}">
                <a16:creationId xmlns:a16="http://schemas.microsoft.com/office/drawing/2014/main" id="{6DA496F6-73FF-4382-BE0E-6DF4018F74DD}"/>
              </a:ext>
            </a:extLst>
          </p:cNvPr>
          <p:cNvSpPr>
            <a:spLocks noGrp="1"/>
          </p:cNvSpPr>
          <p:nvPr/>
        </p:nvSpPr>
        <p:spPr>
          <a:xfrm>
            <a:off x="1581150" y="1133475"/>
            <a:ext cx="742950" cy="266700"/>
          </a:xfrm>
          <a:prstGeom prst="rect">
            <a:avLst/>
          </a:prstGeom>
          <a:noFill/>
          <a:ln w="0">
            <a:noFill/>
          </a:ln>
        </p:spPr>
        <p:txBody>
          <a:bodyPr wrap="square" lIns="0" tIns="0" rIns="0" bIns="0" anchor="t">
            <a:noAutofit/>
          </a:bodyPr>
          <a:lstStyle/>
          <a:p>
            <a:pPr algn="ctr">
              <a:buNone/>
              <a:defRPr sz="1425" b="1">
                <a:solidFill>
                  <a:srgbClr val="17375D"/>
                </a:solidFill>
                <a:latin typeface="Calibri"/>
                <a:ea typeface="Calibri"/>
                <a:cs typeface="Calibri"/>
              </a:defRPr>
            </a:pPr>
            <a:r>
              <a:rPr sz="1425" b="1">
                <a:solidFill>
                  <a:srgbClr val="17375D"/>
                </a:solidFill>
                <a:latin typeface="Calibri"/>
                <a:ea typeface="Calibri"/>
                <a:cs typeface="Calibri"/>
              </a:rPr>
              <a:t>2024</a:t>
            </a:r>
          </a:p>
        </p:txBody>
      </p:sp>
      <p:pic>
        <p:nvPicPr>
          <p:cNvPr id="35" name="fuente_geoscf_no2_7b2426a4.png" descr="Mapas originales GEOS-CF, años 2020 y 2024, medias anuales."/>
          <p:cNvPicPr>
            <a:picLocks noChangeAspect="1"/>
          </p:cNvPicPr>
          <p:nvPr/>
        </p:nvPicPr>
        <p:blipFill>
          <a:blip r:embed="rId3"/>
          <a:srcRect l="67618" t="5107" r="6386" b="22574"/>
          <a:stretch>
            <a:fillRect/>
          </a:stretch>
        </p:blipFill>
        <p:spPr>
          <a:xfrm>
            <a:off x="826845" y="1438275"/>
            <a:ext cx="1489559" cy="3048000"/>
          </a:xfrm>
          <a:prstGeom prst="rect">
            <a:avLst/>
          </a:prstGeom>
        </p:spPr>
      </p:pic>
      <p:pic>
        <p:nvPicPr>
          <p:cNvPr id="36" name="fuente_geoscf_no2_7b2426a4.png" descr="Eje de latitud compartido original."/>
          <p:cNvPicPr>
            <a:picLocks noChangeAspect="1"/>
          </p:cNvPicPr>
          <p:nvPr/>
        </p:nvPicPr>
        <p:blipFill>
          <a:blip r:embed="rId3"/>
          <a:srcRect t="5107" r="96769" b="24413"/>
          <a:stretch>
            <a:fillRect/>
          </a:stretch>
        </p:blipFill>
        <p:spPr>
          <a:xfrm>
            <a:off x="557751" y="1438275"/>
            <a:ext cx="185199" cy="2971800"/>
          </a:xfrm>
          <a:prstGeom prst="rect">
            <a:avLst/>
          </a:prstGeom>
        </p:spPr>
      </p:pic>
      <p:pic>
        <p:nvPicPr>
          <p:cNvPr id="37" name="fuente_geoscf_no2_7b2426a4.png" descr="Escala original completa de GEOS-CF en ppb."/>
          <p:cNvPicPr>
            <a:picLocks noChangeAspect="1"/>
          </p:cNvPicPr>
          <p:nvPr/>
        </p:nvPicPr>
        <p:blipFill>
          <a:blip r:embed="rId3"/>
          <a:srcRect l="93013" t="17365" b="40960"/>
          <a:stretch>
            <a:fillRect/>
          </a:stretch>
        </p:blipFill>
        <p:spPr>
          <a:xfrm>
            <a:off x="2592971" y="1666875"/>
            <a:ext cx="586208" cy="2571750"/>
          </a:xfrm>
          <a:prstGeom prst="rect">
            <a:avLst/>
          </a:prstGeom>
        </p:spPr>
      </p:pic>
      <p:sp>
        <p:nvSpPr>
          <p:cNvPr id="13" name="Tipo">
            <a:extLst>
              <a:ext uri="{FF2B5EF4-FFF2-40B4-BE49-F238E27FC236}">
                <a16:creationId xmlns:a16="http://schemas.microsoft.com/office/drawing/2014/main" id="{1175AB14-8926-4887-AEC3-E911B1B28722}"/>
              </a:ext>
            </a:extLst>
          </p:cNvPr>
          <p:cNvSpPr>
            <a:spLocks noGrp="1"/>
          </p:cNvSpPr>
          <p:nvPr/>
        </p:nvSpPr>
        <p:spPr>
          <a:xfrm>
            <a:off x="3543300" y="1190625"/>
            <a:ext cx="5029200" cy="247650"/>
          </a:xfrm>
          <a:prstGeom prst="rect">
            <a:avLst/>
          </a:prstGeom>
          <a:noFill/>
          <a:ln w="0">
            <a:noFill/>
          </a:ln>
        </p:spPr>
        <p:txBody>
          <a:bodyPr wrap="square" lIns="0" tIns="0" rIns="0" bIns="0" anchor="t">
            <a:noAutofit/>
          </a:bodyPr>
          <a:lstStyle/>
          <a:p>
            <a:pPr algn="l">
              <a:buNone/>
              <a:defRPr sz="1275" b="1">
                <a:solidFill>
                  <a:srgbClr val="017EDF"/>
                </a:solidFill>
                <a:latin typeface="Calibri"/>
                <a:ea typeface="Calibri"/>
                <a:cs typeface="Calibri"/>
              </a:defRPr>
            </a:pPr>
            <a:r>
              <a:rPr sz="1275" b="1">
                <a:solidFill>
                  <a:srgbClr val="017EDF"/>
                </a:solidFill>
                <a:latin typeface="Calibri"/>
                <a:ea typeface="Calibri"/>
                <a:cs typeface="Calibri"/>
              </a:rPr>
              <a:t>Producto de modelo atmosférico</a:t>
            </a:r>
          </a:p>
        </p:txBody>
      </p:sp>
      <p:sp>
        <p:nvSpPr>
          <p:cNvPr id="14" name="Variable">
            <a:extLst>
              <a:ext uri="{FF2B5EF4-FFF2-40B4-BE49-F238E27FC236}">
                <a16:creationId xmlns:a16="http://schemas.microsoft.com/office/drawing/2014/main" id="{0A83E67D-26F8-4767-B642-89DC02500FEE}"/>
              </a:ext>
            </a:extLst>
          </p:cNvPr>
          <p:cNvSpPr>
            <a:spLocks noGrp="1"/>
          </p:cNvSpPr>
          <p:nvPr/>
        </p:nvSpPr>
        <p:spPr>
          <a:xfrm>
            <a:off x="3543300" y="1504950"/>
            <a:ext cx="5029200" cy="542925"/>
          </a:xfrm>
          <a:prstGeom prst="rect">
            <a:avLst/>
          </a:prstGeom>
          <a:noFill/>
          <a:ln w="0">
            <a:noFill/>
          </a:ln>
        </p:spPr>
        <p:txBody>
          <a:bodyPr wrap="square" lIns="0" tIns="0" rIns="0" bIns="0" anchor="t">
            <a:noAutofit/>
          </a:bodyPr>
          <a:lstStyle/>
          <a:p>
            <a:pPr algn="l">
              <a:buNone/>
              <a:defRPr sz="1650" b="1">
                <a:solidFill>
                  <a:srgbClr val="17375D"/>
                </a:solidFill>
                <a:latin typeface="Calibri"/>
                <a:ea typeface="Calibri"/>
                <a:cs typeface="Calibri"/>
              </a:defRPr>
            </a:pPr>
            <a:r>
              <a:rPr sz="1650" b="1">
                <a:solidFill>
                  <a:srgbClr val="17375D"/>
                </a:solidFill>
                <a:latin typeface="Calibri"/>
                <a:ea typeface="Calibri"/>
                <a:cs typeface="Calibri"/>
              </a:rPr>
              <a:t>NO₂ superficial (ppb)</a:t>
            </a:r>
          </a:p>
          <a:p>
            <a:pPr algn="l">
              <a:buNone/>
              <a:defRPr sz="1650" b="1">
                <a:solidFill>
                  <a:srgbClr val="17375D"/>
                </a:solidFill>
                <a:latin typeface="Calibri"/>
                <a:ea typeface="Calibri"/>
                <a:cs typeface="Calibri"/>
              </a:defRPr>
            </a:pPr>
            <a:r>
              <a:rPr sz="1650" b="1">
                <a:solidFill>
                  <a:srgbClr val="17375D"/>
                </a:solidFill>
                <a:latin typeface="Calibri"/>
                <a:ea typeface="Calibri"/>
                <a:cs typeface="Calibri"/>
              </a:rPr>
              <a:t>0,25°, frecuencia horaria</a:t>
            </a:r>
          </a:p>
        </p:txBody>
      </p:sp>
      <p:sp>
        <p:nvSpPr>
          <p:cNvPr id="15" name="Lectura">
            <a:extLst>
              <a:ext uri="{FF2B5EF4-FFF2-40B4-BE49-F238E27FC236}">
                <a16:creationId xmlns:a16="http://schemas.microsoft.com/office/drawing/2014/main" id="{AD5E014C-3E83-4CAD-A96D-6E69D33B44C1}"/>
              </a:ext>
            </a:extLst>
          </p:cNvPr>
          <p:cNvSpPr>
            <a:spLocks noGrp="1"/>
          </p:cNvSpPr>
          <p:nvPr/>
        </p:nvSpPr>
        <p:spPr>
          <a:xfrm>
            <a:off x="3543300" y="2057400"/>
            <a:ext cx="5029200" cy="523875"/>
          </a:xfrm>
          <a:prstGeom prst="rect">
            <a:avLst/>
          </a:prstGeom>
          <a:noFill/>
          <a:ln w="0">
            <a:noFill/>
          </a:ln>
        </p:spPr>
        <p:txBody>
          <a:bodyPr wrap="square" lIns="0" tIns="0" rIns="0" bIns="0" anchor="t">
            <a:noAutofit/>
          </a:bodyPr>
          <a:lstStyle/>
          <a:p>
            <a:pPr algn="l">
              <a:buNone/>
              <a:defRPr sz="1350">
                <a:solidFill>
                  <a:srgbClr val="1E293B"/>
                </a:solidFill>
                <a:latin typeface="Calibri"/>
                <a:ea typeface="Calibri"/>
                <a:cs typeface="Calibri"/>
              </a:defRPr>
            </a:pPr>
            <a:r>
              <a:rPr sz="1350">
                <a:solidFill>
                  <a:srgbClr val="1E293B"/>
                </a:solidFill>
                <a:latin typeface="Calibri"/>
                <a:ea typeface="Calibri"/>
                <a:cs typeface="Calibri"/>
              </a:rPr>
              <a:t>Ejemplo de un producto de modelo atmosférico. Los archivos locales cubren 2019–2024.</a:t>
            </a:r>
          </a:p>
        </p:txBody>
      </p:sp>
      <p:sp>
        <p:nvSpPr>
          <p:cNvPr id="16" name="Serie 2020">
            <a:extLst>
              <a:ext uri="{FF2B5EF4-FFF2-40B4-BE49-F238E27FC236}">
                <a16:creationId xmlns:a16="http://schemas.microsoft.com/office/drawing/2014/main" id="{C1705445-47B0-45FD-AADA-97FAE38968D7}"/>
              </a:ext>
            </a:extLst>
          </p:cNvPr>
          <p:cNvSpPr>
            <a:spLocks noGrp="1"/>
          </p:cNvSpPr>
          <p:nvPr/>
        </p:nvSpPr>
        <p:spPr>
          <a:xfrm>
            <a:off x="4029075" y="2638425"/>
            <a:ext cx="1285875" cy="228600"/>
          </a:xfrm>
          <a:prstGeom prst="rect">
            <a:avLst/>
          </a:prstGeom>
          <a:noFill/>
          <a:ln w="0">
            <a:noFill/>
          </a:ln>
        </p:spPr>
        <p:txBody>
          <a:bodyPr wrap="square" lIns="0" tIns="0" rIns="0" bIns="0" anchor="t">
            <a:noAutofit/>
          </a:bodyPr>
          <a:lstStyle/>
          <a:p>
            <a:pPr algn="ctr">
              <a:buNone/>
              <a:defRPr sz="1350" b="1">
                <a:solidFill>
                  <a:srgbClr val="17375D"/>
                </a:solidFill>
                <a:latin typeface="Calibri"/>
                <a:ea typeface="Calibri"/>
                <a:cs typeface="Calibri"/>
              </a:defRPr>
            </a:pPr>
            <a:r>
              <a:rPr sz="1350" b="1">
                <a:solidFill>
                  <a:srgbClr val="17375D"/>
                </a:solidFill>
                <a:latin typeface="Calibri"/>
                <a:ea typeface="Calibri"/>
                <a:cs typeface="Calibri"/>
              </a:rPr>
              <a:t>2020</a:t>
            </a:r>
          </a:p>
        </p:txBody>
      </p:sp>
      <p:sp>
        <p:nvSpPr>
          <p:cNvPr id="17" name="Serie 2024">
            <a:extLst>
              <a:ext uri="{FF2B5EF4-FFF2-40B4-BE49-F238E27FC236}">
                <a16:creationId xmlns:a16="http://schemas.microsoft.com/office/drawing/2014/main" id="{53114390-5B10-45A6-BFD0-381F2A133B5F}"/>
              </a:ext>
            </a:extLst>
          </p:cNvPr>
          <p:cNvSpPr>
            <a:spLocks noGrp="1"/>
          </p:cNvSpPr>
          <p:nvPr/>
        </p:nvSpPr>
        <p:spPr>
          <a:xfrm>
            <a:off x="5419725" y="2638425"/>
            <a:ext cx="1285875" cy="228600"/>
          </a:xfrm>
          <a:prstGeom prst="rect">
            <a:avLst/>
          </a:prstGeom>
          <a:noFill/>
          <a:ln w="0">
            <a:noFill/>
          </a:ln>
        </p:spPr>
        <p:txBody>
          <a:bodyPr wrap="square" lIns="0" tIns="0" rIns="0" bIns="0" anchor="t">
            <a:noAutofit/>
          </a:bodyPr>
          <a:lstStyle/>
          <a:p>
            <a:pPr algn="ctr">
              <a:buNone/>
              <a:defRPr sz="1350" b="1">
                <a:solidFill>
                  <a:srgbClr val="17375D"/>
                </a:solidFill>
                <a:latin typeface="Calibri"/>
                <a:ea typeface="Calibri"/>
                <a:cs typeface="Calibri"/>
              </a:defRPr>
            </a:pPr>
            <a:r>
              <a:rPr sz="1350" b="1">
                <a:solidFill>
                  <a:srgbClr val="17375D"/>
                </a:solidFill>
                <a:latin typeface="Calibri"/>
                <a:ea typeface="Calibri"/>
                <a:cs typeface="Calibri"/>
              </a:rPr>
              <a:t>2024</a:t>
            </a:r>
          </a:p>
        </p:txBody>
      </p:sp>
      <p:pic>
        <p:nvPicPr>
          <p:cNvPr id="43" name="fuente_geoscf_no2_7b2426a4.png" descr="Unidades y escala numérica originales de la serie."/>
          <p:cNvPicPr>
            <a:picLocks noChangeAspect="1"/>
          </p:cNvPicPr>
          <p:nvPr/>
        </p:nvPicPr>
        <p:blipFill>
          <a:blip r:embed="rId3"/>
          <a:srcRect t="78039" r="96769" b="5618"/>
          <a:stretch>
            <a:fillRect/>
          </a:stretch>
        </p:blipFill>
        <p:spPr>
          <a:xfrm>
            <a:off x="3521774" y="2886075"/>
            <a:ext cx="335852" cy="1249680"/>
          </a:xfrm>
          <a:prstGeom prst="rect">
            <a:avLst/>
          </a:prstGeom>
        </p:spPr>
      </p:pic>
      <p:pic>
        <p:nvPicPr>
          <p:cNvPr id="44" name="fuente_geoscf_no2_7b2426a4.png" descr="Series originales de GEOS-CF, 2020 y 2024."/>
          <p:cNvPicPr>
            <a:picLocks noChangeAspect="1"/>
          </p:cNvPicPr>
          <p:nvPr/>
        </p:nvPicPr>
        <p:blipFill>
          <a:blip r:embed="rId3"/>
          <a:srcRect l="67618" t="78039" r="6386" b="3371"/>
          <a:stretch>
            <a:fillRect/>
          </a:stretch>
        </p:blipFill>
        <p:spPr>
          <a:xfrm>
            <a:off x="3924300" y="2886075"/>
            <a:ext cx="2702433" cy="1421511"/>
          </a:xfrm>
          <a:prstGeom prst="rect">
            <a:avLst/>
          </a:prstGeom>
        </p:spPr>
      </p:pic>
      <p:pic>
        <p:nvPicPr>
          <p:cNvPr id="45" name="fuente_geoscf_no2_7b2426a4.png" descr="Leyenda original de Chile y las cinco macrozonas."/>
          <p:cNvPicPr>
            <a:picLocks noChangeAspect="1"/>
          </p:cNvPicPr>
          <p:nvPr/>
        </p:nvPicPr>
        <p:blipFill>
          <a:blip r:embed="rId3"/>
          <a:srcRect l="28024" t="96527" r="38092" b="1124"/>
          <a:stretch>
            <a:fillRect/>
          </a:stretch>
        </p:blipFill>
        <p:spPr>
          <a:xfrm>
            <a:off x="3629025" y="4333875"/>
            <a:ext cx="4295775" cy="219075"/>
          </a:xfrm>
          <a:prstGeom prst="rect">
            <a:avLst/>
          </a:prstGeom>
        </p:spPr>
      </p:pic>
      <p:sp>
        <p:nvSpPr>
          <p:cNvPr id="21" name="Fuente y alcance">
            <a:extLst>
              <a:ext uri="{FF2B5EF4-FFF2-40B4-BE49-F238E27FC236}">
                <a16:creationId xmlns:a16="http://schemas.microsoft.com/office/drawing/2014/main" id="{5042F10F-04A8-4C27-A05E-FFD1A4FBA3BE}"/>
              </a:ext>
            </a:extLst>
          </p:cNvPr>
          <p:cNvSpPr>
            <a:spLocks noGrp="1"/>
          </p:cNvSpPr>
          <p:nvPr/>
        </p:nvSpPr>
        <p:spPr>
          <a:xfrm>
            <a:off x="548640" y="4619625"/>
            <a:ext cx="8046720" cy="200025"/>
          </a:xfrm>
          <a:prstGeom prst="rect">
            <a:avLst/>
          </a:prstGeom>
          <a:noFill/>
          <a:ln w="0">
            <a:noFill/>
          </a:ln>
        </p:spPr>
        <p:txBody>
          <a:bodyPr wrap="square" lIns="0" tIns="0" rIns="0" bIns="0" anchor="ctr">
            <a:noAutofit/>
          </a:bodyPr>
          <a:lstStyle/>
          <a:p>
            <a:pPr algn="l">
              <a:buNone/>
              <a:defRPr sz="848">
                <a:solidFill>
                  <a:srgbClr val="526277"/>
                </a:solidFill>
                <a:latin typeface="Calibri"/>
                <a:ea typeface="Calibri"/>
                <a:cs typeface="Calibri"/>
              </a:defRPr>
            </a:pPr>
            <a:r>
              <a:rPr sz="848">
                <a:solidFill>
                  <a:srgbClr val="526277"/>
                </a:solidFill>
                <a:latin typeface="Calibri"/>
                <a:ea typeface="Calibri"/>
                <a:cs typeface="Calibri"/>
              </a:rPr>
              <a:t>HTML, figura 33. Recortes de 2020 y 2024. Series diarias por área, media móvil 7 días, UTC−4.</a:t>
            </a:r>
          </a:p>
        </p:txBody>
      </p:sp>
    </p:spTree>
    <p:extLst>
      <p:ext uri="{BB962C8B-B14F-4D97-AF65-F5344CB8AC3E}">
        <p14:creationId xmlns:p14="http://schemas.microsoft.com/office/powerpoint/2010/main" val="322757276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3" name="Cabecera azul UC">
            <a:extLst>
              <a:ext uri="{FF2B5EF4-FFF2-40B4-BE49-F238E27FC236}">
                <a16:creationId xmlns:a16="http://schemas.microsoft.com/office/drawing/2014/main" id="{3486DB9C-93DE-456A-BF48-2757BBD61ACE}"/>
              </a:ext>
            </a:extLst>
          </p:cNvPr>
          <p:cNvSpPr>
            <a:spLocks noGrp="1"/>
          </p:cNvSpPr>
          <p:nvPr/>
        </p:nvSpPr>
        <p:spPr>
          <a:xfrm>
            <a:off x="158742" y="0"/>
            <a:ext cx="8985258" cy="1007195"/>
          </a:xfrm>
          <a:prstGeom prst="rect">
            <a:avLst/>
          </a:prstGeom>
          <a:solidFill>
            <a:srgbClr val="017EDF"/>
          </a:solidFill>
          <a:ln>
            <a:noFill/>
          </a:ln>
        </p:spPr>
        <p:txBody>
          <a:bodyPr/>
          <a:lstStyle/>
          <a:p>
            <a:endParaRPr lang="es-CL"/>
          </a:p>
        </p:txBody>
      </p:sp>
      <p:sp>
        <p:nvSpPr>
          <p:cNvPr id="4" name="Rectángulo 9">
            <a:extLst>
              <a:ext uri="{FF2B5EF4-FFF2-40B4-BE49-F238E27FC236}">
                <a16:creationId xmlns:a16="http://schemas.microsoft.com/office/drawing/2014/main" id="{2DE33766-2918-41FC-A1B9-B4BF483C8974}"/>
              </a:ext>
            </a:extLst>
          </p:cNvPr>
          <p:cNvSpPr>
            <a:spLocks noGrp="1"/>
          </p:cNvSpPr>
          <p:nvPr/>
        </p:nvSpPr>
        <p:spPr>
          <a:xfrm>
            <a:off x="0" y="149945"/>
            <a:ext cx="158742" cy="857250"/>
          </a:xfrm>
          <a:prstGeom prst="rect">
            <a:avLst/>
          </a:prstGeom>
          <a:solidFill>
            <a:srgbClr val="FFE2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Rectángulo 7">
            <a:extLst>
              <a:ext uri="{FF2B5EF4-FFF2-40B4-BE49-F238E27FC236}">
                <a16:creationId xmlns:a16="http://schemas.microsoft.com/office/drawing/2014/main" id="{3BCD4458-45E8-4C73-A3B6-249CEEFBDB7B}"/>
              </a:ext>
            </a:extLst>
          </p:cNvPr>
          <p:cNvSpPr>
            <a:spLocks noGrp="1"/>
          </p:cNvSpPr>
          <p:nvPr/>
        </p:nvSpPr>
        <p:spPr>
          <a:xfrm flipV="1">
            <a:off x="169334" y="4871120"/>
            <a:ext cx="8815911" cy="177311"/>
          </a:xfrm>
          <a:prstGeom prst="rect">
            <a:avLst/>
          </a:prstGeom>
          <a:solidFill>
            <a:schemeClr val="bg1">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Rectángulo 10">
            <a:extLst>
              <a:ext uri="{FF2B5EF4-FFF2-40B4-BE49-F238E27FC236}">
                <a16:creationId xmlns:a16="http://schemas.microsoft.com/office/drawing/2014/main" id="{A18DC9E6-BD6D-4FE1-AEC0-9715BEE3912A}"/>
              </a:ext>
            </a:extLst>
          </p:cNvPr>
          <p:cNvSpPr>
            <a:spLocks noGrp="1"/>
          </p:cNvSpPr>
          <p:nvPr/>
        </p:nvSpPr>
        <p:spPr>
          <a:xfrm flipV="1">
            <a:off x="7200957" y="4871118"/>
            <a:ext cx="1119038" cy="177313"/>
          </a:xfrm>
          <a:prstGeom prst="rect">
            <a:avLst/>
          </a:prstGeom>
          <a:solidFill>
            <a:srgbClr val="3366CC"/>
          </a:solidFill>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ítulo 1">
            <a:extLst>
              <a:ext uri="{FF2B5EF4-FFF2-40B4-BE49-F238E27FC236}">
                <a16:creationId xmlns:a16="http://schemas.microsoft.com/office/drawing/2014/main" id="{438D0FA2-1899-4EDF-9FA4-D1742768DFC6}"/>
              </a:ext>
            </a:extLst>
          </p:cNvPr>
          <p:cNvSpPr>
            <a:spLocks noGrp="1"/>
          </p:cNvSpPr>
          <p:nvPr>
            <p:ph type="title"/>
          </p:nvPr>
        </p:nvSpPr>
        <p:spPr>
          <a:xfrm>
            <a:off x="457200" y="149945"/>
            <a:ext cx="8229600" cy="857250"/>
          </a:xfrm>
        </p:spPr>
        <p:txBody>
          <a:bodyPr wrap="square" anchor="ctr">
            <a:noAutofit/>
          </a:bodyPr>
          <a:lstStyle/>
          <a:p>
            <a:pPr algn="l">
              <a:spcBef>
                <a:spcPts val="0"/>
              </a:spcBef>
              <a:spcAft>
                <a:spcPts val="0"/>
              </a:spcAft>
              <a:defRPr sz="1900" b="1">
                <a:solidFill>
                  <a:srgbClr val="FFFFFF"/>
                </a:solidFill>
                <a:latin typeface="Calibri"/>
                <a:ea typeface="Calibri"/>
                <a:cs typeface="Calibri"/>
              </a:defRPr>
            </a:pPr>
            <a:r>
              <a:rPr sz="1900" b="1">
                <a:solidFill>
                  <a:srgbClr val="FFFFFF"/>
                </a:solidFill>
                <a:latin typeface="Calibri"/>
                <a:ea typeface="Calibri"/>
                <a:cs typeface="Calibri"/>
              </a:rPr>
              <a:t>Anexo: población</a:t>
            </a:r>
          </a:p>
        </p:txBody>
      </p:sp>
      <p:pic>
        <p:nvPicPr>
          <p:cNvPr id="19" name="fuente_lulc_pob_dens_bad8e868.png" descr="Figura original completa población, años 2000, 2004, 2008, 2012, 2016, 2020 y 2024, con serie anual y escala."/>
          <p:cNvPicPr>
            <a:picLocks noChangeAspect="1"/>
          </p:cNvPicPr>
          <p:nvPr/>
        </p:nvPicPr>
        <p:blipFill>
          <a:blip r:embed="rId3"/>
          <a:srcRect/>
          <a:stretch>
            <a:fillRect/>
          </a:stretch>
        </p:blipFill>
        <p:spPr>
          <a:xfrm>
            <a:off x="554902" y="1219200"/>
            <a:ext cx="4528996" cy="3333750"/>
          </a:xfrm>
          <a:prstGeom prst="rect">
            <a:avLst/>
          </a:prstGeom>
        </p:spPr>
      </p:pic>
      <p:sp>
        <p:nvSpPr>
          <p:cNvPr id="9" name="Tipo">
            <a:extLst>
              <a:ext uri="{FF2B5EF4-FFF2-40B4-BE49-F238E27FC236}">
                <a16:creationId xmlns:a16="http://schemas.microsoft.com/office/drawing/2014/main" id="{8EB9FF64-737C-4D98-80A0-129A73C06649}"/>
              </a:ext>
            </a:extLst>
          </p:cNvPr>
          <p:cNvSpPr>
            <a:spLocks noGrp="1"/>
          </p:cNvSpPr>
          <p:nvPr/>
        </p:nvSpPr>
        <p:spPr>
          <a:xfrm>
            <a:off x="5276850" y="1381125"/>
            <a:ext cx="3314700" cy="495300"/>
          </a:xfrm>
          <a:prstGeom prst="rect">
            <a:avLst/>
          </a:prstGeom>
          <a:noFill/>
          <a:ln w="0">
            <a:noFill/>
          </a:ln>
        </p:spPr>
        <p:txBody>
          <a:bodyPr wrap="square" lIns="0" tIns="0" rIns="0" bIns="0" anchor="t">
            <a:noAutofit/>
          </a:bodyPr>
          <a:lstStyle/>
          <a:p>
            <a:pPr algn="l">
              <a:buNone/>
              <a:defRPr sz="1425" b="1">
                <a:solidFill>
                  <a:srgbClr val="017EDF"/>
                </a:solidFill>
                <a:latin typeface="Calibri"/>
                <a:ea typeface="Calibri"/>
                <a:cs typeface="Calibri"/>
              </a:defRPr>
            </a:pPr>
            <a:r>
              <a:rPr sz="1425" b="1">
                <a:solidFill>
                  <a:srgbClr val="017EDF"/>
                </a:solidFill>
                <a:latin typeface="Calibri"/>
                <a:ea typeface="Calibri"/>
                <a:cs typeface="Calibri"/>
              </a:rPr>
              <a:t>Producto demográfico territorial</a:t>
            </a:r>
          </a:p>
        </p:txBody>
      </p:sp>
      <p:sp>
        <p:nvSpPr>
          <p:cNvPr id="10" name="Variable">
            <a:extLst>
              <a:ext uri="{FF2B5EF4-FFF2-40B4-BE49-F238E27FC236}">
                <a16:creationId xmlns:a16="http://schemas.microsoft.com/office/drawing/2014/main" id="{420CD14F-CA97-4D0A-9BD5-1132E00B85FA}"/>
              </a:ext>
            </a:extLst>
          </p:cNvPr>
          <p:cNvSpPr>
            <a:spLocks noGrp="1"/>
          </p:cNvSpPr>
          <p:nvPr/>
        </p:nvSpPr>
        <p:spPr>
          <a:xfrm>
            <a:off x="5276850" y="2038350"/>
            <a:ext cx="3314700" cy="800100"/>
          </a:xfrm>
          <a:prstGeom prst="rect">
            <a:avLst/>
          </a:prstGeom>
          <a:noFill/>
          <a:ln w="0">
            <a:noFill/>
          </a:ln>
        </p:spPr>
        <p:txBody>
          <a:bodyPr wrap="square" lIns="0" tIns="0" rIns="0" bIns="0" anchor="t">
            <a:noAutofit/>
          </a:bodyPr>
          <a:lstStyle/>
          <a:p>
            <a:pPr algn="l">
              <a:buNone/>
              <a:defRPr sz="1725" b="1">
                <a:solidFill>
                  <a:srgbClr val="17375D"/>
                </a:solidFill>
                <a:latin typeface="Calibri"/>
                <a:ea typeface="Calibri"/>
                <a:cs typeface="Calibri"/>
              </a:defRPr>
            </a:pPr>
            <a:r>
              <a:rPr sz="1725" b="1">
                <a:solidFill>
                  <a:srgbClr val="17375D"/>
                </a:solidFill>
                <a:latin typeface="Calibri"/>
                <a:ea typeface="Calibri"/>
                <a:cs typeface="Calibri"/>
              </a:rPr>
              <a:t>Densidad de población (hab/km²)</a:t>
            </a:r>
          </a:p>
          <a:p>
            <a:pPr algn="l">
              <a:buNone/>
              <a:defRPr sz="1725" b="1">
                <a:solidFill>
                  <a:srgbClr val="17375D"/>
                </a:solidFill>
                <a:latin typeface="Calibri"/>
                <a:ea typeface="Calibri"/>
                <a:cs typeface="Calibri"/>
              </a:defRPr>
            </a:pPr>
            <a:r>
              <a:rPr sz="1725" b="1">
                <a:solidFill>
                  <a:srgbClr val="17375D"/>
                </a:solidFill>
                <a:latin typeface="Calibri"/>
                <a:ea typeface="Calibri"/>
                <a:cs typeface="Calibri"/>
              </a:rPr>
              <a:t>Fuente comunal, distribución en grilla</a:t>
            </a:r>
          </a:p>
        </p:txBody>
      </p:sp>
      <p:sp>
        <p:nvSpPr>
          <p:cNvPr id="11" name="Lectura">
            <a:extLst>
              <a:ext uri="{FF2B5EF4-FFF2-40B4-BE49-F238E27FC236}">
                <a16:creationId xmlns:a16="http://schemas.microsoft.com/office/drawing/2014/main" id="{D118A5AA-62A2-43DA-BDED-CC09B2A6DE14}"/>
              </a:ext>
            </a:extLst>
          </p:cNvPr>
          <p:cNvSpPr>
            <a:spLocks noGrp="1"/>
          </p:cNvSpPr>
          <p:nvPr/>
        </p:nvSpPr>
        <p:spPr>
          <a:xfrm>
            <a:off x="5276850" y="3086100"/>
            <a:ext cx="3314700" cy="1095375"/>
          </a:xfrm>
          <a:prstGeom prst="rect">
            <a:avLst/>
          </a:prstGeom>
          <a:noFill/>
          <a:ln w="0">
            <a:noFill/>
          </a:ln>
        </p:spPr>
        <p:txBody>
          <a:bodyPr wrap="square" lIns="0" tIns="0" rIns="0" bIns="0" anchor="t">
            <a:noAutofit/>
          </a:bodyPr>
          <a:lstStyle/>
          <a:p>
            <a:pPr algn="l">
              <a:buNone/>
              <a:defRPr sz="1575">
                <a:solidFill>
                  <a:srgbClr val="1E293B"/>
                </a:solidFill>
                <a:latin typeface="Calibri"/>
                <a:ea typeface="Calibri"/>
                <a:cs typeface="Calibri"/>
              </a:defRPr>
            </a:pPr>
            <a:r>
              <a:rPr sz="1575">
                <a:solidFill>
                  <a:srgbClr val="1E293B"/>
                </a:solidFill>
                <a:latin typeface="Calibri"/>
                <a:ea typeface="Calibri"/>
                <a:cs typeface="Calibri"/>
              </a:rPr>
              <a:t>Covariable territorial anual. El rango 2002–2035 incluye estimaciones y proyecciones.</a:t>
            </a:r>
          </a:p>
        </p:txBody>
      </p:sp>
      <p:sp>
        <p:nvSpPr>
          <p:cNvPr id="12" name="Fuente y alcance">
            <a:extLst>
              <a:ext uri="{FF2B5EF4-FFF2-40B4-BE49-F238E27FC236}">
                <a16:creationId xmlns:a16="http://schemas.microsoft.com/office/drawing/2014/main" id="{9B6A7412-5F69-4EC0-900D-5564F981FB01}"/>
              </a:ext>
            </a:extLst>
          </p:cNvPr>
          <p:cNvSpPr>
            <a:spLocks noGrp="1"/>
          </p:cNvSpPr>
          <p:nvPr/>
        </p:nvSpPr>
        <p:spPr>
          <a:xfrm>
            <a:off x="548640" y="4619625"/>
            <a:ext cx="8046720" cy="200025"/>
          </a:xfrm>
          <a:prstGeom prst="rect">
            <a:avLst/>
          </a:prstGeom>
          <a:noFill/>
          <a:ln w="0">
            <a:noFill/>
          </a:ln>
        </p:spPr>
        <p:txBody>
          <a:bodyPr wrap="square" lIns="0" tIns="0" rIns="0" bIns="0" anchor="ctr">
            <a:noAutofit/>
          </a:bodyPr>
          <a:lstStyle/>
          <a:p>
            <a:pPr algn="l">
              <a:buNone/>
              <a:defRPr sz="848">
                <a:solidFill>
                  <a:srgbClr val="526277"/>
                </a:solidFill>
                <a:latin typeface="Calibri"/>
                <a:ea typeface="Calibri"/>
                <a:cs typeface="Calibri"/>
              </a:defRPr>
            </a:pPr>
            <a:r>
              <a:rPr sz="848">
                <a:solidFill>
                  <a:srgbClr val="526277"/>
                </a:solidFill>
                <a:latin typeface="Calibri"/>
                <a:ea typeface="Calibri"/>
                <a:cs typeface="Calibri"/>
              </a:rPr>
              <a:t>HTML, figura 45. Figura original completa. Mapas de años seleccionados y serie anual por macrozona.</a:t>
            </a:r>
          </a:p>
        </p:txBody>
      </p:sp>
    </p:spTree>
    <p:extLst>
      <p:ext uri="{BB962C8B-B14F-4D97-AF65-F5344CB8AC3E}">
        <p14:creationId xmlns:p14="http://schemas.microsoft.com/office/powerpoint/2010/main" val="322757276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3" name="Cabecera azul UC">
            <a:extLst>
              <a:ext uri="{FF2B5EF4-FFF2-40B4-BE49-F238E27FC236}">
                <a16:creationId xmlns:a16="http://schemas.microsoft.com/office/drawing/2014/main" id="{6EAF59AB-94CB-4FEB-AA0A-B34C56B7B110}"/>
              </a:ext>
            </a:extLst>
          </p:cNvPr>
          <p:cNvSpPr>
            <a:spLocks noGrp="1"/>
          </p:cNvSpPr>
          <p:nvPr/>
        </p:nvSpPr>
        <p:spPr>
          <a:xfrm>
            <a:off x="158742" y="0"/>
            <a:ext cx="8985258" cy="1007195"/>
          </a:xfrm>
          <a:prstGeom prst="rect">
            <a:avLst/>
          </a:prstGeom>
          <a:solidFill>
            <a:srgbClr val="017EDF"/>
          </a:solidFill>
          <a:ln>
            <a:noFill/>
          </a:ln>
        </p:spPr>
        <p:txBody>
          <a:bodyPr/>
          <a:lstStyle/>
          <a:p>
            <a:endParaRPr lang="es-CL"/>
          </a:p>
        </p:txBody>
      </p:sp>
      <p:sp>
        <p:nvSpPr>
          <p:cNvPr id="4" name="Rectángulo 9">
            <a:extLst>
              <a:ext uri="{FF2B5EF4-FFF2-40B4-BE49-F238E27FC236}">
                <a16:creationId xmlns:a16="http://schemas.microsoft.com/office/drawing/2014/main" id="{DD0C1E97-EBFF-4070-85B6-82581057B7DD}"/>
              </a:ext>
            </a:extLst>
          </p:cNvPr>
          <p:cNvSpPr>
            <a:spLocks noGrp="1"/>
          </p:cNvSpPr>
          <p:nvPr/>
        </p:nvSpPr>
        <p:spPr>
          <a:xfrm>
            <a:off x="0" y="149945"/>
            <a:ext cx="158742" cy="857250"/>
          </a:xfrm>
          <a:prstGeom prst="rect">
            <a:avLst/>
          </a:prstGeom>
          <a:solidFill>
            <a:srgbClr val="FFE2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Rectángulo 7">
            <a:extLst>
              <a:ext uri="{FF2B5EF4-FFF2-40B4-BE49-F238E27FC236}">
                <a16:creationId xmlns:a16="http://schemas.microsoft.com/office/drawing/2014/main" id="{59E3A391-7BDA-466D-912D-2D8CDA498727}"/>
              </a:ext>
            </a:extLst>
          </p:cNvPr>
          <p:cNvSpPr>
            <a:spLocks noGrp="1"/>
          </p:cNvSpPr>
          <p:nvPr/>
        </p:nvSpPr>
        <p:spPr>
          <a:xfrm flipV="1">
            <a:off x="169334" y="4871120"/>
            <a:ext cx="8815911" cy="177311"/>
          </a:xfrm>
          <a:prstGeom prst="rect">
            <a:avLst/>
          </a:prstGeom>
          <a:solidFill>
            <a:schemeClr val="bg1">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Rectángulo 10">
            <a:extLst>
              <a:ext uri="{FF2B5EF4-FFF2-40B4-BE49-F238E27FC236}">
                <a16:creationId xmlns:a16="http://schemas.microsoft.com/office/drawing/2014/main" id="{764D1453-791D-41D2-B658-8F64A9B11BFC}"/>
              </a:ext>
            </a:extLst>
          </p:cNvPr>
          <p:cNvSpPr>
            <a:spLocks noGrp="1"/>
          </p:cNvSpPr>
          <p:nvPr/>
        </p:nvSpPr>
        <p:spPr>
          <a:xfrm flipV="1">
            <a:off x="7200957" y="4871118"/>
            <a:ext cx="1119038" cy="177313"/>
          </a:xfrm>
          <a:prstGeom prst="rect">
            <a:avLst/>
          </a:prstGeom>
          <a:solidFill>
            <a:srgbClr val="3366CC"/>
          </a:solidFill>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ítulo 1">
            <a:extLst>
              <a:ext uri="{FF2B5EF4-FFF2-40B4-BE49-F238E27FC236}">
                <a16:creationId xmlns:a16="http://schemas.microsoft.com/office/drawing/2014/main" id="{65B22ECF-75AA-44C4-A5F5-085F19FB2D87}"/>
              </a:ext>
            </a:extLst>
          </p:cNvPr>
          <p:cNvSpPr>
            <a:spLocks noGrp="1"/>
          </p:cNvSpPr>
          <p:nvPr>
            <p:ph type="title"/>
          </p:nvPr>
        </p:nvSpPr>
        <p:spPr>
          <a:xfrm>
            <a:off x="457200" y="149945"/>
            <a:ext cx="8229600" cy="857250"/>
          </a:xfrm>
        </p:spPr>
        <p:txBody>
          <a:bodyPr wrap="square" anchor="ctr">
            <a:noAutofit/>
          </a:bodyPr>
          <a:lstStyle/>
          <a:p>
            <a:pPr algn="l">
              <a:spcBef>
                <a:spcPts val="0"/>
              </a:spcBef>
              <a:spcAft>
                <a:spcPts val="0"/>
              </a:spcAft>
              <a:defRPr sz="1900" b="1">
                <a:solidFill>
                  <a:srgbClr val="FFFFFF"/>
                </a:solidFill>
                <a:latin typeface="Calibri"/>
                <a:ea typeface="Calibri"/>
                <a:cs typeface="Calibri"/>
              </a:defRPr>
            </a:pPr>
            <a:r>
              <a:rPr sz="1900" b="1">
                <a:solidFill>
                  <a:srgbClr val="FFFFFF"/>
                </a:solidFill>
                <a:latin typeface="Calibri"/>
                <a:ea typeface="Calibri"/>
                <a:cs typeface="Calibri"/>
              </a:rPr>
              <a:t>Anexo: selección, métricas y extremos</a:t>
            </a:r>
          </a:p>
        </p:txBody>
      </p:sp>
      <p:sp>
        <p:nvSpPr>
          <p:cNvPr id="8" name="Riesgo 1">
            <a:extLst>
              <a:ext uri="{FF2B5EF4-FFF2-40B4-BE49-F238E27FC236}">
                <a16:creationId xmlns:a16="http://schemas.microsoft.com/office/drawing/2014/main" id="{C1732BFB-0691-4244-AA30-96C9D2A47FCD}"/>
              </a:ext>
            </a:extLst>
          </p:cNvPr>
          <p:cNvSpPr>
            <a:spLocks noGrp="1"/>
          </p:cNvSpPr>
          <p:nvPr/>
        </p:nvSpPr>
        <p:spPr>
          <a:xfrm>
            <a:off x="548640" y="1303020"/>
            <a:ext cx="8044434" cy="891540"/>
          </a:xfrm>
          <a:prstGeom prst="roundRect">
            <a:avLst>
              <a:gd name="adj" fmla="val 7500"/>
            </a:avLst>
          </a:prstGeom>
          <a:solidFill>
            <a:srgbClr val="F2F6FC"/>
          </a:solidFill>
          <a:ln w="8573">
            <a:solidFill>
              <a:srgbClr val="D6DFEB"/>
            </a:solidFill>
          </a:ln>
          <a:effectLst>
            <a:outerShdw blurRad="38000" dist="23000" dir="5400000" algn="ctr" rotWithShape="0">
              <a:srgbClr val="000000">
                <a:alpha val="14000"/>
              </a:srgbClr>
            </a:outerShdw>
          </a:effectLst>
        </p:spPr>
        <p:txBody>
          <a:bodyPr wrap="square" lIns="96012" tIns="96012" rIns="96012" bIns="96012" anchor="ctr">
            <a:noAutofit/>
          </a:bodyPr>
          <a:lstStyle/>
          <a:p>
            <a:endParaRPr/>
          </a:p>
        </p:txBody>
      </p:sp>
      <p:sp>
        <p:nvSpPr>
          <p:cNvPr id="9" name="Problema 1">
            <a:extLst>
              <a:ext uri="{FF2B5EF4-FFF2-40B4-BE49-F238E27FC236}">
                <a16:creationId xmlns:a16="http://schemas.microsoft.com/office/drawing/2014/main" id="{00A05D63-B4B3-46E1-99E0-EF3589DC4BC0}"/>
              </a:ext>
            </a:extLst>
          </p:cNvPr>
          <p:cNvSpPr>
            <a:spLocks noGrp="1"/>
          </p:cNvSpPr>
          <p:nvPr/>
        </p:nvSpPr>
        <p:spPr>
          <a:xfrm>
            <a:off x="768096" y="1440180"/>
            <a:ext cx="2379726" cy="617220"/>
          </a:xfrm>
          <a:prstGeom prst="rect">
            <a:avLst/>
          </a:prstGeom>
          <a:noFill/>
          <a:ln w="8573">
            <a:noFill/>
          </a:ln>
        </p:spPr>
        <p:txBody>
          <a:bodyPr wrap="square" lIns="0" tIns="0" rIns="0" bIns="0" anchor="t">
            <a:noAutofit/>
          </a:bodyPr>
          <a:lstStyle/>
          <a:p>
            <a:pPr>
              <a:spcBef>
                <a:spcPts val="0"/>
              </a:spcBef>
              <a:spcAft>
                <a:spcPts val="0"/>
              </a:spcAft>
              <a:buNone/>
              <a:defRPr sz="1425" b="1">
                <a:solidFill>
                  <a:srgbClr val="17375D"/>
                </a:solidFill>
                <a:latin typeface="Calibri"/>
                <a:ea typeface="Calibri"/>
                <a:cs typeface="Calibri"/>
              </a:defRPr>
            </a:pPr>
            <a:r>
              <a:rPr sz="1425" b="1">
                <a:solidFill>
                  <a:srgbClr val="17375D"/>
                </a:solidFill>
                <a:latin typeface="Calibri"/>
                <a:ea typeface="Calibri"/>
                <a:cs typeface="Calibri"/>
              </a:rPr>
              <a:t>Selección del modelo</a:t>
            </a:r>
          </a:p>
          <a:p>
            <a:pPr>
              <a:spcBef>
                <a:spcPts val="0"/>
              </a:spcBef>
              <a:spcAft>
                <a:spcPts val="0"/>
              </a:spcAft>
              <a:buNone/>
              <a:defRPr sz="1425" b="1">
                <a:solidFill>
                  <a:srgbClr val="17375D"/>
                </a:solidFill>
                <a:latin typeface="Calibri"/>
                <a:ea typeface="Calibri"/>
                <a:cs typeface="Calibri"/>
              </a:defRPr>
            </a:pPr>
            <a:r>
              <a:rPr sz="1425" b="1">
                <a:solidFill>
                  <a:srgbClr val="17375D"/>
                </a:solidFill>
                <a:latin typeface="Calibri"/>
                <a:ea typeface="Calibri"/>
                <a:cs typeface="Calibri"/>
              </a:rPr>
              <a:t>Protocolo por cerrar</a:t>
            </a:r>
          </a:p>
        </p:txBody>
      </p:sp>
      <p:sp>
        <p:nvSpPr>
          <p:cNvPr id="10" name="Respuesta 1">
            <a:extLst>
              <a:ext uri="{FF2B5EF4-FFF2-40B4-BE49-F238E27FC236}">
                <a16:creationId xmlns:a16="http://schemas.microsoft.com/office/drawing/2014/main" id="{14A0F944-A00D-4E1E-810C-9B685521A456}"/>
              </a:ext>
            </a:extLst>
          </p:cNvPr>
          <p:cNvSpPr>
            <a:spLocks noGrp="1"/>
          </p:cNvSpPr>
          <p:nvPr/>
        </p:nvSpPr>
        <p:spPr>
          <a:xfrm>
            <a:off x="3394710" y="1741932"/>
            <a:ext cx="480060" cy="0"/>
          </a:xfrm>
          <a:prstGeom prst="line">
            <a:avLst/>
          </a:prstGeom>
          <a:ln w="15240">
            <a:solidFill>
              <a:srgbClr val="3366CC"/>
            </a:solidFill>
            <a:headEnd type="none"/>
            <a:tailEnd type="triangle"/>
          </a:ln>
        </p:spPr>
        <p:txBody>
          <a:bodyPr/>
          <a:lstStyle/>
          <a:p>
            <a:endParaRPr lang="es-CL"/>
          </a:p>
        </p:txBody>
      </p:sp>
      <p:sp>
        <p:nvSpPr>
          <p:cNvPr id="11" name="Medida 1">
            <a:extLst>
              <a:ext uri="{FF2B5EF4-FFF2-40B4-BE49-F238E27FC236}">
                <a16:creationId xmlns:a16="http://schemas.microsoft.com/office/drawing/2014/main" id="{E4BAB6B8-E515-4486-9615-D99FD63406E4}"/>
              </a:ext>
            </a:extLst>
          </p:cNvPr>
          <p:cNvSpPr>
            <a:spLocks noGrp="1"/>
          </p:cNvSpPr>
          <p:nvPr/>
        </p:nvSpPr>
        <p:spPr>
          <a:xfrm>
            <a:off x="4128516" y="1440180"/>
            <a:ext cx="4114800" cy="624078"/>
          </a:xfrm>
          <a:prstGeom prst="rect">
            <a:avLst/>
          </a:prstGeom>
          <a:noFill/>
          <a:ln w="8573">
            <a:noFill/>
          </a:ln>
        </p:spPr>
        <p:txBody>
          <a:bodyPr wrap="square" lIns="0" tIns="0" rIns="0" bIns="0" anchor="t">
            <a:noAutofit/>
          </a:bodyPr>
          <a:lstStyle/>
          <a:p>
            <a:pPr>
              <a:spcBef>
                <a:spcPts val="0"/>
              </a:spcBef>
              <a:spcAft>
                <a:spcPts val="0"/>
              </a:spcAft>
              <a:buNone/>
              <a:defRPr sz="1350" b="0">
                <a:solidFill>
                  <a:srgbClr val="1E293B"/>
                </a:solidFill>
                <a:latin typeface="Calibri"/>
                <a:ea typeface="Calibri"/>
                <a:cs typeface="Calibri"/>
              </a:defRPr>
            </a:pPr>
            <a:r>
              <a:rPr sz="1350" b="0">
                <a:solidFill>
                  <a:srgbClr val="1E293B"/>
                </a:solidFill>
                <a:latin typeface="Calibri"/>
                <a:ea typeface="Calibri"/>
                <a:cs typeface="Calibri"/>
              </a:rPr>
              <a:t>Ajustar hiperparámetros en particiones internas. Reservar una evaluación externa sin usarla para elegir el modelo.</a:t>
            </a:r>
          </a:p>
        </p:txBody>
      </p:sp>
      <p:sp>
        <p:nvSpPr>
          <p:cNvPr id="12" name="Riesgo 2">
            <a:extLst>
              <a:ext uri="{FF2B5EF4-FFF2-40B4-BE49-F238E27FC236}">
                <a16:creationId xmlns:a16="http://schemas.microsoft.com/office/drawing/2014/main" id="{82641C91-B247-476C-A2E4-9791C85A7E01}"/>
              </a:ext>
            </a:extLst>
          </p:cNvPr>
          <p:cNvSpPr>
            <a:spLocks noGrp="1"/>
          </p:cNvSpPr>
          <p:nvPr/>
        </p:nvSpPr>
        <p:spPr>
          <a:xfrm>
            <a:off x="548640" y="2352294"/>
            <a:ext cx="8044434" cy="891540"/>
          </a:xfrm>
          <a:prstGeom prst="roundRect">
            <a:avLst>
              <a:gd name="adj" fmla="val 7500"/>
            </a:avLst>
          </a:prstGeom>
          <a:solidFill>
            <a:srgbClr val="F2F6FC"/>
          </a:solidFill>
          <a:ln w="8573">
            <a:solidFill>
              <a:srgbClr val="D6DFEB"/>
            </a:solidFill>
          </a:ln>
          <a:effectLst>
            <a:outerShdw blurRad="38000" dist="23000" dir="5400000" algn="ctr" rotWithShape="0">
              <a:srgbClr val="000000">
                <a:alpha val="14000"/>
              </a:srgbClr>
            </a:outerShdw>
          </a:effectLst>
        </p:spPr>
        <p:txBody>
          <a:bodyPr wrap="square" lIns="96012" tIns="96012" rIns="96012" bIns="96012" anchor="ctr">
            <a:noAutofit/>
          </a:bodyPr>
          <a:lstStyle/>
          <a:p>
            <a:endParaRPr/>
          </a:p>
        </p:txBody>
      </p:sp>
      <p:sp>
        <p:nvSpPr>
          <p:cNvPr id="13" name="Problema 2">
            <a:extLst>
              <a:ext uri="{FF2B5EF4-FFF2-40B4-BE49-F238E27FC236}">
                <a16:creationId xmlns:a16="http://schemas.microsoft.com/office/drawing/2014/main" id="{B349B01B-43CD-4AFA-BFE9-2FA657FA4FCC}"/>
              </a:ext>
            </a:extLst>
          </p:cNvPr>
          <p:cNvSpPr>
            <a:spLocks noGrp="1"/>
          </p:cNvSpPr>
          <p:nvPr/>
        </p:nvSpPr>
        <p:spPr>
          <a:xfrm>
            <a:off x="768096" y="2489454"/>
            <a:ext cx="2379726" cy="617220"/>
          </a:xfrm>
          <a:prstGeom prst="rect">
            <a:avLst/>
          </a:prstGeom>
          <a:noFill/>
          <a:ln w="8573">
            <a:noFill/>
          </a:ln>
        </p:spPr>
        <p:txBody>
          <a:bodyPr wrap="square" lIns="0" tIns="0" rIns="0" bIns="0" anchor="t">
            <a:noAutofit/>
          </a:bodyPr>
          <a:lstStyle/>
          <a:p>
            <a:pPr>
              <a:spcBef>
                <a:spcPts val="0"/>
              </a:spcBef>
              <a:spcAft>
                <a:spcPts val="0"/>
              </a:spcAft>
              <a:buNone/>
              <a:defRPr sz="1425" b="1">
                <a:solidFill>
                  <a:srgbClr val="17375D"/>
                </a:solidFill>
                <a:latin typeface="Calibri"/>
                <a:ea typeface="Calibri"/>
                <a:cs typeface="Calibri"/>
              </a:defRPr>
            </a:pPr>
            <a:r>
              <a:rPr sz="1425" b="1">
                <a:solidFill>
                  <a:srgbClr val="17375D"/>
                </a:solidFill>
                <a:latin typeface="Calibri"/>
                <a:ea typeface="Calibri"/>
                <a:cs typeface="Calibri"/>
              </a:rPr>
              <a:t>Métrica principal</a:t>
            </a:r>
          </a:p>
          <a:p>
            <a:pPr>
              <a:spcBef>
                <a:spcPts val="0"/>
              </a:spcBef>
              <a:spcAft>
                <a:spcPts val="0"/>
              </a:spcAft>
              <a:buNone/>
              <a:defRPr sz="1425" b="1">
                <a:solidFill>
                  <a:srgbClr val="17375D"/>
                </a:solidFill>
                <a:latin typeface="Calibri"/>
                <a:ea typeface="Calibri"/>
                <a:cs typeface="Calibri"/>
              </a:defRPr>
            </a:pPr>
            <a:r>
              <a:rPr sz="1425" b="1">
                <a:solidFill>
                  <a:srgbClr val="17375D"/>
                </a:solidFill>
                <a:latin typeface="Calibri"/>
                <a:ea typeface="Calibri"/>
                <a:cs typeface="Calibri"/>
              </a:rPr>
              <a:t>Propuesta para acordar</a:t>
            </a:r>
          </a:p>
        </p:txBody>
      </p:sp>
      <p:sp>
        <p:nvSpPr>
          <p:cNvPr id="14" name="Respuesta 2">
            <a:extLst>
              <a:ext uri="{FF2B5EF4-FFF2-40B4-BE49-F238E27FC236}">
                <a16:creationId xmlns:a16="http://schemas.microsoft.com/office/drawing/2014/main" id="{0B0FF110-36C7-400A-8CD7-25215C9A9146}"/>
              </a:ext>
            </a:extLst>
          </p:cNvPr>
          <p:cNvSpPr>
            <a:spLocks noGrp="1"/>
          </p:cNvSpPr>
          <p:nvPr/>
        </p:nvSpPr>
        <p:spPr>
          <a:xfrm>
            <a:off x="3394710" y="2791206"/>
            <a:ext cx="480060" cy="0"/>
          </a:xfrm>
          <a:prstGeom prst="line">
            <a:avLst/>
          </a:prstGeom>
          <a:ln w="15240">
            <a:solidFill>
              <a:srgbClr val="3366CC"/>
            </a:solidFill>
            <a:headEnd type="none"/>
            <a:tailEnd type="triangle"/>
          </a:ln>
        </p:spPr>
        <p:txBody>
          <a:bodyPr/>
          <a:lstStyle/>
          <a:p>
            <a:endParaRPr lang="es-CL"/>
          </a:p>
        </p:txBody>
      </p:sp>
      <p:sp>
        <p:nvSpPr>
          <p:cNvPr id="15" name="Medida 2">
            <a:extLst>
              <a:ext uri="{FF2B5EF4-FFF2-40B4-BE49-F238E27FC236}">
                <a16:creationId xmlns:a16="http://schemas.microsoft.com/office/drawing/2014/main" id="{E3707A9E-027F-4696-BB01-52247776EB93}"/>
              </a:ext>
            </a:extLst>
          </p:cNvPr>
          <p:cNvSpPr>
            <a:spLocks noGrp="1"/>
          </p:cNvSpPr>
          <p:nvPr/>
        </p:nvSpPr>
        <p:spPr>
          <a:xfrm>
            <a:off x="4128516" y="2489454"/>
            <a:ext cx="4114800" cy="624078"/>
          </a:xfrm>
          <a:prstGeom prst="rect">
            <a:avLst/>
          </a:prstGeom>
          <a:noFill/>
          <a:ln w="8573">
            <a:noFill/>
          </a:ln>
        </p:spPr>
        <p:txBody>
          <a:bodyPr wrap="square" lIns="0" tIns="0" rIns="0" bIns="0" anchor="t">
            <a:noAutofit/>
          </a:bodyPr>
          <a:lstStyle/>
          <a:p>
            <a:pPr>
              <a:spcBef>
                <a:spcPts val="0"/>
              </a:spcBef>
              <a:spcAft>
                <a:spcPts val="0"/>
              </a:spcAft>
              <a:buNone/>
              <a:defRPr sz="1350" b="0">
                <a:solidFill>
                  <a:srgbClr val="1E293B"/>
                </a:solidFill>
                <a:latin typeface="Calibri"/>
                <a:ea typeface="Calibri"/>
                <a:cs typeface="Calibri"/>
              </a:defRPr>
            </a:pPr>
            <a:r>
              <a:rPr sz="1350" b="0">
                <a:solidFill>
                  <a:srgbClr val="1E293B"/>
                </a:solidFill>
                <a:latin typeface="Calibri"/>
                <a:ea typeface="Calibri"/>
                <a:cs typeface="Calibri"/>
              </a:rPr>
              <a:t>RMSE por contaminante, con unidades confirmadas; acompañar con MAE y sesgo. Comparar los mismos pares reservados.</a:t>
            </a:r>
          </a:p>
        </p:txBody>
      </p:sp>
      <p:sp>
        <p:nvSpPr>
          <p:cNvPr id="16" name="Riesgo 3">
            <a:extLst>
              <a:ext uri="{FF2B5EF4-FFF2-40B4-BE49-F238E27FC236}">
                <a16:creationId xmlns:a16="http://schemas.microsoft.com/office/drawing/2014/main" id="{3D6089D9-1AF5-4BE8-8353-F3C11FDB48AA}"/>
              </a:ext>
            </a:extLst>
          </p:cNvPr>
          <p:cNvSpPr>
            <a:spLocks noGrp="1"/>
          </p:cNvSpPr>
          <p:nvPr/>
        </p:nvSpPr>
        <p:spPr>
          <a:xfrm>
            <a:off x="548640" y="3401568"/>
            <a:ext cx="8044434" cy="891540"/>
          </a:xfrm>
          <a:prstGeom prst="roundRect">
            <a:avLst>
              <a:gd name="adj" fmla="val 7500"/>
            </a:avLst>
          </a:prstGeom>
          <a:solidFill>
            <a:srgbClr val="F2F6FC"/>
          </a:solidFill>
          <a:ln w="8573">
            <a:solidFill>
              <a:srgbClr val="D6DFEB"/>
            </a:solidFill>
          </a:ln>
          <a:effectLst>
            <a:outerShdw blurRad="38000" dist="23000" dir="5400000" algn="ctr" rotWithShape="0">
              <a:srgbClr val="000000">
                <a:alpha val="14000"/>
              </a:srgbClr>
            </a:outerShdw>
          </a:effectLst>
        </p:spPr>
        <p:txBody>
          <a:bodyPr wrap="square" lIns="96012" tIns="96012" rIns="96012" bIns="96012" anchor="ctr">
            <a:noAutofit/>
          </a:bodyPr>
          <a:lstStyle/>
          <a:p>
            <a:endParaRPr/>
          </a:p>
        </p:txBody>
      </p:sp>
      <p:sp>
        <p:nvSpPr>
          <p:cNvPr id="17" name="Problema 3">
            <a:extLst>
              <a:ext uri="{FF2B5EF4-FFF2-40B4-BE49-F238E27FC236}">
                <a16:creationId xmlns:a16="http://schemas.microsoft.com/office/drawing/2014/main" id="{189B4E82-C008-45A0-BE1E-72D0A480AA50}"/>
              </a:ext>
            </a:extLst>
          </p:cNvPr>
          <p:cNvSpPr>
            <a:spLocks noGrp="1"/>
          </p:cNvSpPr>
          <p:nvPr/>
        </p:nvSpPr>
        <p:spPr>
          <a:xfrm>
            <a:off x="768096" y="3538728"/>
            <a:ext cx="2379726" cy="617220"/>
          </a:xfrm>
          <a:prstGeom prst="rect">
            <a:avLst/>
          </a:prstGeom>
          <a:noFill/>
          <a:ln w="8573">
            <a:noFill/>
          </a:ln>
        </p:spPr>
        <p:txBody>
          <a:bodyPr wrap="square" lIns="0" tIns="0" rIns="0" bIns="0" anchor="t">
            <a:noAutofit/>
          </a:bodyPr>
          <a:lstStyle/>
          <a:p>
            <a:pPr>
              <a:spcBef>
                <a:spcPts val="0"/>
              </a:spcBef>
              <a:spcAft>
                <a:spcPts val="0"/>
              </a:spcAft>
              <a:buNone/>
              <a:defRPr sz="1425" b="1">
                <a:solidFill>
                  <a:srgbClr val="17375D"/>
                </a:solidFill>
                <a:latin typeface="Calibri"/>
                <a:ea typeface="Calibri"/>
                <a:cs typeface="Calibri"/>
              </a:defRPr>
            </a:pPr>
            <a:r>
              <a:rPr sz="1425" b="1">
                <a:solidFill>
                  <a:srgbClr val="17375D"/>
                </a:solidFill>
                <a:latin typeface="Calibri"/>
                <a:ea typeface="Calibri"/>
                <a:cs typeface="Calibri"/>
              </a:rPr>
              <a:t>Extremos y territorio</a:t>
            </a:r>
          </a:p>
          <a:p>
            <a:pPr>
              <a:spcBef>
                <a:spcPts val="0"/>
              </a:spcBef>
              <a:spcAft>
                <a:spcPts val="0"/>
              </a:spcAft>
              <a:buNone/>
              <a:defRPr sz="1425" b="1">
                <a:solidFill>
                  <a:srgbClr val="17375D"/>
                </a:solidFill>
                <a:latin typeface="Calibri"/>
                <a:ea typeface="Calibri"/>
                <a:cs typeface="Calibri"/>
              </a:defRPr>
            </a:pPr>
            <a:r>
              <a:rPr sz="1425" b="1">
                <a:solidFill>
                  <a:srgbClr val="17375D"/>
                </a:solidFill>
                <a:latin typeface="Calibri"/>
                <a:ea typeface="Calibri"/>
                <a:cs typeface="Calibri"/>
              </a:rPr>
              <a:t>Evaluación prevista</a:t>
            </a:r>
          </a:p>
        </p:txBody>
      </p:sp>
      <p:sp>
        <p:nvSpPr>
          <p:cNvPr id="18" name="Respuesta 3">
            <a:extLst>
              <a:ext uri="{FF2B5EF4-FFF2-40B4-BE49-F238E27FC236}">
                <a16:creationId xmlns:a16="http://schemas.microsoft.com/office/drawing/2014/main" id="{B46C4F5B-D776-4C48-A516-6C97667A0CD7}"/>
              </a:ext>
            </a:extLst>
          </p:cNvPr>
          <p:cNvSpPr>
            <a:spLocks noGrp="1"/>
          </p:cNvSpPr>
          <p:nvPr/>
        </p:nvSpPr>
        <p:spPr>
          <a:xfrm>
            <a:off x="3394710" y="3840480"/>
            <a:ext cx="480060" cy="0"/>
          </a:xfrm>
          <a:prstGeom prst="line">
            <a:avLst/>
          </a:prstGeom>
          <a:ln w="15240">
            <a:solidFill>
              <a:srgbClr val="3366CC"/>
            </a:solidFill>
            <a:headEnd type="none"/>
            <a:tailEnd type="triangle"/>
          </a:ln>
        </p:spPr>
        <p:txBody>
          <a:bodyPr/>
          <a:lstStyle/>
          <a:p>
            <a:endParaRPr lang="es-CL"/>
          </a:p>
        </p:txBody>
      </p:sp>
      <p:sp>
        <p:nvSpPr>
          <p:cNvPr id="19" name="Medida 3">
            <a:extLst>
              <a:ext uri="{FF2B5EF4-FFF2-40B4-BE49-F238E27FC236}">
                <a16:creationId xmlns:a16="http://schemas.microsoft.com/office/drawing/2014/main" id="{E1CA38B7-C4ED-49FB-8B51-3BCC878511B9}"/>
              </a:ext>
            </a:extLst>
          </p:cNvPr>
          <p:cNvSpPr>
            <a:spLocks noGrp="1"/>
          </p:cNvSpPr>
          <p:nvPr/>
        </p:nvSpPr>
        <p:spPr>
          <a:xfrm>
            <a:off x="4128516" y="3538728"/>
            <a:ext cx="4114800" cy="624078"/>
          </a:xfrm>
          <a:prstGeom prst="rect">
            <a:avLst/>
          </a:prstGeom>
          <a:noFill/>
          <a:ln w="8573">
            <a:noFill/>
          </a:ln>
        </p:spPr>
        <p:txBody>
          <a:bodyPr wrap="square" lIns="0" tIns="0" rIns="0" bIns="0" anchor="t">
            <a:noAutofit/>
          </a:bodyPr>
          <a:lstStyle/>
          <a:p>
            <a:pPr algn="l">
              <a:spcBef>
                <a:spcPts val="0"/>
              </a:spcBef>
              <a:spcAft>
                <a:spcPts val="0"/>
              </a:spcAft>
              <a:defRPr sz="1275" b="0">
                <a:solidFill>
                  <a:srgbClr val="1E293B"/>
                </a:solidFill>
                <a:latin typeface="Calibri"/>
                <a:ea typeface="Calibri"/>
                <a:cs typeface="Calibri"/>
              </a:defRPr>
            </a:pPr>
            <a:r>
              <a:rPr sz="1275" b="0">
                <a:solidFill>
                  <a:srgbClr val="1E293B"/>
                </a:solidFill>
                <a:latin typeface="Calibri"/>
                <a:ea typeface="Calibri"/>
                <a:cs typeface="Calibri"/>
              </a:rPr>
              <a:t>Predefinir extremos con el entrenamiento. Examinar error y falsas alarmas por territorio, temporada y distancia a monitores.</a:t>
            </a:r>
          </a:p>
        </p:txBody>
      </p:sp>
      <p:sp>
        <p:nvSpPr>
          <p:cNvPr id="20" name="Métricas de evaluación">
            <a:extLst>
              <a:ext uri="{FF2B5EF4-FFF2-40B4-BE49-F238E27FC236}">
                <a16:creationId xmlns:a16="http://schemas.microsoft.com/office/drawing/2014/main" id="{08C3A98D-8EDF-42DF-A1C4-2107498C538E}"/>
              </a:ext>
            </a:extLst>
          </p:cNvPr>
          <p:cNvSpPr>
            <a:spLocks noGrp="1"/>
          </p:cNvSpPr>
          <p:nvPr/>
        </p:nvSpPr>
        <p:spPr>
          <a:xfrm>
            <a:off x="548640" y="4434840"/>
            <a:ext cx="8046720" cy="164592"/>
          </a:xfrm>
          <a:prstGeom prst="rect">
            <a:avLst/>
          </a:prstGeom>
          <a:noFill/>
          <a:ln>
            <a:noFill/>
          </a:ln>
        </p:spPr>
        <p:txBody>
          <a:bodyPr wrap="square" lIns="0" tIns="0" rIns="0" bIns="0" anchor="t">
            <a:noAutofit/>
          </a:bodyPr>
          <a:lstStyle/>
          <a:p>
            <a:pPr algn="l">
              <a:spcBef>
                <a:spcPts val="0"/>
              </a:spcBef>
              <a:spcAft>
                <a:spcPts val="0"/>
              </a:spcAft>
              <a:defRPr sz="1275" b="0">
                <a:solidFill>
                  <a:srgbClr val="17375D"/>
                </a:solidFill>
                <a:latin typeface="Calibri"/>
                <a:ea typeface="Calibri"/>
                <a:cs typeface="Calibri"/>
              </a:defRPr>
            </a:pPr>
            <a:r>
              <a:rPr sz="1275" b="0">
                <a:solidFill>
                  <a:srgbClr val="17375D"/>
                </a:solidFill>
                <a:latin typeface="Calibri"/>
                <a:ea typeface="Calibri"/>
                <a:cs typeface="Calibri"/>
              </a:rPr>
              <a:t>Incertidumbre de métricas: remuestreo por bloques. Intervalos predictivos: método por definir.</a:t>
            </a:r>
          </a:p>
        </p:txBody>
      </p:sp>
      <p:sp>
        <p:nvSpPr>
          <p:cNvPr id="21" name="Fuente y alcance">
            <a:extLst>
              <a:ext uri="{FF2B5EF4-FFF2-40B4-BE49-F238E27FC236}">
                <a16:creationId xmlns:a16="http://schemas.microsoft.com/office/drawing/2014/main" id="{FF705CFF-9A97-43E3-B24F-3DAECD67F056}"/>
              </a:ext>
            </a:extLst>
          </p:cNvPr>
          <p:cNvSpPr>
            <a:spLocks noGrp="1"/>
          </p:cNvSpPr>
          <p:nvPr/>
        </p:nvSpPr>
        <p:spPr>
          <a:xfrm>
            <a:off x="548640" y="4619625"/>
            <a:ext cx="8046720" cy="200025"/>
          </a:xfrm>
          <a:prstGeom prst="rect">
            <a:avLst/>
          </a:prstGeom>
          <a:noFill/>
          <a:ln w="0">
            <a:noFill/>
          </a:ln>
        </p:spPr>
        <p:txBody>
          <a:bodyPr wrap="square" lIns="0" tIns="0" rIns="0" bIns="0" anchor="ctr">
            <a:noAutofit/>
          </a:bodyPr>
          <a:lstStyle/>
          <a:p>
            <a:pPr algn="l">
              <a:defRPr sz="848">
                <a:solidFill>
                  <a:srgbClr val="526277"/>
                </a:solidFill>
                <a:latin typeface="Calibri"/>
                <a:ea typeface="Calibri"/>
                <a:cs typeface="Calibri"/>
              </a:defRPr>
            </a:pPr>
            <a:r>
              <a:rPr sz="848">
                <a:solidFill>
                  <a:srgbClr val="526277"/>
                </a:solidFill>
                <a:latin typeface="Calibri"/>
                <a:ea typeface="Calibri"/>
                <a:cs typeface="Calibri"/>
              </a:rPr>
              <a:t>Comparación de los mismos pares reservados por contaminante. Varma y Simon (2006), doi:10.1186/1471-2105-7-91.</a:t>
            </a:r>
          </a:p>
        </p:txBody>
      </p:sp>
    </p:spTree>
    <p:extLst>
      <p:ext uri="{BB962C8B-B14F-4D97-AF65-F5344CB8AC3E}">
        <p14:creationId xmlns:p14="http://schemas.microsoft.com/office/powerpoint/2010/main" val="322757276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3" name="Cabecera azul UC">
            <a:extLst>
              <a:ext uri="{FF2B5EF4-FFF2-40B4-BE49-F238E27FC236}">
                <a16:creationId xmlns:a16="http://schemas.microsoft.com/office/drawing/2014/main" id="{3486DB9C-93DE-456A-BF48-2757BBD61ACE}"/>
              </a:ext>
            </a:extLst>
          </p:cNvPr>
          <p:cNvSpPr>
            <a:spLocks noGrp="1"/>
          </p:cNvSpPr>
          <p:nvPr/>
        </p:nvSpPr>
        <p:spPr>
          <a:xfrm>
            <a:off x="158742" y="0"/>
            <a:ext cx="8985258" cy="1007195"/>
          </a:xfrm>
          <a:prstGeom prst="rect">
            <a:avLst/>
          </a:prstGeom>
          <a:solidFill>
            <a:srgbClr val="017EDF"/>
          </a:solidFill>
          <a:ln>
            <a:noFill/>
          </a:ln>
        </p:spPr>
        <p:txBody>
          <a:bodyPr/>
          <a:lstStyle/>
          <a:p>
            <a:endParaRPr lang="es-CL"/>
          </a:p>
        </p:txBody>
      </p:sp>
      <p:sp>
        <p:nvSpPr>
          <p:cNvPr id="4" name="Rectángulo 9">
            <a:extLst>
              <a:ext uri="{FF2B5EF4-FFF2-40B4-BE49-F238E27FC236}">
                <a16:creationId xmlns:a16="http://schemas.microsoft.com/office/drawing/2014/main" id="{2DE33766-2918-41FC-A1B9-B4BF483C8974}"/>
              </a:ext>
            </a:extLst>
          </p:cNvPr>
          <p:cNvSpPr>
            <a:spLocks noGrp="1"/>
          </p:cNvSpPr>
          <p:nvPr/>
        </p:nvSpPr>
        <p:spPr>
          <a:xfrm>
            <a:off x="0" y="149945"/>
            <a:ext cx="158742" cy="857250"/>
          </a:xfrm>
          <a:prstGeom prst="rect">
            <a:avLst/>
          </a:prstGeom>
          <a:solidFill>
            <a:srgbClr val="FFE2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Rectángulo 7">
            <a:extLst>
              <a:ext uri="{FF2B5EF4-FFF2-40B4-BE49-F238E27FC236}">
                <a16:creationId xmlns:a16="http://schemas.microsoft.com/office/drawing/2014/main" id="{3BCD4458-45E8-4C73-A3B6-249CEEFBDB7B}"/>
              </a:ext>
            </a:extLst>
          </p:cNvPr>
          <p:cNvSpPr>
            <a:spLocks noGrp="1"/>
          </p:cNvSpPr>
          <p:nvPr/>
        </p:nvSpPr>
        <p:spPr>
          <a:xfrm flipV="1">
            <a:off x="169334" y="4871120"/>
            <a:ext cx="8815911" cy="177311"/>
          </a:xfrm>
          <a:prstGeom prst="rect">
            <a:avLst/>
          </a:prstGeom>
          <a:solidFill>
            <a:schemeClr val="bg1">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Rectángulo 10">
            <a:extLst>
              <a:ext uri="{FF2B5EF4-FFF2-40B4-BE49-F238E27FC236}">
                <a16:creationId xmlns:a16="http://schemas.microsoft.com/office/drawing/2014/main" id="{A18DC9E6-BD6D-4FE1-AEC0-9715BEE3912A}"/>
              </a:ext>
            </a:extLst>
          </p:cNvPr>
          <p:cNvSpPr>
            <a:spLocks noGrp="1"/>
          </p:cNvSpPr>
          <p:nvPr/>
        </p:nvSpPr>
        <p:spPr>
          <a:xfrm flipV="1">
            <a:off x="7200957" y="4871118"/>
            <a:ext cx="1119038" cy="177313"/>
          </a:xfrm>
          <a:prstGeom prst="rect">
            <a:avLst/>
          </a:prstGeom>
          <a:solidFill>
            <a:srgbClr val="3366CC"/>
          </a:solidFill>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ítulo 1">
            <a:extLst>
              <a:ext uri="{FF2B5EF4-FFF2-40B4-BE49-F238E27FC236}">
                <a16:creationId xmlns:a16="http://schemas.microsoft.com/office/drawing/2014/main" id="{438D0FA2-1899-4EDF-9FA4-D1742768DFC6}"/>
              </a:ext>
            </a:extLst>
          </p:cNvPr>
          <p:cNvSpPr>
            <a:spLocks noGrp="1"/>
          </p:cNvSpPr>
          <p:nvPr>
            <p:ph type="title"/>
          </p:nvPr>
        </p:nvSpPr>
        <p:spPr>
          <a:xfrm>
            <a:off x="457200" y="149945"/>
            <a:ext cx="8229600" cy="857250"/>
          </a:xfrm>
        </p:spPr>
        <p:txBody>
          <a:bodyPr wrap="square" anchor="ctr">
            <a:noAutofit/>
          </a:bodyPr>
          <a:lstStyle/>
          <a:p>
            <a:pPr algn="l">
              <a:spcBef>
                <a:spcPts val="0"/>
              </a:spcBef>
              <a:spcAft>
                <a:spcPts val="0"/>
              </a:spcAft>
              <a:defRPr sz="1900" b="1">
                <a:solidFill>
                  <a:srgbClr val="FFFFFF"/>
                </a:solidFill>
                <a:latin typeface="Calibri"/>
                <a:ea typeface="Calibri"/>
                <a:cs typeface="Calibri"/>
              </a:defRPr>
            </a:pPr>
            <a:r>
              <a:rPr sz="1900" b="1">
                <a:solidFill>
                  <a:srgbClr val="FFFFFF"/>
                </a:solidFill>
                <a:latin typeface="Calibri"/>
                <a:ea typeface="Calibri"/>
                <a:cs typeface="Calibri"/>
              </a:rPr>
              <a:t>Anexo: inventario auditado al 15-sep-2026</a:t>
            </a:r>
          </a:p>
        </p:txBody>
      </p:sp>
      <p:sp>
        <p:nvSpPr>
          <p:cNvPr id="8" name="Corte">
            <a:extLst>
              <a:ext uri="{FF2B5EF4-FFF2-40B4-BE49-F238E27FC236}">
                <a16:creationId xmlns:a16="http://schemas.microsoft.com/office/drawing/2014/main" id="{B3EC6100-ABB0-4396-9AF5-B20BFC98F2F9}"/>
              </a:ext>
            </a:extLst>
          </p:cNvPr>
          <p:cNvSpPr>
            <a:spLocks noGrp="1"/>
          </p:cNvSpPr>
          <p:nvPr/>
        </p:nvSpPr>
        <p:spPr>
          <a:xfrm>
            <a:off x="552450" y="1200150"/>
            <a:ext cx="8039100" cy="285750"/>
          </a:xfrm>
          <a:prstGeom prst="rect">
            <a:avLst/>
          </a:prstGeom>
          <a:noFill/>
          <a:ln w="0">
            <a:noFill/>
          </a:ln>
        </p:spPr>
        <p:txBody>
          <a:bodyPr wrap="square" lIns="0" tIns="0" rIns="0" bIns="0">
            <a:noAutofit/>
          </a:bodyPr>
          <a:lstStyle/>
          <a:p>
            <a:pPr>
              <a:buNone/>
              <a:defRPr sz="1650" b="1">
                <a:solidFill>
                  <a:srgbClr val="17375D"/>
                </a:solidFill>
                <a:latin typeface="Calibri"/>
                <a:ea typeface="Calibri"/>
                <a:cs typeface="Calibri"/>
              </a:defRPr>
            </a:pPr>
            <a:r>
              <a:rPr sz="1650" b="1">
                <a:solidFill>
                  <a:srgbClr val="17375D"/>
                </a:solidFill>
                <a:latin typeface="Calibri"/>
                <a:ea typeface="Calibri"/>
                <a:cs typeface="Calibri"/>
              </a:rPr>
              <a:t>Corte auditado al 15 de septiembre de 2026</a:t>
            </a:r>
          </a:p>
        </p:txBody>
      </p:sp>
      <p:graphicFrame>
        <p:nvGraphicFramePr>
          <p:cNvPr id="19" name="Tabla 18"/>
          <p:cNvGraphicFramePr/>
          <p:nvPr/>
        </p:nvGraphicFramePr>
        <p:xfrm>
          <a:off x="548640" y="1619250"/>
          <a:ext cx="8046720" cy="2543175"/>
        </p:xfrm>
        <a:graphic>
          <a:graphicData uri="http://schemas.openxmlformats.org/drawingml/2006/table">
            <a:tbl>
              <a:tblPr firstRow="1"/>
              <a:tblGrid>
                <a:gridCol w="1428750">
                  <a:extLst>
                    <a:ext uri="{9D8B030D-6E8A-4147-A177-3AD203B41FA5}">
                      <a16:colId xmlns:a16="http://schemas.microsoft.com/office/drawing/2014/main" val="20000"/>
                    </a:ext>
                  </a:extLst>
                </a:gridCol>
                <a:gridCol w="2200275">
                  <a:extLst>
                    <a:ext uri="{9D8B030D-6E8A-4147-A177-3AD203B41FA5}">
                      <a16:colId xmlns:a16="http://schemas.microsoft.com/office/drawing/2014/main" val="20001"/>
                    </a:ext>
                  </a:extLst>
                </a:gridCol>
                <a:gridCol w="2114550">
                  <a:extLst>
                    <a:ext uri="{9D8B030D-6E8A-4147-A177-3AD203B41FA5}">
                      <a16:colId xmlns:a16="http://schemas.microsoft.com/office/drawing/2014/main" val="20002"/>
                    </a:ext>
                  </a:extLst>
                </a:gridCol>
                <a:gridCol w="2303145">
                  <a:extLst>
                    <a:ext uri="{9D8B030D-6E8A-4147-A177-3AD203B41FA5}">
                      <a16:colId xmlns:a16="http://schemas.microsoft.com/office/drawing/2014/main" val="20003"/>
                    </a:ext>
                  </a:extLst>
                </a:gridCol>
              </a:tblGrid>
              <a:tr h="381000">
                <a:tc>
                  <a:txBody>
                    <a:bodyPr/>
                    <a:lstStyle/>
                    <a:p>
                      <a:r>
                        <a:rPr sz="1238" b="1">
                          <a:solidFill>
                            <a:srgbClr val="FFFFFF"/>
                          </a:solidFill>
                          <a:latin typeface="Calibri"/>
                          <a:ea typeface="Calibri"/>
                          <a:cs typeface="Calibri"/>
                        </a:rPr>
                        <a:t>Fuente</a:t>
                      </a:r>
                    </a:p>
                  </a:txBody>
                  <a:tcPr anchor="ctr">
                    <a:solidFill>
                      <a:srgbClr val="17375D"/>
                    </a:solidFill>
                  </a:tcPr>
                </a:tc>
                <a:tc>
                  <a:txBody>
                    <a:bodyPr/>
                    <a:lstStyle/>
                    <a:p>
                      <a:r>
                        <a:rPr sz="1238" b="1">
                          <a:solidFill>
                            <a:srgbClr val="FFFFFF"/>
                          </a:solidFill>
                          <a:latin typeface="Calibri"/>
                          <a:ea typeface="Calibri"/>
                          <a:cs typeface="Calibri"/>
                        </a:rPr>
                        <a:t>Periodo preparado</a:t>
                      </a:r>
                    </a:p>
                  </a:txBody>
                  <a:tcPr anchor="ctr">
                    <a:solidFill>
                      <a:srgbClr val="17375D"/>
                    </a:solidFill>
                  </a:tcPr>
                </a:tc>
                <a:tc>
                  <a:txBody>
                    <a:bodyPr/>
                    <a:lstStyle/>
                    <a:p>
                      <a:r>
                        <a:rPr sz="1238" b="1">
                          <a:solidFill>
                            <a:srgbClr val="FFFFFF"/>
                          </a:solidFill>
                          <a:latin typeface="Calibri"/>
                          <a:ea typeface="Calibri"/>
                          <a:cs typeface="Calibri"/>
                        </a:rPr>
                        <a:t>Resolución nativa</a:t>
                      </a:r>
                    </a:p>
                  </a:txBody>
                  <a:tcPr anchor="ctr">
                    <a:solidFill>
                      <a:srgbClr val="17375D"/>
                    </a:solidFill>
                  </a:tcPr>
                </a:tc>
                <a:tc>
                  <a:txBody>
                    <a:bodyPr/>
                    <a:lstStyle/>
                    <a:p>
                      <a:r>
                        <a:rPr sz="1238" b="1">
                          <a:solidFill>
                            <a:srgbClr val="FFFFFF"/>
                          </a:solidFill>
                          <a:latin typeface="Calibri"/>
                          <a:ea typeface="Calibri"/>
                          <a:cs typeface="Calibri"/>
                        </a:rPr>
                        <a:t>Volumen del corte</a:t>
                      </a:r>
                    </a:p>
                  </a:txBody>
                  <a:tcPr anchor="ctr">
                    <a:solidFill>
                      <a:srgbClr val="17375D"/>
                    </a:solidFill>
                  </a:tcPr>
                </a:tc>
                <a:extLst>
                  <a:ext uri="{0D108BD9-81ED-4DB2-BD59-A6C34878D82A}">
                    <a16:rowId xmlns:a16="http://schemas.microsoft.com/office/drawing/2014/main" val="10000"/>
                  </a:ext>
                </a:extLst>
              </a:tr>
              <a:tr h="720725">
                <a:tc>
                  <a:txBody>
                    <a:bodyPr/>
                    <a:lstStyle/>
                    <a:p>
                      <a:r>
                        <a:rPr sz="1238" b="0">
                          <a:solidFill>
                            <a:srgbClr val="1E293B"/>
                          </a:solidFill>
                          <a:latin typeface="Calibri"/>
                          <a:ea typeface="Calibri"/>
                          <a:cs typeface="Calibri"/>
                        </a:rPr>
                        <a:t>SINCA</a:t>
                      </a:r>
                    </a:p>
                  </a:txBody>
                  <a:tcPr anchor="ctr">
                    <a:solidFill>
                      <a:srgbClr val="EAF2FD"/>
                    </a:solidFill>
                  </a:tcPr>
                </a:tc>
                <a:tc>
                  <a:txBody>
                    <a:bodyPr/>
                    <a:lstStyle/>
                    <a:p>
                      <a:r>
                        <a:rPr sz="1238" b="0">
                          <a:solidFill>
                            <a:srgbClr val="1E293B"/>
                          </a:solidFill>
                          <a:latin typeface="Calibri"/>
                          <a:ea typeface="Calibri"/>
                          <a:cs typeface="Calibri"/>
                        </a:rPr>
                        <a:t>2000–13 sep 2026</a:t>
                      </a:r>
                    </a:p>
                    <a:p>
                      <a:r>
                        <a:rPr sz="1238" b="0">
                          <a:solidFill>
                            <a:srgbClr val="1E293B"/>
                          </a:solidFill>
                          <a:latin typeface="Calibri"/>
                          <a:ea typeface="Calibri"/>
                          <a:cs typeface="Calibri"/>
                        </a:rPr>
                        <a:t>Cobertura variable por serie</a:t>
                      </a:r>
                    </a:p>
                  </a:txBody>
                  <a:tcPr anchor="ctr">
                    <a:solidFill>
                      <a:srgbClr val="EAF2FD"/>
                    </a:solidFill>
                  </a:tcPr>
                </a:tc>
                <a:tc>
                  <a:txBody>
                    <a:bodyPr/>
                    <a:lstStyle/>
                    <a:p>
                      <a:r>
                        <a:rPr sz="1238" b="0">
                          <a:solidFill>
                            <a:srgbClr val="1E293B"/>
                          </a:solidFill>
                          <a:latin typeface="Calibri"/>
                          <a:ea typeface="Calibri"/>
                          <a:cs typeface="Calibri"/>
                        </a:rPr>
                        <a:t>Estaciones y etiquetas horarias originales</a:t>
                      </a:r>
                    </a:p>
                  </a:txBody>
                  <a:tcPr anchor="ctr">
                    <a:solidFill>
                      <a:srgbClr val="EAF2FD"/>
                    </a:solidFill>
                  </a:tcPr>
                </a:tc>
                <a:tc>
                  <a:txBody>
                    <a:bodyPr/>
                    <a:lstStyle/>
                    <a:p>
                      <a:r>
                        <a:rPr sz="1238" b="0">
                          <a:solidFill>
                            <a:srgbClr val="1E293B"/>
                          </a:solidFill>
                          <a:latin typeface="Calibri"/>
                          <a:ea typeface="Calibri"/>
                          <a:cs typeface="Calibri"/>
                        </a:rPr>
                        <a:t>107 estaciones · 403 series</a:t>
                      </a:r>
                    </a:p>
                    <a:p>
                      <a:r>
                        <a:rPr sz="1238" b="0">
                          <a:solidFill>
                            <a:srgbClr val="1E293B"/>
                          </a:solidFill>
                          <a:latin typeface="Calibri"/>
                          <a:ea typeface="Calibri"/>
                          <a:cs typeface="Calibri"/>
                        </a:rPr>
                        <a:t>94.311.869 filas seleccionadas</a:t>
                      </a:r>
                    </a:p>
                  </a:txBody>
                  <a:tcPr anchor="ctr">
                    <a:solidFill>
                      <a:srgbClr val="EAF2FD"/>
                    </a:solidFill>
                  </a:tcPr>
                </a:tc>
                <a:extLst>
                  <a:ext uri="{0D108BD9-81ED-4DB2-BD59-A6C34878D82A}">
                    <a16:rowId xmlns:a16="http://schemas.microsoft.com/office/drawing/2014/main" val="10001"/>
                  </a:ext>
                </a:extLst>
              </a:tr>
              <a:tr h="720725">
                <a:tc>
                  <a:txBody>
                    <a:bodyPr/>
                    <a:lstStyle/>
                    <a:p>
                      <a:r>
                        <a:rPr sz="1238" b="0">
                          <a:solidFill>
                            <a:srgbClr val="1E293B"/>
                          </a:solidFill>
                          <a:latin typeface="Calibri"/>
                          <a:ea typeface="Calibri"/>
                          <a:cs typeface="Calibri"/>
                        </a:rPr>
                        <a:t>MERRA-2</a:t>
                      </a:r>
                    </a:p>
                    <a:p>
                      <a:r>
                        <a:rPr sz="1238" b="0">
                          <a:solidFill>
                            <a:srgbClr val="1E293B"/>
                          </a:solidFill>
                          <a:latin typeface="Calibri"/>
                          <a:ea typeface="Calibri"/>
                          <a:cs typeface="Calibri"/>
                        </a:rPr>
                        <a:t>meteorología</a:t>
                      </a:r>
                    </a:p>
                  </a:txBody>
                  <a:tcPr anchor="ctr">
                    <a:solidFill>
                      <a:srgbClr val="FFFFFF"/>
                    </a:solidFill>
                  </a:tcPr>
                </a:tc>
                <a:tc>
                  <a:txBody>
                    <a:bodyPr/>
                    <a:lstStyle/>
                    <a:p>
                      <a:r>
                        <a:rPr sz="1238" b="0">
                          <a:solidFill>
                            <a:srgbClr val="1E293B"/>
                          </a:solidFill>
                          <a:latin typeface="Calibri"/>
                          <a:ea typeface="Calibri"/>
                          <a:cs typeface="Calibri"/>
                        </a:rPr>
                        <a:t>ene 2000–may 2026</a:t>
                      </a:r>
                    </a:p>
                    <a:p>
                      <a:r>
                        <a:rPr sz="1238" b="0">
                          <a:solidFill>
                            <a:srgbClr val="1E293B"/>
                          </a:solidFill>
                          <a:latin typeface="Calibri"/>
                          <a:ea typeface="Calibri"/>
                          <a:cs typeface="Calibri"/>
                        </a:rPr>
                        <a:t>317 meses</a:t>
                      </a:r>
                    </a:p>
                  </a:txBody>
                  <a:tcPr anchor="ctr">
                    <a:solidFill>
                      <a:srgbClr val="FFFFFF"/>
                    </a:solidFill>
                  </a:tcPr>
                </a:tc>
                <a:tc>
                  <a:txBody>
                    <a:bodyPr/>
                    <a:lstStyle/>
                    <a:p>
                      <a:r>
                        <a:rPr sz="1238" b="0">
                          <a:solidFill>
                            <a:srgbClr val="1E293B"/>
                          </a:solidFill>
                          <a:latin typeface="Calibri"/>
                          <a:ea typeface="Calibri"/>
                          <a:cs typeface="Calibri"/>
                        </a:rPr>
                        <a:t>0,5° × 0,625°</a:t>
                      </a:r>
                    </a:p>
                    <a:p>
                      <a:r>
                        <a:rPr sz="1238" b="0">
                          <a:solidFill>
                            <a:srgbClr val="1E293B"/>
                          </a:solidFill>
                          <a:latin typeface="Calibri"/>
                          <a:ea typeface="Calibri"/>
                          <a:cs typeface="Calibri"/>
                        </a:rPr>
                        <a:t>Marcas HH:30 UTC</a:t>
                      </a:r>
                    </a:p>
                  </a:txBody>
                  <a:tcPr anchor="ctr">
                    <a:solidFill>
                      <a:srgbClr val="FFFFFF"/>
                    </a:solidFill>
                  </a:tcPr>
                </a:tc>
                <a:tc>
                  <a:txBody>
                    <a:bodyPr/>
                    <a:lstStyle/>
                    <a:p>
                      <a:r>
                        <a:rPr sz="1238" b="0">
                          <a:solidFill>
                            <a:srgbClr val="1E293B"/>
                          </a:solidFill>
                          <a:latin typeface="Calibri"/>
                          <a:ea typeface="Calibri"/>
                          <a:cs typeface="Calibri"/>
                        </a:rPr>
                        <a:t>419 píxeles</a:t>
                      </a:r>
                    </a:p>
                    <a:p>
                      <a:r>
                        <a:rPr sz="1238" b="0">
                          <a:solidFill>
                            <a:srgbClr val="1E293B"/>
                          </a:solidFill>
                          <a:latin typeface="Calibri"/>
                          <a:ea typeface="Calibri"/>
                          <a:cs typeface="Calibri"/>
                        </a:rPr>
                        <a:t>231.552 marcas temporales</a:t>
                      </a:r>
                    </a:p>
                  </a:txBody>
                  <a:tcPr anchor="ctr">
                    <a:solidFill>
                      <a:srgbClr val="FFFFFF"/>
                    </a:solidFill>
                  </a:tcPr>
                </a:tc>
                <a:extLst>
                  <a:ext uri="{0D108BD9-81ED-4DB2-BD59-A6C34878D82A}">
                    <a16:rowId xmlns:a16="http://schemas.microsoft.com/office/drawing/2014/main" val="10002"/>
                  </a:ext>
                </a:extLst>
              </a:tr>
              <a:tr h="720725">
                <a:tc>
                  <a:txBody>
                    <a:bodyPr/>
                    <a:lstStyle/>
                    <a:p>
                      <a:r>
                        <a:rPr sz="1238" b="0">
                          <a:solidFill>
                            <a:srgbClr val="1E293B"/>
                          </a:solidFill>
                          <a:latin typeface="Calibri"/>
                          <a:ea typeface="Calibri"/>
                          <a:cs typeface="Calibri"/>
                        </a:rPr>
                        <a:t>ERA5-Land</a:t>
                      </a:r>
                    </a:p>
                    <a:p>
                      <a:r>
                        <a:rPr sz="1238" b="0">
                          <a:solidFill>
                            <a:srgbClr val="1E293B"/>
                          </a:solidFill>
                          <a:latin typeface="Calibri"/>
                          <a:ea typeface="Calibri"/>
                          <a:cs typeface="Calibri"/>
                        </a:rPr>
                        <a:t>precipitación</a:t>
                      </a:r>
                    </a:p>
                  </a:txBody>
                  <a:tcPr anchor="ctr">
                    <a:solidFill>
                      <a:srgbClr val="EAF2FD"/>
                    </a:solidFill>
                  </a:tcPr>
                </a:tc>
                <a:tc>
                  <a:txBody>
                    <a:bodyPr/>
                    <a:lstStyle/>
                    <a:p>
                      <a:r>
                        <a:rPr sz="1238" b="0">
                          <a:solidFill>
                            <a:srgbClr val="1E293B"/>
                          </a:solidFill>
                          <a:latin typeface="Calibri"/>
                          <a:ea typeface="Calibri"/>
                          <a:cs typeface="Calibri"/>
                        </a:rPr>
                        <a:t>ene 2000–ago 2026</a:t>
                      </a:r>
                    </a:p>
                    <a:p>
                      <a:r>
                        <a:rPr sz="1238" b="0">
                          <a:solidFill>
                            <a:srgbClr val="1E293B"/>
                          </a:solidFill>
                          <a:latin typeface="Calibri"/>
                          <a:ea typeface="Calibri"/>
                          <a:cs typeface="Calibri"/>
                        </a:rPr>
                        <a:t>sep parcial: 216 horas</a:t>
                      </a:r>
                    </a:p>
                  </a:txBody>
                  <a:tcPr anchor="ctr">
                    <a:solidFill>
                      <a:srgbClr val="EAF2FD"/>
                    </a:solidFill>
                  </a:tcPr>
                </a:tc>
                <a:tc>
                  <a:txBody>
                    <a:bodyPr/>
                    <a:lstStyle/>
                    <a:p>
                      <a:r>
                        <a:rPr sz="1238" b="0">
                          <a:solidFill>
                            <a:srgbClr val="1E293B"/>
                          </a:solidFill>
                          <a:latin typeface="Calibri"/>
                          <a:ea typeface="Calibri"/>
                          <a:cs typeface="Calibri"/>
                        </a:rPr>
                        <a:t>0,1°</a:t>
                      </a:r>
                    </a:p>
                    <a:p>
                      <a:r>
                        <a:rPr sz="1238" b="0">
                          <a:solidFill>
                            <a:srgbClr val="1E293B"/>
                          </a:solidFill>
                          <a:latin typeface="Calibri"/>
                          <a:ea typeface="Calibri"/>
                          <a:cs typeface="Calibri"/>
                        </a:rPr>
                        <a:t>Derivación horaria</a:t>
                      </a:r>
                    </a:p>
                  </a:txBody>
                  <a:tcPr anchor="ctr">
                    <a:solidFill>
                      <a:srgbClr val="EAF2FD"/>
                    </a:solidFill>
                  </a:tcPr>
                </a:tc>
                <a:tc>
                  <a:txBody>
                    <a:bodyPr/>
                    <a:lstStyle/>
                    <a:p>
                      <a:r>
                        <a:rPr sz="1238" b="0">
                          <a:solidFill>
                            <a:srgbClr val="1E293B"/>
                          </a:solidFill>
                          <a:latin typeface="Calibri"/>
                          <a:ea typeface="Calibri"/>
                          <a:cs typeface="Calibri"/>
                        </a:rPr>
                        <a:t>9.725 píxeles</a:t>
                      </a:r>
                    </a:p>
                    <a:p>
                      <a:r>
                        <a:rPr sz="1238" b="0">
                          <a:solidFill>
                            <a:srgbClr val="1E293B"/>
                          </a:solidFill>
                          <a:latin typeface="Calibri"/>
                          <a:ea typeface="Calibri"/>
                          <a:cs typeface="Calibri"/>
                        </a:rPr>
                        <a:t>233.976 marcas temporales</a:t>
                      </a:r>
                    </a:p>
                  </a:txBody>
                  <a:tcPr anchor="ctr">
                    <a:solidFill>
                      <a:srgbClr val="EAF2FD"/>
                    </a:solidFill>
                  </a:tcPr>
                </a:tc>
                <a:extLst>
                  <a:ext uri="{0D108BD9-81ED-4DB2-BD59-A6C34878D82A}">
                    <a16:rowId xmlns:a16="http://schemas.microsoft.com/office/drawing/2014/main" val="10003"/>
                  </a:ext>
                </a:extLst>
              </a:tr>
            </a:tbl>
          </a:graphicData>
        </a:graphic>
      </p:graphicFrame>
      <p:sp>
        <p:nvSpPr>
          <p:cNvPr id="10" name="Cautela">
            <a:extLst>
              <a:ext uri="{FF2B5EF4-FFF2-40B4-BE49-F238E27FC236}">
                <a16:creationId xmlns:a16="http://schemas.microsoft.com/office/drawing/2014/main" id="{BA4D6352-1347-4479-88B6-39BE5A65CB46}"/>
              </a:ext>
            </a:extLst>
          </p:cNvPr>
          <p:cNvSpPr>
            <a:spLocks noGrp="1"/>
          </p:cNvSpPr>
          <p:nvPr/>
        </p:nvSpPr>
        <p:spPr>
          <a:xfrm>
            <a:off x="552450" y="4286250"/>
            <a:ext cx="8039100" cy="352425"/>
          </a:xfrm>
          <a:prstGeom prst="rect">
            <a:avLst/>
          </a:prstGeom>
          <a:noFill/>
          <a:ln w="0">
            <a:noFill/>
          </a:ln>
        </p:spPr>
        <p:txBody>
          <a:bodyPr wrap="square" lIns="0" tIns="0" rIns="0" bIns="0">
            <a:noAutofit/>
          </a:bodyPr>
          <a:lstStyle/>
          <a:p>
            <a:pPr>
              <a:buNone/>
              <a:defRPr sz="1163">
                <a:solidFill>
                  <a:srgbClr val="17375D"/>
                </a:solidFill>
                <a:latin typeface="Calibri"/>
                <a:ea typeface="Calibri"/>
                <a:cs typeface="Calibri"/>
              </a:defRPr>
            </a:pPr>
            <a:r>
              <a:rPr sz="1163">
                <a:solidFill>
                  <a:srgbClr val="17375D"/>
                </a:solidFill>
                <a:latin typeface="Calibri"/>
                <a:ea typeface="Calibri"/>
                <a:cs typeface="Calibri"/>
              </a:rPr>
              <a:t>Conteos de inventario: filas, píxeles y marcas temporales no son unidades intercambiables.</a:t>
            </a:r>
          </a:p>
          <a:p>
            <a:pPr>
              <a:buNone/>
              <a:defRPr sz="1163">
                <a:solidFill>
                  <a:srgbClr val="17375D"/>
                </a:solidFill>
                <a:latin typeface="Calibri"/>
                <a:ea typeface="Calibri"/>
                <a:cs typeface="Calibri"/>
              </a:defRPr>
            </a:pPr>
            <a:r>
              <a:rPr sz="1163">
                <a:solidFill>
                  <a:srgbClr val="17375D"/>
                </a:solidFill>
                <a:latin typeface="Calibri"/>
                <a:ea typeface="Calibri"/>
                <a:cs typeface="Calibri"/>
              </a:rPr>
              <a:t>La pérdida al unir fuentes aún debe medirse sobre el panel armonizado final.</a:t>
            </a:r>
          </a:p>
        </p:txBody>
      </p:sp>
      <p:sp>
        <p:nvSpPr>
          <p:cNvPr id="11" name="Fuente y alcance">
            <a:extLst>
              <a:ext uri="{FF2B5EF4-FFF2-40B4-BE49-F238E27FC236}">
                <a16:creationId xmlns:a16="http://schemas.microsoft.com/office/drawing/2014/main" id="{F65949A2-8F69-490F-86FF-DDEB2767909C}"/>
              </a:ext>
            </a:extLst>
          </p:cNvPr>
          <p:cNvSpPr>
            <a:spLocks noGrp="1"/>
          </p:cNvSpPr>
          <p:nvPr/>
        </p:nvSpPr>
        <p:spPr>
          <a:xfrm>
            <a:off x="548640" y="4600575"/>
            <a:ext cx="8046720" cy="228600"/>
          </a:xfrm>
          <a:prstGeom prst="rect">
            <a:avLst/>
          </a:prstGeom>
          <a:noFill/>
          <a:ln w="0">
            <a:noFill/>
          </a:ln>
        </p:spPr>
        <p:txBody>
          <a:bodyPr wrap="square" lIns="0" tIns="0" rIns="0" bIns="0" anchor="ctr">
            <a:noAutofit/>
          </a:bodyPr>
          <a:lstStyle/>
          <a:p>
            <a:pPr>
              <a:buNone/>
              <a:defRPr sz="878">
                <a:solidFill>
                  <a:srgbClr val="526277"/>
                </a:solidFill>
                <a:latin typeface="Calibri"/>
                <a:ea typeface="Calibri"/>
                <a:cs typeface="Calibri"/>
              </a:defRPr>
            </a:pPr>
            <a:r>
              <a:rPr sz="878">
                <a:solidFill>
                  <a:srgbClr val="526277"/>
                </a:solidFill>
                <a:latin typeface="Calibri"/>
                <a:ea typeface="Calibri"/>
                <a:cs typeface="Calibri"/>
              </a:rPr>
              <a:t>Fuente: logs/control_preparacion_modelado_20260915.json y docs/PREPARACION_MODELADO.md. No representa el cierre de septiembre.</a:t>
            </a:r>
          </a:p>
        </p:txBody>
      </p:sp>
    </p:spTree>
    <p:extLst>
      <p:ext uri="{BB962C8B-B14F-4D97-AF65-F5344CB8AC3E}">
        <p14:creationId xmlns:p14="http://schemas.microsoft.com/office/powerpoint/2010/main" val="3227572768"/>
      </p:ext>
    </p:extLst>
  </p:cSld>
  <p:clrMapOvr>
    <a:masterClrMapping/>
  </p:clrMapOvr>
</p:sld>
</file>

<file path=ppt/theme/theme1.xml><?xml version="1.0" encoding="utf-8"?>
<a:theme xmlns:a="http://schemas.openxmlformats.org/drawingml/2006/main" name="Plantilla UC">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Diseño personalizado">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2_Diseño personalizado">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Plantilla UC">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9750</Words>
  <Application>Microsoft Macintosh PowerPoint</Application>
  <DocSecurity>0</DocSecurity>
  <PresentationFormat>Presentación en pantalla (16:9)</PresentationFormat>
  <Paragraphs>760</Paragraphs>
  <Slides>36</Slides>
  <Notes>36</Notes>
  <HiddenSlides>8</HiddenSlides>
  <MMClips>0</MMClips>
  <ScaleCrop>false</ScaleCrop>
  <HeadingPairs>
    <vt:vector size="6" baseType="variant">
      <vt:variant>
        <vt:lpstr>Fuentes usadas</vt:lpstr>
      </vt:variant>
      <vt:variant>
        <vt:i4>2</vt:i4>
      </vt:variant>
      <vt:variant>
        <vt:lpstr>Tema</vt:lpstr>
      </vt:variant>
      <vt:variant>
        <vt:i4>3</vt:i4>
      </vt:variant>
      <vt:variant>
        <vt:lpstr>Títulos de diapositiva</vt:lpstr>
      </vt:variant>
      <vt:variant>
        <vt:i4>36</vt:i4>
      </vt:variant>
    </vt:vector>
  </HeadingPairs>
  <TitlesOfParts>
    <vt:vector size="41" baseType="lpstr">
      <vt:lpstr>Arial</vt:lpstr>
      <vt:lpstr>Calibri</vt:lpstr>
      <vt:lpstr>Plantilla UC</vt:lpstr>
      <vt:lpstr>Diseño personalizado</vt:lpstr>
      <vt:lpstr>2_Diseño personalizado</vt:lpstr>
      <vt:lpstr>Estimación multicontaminante de la calidad del aire en Chile</vt:lpstr>
      <vt:lpstr>Introducción: calidad del aire y monitoreo en Chile</vt:lpstr>
      <vt:lpstr>Introducción: antecedentes internacionales</vt:lpstr>
      <vt:lpstr>Introducción: antecedentes en Chile e hipótesis</vt:lpstr>
      <vt:lpstr>Pregunta de investigación</vt:lpstr>
      <vt:lpstr>Objetivo general</vt:lpstr>
      <vt:lpstr>Objetivos específicos</vt:lpstr>
      <vt:lpstr>Metodología: qué se pretende estimar</vt:lpstr>
      <vt:lpstr>Metodología: flujo completo de los datos</vt:lpstr>
      <vt:lpstr>Metodología: estaciones y productos satelitales</vt:lpstr>
      <vt:lpstr>Metodología: meteorología y composición atmosférica</vt:lpstr>
      <vt:lpstr>Metodología: territorio, calendario y disponibilidad</vt:lpstr>
      <vt:lpstr>Metodología: formatos y clave de integración</vt:lpstr>
      <vt:lpstr>Metodología: alineación temporal y espacial</vt:lpstr>
      <vt:lpstr>Metodología: aporte de las familias de métodos</vt:lpstr>
      <vt:lpstr>Metodología: validación fuera del entrenamiento</vt:lpstr>
      <vt:lpstr>Metodología: propuesta de agregación comunal</vt:lpstr>
      <vt:lpstr>Metodología: consideraciones éticas</vt:lpstr>
      <vt:lpstr>Resultados descriptivos: cobertura de SINCA</vt:lpstr>
      <vt:lpstr>Resultados descriptivos: calidad de los registros SINCA</vt:lpstr>
      <vt:lpstr>Resultados descriptivos: PM₂.₅ observado</vt:lpstr>
      <vt:lpstr>Resultados descriptivos: NO₂ observado</vt:lpstr>
      <vt:lpstr>Resultados descriptivos: ERA5-Land</vt:lpstr>
      <vt:lpstr>Resultados descriptivos: MAIAC</vt:lpstr>
      <vt:lpstr>Resultados descriptivos: TROPOMI</vt:lpstr>
      <vt:lpstr>Resultados descriptivos: ACAG</vt:lpstr>
      <vt:lpstr>Presentación de PowerPoint</vt:lpstr>
      <vt:lpstr>Referencias principales</vt:lpstr>
      <vt:lpstr>Anexo: ESA CCI, cobertura de suelo</vt:lpstr>
      <vt:lpstr>Anexo: MERRA-2</vt:lpstr>
      <vt:lpstr>Anexo: ERA5, capa límite</vt:lpstr>
      <vt:lpstr>Anexo: CAMS EAC4</vt:lpstr>
      <vt:lpstr>Anexo: GEOS-CF</vt:lpstr>
      <vt:lpstr>Anexo: población</vt:lpstr>
      <vt:lpstr>Anexo: selección, métricas y extremos</vt:lpstr>
      <vt:lpstr>Anexo: inventario auditado al 15-sep-2026</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Amaru Aguero</cp:lastModifiedBy>
  <cp:revision>1</cp:revision>
  <dcterms:created xsi:type="dcterms:W3CDTF">2026-09-26T17:35:28Z</dcterms:created>
  <dcterms:modified xsi:type="dcterms:W3CDTF">2026-09-26T18:23:26Z</dcterms:modified>
</cp:coreProperties>
</file>