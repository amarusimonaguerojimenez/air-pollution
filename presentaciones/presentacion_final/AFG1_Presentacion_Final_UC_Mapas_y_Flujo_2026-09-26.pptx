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090dfb35ef4a3c" /><Relationship Type="http://schemas.openxmlformats.org/officeDocument/2006/relationships/extended-properties" Target="/docProps/app.xml" Id="R6482636f8ef24cc8" /><Relationship Type="http://schemas.openxmlformats.org/officeDocument/2006/relationships/officeDocument" Target="/ppt/presentation.xml" Id="R1b090437a28b4aaa" /></Relationships>
</file>

<file path=ppt/presentation.xml><?xml version="1.0" encoding="utf-8"?>
<p:presentation xmlns:p="http://schemas.openxmlformats.org/presentationml/2006/main">
  <p:sldMasterIdLst>
    <p:sldMasterId xmlns:r="http://schemas.openxmlformats.org/officeDocument/2006/relationships" id="2147483648" r:id="Rb62f537f203e41f8"/>
    <p:sldMasterId xmlns:r="http://schemas.openxmlformats.org/officeDocument/2006/relationships" id="2147483657" r:id="R8d1a7af6b71b4613"/>
    <p:sldMasterId xmlns:r="http://schemas.openxmlformats.org/officeDocument/2006/relationships" id="2147483659" r:id="R4541283489d64f71"/>
  </p:sldMasterIdLst>
  <p:notesMasterIdLst>
    <p:notesMasterId xmlns:r="http://schemas.openxmlformats.org/officeDocument/2006/relationships" r:id="R845f847cd4434769"/>
  </p:notesMasterIdLst>
  <p:sldIdLst>
    <p:sldId xmlns:r="http://schemas.openxmlformats.org/officeDocument/2006/relationships" id="256" r:id="R89aac48f661d4411"/>
    <p:sldId xmlns:r="http://schemas.openxmlformats.org/officeDocument/2006/relationships" id="257" r:id="R40385a4552904732"/>
    <p:sldId xmlns:r="http://schemas.openxmlformats.org/officeDocument/2006/relationships" id="258" r:id="R5657ce8d45564d88"/>
    <p:sldId xmlns:r="http://schemas.openxmlformats.org/officeDocument/2006/relationships" id="259" r:id="R9c5e3d683dcc47d1"/>
    <p:sldId xmlns:r="http://schemas.openxmlformats.org/officeDocument/2006/relationships" id="260" r:id="Rf2821b12bb204485"/>
    <p:sldId xmlns:r="http://schemas.openxmlformats.org/officeDocument/2006/relationships" id="261" r:id="R6669a5d92f54446a"/>
    <p:sldId xmlns:r="http://schemas.openxmlformats.org/officeDocument/2006/relationships" id="262" r:id="R591e194820b441b0"/>
    <p:sldId xmlns:r="http://schemas.openxmlformats.org/officeDocument/2006/relationships" id="263" r:id="Raf3b1215712848b3"/>
    <p:sldId xmlns:r="http://schemas.openxmlformats.org/officeDocument/2006/relationships" id="264" r:id="R0e74432b9d7940d0"/>
    <p:sldId xmlns:r="http://schemas.openxmlformats.org/officeDocument/2006/relationships" id="265" r:id="Rcf10768d96544167"/>
    <p:sldId xmlns:r="http://schemas.openxmlformats.org/officeDocument/2006/relationships" id="266" r:id="Ra3b617d1f68d4055"/>
    <p:sldId xmlns:r="http://schemas.openxmlformats.org/officeDocument/2006/relationships" id="267" r:id="R97c61bdc63d14864"/>
    <p:sldId xmlns:r="http://schemas.openxmlformats.org/officeDocument/2006/relationships" id="268" r:id="R3cfd8159afa043a4"/>
    <p:sldId xmlns:r="http://schemas.openxmlformats.org/officeDocument/2006/relationships" id="269" r:id="R5a424b26eae34af6"/>
    <p:sldId xmlns:r="http://schemas.openxmlformats.org/officeDocument/2006/relationships" id="270" r:id="R8ed0d65647554d43"/>
    <p:sldId xmlns:r="http://schemas.openxmlformats.org/officeDocument/2006/relationships" id="271" r:id="Rf68a1281ab6d445b"/>
    <p:sldId xmlns:r="http://schemas.openxmlformats.org/officeDocument/2006/relationships" id="272" r:id="Rc4e4647179be4df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3899c0040ff445b" /><Relationship Type="http://schemas.openxmlformats.org/officeDocument/2006/relationships/slideMaster" Target="/ppt/slideMasters/slideMaster1.xml" Id="Rb62f537f203e41f8" /><Relationship Type="http://schemas.openxmlformats.org/officeDocument/2006/relationships/slideMaster" Target="/ppt/slideMasters/slideMaster2.xml" Id="R8d1a7af6b71b4613" /><Relationship Type="http://schemas.openxmlformats.org/officeDocument/2006/relationships/slideMaster" Target="/ppt/slideMasters/slideMaster3.xml" Id="R4541283489d64f71" /><Relationship Type="http://schemas.openxmlformats.org/officeDocument/2006/relationships/notesMaster" Target="/ppt/notesMasters/notesMaster1.xml" Id="R845f847cd4434769" /><Relationship Type="http://schemas.openxmlformats.org/officeDocument/2006/relationships/presProps" Target="/ppt/presProps.xml" Id="R3c9dd2fdf74840a1" /><Relationship Type="http://schemas.openxmlformats.org/officeDocument/2006/relationships/viewProps" Target="/ppt/viewProps.xml" Id="R4b8382d1c6524886" /><Relationship Type="http://schemas.openxmlformats.org/officeDocument/2006/relationships/tableStyles" Target="/ppt/tableStyles.xml" Id="Rfbefd181f62d4289" /><Relationship Type="http://schemas.openxmlformats.org/officeDocument/2006/relationships/slide" Target="/ppt/slides/slide1.xml" Id="R89aac48f661d4411" /><Relationship Type="http://schemas.openxmlformats.org/officeDocument/2006/relationships/slide" Target="/ppt/slides/slide2.xml" Id="R40385a4552904732" /><Relationship Type="http://schemas.openxmlformats.org/officeDocument/2006/relationships/slide" Target="/ppt/slides/slide3.xml" Id="R5657ce8d45564d88" /><Relationship Type="http://schemas.openxmlformats.org/officeDocument/2006/relationships/slide" Target="/ppt/slides/slide4.xml" Id="R9c5e3d683dcc47d1" /><Relationship Type="http://schemas.openxmlformats.org/officeDocument/2006/relationships/slide" Target="/ppt/slides/slide5.xml" Id="Rf2821b12bb204485" /><Relationship Type="http://schemas.openxmlformats.org/officeDocument/2006/relationships/slide" Target="/ppt/slides/slide6.xml" Id="R6669a5d92f54446a" /><Relationship Type="http://schemas.openxmlformats.org/officeDocument/2006/relationships/slide" Target="/ppt/slides/slide7.xml" Id="R591e194820b441b0" /><Relationship Type="http://schemas.openxmlformats.org/officeDocument/2006/relationships/slide" Target="/ppt/slides/slide8.xml" Id="Raf3b1215712848b3" /><Relationship Type="http://schemas.openxmlformats.org/officeDocument/2006/relationships/slide" Target="/ppt/slides/slide9.xml" Id="R0e74432b9d7940d0" /><Relationship Type="http://schemas.openxmlformats.org/officeDocument/2006/relationships/slide" Target="/ppt/slides/slide10.xml" Id="Rcf10768d96544167" /><Relationship Type="http://schemas.openxmlformats.org/officeDocument/2006/relationships/slide" Target="/ppt/slides/slide11.xml" Id="Ra3b617d1f68d4055" /><Relationship Type="http://schemas.openxmlformats.org/officeDocument/2006/relationships/slide" Target="/ppt/slides/slide12.xml" Id="R97c61bdc63d14864" /><Relationship Type="http://schemas.openxmlformats.org/officeDocument/2006/relationships/slide" Target="/ppt/slides/slide13.xml" Id="R3cfd8159afa043a4" /><Relationship Type="http://schemas.openxmlformats.org/officeDocument/2006/relationships/slide" Target="/ppt/slides/slide14.xml" Id="R5a424b26eae34af6" /><Relationship Type="http://schemas.openxmlformats.org/officeDocument/2006/relationships/slide" Target="/ppt/slides/slide15.xml" Id="R8ed0d65647554d43" /><Relationship Type="http://schemas.openxmlformats.org/officeDocument/2006/relationships/slide" Target="/ppt/slides/slide16.xml" Id="Rf68a1281ab6d445b" /><Relationship Type="http://schemas.openxmlformats.org/officeDocument/2006/relationships/slide" Target="/ppt/slides/slide17.xml" Id="Rc4e4647179be4d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550174317e0949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10f97a44974e40" /><Relationship Type="http://schemas.openxmlformats.org/officeDocument/2006/relationships/notesMaster" Target="/ppt/notesMasters/notesMaster1.xml" Id="R938ea6ff89bd4b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6bf0b3eccc4a1c" /><Relationship Type="http://schemas.openxmlformats.org/officeDocument/2006/relationships/notesMaster" Target="/ppt/notesMasters/notesMaster1.xml" Id="R25e6829c0e9646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aae86f3c4a49a6" /><Relationship Type="http://schemas.openxmlformats.org/officeDocument/2006/relationships/notesMaster" Target="/ppt/notesMasters/notesMaster1.xml" Id="Rda4b0e85f99a4a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539b5b329446b7" /><Relationship Type="http://schemas.openxmlformats.org/officeDocument/2006/relationships/notesMaster" Target="/ppt/notesMasters/notesMaster1.xml" Id="R50f2b2038d0c4f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b874f3432640e3" /><Relationship Type="http://schemas.openxmlformats.org/officeDocument/2006/relationships/notesMaster" Target="/ppt/notesMasters/notesMaster1.xml" Id="R84050ea34bc142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695fcdecd54c2a" /><Relationship Type="http://schemas.openxmlformats.org/officeDocument/2006/relationships/notesMaster" Target="/ppt/notesMasters/notesMaster1.xml" Id="R40609c2e05ba4f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1785d0dbaf4750" /><Relationship Type="http://schemas.openxmlformats.org/officeDocument/2006/relationships/notesMaster" Target="/ppt/notesMasters/notesMaster1.xml" Id="Rcdde63cc746a45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7789430c714b67" /><Relationship Type="http://schemas.openxmlformats.org/officeDocument/2006/relationships/notesMaster" Target="/ppt/notesMasters/notesMaster1.xml" Id="Rab4af77abba249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7443a498674c80" /><Relationship Type="http://schemas.openxmlformats.org/officeDocument/2006/relationships/notesMaster" Target="/ppt/notesMasters/notesMaster1.xml" Id="Ra7bc084de13146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198b9a9a4b4698" /><Relationship Type="http://schemas.openxmlformats.org/officeDocument/2006/relationships/notesMaster" Target="/ppt/notesMasters/notesMaster1.xml" Id="R2449fa99ee9d49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3f2bfdf9e44d8b" /><Relationship Type="http://schemas.openxmlformats.org/officeDocument/2006/relationships/notesMaster" Target="/ppt/notesMasters/notesMaster1.xml" Id="Rd9a7da0a045246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8e1548a1f34cd7" /><Relationship Type="http://schemas.openxmlformats.org/officeDocument/2006/relationships/notesMaster" Target="/ppt/notesMasters/notesMaster1.xml" Id="R82d3f3d3a40843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5a111dd48c4aa8" /><Relationship Type="http://schemas.openxmlformats.org/officeDocument/2006/relationships/notesMaster" Target="/ppt/notesMasters/notesMaster1.xml" Id="R9b5ea34d153745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b7df590494432a" /><Relationship Type="http://schemas.openxmlformats.org/officeDocument/2006/relationships/notesMaster" Target="/ppt/notesMasters/notesMaster1.xml" Id="R89324276c0c54e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d88cd7c7cd4d01" /><Relationship Type="http://schemas.openxmlformats.org/officeDocument/2006/relationships/notesMaster" Target="/ppt/notesMasters/notesMaster1.xml" Id="R999155e366cb43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df83ad51a14ac0" /><Relationship Type="http://schemas.openxmlformats.org/officeDocument/2006/relationships/notesMaster" Target="/ppt/notesMasters/notesMaster1.xml" Id="Rab85c047883941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9a323e27b74b5e" /><Relationship Type="http://schemas.openxmlformats.org/officeDocument/2006/relationships/notesMaster" Target="/ppt/notesMasters/notesMaster1.xml" Id="R965ef0560da545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 · 00:00–00:15 · 15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Hola, somos el Equipo 2. Presentamos nuestra propuesta para estimar la calidad del aire en Chile. Hoy mostramos el problema, el diseño metodológico y resultados descriptivos de la preparación de datos.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Informe del problema y PPT avance 3, portada. Alcance de esta presentación: resultados descriptivos del inventario auditado.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2 · 00:15–00:50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mapa ubica las estaciones SINCA sobre las macrozonas de Chile. Son puntos de medición y su distribución no es uniforme. El catálogo geográfico reúne 109 estaciones con celda, mientras que el inventario histórico auditado incluye 107. Son universos distintos. El desafío es estimar la concentración en lugares y momentos donde no existe una medición directa, utilizando información ambiental complementaria.</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Air-Pollution/docs/modelo_1km_horario.html, figura grilla_macrozonas.png de la sección metodológica. Figura original del catálogo geográfico, no resultado predictivo. El mapa representa Chile continental; la leyenda original incluye categorías del dominio general. No asignar 107 a los símbolos del mapa.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3 · 00:50–01:20 · 30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pregunta es si los datos satelitales, meteorológicos y territoriales permiten estimar concentraciones superficiales fuera de los puntos de monitoreo. La hipótesis es que estas fuentes aportan información complementaria. Organizamos el trabajo en tres objetivos: consolidar datos trazables, comparar métodos de estimación y evaluar su generalización espacial y temporal. El alcance general considera seis contaminantes; el desarrollo metodológico documentado se concentra inicialmente en PM dos coma cinco y dióxido de nitrógeno.</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Informe, pregunta y objetivos; PPT avance 3 y notas de D2/D4. Seis contaminantes como alcance; PM2.5/NO2 como desarrollo documentado.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4 · 01:20–02:00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Dos antecedentes orientan la propuesta. Van Donkelaar y colaboradores combinaron satélites, modelos y monitores para estimar material particulado fino a escala global. Su aporte es mostrar cómo integrar fuentes que observan dimensiones distintas del fenómeno. Di y colaboradores desarrollaron un ensamble de modelos para PM dos coma cinco en Estados Unidos, con alta resolución espacial y temporal. Esto motiva comparar familias de métodos. Ambos trabajos estudian otros contextos: trasladar sus enfoques a Chile exige evaluar nuestra disponibilidad de datos y demostrar la generalización local.</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van Donkelaar, A., et al. (2016). Global Estimates of Fine Particulate Matter using a Combined Geophysical-Statistical Method with Information from Satellites, Models, and Monitors. Environmental Science &amp; Technology, 50(7), 3762–3772. DOI: 10.1021/acs.est.5b05833.</a:t>
            </a:r>
          </a:p>
          <a:p xmlns:a="http://schemas.openxmlformats.org/drawingml/2006/main">
            <a:pPr algn="l">
              <a:spcAft>
                <a:spcPts val="500"/>
              </a:spcAft>
              <a:buNone/>
            </a:pPr>
            <a:r>
              <a:rPr sz="1100" b="0">
                <a:solidFill>
                  <a:srgbClr val="000000"/>
                </a:solidFill>
                <a:latin typeface="Calibri"/>
                <a:ea typeface="Calibri"/>
                <a:cs typeface="Calibri"/>
              </a:rPr>
              <a:t>Di, Q., et al. (2019). An ensemble-based model of PM2.5 concentration across the contiguous United States with high spatiotemporal resolution. Environment International, 130, 104909. DOI: 10.1016/j.envint.2019.104909.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5 · 02:00–02:35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flujo trabaja con datos observados de SINCA. Primero conserva los archivos originales. Después selecciona filas y aplica controles de rango y de valores repetidos. La preparación temporal del HTML usa UTC menos cuatro fijo, una convención que aún debemos confirmar por serie. Para resumir, exige suficiente cobertura dentro de cada mes y de cada ventana. El resultado son mapas de estaciones, concentraciones observadas y cobertura, sin predicciones del modelo.</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Air-Pollution/docs/modelo_1km_horario.html, sección 2. Filtros: filas seleccionada, rango físico admitido, rachas de 24 o más valores consecutivos iguales, mes con al menos 75% de horas y climatología mensual con 9 de 12 meses. Se mantiene la necesidad de verificar globalmente unidades y semántica horaria.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6 · 02:35–03:10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Para cuantificar el avance utilizamos una sola instantánea, auditada al quince de septiembre. SINCA reúne ciento siete estaciones y cuatrocientas tres series de estación y contaminante. MERRA dos meteorológico contiene trescientos diecisiete meses completos, entre enero de dos mil y mayo de dos mil veintiséis. El derivado de precipitación de ERA5-Land tiene trescientos veinte meses completos y septiembre parcial, con doscientas dieciséis horas. Este corte permite comparar fuentes de manera consistente; no representa el estado de las descargas al día de hoy.</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sources_table y sinca_inventory. Instantánea auditada el 15-sep-2026. MERRA-2: enero 2000–mayo 2026, 317 meses; ERA5-Land: enero 2000–agosto 2026, 320 meses + 216 horas de septiembre. No mezclar actualización ERA5-Land del 16-sep.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7 · 03:10–03:40 · 30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Estas barras muestran que los contaminantes tienen distinta disponibilidad dentro del inventario. PM dos coma cinco aparece en ciento siete series, mientras que monóxido de carbono tiene cuarenta y seis. Una estación puede medir varios contaminantes: por eso las cuatrocientas tres series no equivalen a cuatrocientas tres estaciones. Tampoco describen el porcentaje del territorio cubierto. El hallazgo descriptivo es que la cantidad de series cambia considerablemente según el contaminante.</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series_by_pollutant. Series PM2.5=107, PM10=87, SO2=59, NO2=54, O3=50, CO=46; total: 403. Denominador de estaciones únicas: 107. No es indicador de cobertura territorial.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8 · 03:40–04:15 · 35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Al separar calidad y ausencia, las noventa y cuatro coma tres millones de filas seleccionadas contienen cuarenta y dos coma siete millones de mediciones y cincuenta y uno coma seis millones de faltantes explícitos. Sobre el mismo total, los faltantes representan aproximadamente cincuenta y cuatro coma siete por ciento. Las mediciones se distinguen en validadas, preliminares y no validadas. Por lo tanto, volumen de filas no equivale a volumen de datos utilizables: antes de modelar hay que establecer qué estados se admitirán y documentar sus efectos.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Air-Pollution/logs/control_preparacion_modelado_20260915.json y docs/PREPARACION_MODELADO.md; resumen auditado: selected_rows=94.311.869; observed_measurements=42.708.344; explicit_missing=51.603.525. Denominador común: 94.311.869: validadas 20,93 %; preliminares 8,61 %; no validadas 15,75 %; faltantes 54,72 %. Estos son estados del inventario, no una certificación de aptitud para modelar. Feedback 3, 01:09–02:55.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9 · 04:15–04:55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Esta figura del HTML presenta medias observadas de PM dos coma cinco en el período parcial 2024 a 2026. A la izquierda vemos Chile continental y a la derecha ampliamos la zona central. Cada punto es una estación y el color representa su concentración. Aquí aportan 97 estaciones tras los filtros descriptivos. Esta selección no equivale a las 107 estaciones del inventario y tampoco entrega una superficie continua.</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Air-Pollution/docs/modelo_1km_horario.html, sección 2, figuras descriptivas nacional y centro de PM₂.₅. Recortes del panel 2024–2026 y escala original. 97 estaciones en la vista nacional. El HTML define mes válido con ≥75% de horas, promedio de climatología mensual y ≥9 de 12 meses calendario representados. Filtra rango físico y rachas ≥24 repeticiones; utiliza UTC−4 fijo y etiqueta al final del intervalo. Se reproducen como descriptivos del HTML existente, sin afirmar cierre de validación de unidades/reloj. El período final es parcial y la composición de estaciones cambia. Se excluyeron del recorte los rótulos de umbrales de referencia; no se evalúa cumplimiento normativo. No son mapas de predicción.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10 · 04:55–05:35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Para dióxido de nitrógeno mantenemos las mismas vistas, pero la escala se expresa en partes por mil millones. En este período aportan 41 estaciones al mapa nacional. La distribución muestra dónde tenemos observaciones para describir el contaminante. La muestra cambia respecto de PM dos coma cinco, por lo que no comparamos directamente los colores entre ambos contaminantes.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Air-Pollution/docs/modelo_1km_horario.html, sección 2, figuras descriptivas nacional y centro de NO₂. Recortes del panel 2024–2026 y escala original. 41 estaciones en la vista nacional. El HTML define mes válido con ≥75% de horas, promedio de climatología mensual y ≥9 de 12 meses calendario representados. Filtra rango físico y rachas ≥24 repeticiones; utiliza UTC−4 fijo y etiqueta al final del intervalo. Se reproducen como descriptivos del HTML existente, sin afirmar cierre de validación de unidades/reloj. El período final es parcial y la composición de estaciones cambia. Se excluyeron del recorte los rótulos de umbrales de referencia; no se evalúa cumplimiento normativo. No son mapas de predicción.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11 · 05:35–06:20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comparación contempla diez enfoques con aportes diferentes. LightGBM, Random Forest, la red neuronal y el proceso gaussiano permiten representar relaciones flexibles. GWR, regresión con kriging y el modelo lineal mixto incorporan estructuras locales, espaciales o temporales. La interpolación de estaciones vecinas entrega una línea base sencilla. LightGBM de alertas se orienta al percentil ochenta y a excedencias; el apilado combina tres modelos mediante ridge. No buscamos solamente ordenar errores: también interesa qué aporta cada familia. Sus objetivos y tamaños de entrenamiento difieren, de modo que debemos explicitar la comparabilidad. Esta presentación no muestra resultados predictivos.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PPT avance 3, D5 y notas; scripts_modelo_1km/README.md, decisiones; feedback 3, 03:15–04:33. Orden en PPT previa: LGBM, RF, MLP, GP, GWR, regresión-kriging, mixto, interpolación, LGBM alertas, apilado. GP: Matérn; mixto: efectos por hora local; apilado: ridge sobre LGBM + RF + MLP. No afirmar validación anidada completa de bases ni ganador.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12 · 06:20–07:00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Cada protocolo responde a una pregunta distinta. LOSO retira un sitio completo; las estaciones que comparten celda salen juntas. LBO también excluye los monitores del entorno, con un radio de diez kilómetros en el diseño actual. LRO reserva una región y LPO un bloque histórico de cuatro años. Este último evalúa transferencia entre periodos, no pronóstico hacia el futuro. En cada partición deben recalcularse los predictores de vecindario sin las estaciones excluidas. Las transformaciones aprendidas e imputaciones deben ajustarse dentro del entrenamiento para preservar la independencia de la evaluación.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docs/modelo_1km_horario.qmd, líneas 2315–2356: protocolos LOSO, LBO, LRO, LPO; LBO 10 km por omisión.</a:t>
            </a:r>
          </a:p>
          <a:p xmlns:a="http://schemas.openxmlformats.org/drawingml/2006/main">
            <a:pPr algn="l">
              <a:spcAft>
                <a:spcPts val="500"/>
              </a:spcAft>
              <a:buNone/>
            </a:pPr>
            <a:r>
              <a:rPr sz="1100" b="0">
                <a:solidFill>
                  <a:srgbClr val="000000"/>
                </a:solidFill>
                <a:latin typeface="Calibri"/>
                <a:ea typeface="Calibri"/>
                <a:cs typeface="Calibri"/>
              </a:rPr>
              <a:t>Roberts, D. R., et al. (2017). Cross-validation strategies for data with temporal, spatial, hierarchical, or phylogenetic structure. Ecography, 40(8), 913–929. DOI: 10.1111/ecog.02881.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13 · 07:00–07:40 · 40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Para cerrar el protocolo proponemos utilizar RMSE como métrica principal, acompañado de MAE, sesgo y R cuadrado. Esta elección aún debe confirmarse y justificarse según el contaminante y el uso del producto. La selección de modelos y la evaluación final deben permanecer separadas. Además del promedio, evaluaremos episodios extremos y territorios con poco monitoreo. La incertidumbre acompañará la interpretación territorial. Son decisiones metodológicas por formalizar, no resultados que estemos dando por demostrados.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Propuesta para esta presentación; RMSE como principal no consta acordado en las fuentes previas. Informe: segundo comentario del profesor; feedback 3, 04:14–04:20 y 05:16–05:59.</a:t>
            </a:r>
          </a:p>
          <a:p xmlns:a="http://schemas.openxmlformats.org/drawingml/2006/main">
            <a:pPr algn="l">
              <a:spcAft>
                <a:spcPts val="500"/>
              </a:spcAft>
              <a:buNone/>
            </a:pPr>
            <a:r>
              <a:rPr sz="1100" b="0">
                <a:solidFill>
                  <a:srgbClr val="000000"/>
                </a:solidFill>
                <a:latin typeface="Calibri"/>
                <a:ea typeface="Calibri"/>
                <a:cs typeface="Calibri"/>
              </a:rPr>
              <a:t>Varma, S., &amp; Simon, R. (2006). Bias in error estimation when using cross-validation for model selection. BMC Bioinformatics, 7, 91. DOI: 10.1186/1471-2105-7-91.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14 · 07:40–08:25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Proponemos agregar las celdas a cada comuna ponderando por el área de intersección. El promedio usaría las predicciones válidas y se acompañaría de la fracción del área comunal efectivamente representada. Así, una cobertura parcial quedaría visible en lugar de confundirse con una comuna completamente observada. La regla y el umbral mínimo de cobertura siguen pendientes de acuerdo y verificación. Este promedio representa concentración ambiental territorial; no equivale directamente a exposición individual ni a un promedio ponderado por población.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Propuesta para esta presentación: ponderación por área de intersección y reporte de fracción cubierta; no aparece implementada ni acordada en PPT avance 3 ni documentos metodológicos revisados. Feedback 3, 05:16–05:59, pide formalizar agregación celda→comuna. Distinguir promedio territorial de exposición poblacional.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15 · 08:25–09:10 · 45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El análisis ético conecta riesgos con personas y decisiones concretas. Las comunidades con menos monitoreo podrían recibir estimaciones menos confiables; proponemos transparentar cobertura e incertidumbre y evaluar diferencias territoriales. Para municipios e investigadores, una falsa precisión puede inducir interpretaciones equivocadas: debemos distinguir estimación, observación y límites de uso. Para proveedores de datos y revisores, la trazabilidad permite revisar fuentes y transformaciones. Trabajar con datos ambientales no elimina los riesgos. Hoy mostramos evidencia de disponibilidad; la equidad del desempeño y la confiabilidad de las predicciones deberán demostrarse.</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Semana 6: Clase 4 Alcances éticos, análisis por etapas y principios; Semana 7: Ética de IA y datos y Directrices para ciencia de datos responsable. Feedback 3, 05:16–05:40. Mitigaciones descritas como propuestas, sin afirmar equidad de desempeño ni privacidad certificada.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16 · 09:10–09:35 · 25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 retroalimentación ayudó a ordenar el problema y reforzar la validación. Hoy añadimos una caracterización cuantitativa del inventario. Los próximos pasos son cerrar la calidad admisible y la regla comunal, completar una comparación independiente y comunicar extremos e incertidumbre. El repositorio reúne las fuentes y decisiones para revisar el trabajo. Muchas gracias.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Feedback 2, 00:34–01:20 reconoce mejoras de problema/literatura/validación; feedback 3, 01:09–02:55 pide inventario cuantitativo y 05:42–05:59 enumera siguientes pasos. Repositorio: https://github.com/AmaruSimonAgueroJimenez/Air-Pollution.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spcAft>
                <a:spcPts val="500"/>
              </a:spcAft>
              <a:buNone/>
            </a:pPr>
            <a:r>
              <a:rPr sz="1100" b="0">
                <a:solidFill>
                  <a:srgbClr val="000000"/>
                </a:solidFill>
                <a:latin typeface="Calibri"/>
                <a:ea typeface="Calibri"/>
                <a:cs typeface="Calibri"/>
              </a:rPr>
              <a:t>Diapositiva 17 · 09:35–09:40 · 5 segundos</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GUION</a:t>
            </a:r>
          </a:p>
          <a:p xmlns:a="http://schemas.openxmlformats.org/drawingml/2006/main">
            <a:pPr algn="l">
              <a:spcAft>
                <a:spcPts val="500"/>
              </a:spcAft>
              <a:buNone/>
            </a:pPr>
            <a:r>
              <a:rPr sz="1100" b="0">
                <a:solidFill>
                  <a:srgbClr val="000000"/>
                </a:solidFill>
                <a:latin typeface="Calibri"/>
                <a:ea typeface="Calibri"/>
                <a:cs typeface="Calibri"/>
              </a:rPr>
              <a:t>Las referencias completas quedan disponibles para su revisión.</a:t>
            </a:r>
          </a:p>
          <a:p xmlns:a="http://schemas.openxmlformats.org/drawingml/2006/main">
            <a:pPr algn="l">
              <a:spcAft>
                <a:spcPts val="500"/>
              </a:spcAft>
              <a:buNone/>
            </a:pPr>
            <a:r>
              <a:rPr sz="1100" b="0">
                <a:solidFill>
                  <a:srgbClr val="000000"/>
                </a:solidFill>
                <a:latin typeface="Calibri"/>
                <a:ea typeface="Calibri"/>
                <a:cs typeface="Calibri"/>
              </a:rPr>
              <a:t/>
            </a:r>
          </a:p>
          <a:p xmlns:a="http://schemas.openxmlformats.org/drawingml/2006/main">
            <a:pPr algn="l">
              <a:spcAft>
                <a:spcPts val="500"/>
              </a:spcAft>
              <a:buNone/>
            </a:pPr>
            <a:r>
              <a:rPr sz="1100" b="0">
                <a:solidFill>
                  <a:srgbClr val="000000"/>
                </a:solidFill>
                <a:latin typeface="Calibri"/>
                <a:ea typeface="Calibri"/>
                <a:cs typeface="Calibri"/>
              </a:rPr>
              <a:t>FUENTES Y PRECISIONES — NO LEER</a:t>
            </a:r>
          </a:p>
          <a:p xmlns:a="http://schemas.openxmlformats.org/drawingml/2006/main">
            <a:pPr algn="l">
              <a:spcAft>
                <a:spcPts val="500"/>
              </a:spcAft>
              <a:buNone/>
            </a:pPr>
            <a:r>
              <a:rPr sz="1100" b="0">
                <a:solidFill>
                  <a:srgbClr val="000000"/>
                </a:solidFill>
                <a:latin typeface="Calibri"/>
                <a:ea typeface="Calibri"/>
                <a:cs typeface="Calibri"/>
              </a:rPr>
              <a:t>van Donkelaar et al. (2016), DOI 10.1021/acs.est.5b05833; Di et al. (2019), DOI 10.1016/j.envint.2019.104909; Roberts et al. (2017), DOI 10.1111/ecog.02881; Varma y Simon (2006), DOI 10.1186/1471-2105-7-91. Referencias completas en las notas de D4, D10, D11.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e6f1301be41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cedfdadb374e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3d847a28dd4f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04f139cc7e43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08fe15a65e4c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958f3277ec491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04769bdc0764e1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229093d01194c29" /><Relationship Type="http://schemas.openxmlformats.org/officeDocument/2006/relationships/image" Target="/ppt/media/image.emf" Id="R51afd858f096405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70212d84df1645c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3.xml" Id="R738e8e31ee594d44" /></Relationships>
</file>

<file path=ppt/slideLayouts/slideLayout1.xml><?xml version="1.0" encoding="utf-8"?>
<p:sldLayout xmlns:p="http://schemas.openxmlformats.org/presentationml/2006/main" preserve="1">
  <p:cSld name="1_Diseño personalizado">
    <p:spTree>
      <p:nvGrpSpPr>
        <p:cNvPr id="1" name=""/>
        <p:cNvGrpSpPr/>
        <p:nvPr/>
      </p:nvGrpSpPr>
      <p:grpSpPr>
        <a:xfrm xmlns:a="http://schemas.openxmlformats.org/drawingml/2006/main"/>
      </p:grpSpPr>
      <p:sp>
        <p:nvSpPr>
          <p:cNvPr id="4" name="Rectángulo 3">
            <a:extLst xmlns:a="http://schemas.openxmlformats.org/drawingml/2006/main">
              <a:ext uri="{FF2B5EF4-FFF2-40B4-BE49-F238E27FC236}">
                <a16:creationId xmlns:a16="http://schemas.microsoft.com/office/drawing/2014/main" id="{11D74EF3-F3C4-4518-9850-4AC98F847821}"/>
              </a:ext>
            </a:extLst>
          </p:cNvPr>
          <p:cNvSpPr>
            <a:spLocks xmlns:a="http://schemas.openxmlformats.org/drawingml/2006/main" noGrp="1"/>
          </p:cNvSpPr>
          <p:nvPr/>
        </p:nvSpPr>
        <p:spPr>
          <a:xfrm xmlns:a="http://schemas.openxmlformats.org/drawingml/2006/main">
            <a:off x="169334" y="1007195"/>
            <a:ext cx="8974667" cy="2385786"/>
          </a:xfrm>
          <a:prstGeom xmlns:a="http://schemas.openxmlformats.org/drawingml/2006/main" prst="rect">
            <a:avLst/>
          </a:prstGeom>
          <a:solidFill xmlns:a="http://schemas.openxmlformats.org/drawingml/2006/main">
            <a:schemeClr val="tx1">
              <a:lumMod val="50000"/>
              <a:lumOff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ítulo 1">
            <a:extLst xmlns:a="http://schemas.openxmlformats.org/drawingml/2006/main">
              <a:ext uri="{FF2B5EF4-FFF2-40B4-BE49-F238E27FC236}">
                <a16:creationId xmlns:a16="http://schemas.microsoft.com/office/drawing/2014/main" id="{5D5024FA-933B-4411-9DA3-B0823AB355A1}"/>
              </a:ext>
            </a:extLst>
          </p:cNvPr>
          <p:cNvSpPr>
            <a:spLocks xmlns:a="http://schemas.openxmlformats.org/drawingml/2006/main" noGrp="1"/>
          </p:cNvSpPr>
          <p:nvPr>
            <p:ph type="title" idx="0" hasCustomPrompt="1"/>
          </p:nvPr>
        </p:nvSpPr>
        <p:spPr>
          <a:xfrm xmlns:a="http://schemas.openxmlformats.org/drawingml/2006/main">
            <a:off x="457200" y="1755587"/>
            <a:ext cx="8229600" cy="857250"/>
          </a:xfrm>
        </p:spPr>
        <p:txBody>
          <a:bodyPr xmlns:a="http://schemas.openxmlformats.org/drawingml/2006/main"/>
          <a:lstStyle xmlns:a="http://schemas.openxmlformats.org/drawingml/2006/main"/>
          <a:p xmlns:a="http://schemas.openxmlformats.org/drawingml/2006/main">
            <a:r>
              <a:t>Clic para editar nombre de capítulo</a:t>
            </a:r>
            <a:endParaRPr/>
          </a:p>
        </p:txBody>
      </p:sp>
    </p:spTree>
  </p:cSld>
</p:sldLayout>
</file>

<file path=ppt/slideLayouts/slideLayout2.xml><?xml version="1.0" encoding="utf-8"?>
<p:sldLayout xmlns:p="http://schemas.openxmlformats.org/presentationml/2006/main" type="obj" preserve="1">
  <p:cSld name="Desarrollo de tema">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2386E501-FF66-43BB-AED5-13B49DEF79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contenido 2">
            <a:extLst xmlns:a="http://schemas.openxmlformats.org/drawingml/2006/main">
              <a:ext uri="{FF2B5EF4-FFF2-40B4-BE49-F238E27FC236}">
                <a16:creationId xmlns:a16="http://schemas.microsoft.com/office/drawing/2014/main" id="{81632413-7143-4900-AB27-B9BCA8D681E1}"/>
              </a:ext>
            </a:extLst>
          </p:cNvPr>
          <p:cNvSpPr>
            <a:spLocks xmlns:a="http://schemas.openxmlformats.org/drawingml/2006/main" noGrp="1"/>
          </p:cNvSpPr>
          <p:nvPr>
            <p:ph idx="1"/>
          </p:nvPr>
        </p:nvSpPr>
        <p:spPr>
          <a:xfrm xmlns:a="http://schemas.openxmlformats.org/drawingml/2006/main">
            <a:off x="457200" y="1200150"/>
            <a:ext cx="8229600" cy="3081338"/>
          </a:xfrm>
        </p:spPr>
        <p:txBody>
          <a:bodyPr xmlns:a="http://schemas.openxmlformats.org/drawingml/2006/main"/>
          <a:lstStyle xmlns:a="http://schemas.openxmlformats.org/drawingml/2006/main">
            <a:lvl1pPr>
              <a:buNone/>
              <a:defRPr sz="2600"/>
            </a:lvl1pPr>
            <a:lvl2pPr>
              <a:buNone/>
              <a:defRPr sz="2600"/>
            </a:lvl2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B93365C3-E196-4611-B9AD-B16A44D9B260}"/>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5" name="Marcador de pie de página 4">
            <a:extLst xmlns:a="http://schemas.openxmlformats.org/drawingml/2006/main">
              <a:ext uri="{FF2B5EF4-FFF2-40B4-BE49-F238E27FC236}">
                <a16:creationId xmlns:a16="http://schemas.microsoft.com/office/drawing/2014/main" id="{ABE03A30-47E3-4E49-BD07-2378B4BF7593}"/>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7D990DB9-3863-408D-BAED-BB09377A1FD8}"/>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3.xml><?xml version="1.0" encoding="utf-8"?>
<p:sldLayout xmlns:p="http://schemas.openxmlformats.org/presentationml/2006/main" type="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FD1FBB2-33A0-484C-A1CB-E5F093C91A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contenido 2">
            <a:extLst xmlns:a="http://schemas.openxmlformats.org/drawingml/2006/main">
              <a:ext uri="{FF2B5EF4-FFF2-40B4-BE49-F238E27FC236}">
                <a16:creationId xmlns:a16="http://schemas.microsoft.com/office/drawing/2014/main" id="{ADD5C3E8-87CE-42E8-A594-938374B09CCF}"/>
              </a:ext>
            </a:extLst>
          </p:cNvPr>
          <p:cNvSpPr>
            <a:spLocks xmlns:a="http://schemas.openxmlformats.org/drawingml/2006/main" noGrp="1"/>
          </p:cNvSpPr>
          <p:nvPr>
            <p:ph idx="1"/>
          </p:nvPr>
        </p:nvSpPr>
        <p:spPr>
          <a:xfrm xmlns:a="http://schemas.openxmlformats.org/drawingml/2006/main">
            <a:off x="457200" y="1200150"/>
            <a:ext cx="4038600" cy="3087291"/>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contenido 3">
            <a:extLst xmlns:a="http://schemas.openxmlformats.org/drawingml/2006/main">
              <a:ext uri="{FF2B5EF4-FFF2-40B4-BE49-F238E27FC236}">
                <a16:creationId xmlns:a16="http://schemas.microsoft.com/office/drawing/2014/main" id="{14F58E0A-A176-4353-8301-226F0FD12614}"/>
              </a:ext>
            </a:extLst>
          </p:cNvPr>
          <p:cNvSpPr>
            <a:spLocks xmlns:a="http://schemas.openxmlformats.org/drawingml/2006/main" noGrp="1"/>
          </p:cNvSpPr>
          <p:nvPr>
            <p:ph idx="2"/>
          </p:nvPr>
        </p:nvSpPr>
        <p:spPr>
          <a:xfrm xmlns:a="http://schemas.openxmlformats.org/drawingml/2006/main">
            <a:off x="4648200" y="1200151"/>
            <a:ext cx="4038600" cy="308729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fecha 4">
            <a:extLst xmlns:a="http://schemas.openxmlformats.org/drawingml/2006/main">
              <a:ext uri="{FF2B5EF4-FFF2-40B4-BE49-F238E27FC236}">
                <a16:creationId xmlns:a16="http://schemas.microsoft.com/office/drawing/2014/main" id="{303EA75D-8561-4AFF-A458-CD853CAA3F3B}"/>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6" name="Marcador de pie de página 5">
            <a:extLst xmlns:a="http://schemas.openxmlformats.org/drawingml/2006/main">
              <a:ext uri="{FF2B5EF4-FFF2-40B4-BE49-F238E27FC236}">
                <a16:creationId xmlns:a16="http://schemas.microsoft.com/office/drawing/2014/main" id="{B542DD47-223B-432E-85CD-A82852A3E557}"/>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833CAC4E-5896-4641-870A-E64CC1D29EE5}"/>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4.xml><?xml version="1.0" encoding="utf-8"?>
<p:sldLayout xmlns:p="http://schemas.openxmlformats.org/presentationml/2006/main" preserve="1" userDrawn="1">
  <p:cSld name="Texto y objet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2866A36-1CC3-4C07-91AA-5B40DD8028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44309B57-39E6-4A52-9195-79983AA68D91}"/>
              </a:ext>
            </a:extLst>
          </p:cNvPr>
          <p:cNvSpPr>
            <a:spLocks xmlns:a="http://schemas.openxmlformats.org/drawingml/2006/main" noGrp="1"/>
          </p:cNvSpPr>
          <p:nvPr>
            <p:ph type="body" idx="1"/>
          </p:nvPr>
        </p:nvSpPr>
        <p:spPr>
          <a:xfrm xmlns:a="http://schemas.openxmlformats.org/drawingml/2006/main">
            <a:off x="457200" y="1151335"/>
            <a:ext cx="4040188" cy="977420"/>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el estilo de texto del patrón</a:t>
            </a:r>
          </a:p>
        </p:txBody>
      </p:sp>
      <p:sp>
        <p:nvSpPr>
          <p:cNvPr id="4" name="Marcador de contenido 3">
            <a:extLst xmlns:a="http://schemas.openxmlformats.org/drawingml/2006/main">
              <a:ext uri="{FF2B5EF4-FFF2-40B4-BE49-F238E27FC236}">
                <a16:creationId xmlns:a16="http://schemas.microsoft.com/office/drawing/2014/main" id="{19B2B9D6-3F56-49A2-A1BE-0E449A705055}"/>
              </a:ext>
            </a:extLst>
          </p:cNvPr>
          <p:cNvSpPr>
            <a:spLocks xmlns:a="http://schemas.openxmlformats.org/drawingml/2006/main" noGrp="1"/>
          </p:cNvSpPr>
          <p:nvPr>
            <p:ph idx="2"/>
          </p:nvPr>
        </p:nvSpPr>
        <p:spPr>
          <a:xfrm xmlns:a="http://schemas.openxmlformats.org/drawingml/2006/main">
            <a:off x="457200" y="2176006"/>
            <a:ext cx="4040188" cy="2111435"/>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Marcador de fecha 6">
            <a:extLst xmlns:a="http://schemas.openxmlformats.org/drawingml/2006/main">
              <a:ext uri="{FF2B5EF4-FFF2-40B4-BE49-F238E27FC236}">
                <a16:creationId xmlns:a16="http://schemas.microsoft.com/office/drawing/2014/main" id="{C4B2FF24-EBA1-44F1-92B7-23EE3C27FEF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8" name="Marcador de pie de página 7">
            <a:extLst xmlns:a="http://schemas.openxmlformats.org/drawingml/2006/main">
              <a:ext uri="{FF2B5EF4-FFF2-40B4-BE49-F238E27FC236}">
                <a16:creationId xmlns:a16="http://schemas.microsoft.com/office/drawing/2014/main" id="{FE3F1C2E-48B4-4D04-934C-5C3904A481D6}"/>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C2BA8734-6282-4694-9B7E-EDE58D4FF587}"/>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11" name="Marcador de SmartArt 10">
            <a:extLst xmlns:a="http://schemas.openxmlformats.org/drawingml/2006/main">
              <a:ext uri="{FF2B5EF4-FFF2-40B4-BE49-F238E27FC236}">
                <a16:creationId xmlns:a16="http://schemas.microsoft.com/office/drawing/2014/main" id="{8E8D14A6-C242-4177-A9FB-88085EE02D51}"/>
              </a:ext>
            </a:extLst>
          </p:cNvPr>
          <p:cNvSpPr>
            <a:spLocks xmlns:a="http://schemas.openxmlformats.org/drawingml/2006/main" noGrp="1"/>
          </p:cNvSpPr>
          <p:nvPr>
            <p:ph type="dgm" idx="13"/>
          </p:nvPr>
        </p:nvSpPr>
        <p:spPr>
          <a:xfrm xmlns:a="http://schemas.openxmlformats.org/drawingml/2006/main">
            <a:off x="4559300" y="1151335"/>
            <a:ext cx="4127500" cy="3136106"/>
          </a:xfrm>
        </p:spPr>
        <p:txBody>
          <a:bodyPr xmlns:a="http://schemas.openxmlformats.org/drawingml/2006/main"/>
          <a:lstStyle xmlns:a="http://schemas.openxmlformats.org/drawingml/2006/main"/>
          <a:p xmlns:a="http://schemas.openxmlformats.org/drawingml/2006/main">
            <a:r>
              <a:t>Haga clic en el icono para agregar un gráfico SmartArt</a:t>
            </a:r>
            <a:endParaRPr/>
          </a:p>
        </p:txBody>
      </p:sp>
    </p:spTree>
  </p:cSld>
</p:sldLayout>
</file>

<file path=ppt/slideLayouts/slideLayout5.xml><?xml version="1.0" encoding="utf-8"?>
<p:sldLayout xmlns:p="http://schemas.openxmlformats.org/presentationml/2006/main" preserve="1" userDrawn="1">
  <p:cSld name="Diseño con gráfic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D2C7A89-0720-4008-8CBD-329E1BFC4CF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C342D720-67E1-46F3-BB3F-7423AC5347C7}"/>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0FB557D1-C712-4743-9F7A-38D7663BA1BA}"/>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4288DF9F-267C-44B6-8C8F-F76B9C9C5300}"/>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7" name="Marcador de gráfico 6">
            <a:extLst xmlns:a="http://schemas.openxmlformats.org/drawingml/2006/main">
              <a:ext uri="{FF2B5EF4-FFF2-40B4-BE49-F238E27FC236}">
                <a16:creationId xmlns:a16="http://schemas.microsoft.com/office/drawing/2014/main" id="{B5052C0B-9611-4630-A98D-CB9955F51E9D}"/>
              </a:ext>
            </a:extLst>
          </p:cNvPr>
          <p:cNvSpPr>
            <a:spLocks xmlns:a="http://schemas.openxmlformats.org/drawingml/2006/main" noGrp="1"/>
          </p:cNvSpPr>
          <p:nvPr>
            <p:ph type="chart" idx="13"/>
          </p:nvPr>
        </p:nvSpPr>
        <p:spPr>
          <a:xfrm xmlns:a="http://schemas.openxmlformats.org/drawingml/2006/main">
            <a:off x="457200" y="1316811"/>
            <a:ext cx="8229600" cy="2970631"/>
          </a:xfrm>
        </p:spPr>
        <p:txBody>
          <a:bodyPr xmlns:a="http://schemas.openxmlformats.org/drawingml/2006/main"/>
          <a:lstStyle xmlns:a="http://schemas.openxmlformats.org/drawingml/2006/main"/>
          <a:p xmlns:a="http://schemas.openxmlformats.org/drawingml/2006/main">
            <a:r>
              <a:t>Haga clic en el icono para agregar un gráfico</a:t>
            </a:r>
            <a:endParaRPr/>
          </a:p>
        </p:txBody>
      </p:sp>
    </p:spTree>
  </p:cSld>
</p:sldLayout>
</file>

<file path=ppt/slideLayouts/slideLayout6.xml><?xml version="1.0" encoding="utf-8"?>
<p:sldLayout xmlns:p="http://schemas.openxmlformats.org/presentationml/2006/main" preserve="1" userDrawn="1">
  <p:cSld name="Só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2AC514E-B4B5-49AA-B533-BF5C2C1AB2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28E59C0D-C6AD-415E-8A27-DCDC187E380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F2959088-1DF3-4070-908D-EED021A1E79B}"/>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422FAE53-95CF-4657-9D7C-893C3D515C4F}"/>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
        <p:nvSpPr>
          <p:cNvPr id="6" name="Marcador de posición de imagen 2">
            <a:extLst xmlns:a="http://schemas.openxmlformats.org/drawingml/2006/main">
              <a:ext uri="{FF2B5EF4-FFF2-40B4-BE49-F238E27FC236}">
                <a16:creationId xmlns:a16="http://schemas.microsoft.com/office/drawing/2014/main" id="{0BA1E3E2-D5B0-482A-94A0-33B0A6AE125B}"/>
              </a:ext>
            </a:extLst>
          </p:cNvPr>
          <p:cNvSpPr>
            <a:spLocks xmlns:a="http://schemas.openxmlformats.org/drawingml/2006/main" noGrp="1"/>
          </p:cNvSpPr>
          <p:nvPr>
            <p:ph type="pic" idx="1"/>
          </p:nvPr>
        </p:nvSpPr>
        <p:spPr>
          <a:xfrm xmlns:a="http://schemas.openxmlformats.org/drawingml/2006/main">
            <a:off x="457200" y="1214080"/>
            <a:ext cx="8229600" cy="2689657"/>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Arrastre la imagen al marcador de posición o haga clic en el icono para agregar</a:t>
            </a:r>
            <a:endParaRPr/>
          </a:p>
        </p:txBody>
      </p:sp>
      <p:sp>
        <p:nvSpPr>
          <p:cNvPr id="7" name="Marcador de texto 3">
            <a:extLst xmlns:a="http://schemas.openxmlformats.org/drawingml/2006/main">
              <a:ext uri="{FF2B5EF4-FFF2-40B4-BE49-F238E27FC236}">
                <a16:creationId xmlns:a16="http://schemas.microsoft.com/office/drawing/2014/main" id="{4AB946F6-DDC4-407A-A037-A87B716AF59E}"/>
              </a:ext>
            </a:extLst>
          </p:cNvPr>
          <p:cNvSpPr>
            <a:spLocks xmlns:a="http://schemas.openxmlformats.org/drawingml/2006/main" noGrp="1"/>
          </p:cNvSpPr>
          <p:nvPr>
            <p:ph type="body" idx="2"/>
          </p:nvPr>
        </p:nvSpPr>
        <p:spPr>
          <a:xfrm xmlns:a="http://schemas.openxmlformats.org/drawingml/2006/main">
            <a:off x="457200" y="4025504"/>
            <a:ext cx="8229600" cy="261938"/>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Haga clic para modificar el estilo de texto del patrón</a:t>
            </a:r>
          </a:p>
        </p:txBody>
      </p:sp>
    </p:spTree>
  </p:cSld>
</p:sldLayout>
</file>

<file path=ppt/slideLayouts/slideLayout7.xml><?xml version="1.0" encoding="utf-8"?>
<p:sldLayout xmlns:p="http://schemas.openxmlformats.org/presentationml/2006/main" preserve="1">
  <p:cSld name="Diseño personalizad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F727F49-3A08-4B8B-A2FC-44AAF06DCE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Marcador de fecha 2">
            <a:extLst xmlns:a="http://schemas.openxmlformats.org/drawingml/2006/main">
              <a:ext uri="{FF2B5EF4-FFF2-40B4-BE49-F238E27FC236}">
                <a16:creationId xmlns:a16="http://schemas.microsoft.com/office/drawing/2014/main" id="{47AE233A-0EB3-43F8-97A6-F6D3C7500ED4}"/>
              </a:ext>
            </a:extLst>
          </p:cNvPr>
          <p:cNvSpPr>
            <a:spLocks xmlns:a="http://schemas.openxmlformats.org/drawingml/2006/main" noGrp="1"/>
          </p:cNvSpPr>
          <p:nvPr>
            <p:ph type="dt" idx="10"/>
          </p:nvPr>
        </p:nvSpPr>
        <p:spPr>
          <a:xfrm xmlns:a="http://schemas.openxmlformats.org/drawingml/2006/main">
            <a:off x="170818" y="4767263"/>
            <a:ext cx="800392"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4248F72-65B5-4A4E-B82F-2E1A76141EF9}" type="datetimeFigureOut">
              <a:t>23/5/19</a:t>
            </a:fld>
            <a:endParaRPr/>
          </a:p>
        </p:txBody>
      </p:sp>
      <p:sp>
        <p:nvSpPr>
          <p:cNvPr id="4" name="Marcador de pie de página 3">
            <a:extLst xmlns:a="http://schemas.openxmlformats.org/drawingml/2006/main">
              <a:ext uri="{FF2B5EF4-FFF2-40B4-BE49-F238E27FC236}">
                <a16:creationId xmlns:a16="http://schemas.microsoft.com/office/drawing/2014/main" id="{9F14E201-C8C6-46F4-A3C9-CF979A5A5C44}"/>
              </a:ext>
            </a:extLst>
          </p:cNvPr>
          <p:cNvSpPr>
            <a:spLocks xmlns:a="http://schemas.openxmlformats.org/drawingml/2006/main" noGrp="1"/>
          </p:cNvSpPr>
          <p:nvPr>
            <p:ph type="ftr" idx="11"/>
          </p:nvPr>
        </p:nvSpPr>
        <p:spPr>
          <a:xfrm xmlns:a="http://schemas.openxmlformats.org/drawingml/2006/main">
            <a:off x="1627373" y="4767263"/>
            <a:ext cx="28956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EBA2BF01-BF3F-4417-A047-D668F846D9DA}"/>
              </a:ext>
            </a:extLst>
          </p:cNvPr>
          <p:cNvSpPr>
            <a:spLocks xmlns:a="http://schemas.openxmlformats.org/drawingml/2006/main" noGrp="1"/>
          </p:cNvSpPr>
          <p:nvPr>
            <p:ph type="sldNum" idx="12"/>
          </p:nvPr>
        </p:nvSpPr>
        <p:spPr>
          <a:xfrm xmlns:a="http://schemas.openxmlformats.org/drawingml/2006/main">
            <a:off x="971211" y="4767263"/>
            <a:ext cx="656163"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637D2F8-05A4-FD4C-AF87-1FA0BA229BE2}" type="slidenum">
              <a:t>‹Nr.›</a:t>
            </a:fld>
            <a:endParaRPr/>
          </a:p>
        </p:txBody>
      </p:sp>
    </p:spTree>
  </p:cSld>
</p:sldLayout>
</file>

<file path=ppt/slideLayouts/slideLayout8.xml><?xml version="1.0" encoding="utf-8"?>
<p:sldLayout xmlns:p="http://schemas.openxmlformats.org/presentationml/2006/main" type="blank" preserve="1">
  <p:cSld name="Final">
    <p:spTree>
      <p:nvGrpSpPr>
        <p:cNvPr id="1" name=""/>
        <p:cNvGrpSpPr/>
        <p:nvPr/>
      </p:nvGrpSpPr>
      <p:grpSpPr>
        <a:xfrm xmlns:a="http://schemas.openxmlformats.org/drawingml/2006/main"/>
      </p:grpSpPr>
      <p:pic>
        <p:nvPicPr>
          <p:cNvPr id="2" name="Imagen 4"/>
          <p:cNvPicPr>
            <a:picLocks xmlns:a="http://schemas.openxmlformats.org/drawingml/2006/main" noChangeAspect="1"/>
          </p:cNvPicPr>
          <p:nvPr/>
        </p:nvPicPr>
        <p:blipFill>
          <a:blip xmlns:r="http://schemas.openxmlformats.org/officeDocument/2006/relationships" xmlns:a="http://schemas.openxmlformats.org/drawingml/2006/main" r:embed="R51afd858f096405f"/>
          <a:stretch xmlns:a="http://schemas.openxmlformats.org/drawingml/2006/main">
            <a:fillRect l="0" t="0" r="0" b="0"/>
          </a:stretch>
        </p:blipFill>
        <p:spPr>
          <a:xfrm xmlns:a="http://schemas.openxmlformats.org/drawingml/2006/main">
            <a:off x="0" y="784483"/>
            <a:ext cx="9144000" cy="3492818"/>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Diapositiva de título">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84CC2EC-A626-4AD1-BB98-E32085625592}"/>
              </a:ext>
            </a:extLst>
          </p:cNvPr>
          <p:cNvSpPr>
            <a:spLocks xmlns:a="http://schemas.openxmlformats.org/drawingml/2006/main" noGrp="1"/>
          </p:cNvSpPr>
          <p:nvPr>
            <p:ph type="ctrTitle" idx="0"/>
          </p:nvPr>
        </p:nvSpPr>
        <p:spPr>
          <a:xfrm xmlns:a="http://schemas.openxmlformats.org/drawingml/2006/main">
            <a:off x="685800" y="1598613"/>
            <a:ext cx="7772400" cy="1101725"/>
          </a:xfrm>
        </p:spPr>
        <p:txBody>
          <a:bodyPr xmlns:a="http://schemas.openxmlformats.org/drawingml/2006/main"/>
          <a:lstStyle xmlns:a="http://schemas.openxmlformats.org/drawingml/2006/main"/>
          <a:p xmlns:a="http://schemas.openxmlformats.org/drawingml/2006/main">
            <a:r>
              <a:t>Clic para editar título</a:t>
            </a:r>
            <a:endParaRPr/>
          </a:p>
        </p:txBody>
      </p:sp>
      <p:sp>
        <p:nvSpPr>
          <p:cNvPr id="3" name="Subtítulo 2">
            <a:extLst xmlns:a="http://schemas.openxmlformats.org/drawingml/2006/main">
              <a:ext uri="{FF2B5EF4-FFF2-40B4-BE49-F238E27FC236}">
                <a16:creationId xmlns:a16="http://schemas.microsoft.com/office/drawing/2014/main" id="{E08223CB-0C16-46F8-A726-6214D5D031A5}"/>
              </a:ext>
            </a:extLst>
          </p:cNvPr>
          <p:cNvSpPr>
            <a:spLocks xmlns:a="http://schemas.openxmlformats.org/drawingml/2006/main" noGrp="1"/>
          </p:cNvSpPr>
          <p:nvPr>
            <p:ph type="subTitle" idx="1"/>
          </p:nvPr>
        </p:nvSpPr>
        <p:spPr>
          <a:xfrm xmlns:a="http://schemas.openxmlformats.org/drawingml/2006/main">
            <a:off x="1371600" y="2914650"/>
            <a:ext cx="6400800" cy="131445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Haga clic para modificar el estilo de subtítulo del patrón</a:t>
            </a:r>
            <a:endParaRPr/>
          </a:p>
        </p:txBody>
      </p:sp>
      <p:sp>
        <p:nvSpPr>
          <p:cNvPr id="4" name="Marcador de fecha 3">
            <a:extLst xmlns:a="http://schemas.openxmlformats.org/drawingml/2006/main">
              <a:ext uri="{FF2B5EF4-FFF2-40B4-BE49-F238E27FC236}">
                <a16:creationId xmlns:a16="http://schemas.microsoft.com/office/drawing/2014/main" id="{49E7A68E-2417-4007-9862-0170F79BB406}"/>
              </a:ext>
            </a:extLst>
          </p:cNvPr>
          <p:cNvSpPr>
            <a:spLocks xmlns:a="http://schemas.openxmlformats.org/drawingml/2006/main" noGrp="1"/>
          </p:cNvSpPr>
          <p:nvPr>
            <p:ph type="dt" idx="10"/>
          </p:nvPr>
        </p:nvSpPr>
        <p:spPr>
          <a:xfrm xmlns:a="http://schemas.openxmlformats.org/drawingml/2006/main">
            <a:off x="457200" y="4767263"/>
            <a:ext cx="2133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CC73C310-44D8-D44E-9500-41BAE48D6C1F}" type="datetimeFigureOut">
              <a:t>23/5/19</a:t>
            </a:fld>
            <a:endParaRPr/>
          </a:p>
        </p:txBody>
      </p:sp>
      <p:sp>
        <p:nvSpPr>
          <p:cNvPr id="5" name="Marcador de pie de página 4">
            <a:extLst xmlns:a="http://schemas.openxmlformats.org/drawingml/2006/main">
              <a:ext uri="{FF2B5EF4-FFF2-40B4-BE49-F238E27FC236}">
                <a16:creationId xmlns:a16="http://schemas.microsoft.com/office/drawing/2014/main" id="{22B4B1B2-D0EF-48CE-92DF-D5F787D18CA6}"/>
              </a:ext>
            </a:extLst>
          </p:cNvPr>
          <p:cNvSpPr>
            <a:spLocks xmlns:a="http://schemas.openxmlformats.org/drawingml/2006/main" noGrp="1"/>
          </p:cNvSpPr>
          <p:nvPr>
            <p:ph type="ftr" idx="11"/>
          </p:nvPr>
        </p:nvSpPr>
        <p:spPr>
          <a:xfrm xmlns:a="http://schemas.openxmlformats.org/drawingml/2006/main">
            <a:off x="3124200" y="4767263"/>
            <a:ext cx="2895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938EAECA-7236-4AE5-B2EA-50CAADCEA487}"/>
              </a:ext>
            </a:extLst>
          </p:cNvPr>
          <p:cNvSpPr>
            <a:spLocks xmlns:a="http://schemas.openxmlformats.org/drawingml/2006/main" noGrp="1"/>
          </p:cNvSpPr>
          <p:nvPr>
            <p:ph type="sldNum" idx="12"/>
          </p:nvPr>
        </p:nvSpPr>
        <p:spPr>
          <a:xfrm xmlns:a="http://schemas.openxmlformats.org/drawingml/2006/main">
            <a:off x="6553200" y="4767263"/>
            <a:ext cx="21336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F152EED2-0F54-FF4E-878C-CD5E3782BC0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f1b231d92786469c" /><Relationship Type="http://schemas.openxmlformats.org/officeDocument/2006/relationships/theme" Target="/ppt/slideMasters/theme/theme2.xml" Id="R7d79fdfffc174435" /><Relationship Type="http://schemas.openxmlformats.org/officeDocument/2006/relationships/slideLayout" Target="/ppt/slideLayouts/slideLayout1.xml" Id="R334bb312a4ae4ca8" /><Relationship Type="http://schemas.openxmlformats.org/officeDocument/2006/relationships/slideLayout" Target="/ppt/slideLayouts/slideLayout2.xml" Id="Rfb175d4f4bc94242" /><Relationship Type="http://schemas.openxmlformats.org/officeDocument/2006/relationships/slideLayout" Target="/ppt/slideLayouts/slideLayout3.xml" Id="R599b20940bec4d3f" /><Relationship Type="http://schemas.openxmlformats.org/officeDocument/2006/relationships/slideLayout" Target="/ppt/slideLayouts/slideLayout4.xml" Id="R292b161e38f94c33" /><Relationship Type="http://schemas.openxmlformats.org/officeDocument/2006/relationships/slideLayout" Target="/ppt/slideLayouts/slideLayout5.xml" Id="R0ad0c154ebee4ea9" /><Relationship Type="http://schemas.openxmlformats.org/officeDocument/2006/relationships/slideLayout" Target="/ppt/slideLayouts/slideLayout6.xml" Id="Re538f10cbe694913" /><Relationship Type="http://schemas.openxmlformats.org/officeDocument/2006/relationships/slideLayout" Target="/ppt/slideLayouts/slideLayout7.xml" Id="R9abdd9fada794c4f" /><Relationship Type="http://schemas.openxmlformats.org/officeDocument/2006/relationships/slideLayout" Target="/ppt/slideLayouts/slideLayout8.xml" Id="Rd34cc6af3f114551" /></Relationships>
</file>

<file path=ppt/slideMasters/_rels/slideMaster2.xml.rels>&#65279;<?xml version="1.0" encoding="utf-8"?><Relationships xmlns="http://schemas.openxmlformats.org/package/2006/relationships"><Relationship Type="http://schemas.openxmlformats.org/officeDocument/2006/relationships/image" Target="/ppt/media/image.png" Id="R2d40b2c7f5494a5f" /><Relationship Type="http://schemas.openxmlformats.org/officeDocument/2006/relationships/theme" Target="/ppt/slideMasters/theme/theme3.xml" Id="R30b2b555193d48e3" /><Relationship Type="http://schemas.openxmlformats.org/officeDocument/2006/relationships/slideLayout" Target="/ppt/slideLayouts/slideLayout9.xml" Id="R273c3902d3d344f4" /></Relationships>
</file>

<file path=ppt/slideMasters/_rels/slideMaster3.xml.rels>&#65279;<?xml version="1.0" encoding="utf-8"?><Relationships xmlns="http://schemas.openxmlformats.org/package/2006/relationships"><Relationship Type="http://schemas.openxmlformats.org/officeDocument/2006/relationships/image" Target="/ppt/media/image.emf" Id="R6decc73927c0496e" /><Relationship Type="http://schemas.openxmlformats.org/officeDocument/2006/relationships/image" Target="/ppt/media/image.png" Id="R5caf2d948b214582" /><Relationship Type="http://schemas.openxmlformats.org/officeDocument/2006/relationships/theme" Target="/ppt/slideMasters/theme/theme4.xml" Id="Rc2b3026e36554c15" /><Relationship Type="http://schemas.openxmlformats.org/officeDocument/2006/relationships/slideLayout" Target="/ppt/slideLayouts/slideLayout10.xml" Id="R997acf9250264c0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13" name="Imagen 6"/>
          <p:cNvPicPr>
            <a:picLocks xmlns:a="http://schemas.openxmlformats.org/drawingml/2006/main" noChangeAspect="1"/>
          </p:cNvPicPr>
          <p:nvPr/>
        </p:nvPicPr>
        <p:blipFill>
          <a:blip xmlns:r="http://schemas.openxmlformats.org/officeDocument/2006/relationships" xmlns:a="http://schemas.openxmlformats.org/drawingml/2006/main" r:embed="Rf1b231d92786469c"/>
          <a:stretch xmlns:a="http://schemas.openxmlformats.org/drawingml/2006/main">
            <a:fillRect l="0" t="0" r="0" b="0"/>
          </a:stretch>
        </p:blipFill>
        <p:spPr>
          <a:xfrm xmlns:a="http://schemas.openxmlformats.org/drawingml/2006/main">
            <a:off x="158742" y="0"/>
            <a:ext cx="8985258" cy="1007195"/>
          </a:xfrm>
          <a:prstGeom xmlns:a="http://schemas.openxmlformats.org/drawingml/2006/main" prst="rect">
            <a:avLst/>
          </a:prstGeom>
        </p:spPr>
      </p:pic>
      <p:sp>
        <p:nvSpPr>
          <p:cNvPr id="2" name="Marcador de título 1">
            <a:extLst xmlns:a="http://schemas.openxmlformats.org/drawingml/2006/main">
              <a:ext uri="{FF2B5EF4-FFF2-40B4-BE49-F238E27FC236}">
                <a16:creationId xmlns:a16="http://schemas.microsoft.com/office/drawing/2014/main" id="{2070292F-7CFF-470D-913D-1E6BDE8FD92F}"/>
              </a:ext>
            </a:extLst>
          </p:cNvPr>
          <p:cNvSpPr>
            <a:spLocks xmlns:a="http://schemas.openxmlformats.org/drawingml/2006/main" noGrp="1"/>
          </p:cNvSpPr>
          <p:nvPr>
            <p:ph type="title" idx="0"/>
          </p:nvPr>
        </p:nvSpPr>
        <p:spPr>
          <a:xfrm xmlns:a="http://schemas.openxmlformats.org/drawingml/2006/main">
            <a:off x="457200" y="149945"/>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E4A36189-524E-4255-AFC0-7A55E4DCB605}"/>
              </a:ext>
            </a:extLst>
          </p:cNvPr>
          <p:cNvSpPr>
            <a:spLocks xmlns:a="http://schemas.openxmlformats.org/drawingml/2006/main" noGrp="1"/>
          </p:cNvSpPr>
          <p:nvPr>
            <p:ph type="body" idx="1"/>
          </p:nvPr>
        </p:nvSpPr>
        <p:spPr>
          <a:xfrm xmlns:a="http://schemas.openxmlformats.org/drawingml/2006/main">
            <a:off x="457200" y="1200151"/>
            <a:ext cx="8229600" cy="308133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el estilo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10" name="Rectángulo 9">
            <a:extLst xmlns:a="http://schemas.openxmlformats.org/drawingml/2006/main">
              <a:ext uri="{FF2B5EF4-FFF2-40B4-BE49-F238E27FC236}">
                <a16:creationId xmlns:a16="http://schemas.microsoft.com/office/drawing/2014/main" id="{0C62F43A-D755-471C-8B38-05011B6FB72E}"/>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ángulo 7">
            <a:extLst xmlns:a="http://schemas.openxmlformats.org/drawingml/2006/main">
              <a:ext uri="{FF2B5EF4-FFF2-40B4-BE49-F238E27FC236}">
                <a16:creationId xmlns:a16="http://schemas.microsoft.com/office/drawing/2014/main" id="{83609EC7-A296-4965-8074-FF46BB0AD78E}"/>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
        <p:nvSpPr>
          <p:cNvPr id="11" name="Rectángulo 10">
            <a:extLst xmlns:a="http://schemas.openxmlformats.org/drawingml/2006/main">
              <a:ext uri="{FF2B5EF4-FFF2-40B4-BE49-F238E27FC236}">
                <a16:creationId xmlns:a16="http://schemas.microsoft.com/office/drawing/2014/main" id="{6B30BCA3-C1A5-408D-A965-11C39031B93E}"/>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bb312a4ae4ca8"/>
    <p:sldLayoutId xmlns:r="http://schemas.openxmlformats.org/officeDocument/2006/relationships" id="2147483650" r:id="Rfb175d4f4bc94242"/>
    <p:sldLayoutId xmlns:r="http://schemas.openxmlformats.org/officeDocument/2006/relationships" id="2147483651" r:id="R599b20940bec4d3f"/>
    <p:sldLayoutId xmlns:r="http://schemas.openxmlformats.org/officeDocument/2006/relationships" id="2147483652" r:id="R292b161e38f94c33"/>
    <p:sldLayoutId xmlns:r="http://schemas.openxmlformats.org/officeDocument/2006/relationships" id="2147483653" r:id="R0ad0c154ebee4ea9"/>
    <p:sldLayoutId xmlns:r="http://schemas.openxmlformats.org/officeDocument/2006/relationships" id="2147483654" r:id="Re538f10cbe694913"/>
    <p:sldLayoutId xmlns:r="http://schemas.openxmlformats.org/officeDocument/2006/relationships" id="2147483655" r:id="R9abdd9fada794c4f"/>
    <p:sldLayoutId xmlns:r="http://schemas.openxmlformats.org/officeDocument/2006/relationships" id="2147483656" r:id="Rd34cc6af3f114551"/>
  </p:sldLayoutIdLst>
  <p:txStyles>
    <p:titleStyle>
      <a:lvl1pPr xmlns:a="http://schemas.openxmlformats.org/drawingml/2006/main" algn="l" defTabSz="457200">
        <a:spcBef>
          <a:spcPct val="0"/>
        </a:spcBef>
        <a:buNone/>
        <a:defRPr sz="3200" b="1" kern="1200">
          <a:solidFill>
            <a:schemeClr val="bg1"/>
          </a:solidFill>
          <a:latin typeface="Arial"/>
          <a:ea typeface="Arial"/>
          <a:cs typeface="Arial"/>
        </a:defRPr>
      </a:lvl1pPr>
    </p:titleStyle>
    <p:bodyStyle>
      <a:lvl1pPr xmlns:a="http://schemas.openxmlformats.org/drawingml/2006/main" marL="342900" indent="-342900" algn="l" defTabSz="457200">
        <a:spcBef>
          <a:spcPct val="20000"/>
        </a:spcBef>
        <a:buFont typeface="Arial"/>
        <a:buChar char="•"/>
        <a:defRPr sz="2800" b="0" kern="1200">
          <a:solidFill>
            <a:schemeClr val="tx1"/>
          </a:solidFill>
          <a:latin typeface="Arial"/>
          <a:ea typeface="Arial"/>
          <a:cs typeface="Arial"/>
        </a:defRPr>
      </a:lvl1pPr>
      <a:lvl2pPr xmlns:a="http://schemas.openxmlformats.org/drawingml/2006/main" marL="365125" indent="0" algn="l" defTabSz="457200">
        <a:spcBef>
          <a:spcPct val="20000"/>
        </a:spcBef>
        <a:buFontTx/>
        <a:buNone/>
        <a:defRPr sz="2800" kern="1200">
          <a:solidFill>
            <a:schemeClr val="tx1"/>
          </a:solidFill>
          <a:latin typeface="Arial"/>
          <a:ea typeface="Arial"/>
          <a:cs typeface="Arial"/>
        </a:defRPr>
      </a:lvl2pPr>
      <a:lvl3pPr xmlns:a="http://schemas.openxmlformats.org/drawingml/2006/main" marL="630238" indent="-241300" algn="l" defTabSz="457200">
        <a:spcBef>
          <a:spcPct val="20000"/>
        </a:spcBef>
        <a:buFont typeface="Arial"/>
        <a:buChar char="•"/>
        <a:defRPr sz="2400" kern="1200">
          <a:solidFill>
            <a:schemeClr val="tx1"/>
          </a:solidFill>
          <a:latin typeface="Arial"/>
          <a:ea typeface="Arial"/>
          <a:cs typeface="Arial"/>
        </a:defRPr>
      </a:lvl3pPr>
      <a:lvl4pPr xmlns:a="http://schemas.openxmlformats.org/drawingml/2006/main" marL="982663" indent="-268288" algn="l" defTabSz="457200">
        <a:spcBef>
          <a:spcPct val="20000"/>
        </a:spcBef>
        <a:buFont typeface="Arial"/>
        <a:buChar char="–"/>
        <a:defRPr sz="2000" kern="1200">
          <a:solidFill>
            <a:schemeClr val="tx1"/>
          </a:solidFill>
          <a:latin typeface="Arial"/>
          <a:ea typeface="Arial"/>
          <a:cs typeface="Arial"/>
        </a:defRPr>
      </a:lvl4pPr>
      <a:lvl5pPr xmlns:a="http://schemas.openxmlformats.org/drawingml/2006/main" marL="982662" indent="0" algn="l" defTabSz="457200">
        <a:spcBef>
          <a:spcPct val="20000"/>
        </a:spcBef>
        <a:buFontTx/>
        <a:buNone/>
        <a:defRPr sz="2000" kern="1200">
          <a:solidFill>
            <a:schemeClr val="tx1"/>
          </a:solidFill>
          <a:latin typeface="Arial"/>
          <a:ea typeface="Arial"/>
          <a:cs typeface="Arial"/>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2" name="Imagen 2"/>
          <p:cNvPicPr>
            <a:picLocks xmlns:a="http://schemas.openxmlformats.org/drawingml/2006/main" noChangeAspect="1"/>
          </p:cNvPicPr>
          <p:nvPr/>
        </p:nvPicPr>
        <p:blipFill>
          <a:blip xmlns:r="http://schemas.openxmlformats.org/officeDocument/2006/relationships" xmlns:a="http://schemas.openxmlformats.org/drawingml/2006/main" r:embed="R2d40b2c7f5494a5f"/>
          <a:stretch xmlns:a="http://schemas.openxmlformats.org/drawingml/2006/main">
            <a:fillRect l="0" t="0" r="0" b="0"/>
          </a:stretch>
        </p:blipFill>
        <p:spPr>
          <a:xfrm xmlns:a="http://schemas.openxmlformats.org/drawingml/2006/main">
            <a:off x="1320800" y="698500"/>
            <a:ext cx="6480264" cy="3733925"/>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8" r:id="R273c3902d3d344f4"/>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597259FA-5822-4A07-87E2-DB03669A7E3E}"/>
              </a:ext>
            </a:extLst>
          </p:cNvPr>
          <p:cNvSpPr>
            <a:spLocks xmlns:a="http://schemas.openxmlformats.org/drawingml/2006/main" noGrp="1"/>
          </p:cNvSpPr>
          <p:nvPr>
            <p:ph type="title" idx="0"/>
          </p:nvPr>
        </p:nvSpPr>
        <p:spPr>
          <a:xfrm xmlns:a="http://schemas.openxmlformats.org/drawingml/2006/main">
            <a:off x="457200" y="1437737"/>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 para editar título</a:t>
            </a:r>
            <a:endParaRPr/>
          </a:p>
        </p:txBody>
      </p:sp>
      <p:sp>
        <p:nvSpPr>
          <p:cNvPr id="3" name="Marcador de texto 2">
            <a:extLst xmlns:a="http://schemas.openxmlformats.org/drawingml/2006/main">
              <a:ext uri="{FF2B5EF4-FFF2-40B4-BE49-F238E27FC236}">
                <a16:creationId xmlns:a16="http://schemas.microsoft.com/office/drawing/2014/main" id="{AB2A7547-FF11-4B4B-90EC-6C4A7EAE713F}"/>
              </a:ext>
            </a:extLst>
          </p:cNvPr>
          <p:cNvSpPr>
            <a:spLocks xmlns:a="http://schemas.openxmlformats.org/drawingml/2006/main" noGrp="1"/>
          </p:cNvSpPr>
          <p:nvPr>
            <p:ph type="body" idx="1"/>
          </p:nvPr>
        </p:nvSpPr>
        <p:spPr>
          <a:xfrm xmlns:a="http://schemas.openxmlformats.org/drawingml/2006/main">
            <a:off x="457200" y="2770565"/>
            <a:ext cx="8229600" cy="151092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Integrantes</a:t>
            </a:r>
            <a:endParaRPr/>
          </a:p>
        </p:txBody>
      </p:sp>
      <p:pic>
        <p:nvPicPr>
          <p:cNvPr id="16" name="Imagen 6"/>
          <p:cNvPicPr>
            <a:picLocks xmlns:a="http://schemas.openxmlformats.org/drawingml/2006/main" noChangeAspect="1"/>
          </p:cNvPicPr>
          <p:nvPr/>
        </p:nvPicPr>
        <p:blipFill>
          <a:blip xmlns:r="http://schemas.openxmlformats.org/officeDocument/2006/relationships" xmlns:a="http://schemas.openxmlformats.org/drawingml/2006/main" r:embed="R6decc73927c0496e"/>
          <a:stretch xmlns:a="http://schemas.openxmlformats.org/drawingml/2006/main">
            <a:fillRect l="0" t="0" r="0" b="0"/>
          </a:stretch>
        </p:blipFill>
        <p:spPr>
          <a:xfrm xmlns:a="http://schemas.openxmlformats.org/drawingml/2006/main">
            <a:off x="3100137" y="1"/>
            <a:ext cx="6043863" cy="1123125"/>
          </a:xfrm>
          <a:prstGeom xmlns:a="http://schemas.openxmlformats.org/drawingml/2006/main" prst="rect">
            <a:avLst/>
          </a:prstGeom>
        </p:spPr>
      </p:pic>
      <p:sp>
        <p:nvSpPr>
          <p:cNvPr id="8" name="Rectángulo 7">
            <a:extLst xmlns:a="http://schemas.openxmlformats.org/drawingml/2006/main">
              <a:ext uri="{FF2B5EF4-FFF2-40B4-BE49-F238E27FC236}">
                <a16:creationId xmlns:a16="http://schemas.microsoft.com/office/drawing/2014/main" id="{0757CA98-7359-4B07-B547-02DC74A29D35}"/>
              </a:ext>
            </a:extLst>
          </p:cNvPr>
          <p:cNvSpPr>
            <a:spLocks xmlns:a="http://schemas.openxmlformats.org/drawingml/2006/main" noGrp="1"/>
          </p:cNvSpPr>
          <p:nvPr/>
        </p:nvSpPr>
        <p:spPr>
          <a:xfrm xmlns:a="http://schemas.openxmlformats.org/drawingml/2006/main" flipV="1">
            <a:off x="-1" y="-4"/>
            <a:ext cx="177417" cy="1123126"/>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Imagen 8"/>
          <p:cNvPicPr>
            <a:picLocks xmlns:a="http://schemas.openxmlformats.org/drawingml/2006/main" noChangeAspect="1"/>
          </p:cNvPicPr>
          <p:nvPr/>
        </p:nvPicPr>
        <p:blipFill>
          <a:blip xmlns:r="http://schemas.openxmlformats.org/officeDocument/2006/relationships" xmlns:a="http://schemas.openxmlformats.org/drawingml/2006/main" r:embed="R5caf2d948b214582"/>
          <a:stretch xmlns:a="http://schemas.openxmlformats.org/drawingml/2006/main">
            <a:fillRect l="0" t="0" r="0" b="0"/>
          </a:stretch>
        </p:blipFill>
        <p:spPr>
          <a:xfrm xmlns:a="http://schemas.openxmlformats.org/drawingml/2006/main">
            <a:off x="682784" y="70795"/>
            <a:ext cx="1907624" cy="1099172"/>
          </a:xfrm>
          <a:prstGeom xmlns:a="http://schemas.openxmlformats.org/drawingml/2006/main" prst="rect">
            <a:avLst/>
          </a:prstGeom>
        </p:spPr>
      </p:pic>
      <p:sp>
        <p:nvSpPr>
          <p:cNvPr id="10" name="Rectángulo 9">
            <a:extLst xmlns:a="http://schemas.openxmlformats.org/drawingml/2006/main">
              <a:ext uri="{FF2B5EF4-FFF2-40B4-BE49-F238E27FC236}">
                <a16:creationId xmlns:a16="http://schemas.microsoft.com/office/drawing/2014/main" id="{C6CBE8A6-814B-4B4C-84A7-33426395548E}"/>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
        <p:nvSpPr>
          <p:cNvPr id="11" name="Rectángulo 10">
            <a:extLst xmlns:a="http://schemas.openxmlformats.org/drawingml/2006/main">
              <a:ext uri="{FF2B5EF4-FFF2-40B4-BE49-F238E27FC236}">
                <a16:creationId xmlns:a16="http://schemas.microsoft.com/office/drawing/2014/main" id="{510A60F6-9DBF-4440-9312-A835AFF9EB02}"/>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0" r:id="R997acf9250264c02"/>
  </p:sldLayoutIdLst>
  <p:txStyles>
    <p:titleStyle>
      <a:lvl1pPr xmlns:a="http://schemas.openxmlformats.org/drawingml/2006/main" algn="r" defTabSz="457200">
        <a:spcBef>
          <a:spcPct val="0"/>
        </a:spcBef>
        <a:buNone/>
        <a:defRPr sz="4400" b="1" i="0" kern="1200">
          <a:solidFill>
            <a:schemeClr val="tx1"/>
          </a:solidFill>
          <a:latin typeface="Arial"/>
          <a:ea typeface="Arial"/>
          <a:cs typeface="Arial"/>
        </a:defRPr>
      </a:lvl1pPr>
    </p:titleStyle>
    <p:bodyStyle>
      <a:lvl1pPr xmlns:a="http://schemas.openxmlformats.org/drawingml/2006/main" marL="342900" indent="-342900" algn="r" defTabSz="457200">
        <a:spcBef>
          <a:spcPct val="20000"/>
        </a:spcBef>
        <a:buFont typeface="Arial"/>
        <a:buChar char="•"/>
        <a:defRPr sz="3200" kern="1200">
          <a:solidFill>
            <a:srgbClr val="595959"/>
          </a:solidFill>
          <a:latin typeface="Arial"/>
          <a:ea typeface="Arial"/>
          <a:cs typeface="Arial"/>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2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69a90af68ab74c94" /><Relationship Type="http://schemas.openxmlformats.org/officeDocument/2006/relationships/notesSlide" Target="/ppt/notesSlides/notesSlide1.xml" Id="R1ab7c501a73e43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941b223a38a4fc5" /><Relationship Type="http://schemas.openxmlformats.org/officeDocument/2006/relationships/image" Target="/ppt/media/image2.png" Id="R587416f054434531" /><Relationship Type="http://schemas.openxmlformats.org/officeDocument/2006/relationships/image" Target="/ppt/media/image3.png" Id="R730b6076b6214c4f" /><Relationship Type="http://schemas.openxmlformats.org/officeDocument/2006/relationships/notesSlide" Target="/ppt/notesSlides/notesSlide2.xml" Id="R7548f506331e47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7a7e6ca81d04405" /><Relationship Type="http://schemas.openxmlformats.org/officeDocument/2006/relationships/notesSlide" Target="/ppt/notesSlides/notesSlide3.xml" Id="R6e6aaf465398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0d8533ec665d452e" /><Relationship Type="http://schemas.openxmlformats.org/officeDocument/2006/relationships/notesSlide" Target="/ppt/notesSlides/notesSlide4.xml" Id="Re4cfc9e1fd0644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e5556fbe89e84cb4" /><Relationship Type="http://schemas.openxmlformats.org/officeDocument/2006/relationships/notesSlide" Target="/ppt/notesSlides/notesSlide5.xml" Id="R70e2b20339a341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0dce4930ca614c4e" /><Relationship Type="http://schemas.openxmlformats.org/officeDocument/2006/relationships/notesSlide" Target="/ppt/notesSlides/notesSlide6.xml" Id="R758698164af24b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1eed9d7dd4294b2a" /><Relationship Type="http://schemas.openxmlformats.org/officeDocument/2006/relationships/chart" Target="/ppt/slides/charts/chart1.xml" Id="R4e6300374c4748c7" /><Relationship Type="http://schemas.openxmlformats.org/officeDocument/2006/relationships/notesSlide" Target="/ppt/notesSlides/notesSlide7.xml" Id="R5250a3e49ecd41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70010be09564e49" /><Relationship Type="http://schemas.openxmlformats.org/officeDocument/2006/relationships/chart" Target="/ppt/slides/charts/chart2.xml" Id="Re05de673e1a24935" /><Relationship Type="http://schemas.openxmlformats.org/officeDocument/2006/relationships/notesSlide" Target="/ppt/notesSlides/notesSlide8.xml" Id="R9fc60247c2e440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11fcc6f805d434c" /><Relationship Type="http://schemas.openxmlformats.org/officeDocument/2006/relationships/image" Target="/ppt/media/image4.png" Id="R76226d7cc4944f4e" /><Relationship Type="http://schemas.openxmlformats.org/officeDocument/2006/relationships/image" Target="/ppt/media/image5.png" Id="R733f633256eb4515" /><Relationship Type="http://schemas.openxmlformats.org/officeDocument/2006/relationships/image" Target="/ppt/media/image6.png" Id="R7ff9040db92e473b" /><Relationship Type="http://schemas.openxmlformats.org/officeDocument/2006/relationships/notesSlide" Target="/ppt/notesSlides/notesSlide9.xml" Id="Rd15b83e00ac947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b6820de436b24a43" /><Relationship Type="http://schemas.openxmlformats.org/officeDocument/2006/relationships/image" Target="/ppt/media/image7.png" Id="R5300de61f6694b93" /><Relationship Type="http://schemas.openxmlformats.org/officeDocument/2006/relationships/image" Target="/ppt/media/image8.png" Id="Rbccdef75395c4563" /><Relationship Type="http://schemas.openxmlformats.org/officeDocument/2006/relationships/image" Target="/ppt/media/image9.png" Id="Rd0694977d3b74954" /><Relationship Type="http://schemas.openxmlformats.org/officeDocument/2006/relationships/notesSlide" Target="/ppt/notesSlides/notesSlide10.xml" Id="R3251a5beb6e947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0a8ceca6b53e4754" /><Relationship Type="http://schemas.openxmlformats.org/officeDocument/2006/relationships/notesSlide" Target="/ppt/notesSlides/notesSlide11.xml" Id="Refab6aa8f4fb45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3682a45682840e9" /><Relationship Type="http://schemas.openxmlformats.org/officeDocument/2006/relationships/notesSlide" Target="/ppt/notesSlides/notesSlide12.xml" Id="R250d9b20466c4c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e7bd86c456b44f62" /><Relationship Type="http://schemas.openxmlformats.org/officeDocument/2006/relationships/notesSlide" Target="/ppt/notesSlides/notesSlide13.xml" Id="R7150df2014c048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6d3cf94d028e4a02" /><Relationship Type="http://schemas.openxmlformats.org/officeDocument/2006/relationships/notesSlide" Target="/ppt/notesSlides/notesSlide14.xml" Id="Ra9fd04da7ac64b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f44b6d3d8bfc4cd8" /><Relationship Type="http://schemas.openxmlformats.org/officeDocument/2006/relationships/notesSlide" Target="/ppt/notesSlides/notesSlide15.xml" Id="R8312237d580046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f09a218ed2d34d30" /><Relationship Type="http://schemas.openxmlformats.org/officeDocument/2006/relationships/image" Target="/ppt/media/image10.png" Id="Ra75512b961f9460a" /><Relationship Type="http://schemas.openxmlformats.org/officeDocument/2006/relationships/image" Target="/ppt/media/image11.png" Id="R985ccd79005e4e4a" /><Relationship Type="http://schemas.openxmlformats.org/officeDocument/2006/relationships/notesSlide" Target="/ppt/notesSlides/notesSlide16.xml" Id="R5ed00c1464f849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11db1d6f3ba4b6f" /><Relationship Type="http://schemas.openxmlformats.org/officeDocument/2006/relationships/hyperlink" Target="https://doi.org/10.1021/acs.est.5b05833" TargetMode="External" Id="R62b1759d368543b9" /><Relationship Type="http://schemas.openxmlformats.org/officeDocument/2006/relationships/hyperlink" Target="https://doi.org/10.1016/j.envint.2019.104909" TargetMode="External" Id="R3f9f37d576064056" /><Relationship Type="http://schemas.openxmlformats.org/officeDocument/2006/relationships/hyperlink" Target="https://doi.org/10.1111/ecog.02881" TargetMode="External" Id="R0c7e88b74107497f" /><Relationship Type="http://schemas.openxmlformats.org/officeDocument/2006/relationships/hyperlink" Target="https://doi.org/10.1186/1471-2105-7-91" TargetMode="External" Id="Rbe455a8442814712" /><Relationship Type="http://schemas.openxmlformats.org/officeDocument/2006/relationships/notesSlide" Target="/ppt/notesSlides/notesSlide17.xml" Id="R9e388f5a2af947aa" /></Relationships>
</file>

<file path=ppt/slides/charts/chart1.xml><?xml version="1.0" encoding="utf-8"?>
<c:chartSpace xmlns:c="http://schemas.openxmlformats.org/drawingml/2006/chart">
  <c:lang val="en-US"/>
  <c:chart>
    <c:plotArea>
      <c:barChart>
        <c:barDir val="bar"/>
        <c:grouping val="clustered"/>
        <c:varyColors val="0"/>
        <c:ser>
          <c:idx val="0"/>
          <c:order val="0"/>
          <c:tx>
            <c:v>Series por contaminante</c:v>
          </c:tx>
          <c:spPr>
            <a:solidFill xmlns:a="http://schemas.openxmlformats.org/drawingml/2006/main">
              <a:srgbClr val="017EDF"/>
            </a:solidFill>
          </c:spPr>
          <c:cat>
            <c:strLit>
              <c:ptCount val="6"/>
              <c:pt idx="0">
                <c:v>CO</c:v>
              </c:pt>
              <c:pt idx="1">
                <c:v>O₃</c:v>
              </c:pt>
              <c:pt idx="2">
                <c:v>NO₂</c:v>
              </c:pt>
              <c:pt idx="3">
                <c:v>SO₂</c:v>
              </c:pt>
              <c:pt idx="4">
                <c:v>PM₁₀</c:v>
              </c:pt>
              <c:pt idx="5">
                <c:v>PM₂.₅</c:v>
              </c:pt>
            </c:strLit>
          </c:cat>
          <c:val>
            <c:numLit>
              <c:formatCode>0.##</c:formatCode>
              <c:ptCount val="6"/>
              <c:pt idx="0">
                <c:v>46</c:v>
              </c:pt>
              <c:pt idx="1">
                <c:v>50</c:v>
              </c:pt>
              <c:pt idx="2">
                <c:v>54</c:v>
              </c:pt>
              <c:pt idx="3">
                <c:v>59</c:v>
              </c:pt>
              <c:pt idx="4">
                <c:v>87</c:v>
              </c:pt>
              <c:pt idx="5">
                <c:v>107</c:v>
              </c:pt>
            </c:numLit>
          </c:val>
        </c:ser>
        <c:dLbls>
          <c:txPr>
            <a:bodyPr xmlns:a="http://schemas.openxmlformats.org/drawingml/2006/main" anchorCtr="1"/>
            <a:lstStyle xmlns:a="http://schemas.openxmlformats.org/drawingml/2006/main"/>
            <a:p xmlns:a="http://schemas.openxmlformats.org/drawingml/2006/main">
              <a:pPr>
                <a:defRPr sz="1275" b="1">
                  <a:solidFill>
                    <a:srgbClr val="17375D"/>
                  </a:solidFill>
                  <a:latin typeface="Calibri"/>
                  <a:ea typeface="Calibri"/>
                  <a:cs typeface="Calibri"/>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1E293B"/>
                </a:solidFill>
                <a:latin typeface="Calibri"/>
                <a:ea typeface="Calibri"/>
                <a:cs typeface="Calibri"/>
              </a:defRPr>
            </a:pPr>
          </a:p>
        </c:txPr>
        <c:crossAx val="48672768"/>
      </c:catAx>
      <c:valAx>
        <c:axId val="48672768"/>
        <c:scaling>
          <c:orientation val="minMax"/>
          <c:max val="120"/>
          <c:min val="0"/>
        </c:scaling>
        <c:delete val="0"/>
        <c:axPos val="b"/>
        <c:majorGridlines>
          <c:spPr>
            <a:ln xmlns:a="http://schemas.openxmlformats.org/drawingml/2006/main" w="6668">
              <a:solidFill>
                <a:srgbClr val="D6DFEB"/>
              </a:solidFill>
            </a:ln>
          </c:spPr>
        </c:majorGridlines>
        <c:title>
          <c:tx>
            <c:rich>
              <a:bodyPr xmlns:a="http://schemas.openxmlformats.org/drawingml/2006/main"/>
              <a:lstStyle xmlns:a="http://schemas.openxmlformats.org/drawingml/2006/main"/>
              <a:p xmlns:a="http://schemas.openxmlformats.org/drawingml/2006/main">
                <a:r>
                  <a:rPr sz="1050">
                    <a:solidFill>
                      <a:srgbClr val="526277"/>
                    </a:solidFill>
                    <a:latin typeface="Calibri"/>
                    <a:ea typeface="Calibri"/>
                    <a:cs typeface="Calibri"/>
                  </a:rPr>
                  <a:t>Series estación–contaminante</a:t>
                </a:r>
              </a:p>
            </c:rich>
          </c:tx>
          <c:overlay val="0"/>
          <c:txPr>
            <a:bodyPr xmlns:a="http://schemas.openxmlformats.org/drawingml/2006/main" anchorCtr="1"/>
            <a:lstStyle xmlns:a="http://schemas.openxmlformats.org/drawingml/2006/main"/>
            <a:p xmlns:a="http://schemas.openxmlformats.org/drawingml/2006/main">
              <a:pPr>
                <a:defRPr sz="1050">
                  <a:solidFill>
                    <a:srgbClr val="526277"/>
                  </a:solidFill>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7"/>
                </a:solidFill>
                <a:latin typeface="Calibri"/>
                <a:ea typeface="Calibri"/>
                <a:cs typeface="Calibri"/>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Filas por estado (millones)</c:v>
          </c:tx>
          <c:spPr>
            <a:solidFill xmlns:a="http://schemas.openxmlformats.org/drawingml/2006/main">
              <a:srgbClr val="017EDF"/>
            </a:solidFill>
          </c:spPr>
          <c:dPt>
            <c:idx val="0"/>
            <c:invertIfNegative val="0"/>
            <c:spPr>
              <a:solidFill xmlns:a="http://schemas.openxmlformats.org/drawingml/2006/main">
                <a:srgbClr val="8999AD"/>
              </a:solidFill>
            </c:spPr>
          </c:dPt>
          <c:dPt>
            <c:idx val="1"/>
            <c:invertIfNegative val="0"/>
            <c:spPr>
              <a:solidFill xmlns:a="http://schemas.openxmlformats.org/drawingml/2006/main">
                <a:srgbClr val="88B9EE"/>
              </a:solidFill>
            </c:spPr>
          </c:dPt>
          <c:dPt>
            <c:idx val="2"/>
            <c:invertIfNegative val="0"/>
            <c:spPr>
              <a:solidFill xmlns:a="http://schemas.openxmlformats.org/drawingml/2006/main">
                <a:srgbClr val="A7CBF2"/>
              </a:solidFill>
            </c:spPr>
          </c:dPt>
          <c:dPt>
            <c:idx val="3"/>
            <c:invertIfNegative val="0"/>
            <c:spPr>
              <a:solidFill xmlns:a="http://schemas.openxmlformats.org/drawingml/2006/main">
                <a:srgbClr val="017EDF"/>
              </a:solidFill>
            </c:spPr>
          </c:dPt>
          <c:dLbls>
            <c:dLbl>
              <c:idx val="0"/>
              <c:tx>
                <c:rich>
                  <a:bodyPr xmlns:a="http://schemas.openxmlformats.org/drawingml/2006/main"/>
                  <a:lstStyle xmlns:a="http://schemas.openxmlformats.org/drawingml/2006/main"/>
                  <a:p xmlns:a="http://schemas.openxmlformats.org/drawingml/2006/main">
                    <a:r>
                      <a:rPr sz="1200">
                        <a:latin typeface="Calibri"/>
                        <a:ea typeface="Calibri"/>
                        <a:cs typeface="Calibri"/>
                      </a:rPr>
                      <a:t>51,60 M · 54,72%</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200">
                        <a:latin typeface="Calibri"/>
                        <a:ea typeface="Calibri"/>
                        <a:cs typeface="Calibri"/>
                      </a:rPr>
                      <a:t>14,86 M · 15,75%</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200">
                        <a:latin typeface="Calibri"/>
                        <a:ea typeface="Calibri"/>
                        <a:cs typeface="Calibri"/>
                      </a:rPr>
                      <a:t>8,12 M · 8,61%</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200">
                        <a:latin typeface="Calibri"/>
                        <a:ea typeface="Calibri"/>
                        <a:cs typeface="Calibri"/>
                      </a:rPr>
                      <a:t>19,74 M · 20,93%</a:t>
                    </a:r>
                  </a:p>
                </c:rich>
              </c:tx>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dLblPos val="outEnd"/>
              <c:showLegendKey val="0"/>
              <c:showVal val="0"/>
              <c:showCatName val="0"/>
              <c:showSerName val="0"/>
              <c:showPercent val="0"/>
              <c:showBubbleSize val="0"/>
            </c:dLbl>
          </c:dLbls>
          <c:cat>
            <c:strLit>
              <c:ptCount val="4"/>
              <c:pt idx="0">
                <c:v>Faltantes explícitos</c:v>
              </c:pt>
              <c:pt idx="1">
                <c:v>No validadas</c:v>
              </c:pt>
              <c:pt idx="2">
                <c:v>Preliminares</c:v>
              </c:pt>
              <c:pt idx="3">
                <c:v>Validadas</c:v>
              </c:pt>
            </c:strLit>
          </c:cat>
          <c:val>
            <c:numLit>
              <c:formatCode>0.##</c:formatCode>
              <c:ptCount val="4"/>
              <c:pt idx="0">
                <c:v>51.603525</c:v>
              </c:pt>
              <c:pt idx="1">
                <c:v>14.857376</c:v>
              </c:pt>
              <c:pt idx="2">
                <c:v>8.115921</c:v>
              </c:pt>
              <c:pt idx="3">
                <c:v>19.735047</c:v>
              </c:pt>
            </c:numLit>
          </c:val>
        </c:ser>
        <c:dLbls>
          <c:txPr>
            <a:bodyPr xmlns:a="http://schemas.openxmlformats.org/drawingml/2006/main" anchorCtr="1"/>
            <a:lstStyle xmlns:a="http://schemas.openxmlformats.org/drawingml/2006/main"/>
            <a:p xmlns:a="http://schemas.openxmlformats.org/drawingml/2006/main">
              <a:pPr>
                <a:defRPr sz="1275" b="1">
                  <a:solidFill>
                    <a:srgbClr val="17375D"/>
                  </a:solidFill>
                  <a:latin typeface="Calibri"/>
                  <a:ea typeface="Calibri"/>
                  <a:cs typeface="Calibri"/>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1E293B"/>
                </a:solidFill>
                <a:latin typeface="Calibri"/>
                <a:ea typeface="Calibri"/>
                <a:cs typeface="Calibri"/>
              </a:defRPr>
            </a:pPr>
          </a:p>
        </c:txPr>
        <c:crossAx val="48672768"/>
      </c:catAx>
      <c:valAx>
        <c:axId val="48672768"/>
        <c:scaling>
          <c:orientation val="minMax"/>
          <c:max val="60"/>
          <c:min val="0"/>
        </c:scaling>
        <c:delete val="0"/>
        <c:axPos val="b"/>
        <c:majorGridlines>
          <c:spPr>
            <a:ln xmlns:a="http://schemas.openxmlformats.org/drawingml/2006/main" w="6668">
              <a:solidFill>
                <a:srgbClr val="D6DFEB"/>
              </a:solidFill>
            </a:ln>
          </c:spPr>
        </c:majorGridlines>
        <c:title>
          <c:tx>
            <c:rich>
              <a:bodyPr xmlns:a="http://schemas.openxmlformats.org/drawingml/2006/main"/>
              <a:lstStyle xmlns:a="http://schemas.openxmlformats.org/drawingml/2006/main"/>
              <a:p xmlns:a="http://schemas.openxmlformats.org/drawingml/2006/main">
                <a:r>
                  <a:rPr sz="1050">
                    <a:solidFill>
                      <a:srgbClr val="526277"/>
                    </a:solidFill>
                    <a:latin typeface="Calibri"/>
                    <a:ea typeface="Calibri"/>
                    <a:cs typeface="Calibri"/>
                  </a:rPr>
                  <a:t>Millones de filas seleccionadas</a:t>
                </a:r>
              </a:p>
            </c:rich>
          </c:tx>
          <c:overlay val="0"/>
          <c:txPr>
            <a:bodyPr xmlns:a="http://schemas.openxmlformats.org/drawingml/2006/main" anchorCtr="1"/>
            <a:lstStyle xmlns:a="http://schemas.openxmlformats.org/drawingml/2006/main"/>
            <a:p xmlns:a="http://schemas.openxmlformats.org/drawingml/2006/main">
              <a:pPr>
                <a:defRPr sz="1050">
                  <a:solidFill>
                    <a:srgbClr val="526277"/>
                  </a:solidFill>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7"/>
                </a:solidFill>
                <a:latin typeface="Calibri"/>
                <a:ea typeface="Calibri"/>
                <a:cs typeface="Calibri"/>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00" name="Bloque azul portada UC">
            <a:extLst xmlns:a="http://schemas.openxmlformats.org/drawingml/2006/main">
              <a:ext uri="{FF2B5EF4-FFF2-40B4-BE49-F238E27FC236}">
                <a16:creationId xmlns:a16="http://schemas.microsoft.com/office/drawing/2014/main" id="{DE011A74-7393-4A26-AB42-FCC865BC9F82}"/>
              </a:ext>
            </a:extLst>
          </p:cNvPr>
          <p:cNvSpPr>
            <a:spLocks xmlns:a="http://schemas.openxmlformats.org/drawingml/2006/main" noGrp="1"/>
          </p:cNvSpPr>
          <p:nvPr/>
        </p:nvSpPr>
        <p:spPr>
          <a:xfrm xmlns:a="http://schemas.openxmlformats.org/drawingml/2006/main">
            <a:off x="3100137" y="1"/>
            <a:ext cx="6043863" cy="1123125"/>
          </a:xfrm>
          <a:prstGeom xmlns:a="http://schemas.openxmlformats.org/drawingml/2006/main" prst="rect">
            <a:avLst/>
          </a:prstGeom>
          <a:solidFill xmlns:a="http://schemas.openxmlformats.org/drawingml/2006/main">
            <a:srgbClr val="017EDF"/>
          </a:solidFill>
          <a:ln xmlns:a="http://schemas.openxmlformats.org/drawingml/2006/main">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Aft>
                <a:spcPts val="0"/>
              </a:spcAft>
              <a:buNone/>
            </a:pPr>
            <a:r>
              <a:rPr sz="1100" b="0">
                <a:solidFill>
                  <a:srgbClr val="17375D"/>
                </a:solidFill>
                <a:latin typeface="Calibri"/>
                <a:ea typeface="Calibri"/>
                <a:cs typeface="Calibri"/>
              </a:rPr>
              <a:t/>
            </a:r>
          </a:p>
        </p:txBody>
      </p:sp>
      <p:sp>
        <p:nvSpPr>
          <p:cNvPr id="3" name="Subtítulo 2">
            <a:extLst xmlns:a="http://schemas.openxmlformats.org/drawingml/2006/main">
              <a:ext uri="{FF2B5EF4-FFF2-40B4-BE49-F238E27FC236}">
                <a16:creationId xmlns:a16="http://schemas.microsoft.com/office/drawing/2014/main" id="{1A0DB7A2-67DF-4213-825C-57104E35EBA7}"/>
              </a:ext>
            </a:extLst>
          </p:cNvPr>
          <p:cNvSpPr>
            <a:spLocks xmlns:a="http://schemas.openxmlformats.org/drawingml/2006/main" noGrp="1"/>
          </p:cNvSpPr>
          <p:nvPr>
            <p:ph type="subTitle" idx="1"/>
          </p:nvPr>
        </p:nvSpPr>
        <p:spPr>
          <a:xfrm xmlns:a="http://schemas.openxmlformats.org/drawingml/2006/main">
            <a:off x="612648" y="2761488"/>
            <a:ext cx="7772400" cy="1097280"/>
          </a:xfrm>
        </p:spPr>
        <p:txBody>
          <a:bodyPr xmlns:a="http://schemas.openxmlformats.org/drawingml/2006/main" wrap="square" anchor="t">
            <a:noAutofit/>
          </a:bodyPr>
          <a:lstStyle xmlns:a="http://schemas.openxmlformats.org/drawingml/2006/main"/>
          <a:p xmlns:a="http://schemas.openxmlformats.org/drawingml/2006/main">
            <a:pPr algn="l">
              <a:spcBef>
                <a:spcPts val="0"/>
              </a:spcBef>
              <a:spcAft>
                <a:spcPts val="0"/>
              </a:spcAft>
              <a:buNone/>
              <a:defRPr sz="1650" b="0">
                <a:solidFill>
                  <a:srgbClr val="17375D"/>
                </a:solidFill>
                <a:latin typeface="Calibri"/>
                <a:ea typeface="Calibri"/>
                <a:cs typeface="Calibri"/>
              </a:defRPr>
            </a:pPr>
            <a:r>
              <a:rPr sz="1650" b="0">
                <a:solidFill>
                  <a:srgbClr val="17375D"/>
                </a:solidFill>
                <a:latin typeface="Calibri"/>
                <a:ea typeface="Calibri"/>
                <a:cs typeface="Calibri"/>
              </a:rPr>
              <a:t>Propuesta metodológica y resultados descriptivos</a:t>
            </a:r>
          </a:p>
          <a:p xmlns:a="http://schemas.openxmlformats.org/drawingml/2006/main">
            <a:pPr algn="l">
              <a:spcBef>
                <a:spcPts val="0"/>
              </a:spcBef>
              <a:spcAft>
                <a:spcPts val="0"/>
              </a:spcAft>
              <a:buNone/>
              <a:defRPr sz="1650" b="0">
                <a:solidFill>
                  <a:srgbClr val="17375D"/>
                </a:solidFill>
                <a:latin typeface="Calibri"/>
                <a:ea typeface="Calibri"/>
                <a:cs typeface="Calibri"/>
              </a:defRPr>
            </a:pPr>
            <a:r>
              <a:rPr sz="1650" b="0">
                <a:solidFill>
                  <a:srgbClr val="17375D"/>
                </a:solidFill>
                <a:latin typeface="Calibri"/>
                <a:ea typeface="Calibri"/>
                <a:cs typeface="Calibri"/>
              </a:rPr>
              <a:t>Integración de fuentes, cobertura y calidad de los datos</a:t>
            </a:r>
          </a:p>
        </p:txBody>
      </p:sp>
      <p:sp>
        <p:nvSpPr>
          <p:cNvPr id="4" name="Título 1">
            <a:extLst xmlns:a="http://schemas.openxmlformats.org/drawingml/2006/main">
              <a:ext uri="{FF2B5EF4-FFF2-40B4-BE49-F238E27FC236}">
                <a16:creationId xmlns:a16="http://schemas.microsoft.com/office/drawing/2014/main" id="{5CDD2C26-831A-4057-A94A-55343BEB0C4C}"/>
              </a:ext>
            </a:extLst>
          </p:cNvPr>
          <p:cNvSpPr>
            <a:spLocks xmlns:a="http://schemas.openxmlformats.org/drawingml/2006/main" noGrp="1"/>
          </p:cNvSpPr>
          <p:nvPr>
            <p:ph type="ctrTitle" idx="0"/>
          </p:nvPr>
        </p:nvSpPr>
        <p:spPr>
          <a:xfrm xmlns:a="http://schemas.openxmlformats.org/drawingml/2006/main">
            <a:off x="614967" y="1538445"/>
            <a:ext cx="7772400" cy="1101725"/>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buNone/>
              <a:defRPr sz="2550" b="1">
                <a:solidFill>
                  <a:srgbClr val="17375D"/>
                </a:solidFill>
                <a:latin typeface="Calibri"/>
                <a:ea typeface="Calibri"/>
                <a:cs typeface="Calibri"/>
              </a:defRPr>
            </a:pPr>
            <a:r>
              <a:rPr sz="2550" b="1">
                <a:solidFill>
                  <a:srgbClr val="17375D"/>
                </a:solidFill>
                <a:latin typeface="Calibri"/>
                <a:ea typeface="Calibri"/>
                <a:cs typeface="Calibri"/>
              </a:rPr>
              <a:t>Estimación multicontaminante</a:t>
            </a:r>
          </a:p>
          <a:p xmlns:a="http://schemas.openxmlformats.org/drawingml/2006/main">
            <a:pPr algn="l">
              <a:spcBef>
                <a:spcPts val="0"/>
              </a:spcBef>
              <a:spcAft>
                <a:spcPts val="0"/>
              </a:spcAft>
              <a:buNone/>
              <a:defRPr sz="2550" b="1">
                <a:solidFill>
                  <a:srgbClr val="17375D"/>
                </a:solidFill>
                <a:latin typeface="Calibri"/>
                <a:ea typeface="Calibri"/>
                <a:cs typeface="Calibri"/>
              </a:defRPr>
            </a:pPr>
            <a:r>
              <a:rPr sz="2550" b="1">
                <a:solidFill>
                  <a:srgbClr val="17375D"/>
                </a:solidFill>
                <a:latin typeface="Calibri"/>
                <a:ea typeface="Calibri"/>
                <a:cs typeface="Calibri"/>
              </a:rPr>
              <a:t>de la calidad del aire en Chile</a:t>
            </a:r>
          </a:p>
        </p:txBody>
      </p:sp>
      <p:sp>
        <p:nvSpPr>
          <p:cNvPr id="5" name="TextBox 4">
            <a:extLst xmlns:a="http://schemas.openxmlformats.org/drawingml/2006/main">
              <a:ext uri="{FF2B5EF4-FFF2-40B4-BE49-F238E27FC236}">
                <a16:creationId xmlns:a16="http://schemas.microsoft.com/office/drawing/2014/main" id="{2C7FCD11-E193-40E2-8612-2FD54FE25314}"/>
              </a:ext>
            </a:extLst>
          </p:cNvPr>
          <p:cNvSpPr>
            <a:spLocks xmlns:a="http://schemas.openxmlformats.org/drawingml/2006/main" noGrp="1"/>
          </p:cNvSpPr>
          <p:nvPr/>
        </p:nvSpPr>
        <p:spPr>
          <a:xfrm xmlns:a="http://schemas.openxmlformats.org/drawingml/2006/main">
            <a:off x="612648" y="1188720"/>
            <a:ext cx="7772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975" b="1">
                <a:solidFill>
                  <a:srgbClr val="17375D"/>
                </a:solidFill>
                <a:latin typeface="Calibri"/>
                <a:ea typeface="Calibri"/>
                <a:cs typeface="Calibri"/>
              </a:defRPr>
            </a:pPr>
            <a:r>
              <a:rPr sz="975" b="1">
                <a:solidFill>
                  <a:srgbClr val="17375D"/>
                </a:solidFill>
                <a:latin typeface="Calibri"/>
                <a:ea typeface="Calibri"/>
                <a:cs typeface="Calibri"/>
              </a:rPr>
              <a:t>ACTIVIDAD FINAL DE GRADUACIÓN 1 · MDS3050 · PRESENTACIÓN FINAL</a:t>
            </a:r>
          </a:p>
        </p:txBody>
      </p:sp>
      <p:sp>
        <p:nvSpPr>
          <p:cNvPr id="6" name="Rounded Rectangle 5">
            <a:extLst xmlns:a="http://schemas.openxmlformats.org/drawingml/2006/main">
              <a:ext uri="{FF2B5EF4-FFF2-40B4-BE49-F238E27FC236}">
                <a16:creationId xmlns:a16="http://schemas.microsoft.com/office/drawing/2014/main" id="{62CD7E53-106E-4F63-98B8-82FEC5B1556D}"/>
              </a:ext>
            </a:extLst>
          </p:cNvPr>
          <p:cNvSpPr>
            <a:spLocks xmlns:a="http://schemas.openxmlformats.org/drawingml/2006/main" noGrp="1"/>
          </p:cNvSpPr>
          <p:nvPr/>
        </p:nvSpPr>
        <p:spPr>
          <a:xfrm xmlns:a="http://schemas.openxmlformats.org/drawingml/2006/main">
            <a:off x="61264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7CEBDA8-F95B-4413-88D4-7F98BE3865C0}"/>
              </a:ext>
            </a:extLst>
          </p:cNvPr>
          <p:cNvSpPr>
            <a:spLocks xmlns:a="http://schemas.openxmlformats.org/drawingml/2006/main" noGrp="1"/>
          </p:cNvSpPr>
          <p:nvPr/>
        </p:nvSpPr>
        <p:spPr>
          <a:xfrm xmlns:a="http://schemas.openxmlformats.org/drawingml/2006/main">
            <a:off x="68580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José Jesús Romero Fuenmayor</a:t>
            </a:r>
          </a:p>
        </p:txBody>
      </p:sp>
      <p:sp>
        <p:nvSpPr>
          <p:cNvPr id="8" name="Rounded Rectangle 7">
            <a:extLst xmlns:a="http://schemas.openxmlformats.org/drawingml/2006/main">
              <a:ext uri="{FF2B5EF4-FFF2-40B4-BE49-F238E27FC236}">
                <a16:creationId xmlns:a16="http://schemas.microsoft.com/office/drawing/2014/main" id="{20944935-B0E5-406D-94F8-6DBDD9666995}"/>
              </a:ext>
            </a:extLst>
          </p:cNvPr>
          <p:cNvSpPr>
            <a:spLocks xmlns:a="http://schemas.openxmlformats.org/drawingml/2006/main" noGrp="1"/>
          </p:cNvSpPr>
          <p:nvPr/>
        </p:nvSpPr>
        <p:spPr>
          <a:xfrm xmlns:a="http://schemas.openxmlformats.org/drawingml/2006/main">
            <a:off x="262432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DCA92C-4011-4AA9-8A97-289D4C5D7232}"/>
              </a:ext>
            </a:extLst>
          </p:cNvPr>
          <p:cNvSpPr>
            <a:spLocks xmlns:a="http://schemas.openxmlformats.org/drawingml/2006/main" noGrp="1"/>
          </p:cNvSpPr>
          <p:nvPr/>
        </p:nvSpPr>
        <p:spPr>
          <a:xfrm xmlns:a="http://schemas.openxmlformats.org/drawingml/2006/main">
            <a:off x="269748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Roberto Ignacio Ávila Escobar</a:t>
            </a:r>
          </a:p>
        </p:txBody>
      </p:sp>
      <p:sp>
        <p:nvSpPr>
          <p:cNvPr id="10" name="Rounded Rectangle 9">
            <a:extLst xmlns:a="http://schemas.openxmlformats.org/drawingml/2006/main">
              <a:ext uri="{FF2B5EF4-FFF2-40B4-BE49-F238E27FC236}">
                <a16:creationId xmlns:a16="http://schemas.microsoft.com/office/drawing/2014/main" id="{045B74AC-0432-4A80-ABE8-182ADFC58378}"/>
              </a:ext>
            </a:extLst>
          </p:cNvPr>
          <p:cNvSpPr>
            <a:spLocks xmlns:a="http://schemas.openxmlformats.org/drawingml/2006/main" noGrp="1"/>
          </p:cNvSpPr>
          <p:nvPr/>
        </p:nvSpPr>
        <p:spPr>
          <a:xfrm xmlns:a="http://schemas.openxmlformats.org/drawingml/2006/main">
            <a:off x="463600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8F67EDBD-5557-4635-B18F-67069BDB6F30}"/>
              </a:ext>
            </a:extLst>
          </p:cNvPr>
          <p:cNvSpPr>
            <a:spLocks xmlns:a="http://schemas.openxmlformats.org/drawingml/2006/main" noGrp="1"/>
          </p:cNvSpPr>
          <p:nvPr/>
        </p:nvSpPr>
        <p:spPr>
          <a:xfrm xmlns:a="http://schemas.openxmlformats.org/drawingml/2006/main">
            <a:off x="470916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Amaru Simón Agüero Jiménez</a:t>
            </a:r>
          </a:p>
        </p:txBody>
      </p:sp>
      <p:sp>
        <p:nvSpPr>
          <p:cNvPr id="12" name="Rounded Rectangle 11">
            <a:extLst xmlns:a="http://schemas.openxmlformats.org/drawingml/2006/main">
              <a:ext uri="{FF2B5EF4-FFF2-40B4-BE49-F238E27FC236}">
                <a16:creationId xmlns:a16="http://schemas.microsoft.com/office/drawing/2014/main" id="{EC704E1F-C163-4F44-B088-D4753A9F60D2}"/>
              </a:ext>
            </a:extLst>
          </p:cNvPr>
          <p:cNvSpPr>
            <a:spLocks xmlns:a="http://schemas.openxmlformats.org/drawingml/2006/main" noGrp="1"/>
          </p:cNvSpPr>
          <p:nvPr/>
        </p:nvSpPr>
        <p:spPr>
          <a:xfrm xmlns:a="http://schemas.openxmlformats.org/drawingml/2006/main">
            <a:off x="6647688" y="3950208"/>
            <a:ext cx="1883664" cy="402336"/>
          </a:xfrm>
          <a:prstGeom xmlns:a="http://schemas.openxmlformats.org/drawingml/2006/main" prst="roundRect">
            <a:avLst>
              <a:gd name="adj" fmla="val 18000"/>
            </a:avLst>
          </a:prstGeom>
          <a:solidFill xmlns:a="http://schemas.openxmlformats.org/drawingml/2006/main">
            <a:srgbClr val="EAF2F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7C303554-E3B7-40ED-AB03-B3182BF040CE}"/>
              </a:ext>
            </a:extLst>
          </p:cNvPr>
          <p:cNvSpPr>
            <a:spLocks xmlns:a="http://schemas.openxmlformats.org/drawingml/2006/main" noGrp="1"/>
          </p:cNvSpPr>
          <p:nvPr/>
        </p:nvSpPr>
        <p:spPr>
          <a:xfrm xmlns:a="http://schemas.openxmlformats.org/drawingml/2006/main">
            <a:off x="6720840" y="3950208"/>
            <a:ext cx="1737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buNone/>
            </a:pPr>
            <a:r>
              <a:rPr sz="819" b="1" i="0">
                <a:solidFill>
                  <a:srgbClr val="17375D"/>
                </a:solidFill>
                <a:latin typeface="Calibri"/>
                <a:ea typeface="Calibri"/>
                <a:cs typeface="Calibri"/>
              </a:rPr>
              <a:t>Esteban Adolfo González Rodríguez</a:t>
            </a:r>
          </a:p>
        </p:txBody>
      </p:sp>
      <p:sp>
        <p:nvSpPr>
          <p:cNvPr id="14" name="TextBox 13">
            <a:extLst xmlns:a="http://schemas.openxmlformats.org/drawingml/2006/main">
              <a:ext uri="{FF2B5EF4-FFF2-40B4-BE49-F238E27FC236}">
                <a16:creationId xmlns:a16="http://schemas.microsoft.com/office/drawing/2014/main" id="{28706D8F-E7A0-425C-B1FD-A417AEF4FFB8}"/>
              </a:ext>
            </a:extLst>
          </p:cNvPr>
          <p:cNvSpPr>
            <a:spLocks xmlns:a="http://schemas.openxmlformats.org/drawingml/2006/main" noGrp="1"/>
          </p:cNvSpPr>
          <p:nvPr/>
        </p:nvSpPr>
        <p:spPr>
          <a:xfrm xmlns:a="http://schemas.openxmlformats.org/drawingml/2006/main">
            <a:off x="612648" y="4462272"/>
            <a:ext cx="7772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125" b="0">
                <a:solidFill>
                  <a:srgbClr val="17375D"/>
                </a:solidFill>
                <a:latin typeface="Calibri"/>
                <a:ea typeface="Calibri"/>
                <a:cs typeface="Calibri"/>
              </a:defRPr>
            </a:pPr>
            <a:r>
              <a:rPr sz="1125" b="0">
                <a:solidFill>
                  <a:srgbClr val="17375D"/>
                </a:solidFill>
                <a:latin typeface="Calibri"/>
                <a:ea typeface="Calibri"/>
                <a:cs typeface="Calibri"/>
              </a:rPr>
              <a:t>Equipo 2 · 27 de septiembre de 2026</a:t>
            </a:r>
          </a:p>
        </p:txBody>
      </p:sp>
    </p:spTree>
    <p:extLst>
      <p:ext uri="{BB962C8B-B14F-4D97-AF65-F5344CB8AC3E}">
        <p14:creationId xmlns:p14="http://schemas.microsoft.com/office/powerpoint/2010/main" val="4120695355"/>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Chile: estaciones de monitoreo y brecha de información</a:t>
            </a:r>
          </a:p>
        </p:txBody>
      </p:sp>
      <p:pic>
        <p:nvPicPr>
          <p:cNvPr id="22" name="grilla_macrozonas.png" descr="Mapa original del HTML: Chile continental, macrozonas y localización de estaciones SINCA del catálogo geográfico"/>
          <p:cNvPicPr>
            <a:picLocks xmlns:a="http://schemas.openxmlformats.org/drawingml/2006/main" noChangeAspect="1"/>
          </p:cNvPicPr>
          <p:nvPr/>
        </p:nvPicPr>
        <p:blipFill>
          <a:blip xmlns:r="http://schemas.openxmlformats.org/officeDocument/2006/relationships" xmlns:a="http://schemas.openxmlformats.org/drawingml/2006/main" r:embed="R587416f054434531"/>
          <a:srcRect xmlns:a="http://schemas.openxmlformats.org/drawingml/2006/main" l="0" t="0" r="39800" b="0"/>
          <a:stretch xmlns:a="http://schemas.openxmlformats.org/drawingml/2006/main">
            <a:fillRect l="0" t="0" r="0" b="0"/>
          </a:stretch>
        </p:blipFill>
        <p:spPr>
          <a:xfrm xmlns:a="http://schemas.openxmlformats.org/drawingml/2006/main">
            <a:off x="793059" y="1133475"/>
            <a:ext cx="899906" cy="3381375"/>
          </a:xfrm>
          <a:prstGeom xmlns:a="http://schemas.openxmlformats.org/drawingml/2006/main" prst="rect">
            <a:avLst/>
          </a:prstGeom>
        </p:spPr>
      </p:pic>
      <p:pic>
        <p:nvPicPr>
          <p:cNvPr id="23" name="grilla_macrozonas.png" descr="Leyenda original ampliada del mapa: estaciones SINCA y macrozonas de Chile"/>
          <p:cNvPicPr>
            <a:picLocks xmlns:a="http://schemas.openxmlformats.org/drawingml/2006/main" noChangeAspect="1"/>
          </p:cNvPicPr>
          <p:nvPr/>
        </p:nvPicPr>
        <p:blipFill>
          <a:blip xmlns:r="http://schemas.openxmlformats.org/officeDocument/2006/relationships" xmlns:a="http://schemas.openxmlformats.org/drawingml/2006/main" r:embed="R730b6076b6214c4f"/>
          <a:srcRect xmlns:a="http://schemas.openxmlformats.org/drawingml/2006/main" l="61600" t="707" r="0" b="80460"/>
          <a:stretch xmlns:a="http://schemas.openxmlformats.org/drawingml/2006/main">
            <a:fillRect l="0" t="0" r="0" b="0"/>
          </a:stretch>
        </p:blipFill>
        <p:spPr>
          <a:xfrm xmlns:a="http://schemas.openxmlformats.org/drawingml/2006/main">
            <a:off x="1857375" y="1418630"/>
            <a:ext cx="1143000" cy="1268016"/>
          </a:xfrm>
          <a:prstGeom xmlns:a="http://schemas.openxmlformats.org/drawingml/2006/main" prst="rect">
            <a:avLst/>
          </a:prstGeom>
        </p:spPr>
      </p:pic>
      <p:sp>
        <p:nvSpPr>
          <p:cNvPr id="10" name="Problema encabezado">
            <a:extLst xmlns:a="http://schemas.openxmlformats.org/drawingml/2006/main">
              <a:ext uri="{FF2B5EF4-FFF2-40B4-BE49-F238E27FC236}">
                <a16:creationId xmlns:a16="http://schemas.microsoft.com/office/drawing/2014/main" id="{90C78671-867A-41AA-90DE-6806073B3083}"/>
              </a:ext>
            </a:extLst>
          </p:cNvPr>
          <p:cNvSpPr>
            <a:spLocks xmlns:a="http://schemas.openxmlformats.org/drawingml/2006/main" noGrp="1"/>
          </p:cNvSpPr>
          <p:nvPr/>
        </p:nvSpPr>
        <p:spPr>
          <a:xfrm xmlns:a="http://schemas.openxmlformats.org/drawingml/2006/main">
            <a:off x="3105150" y="1257300"/>
            <a:ext cx="5276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75D"/>
                </a:solidFill>
                <a:latin typeface="Calibri"/>
                <a:ea typeface="Calibri"/>
                <a:cs typeface="Calibri"/>
              </a:defRPr>
            </a:pPr>
            <a:r>
              <a:rPr sz="2025" b="1">
                <a:solidFill>
                  <a:srgbClr val="17375D"/>
                </a:solidFill>
                <a:latin typeface="Calibri"/>
                <a:ea typeface="Calibri"/>
                <a:cs typeface="Calibri"/>
              </a:rPr>
              <a:t>La medición es puntual</a:t>
            </a:r>
          </a:p>
        </p:txBody>
      </p:sp>
      <p:sp>
        <p:nvSpPr>
          <p:cNvPr id="11" name="Problema">
            <a:extLst xmlns:a="http://schemas.openxmlformats.org/drawingml/2006/main">
              <a:ext uri="{FF2B5EF4-FFF2-40B4-BE49-F238E27FC236}">
                <a16:creationId xmlns:a16="http://schemas.microsoft.com/office/drawing/2014/main" id="{2DA605C1-0A73-4880-8CA5-E5E2BDD23360}"/>
              </a:ext>
            </a:extLst>
          </p:cNvPr>
          <p:cNvSpPr>
            <a:spLocks xmlns:a="http://schemas.openxmlformats.org/drawingml/2006/main" noGrp="1"/>
          </p:cNvSpPr>
          <p:nvPr/>
        </p:nvSpPr>
        <p:spPr>
          <a:xfrm xmlns:a="http://schemas.openxmlformats.org/drawingml/2006/main">
            <a:off x="3105150" y="1695450"/>
            <a:ext cx="5276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a:solidFill>
                  <a:srgbClr val="1E293B"/>
                </a:solidFill>
                <a:latin typeface="Calibri"/>
                <a:ea typeface="Calibri"/>
                <a:cs typeface="Calibri"/>
              </a:defRPr>
            </a:pPr>
            <a:r>
              <a:rPr sz="1725">
                <a:solidFill>
                  <a:srgbClr val="1E293B"/>
                </a:solidFill>
                <a:latin typeface="Calibri"/>
                <a:ea typeface="Calibri"/>
                <a:cs typeface="Calibri"/>
              </a:rPr>
              <a:t>Las estaciones entregan observaciones de referencia, pero su distribución deja lugares sin una medición directa.</a:t>
            </a:r>
          </a:p>
        </p:txBody>
      </p:sp>
      <p:sp>
        <p:nvSpPr>
          <p:cNvPr id="12" name="Brecha encabezado">
            <a:extLst xmlns:a="http://schemas.openxmlformats.org/drawingml/2006/main">
              <a:ext uri="{FF2B5EF4-FFF2-40B4-BE49-F238E27FC236}">
                <a16:creationId xmlns:a16="http://schemas.microsoft.com/office/drawing/2014/main" id="{DA479FFE-7008-416E-8C3D-A17A223C5E62}"/>
              </a:ext>
            </a:extLst>
          </p:cNvPr>
          <p:cNvSpPr>
            <a:spLocks xmlns:a="http://schemas.openxmlformats.org/drawingml/2006/main" noGrp="1"/>
          </p:cNvSpPr>
          <p:nvPr/>
        </p:nvSpPr>
        <p:spPr>
          <a:xfrm xmlns:a="http://schemas.openxmlformats.org/drawingml/2006/main">
            <a:off x="3105150" y="2514600"/>
            <a:ext cx="5276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75D"/>
                </a:solidFill>
                <a:latin typeface="Calibri"/>
                <a:ea typeface="Calibri"/>
                <a:cs typeface="Calibri"/>
              </a:defRPr>
            </a:pPr>
            <a:r>
              <a:rPr sz="1800" b="1">
                <a:solidFill>
                  <a:srgbClr val="17375D"/>
                </a:solidFill>
                <a:latin typeface="Calibri"/>
                <a:ea typeface="Calibri"/>
                <a:cs typeface="Calibri"/>
              </a:rPr>
              <a:t>La cobertura varía en el territorio</a:t>
            </a:r>
          </a:p>
        </p:txBody>
      </p:sp>
      <p:sp>
        <p:nvSpPr>
          <p:cNvPr id="13" name="Brecha">
            <a:extLst xmlns:a="http://schemas.openxmlformats.org/drawingml/2006/main">
              <a:ext uri="{FF2B5EF4-FFF2-40B4-BE49-F238E27FC236}">
                <a16:creationId xmlns:a16="http://schemas.microsoft.com/office/drawing/2014/main" id="{F0D209C0-3492-4B86-9F72-0D67FA9F234A}"/>
              </a:ext>
            </a:extLst>
          </p:cNvPr>
          <p:cNvSpPr>
            <a:spLocks xmlns:a="http://schemas.openxmlformats.org/drawingml/2006/main" noGrp="1"/>
          </p:cNvSpPr>
          <p:nvPr/>
        </p:nvSpPr>
        <p:spPr>
          <a:xfrm xmlns:a="http://schemas.openxmlformats.org/drawingml/2006/main">
            <a:off x="3105150" y="2914650"/>
            <a:ext cx="5276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1E293B"/>
                </a:solidFill>
                <a:latin typeface="Calibri"/>
                <a:ea typeface="Calibri"/>
                <a:cs typeface="Calibri"/>
              </a:defRPr>
            </a:pPr>
            <a:r>
              <a:rPr sz="1650">
                <a:solidFill>
                  <a:srgbClr val="1E293B"/>
                </a:solidFill>
                <a:latin typeface="Calibri"/>
                <a:ea typeface="Calibri"/>
                <a:cs typeface="Calibri"/>
              </a:rPr>
              <a:t>El mapa sitúa los monitores del catálogo geográfico. Cada contaminante y período aporta un subconjunto distinto.</a:t>
            </a:r>
          </a:p>
        </p:txBody>
      </p:sp>
      <p:sp>
        <p:nvSpPr>
          <p:cNvPr id="14" name="Propuesta encabezado">
            <a:extLst xmlns:a="http://schemas.openxmlformats.org/drawingml/2006/main">
              <a:ext uri="{FF2B5EF4-FFF2-40B4-BE49-F238E27FC236}">
                <a16:creationId xmlns:a16="http://schemas.microsoft.com/office/drawing/2014/main" id="{C0B26660-0216-4360-8A68-496382C7BB2F}"/>
              </a:ext>
            </a:extLst>
          </p:cNvPr>
          <p:cNvSpPr>
            <a:spLocks xmlns:a="http://schemas.openxmlformats.org/drawingml/2006/main" noGrp="1"/>
          </p:cNvSpPr>
          <p:nvPr/>
        </p:nvSpPr>
        <p:spPr>
          <a:xfrm xmlns:a="http://schemas.openxmlformats.org/drawingml/2006/main">
            <a:off x="3105150" y="3705225"/>
            <a:ext cx="527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75D"/>
                </a:solidFill>
                <a:latin typeface="Calibri"/>
                <a:ea typeface="Calibri"/>
                <a:cs typeface="Calibri"/>
              </a:defRPr>
            </a:pPr>
            <a:r>
              <a:rPr sz="1725" b="1">
                <a:solidFill>
                  <a:srgbClr val="17375D"/>
                </a:solidFill>
                <a:latin typeface="Calibri"/>
                <a:ea typeface="Calibri"/>
                <a:cs typeface="Calibri"/>
              </a:rPr>
              <a:t>Propuesta del proyecto</a:t>
            </a:r>
          </a:p>
        </p:txBody>
      </p:sp>
      <p:sp>
        <p:nvSpPr>
          <p:cNvPr id="15" name="Propuesta">
            <a:extLst xmlns:a="http://schemas.openxmlformats.org/drawingml/2006/main">
              <a:ext uri="{FF2B5EF4-FFF2-40B4-BE49-F238E27FC236}">
                <a16:creationId xmlns:a16="http://schemas.microsoft.com/office/drawing/2014/main" id="{B9C3CE1A-7EA0-42DB-8ABB-3395511A44F5}"/>
              </a:ext>
            </a:extLst>
          </p:cNvPr>
          <p:cNvSpPr>
            <a:spLocks xmlns:a="http://schemas.openxmlformats.org/drawingml/2006/main" noGrp="1"/>
          </p:cNvSpPr>
          <p:nvPr/>
        </p:nvSpPr>
        <p:spPr>
          <a:xfrm xmlns:a="http://schemas.openxmlformats.org/drawingml/2006/main">
            <a:off x="3105150" y="4057650"/>
            <a:ext cx="5276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1E293B"/>
                </a:solidFill>
                <a:latin typeface="Calibri"/>
                <a:ea typeface="Calibri"/>
                <a:cs typeface="Calibri"/>
              </a:defRPr>
            </a:pPr>
            <a:r>
              <a:rPr sz="1575">
                <a:solidFill>
                  <a:srgbClr val="1E293B"/>
                </a:solidFill>
                <a:latin typeface="Calibri"/>
                <a:ea typeface="Calibri"/>
                <a:cs typeface="Calibri"/>
              </a:rPr>
              <a:t>Combinar mediciones y predictores ambientales para estimar concentraciones fuera de las estaciones.</a:t>
            </a:r>
          </a:p>
        </p:txBody>
      </p:sp>
      <p:sp>
        <p:nvSpPr>
          <p:cNvPr id="16" name="Fuente y alcance">
            <a:extLst xmlns:a="http://schemas.openxmlformats.org/drawingml/2006/main">
              <a:ext uri="{FF2B5EF4-FFF2-40B4-BE49-F238E27FC236}">
                <a16:creationId xmlns:a16="http://schemas.microsoft.com/office/drawing/2014/main" id="{9C0BEDAA-C6D5-4320-A75A-22C830EFE7CC}"/>
              </a:ext>
            </a:extLst>
          </p:cNvPr>
          <p:cNvSpPr>
            <a:spLocks xmlns:a="http://schemas.openxmlformats.org/drawingml/2006/main" noGrp="1"/>
          </p:cNvSpPr>
          <p:nvPr/>
        </p:nvSpPr>
        <p:spPr>
          <a:xfrm xmlns:a="http://schemas.openxmlformats.org/drawingml/2006/main">
            <a:off x="548640" y="461010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63">
                <a:solidFill>
                  <a:srgbClr val="526277"/>
                </a:solidFill>
                <a:latin typeface="Calibri"/>
                <a:ea typeface="Calibri"/>
                <a:cs typeface="Calibri"/>
              </a:defRPr>
            </a:pPr>
            <a:r>
              <a:rPr sz="863">
                <a:solidFill>
                  <a:srgbClr val="526277"/>
                </a:solidFill>
                <a:latin typeface="Calibri"/>
                <a:ea typeface="Calibri"/>
                <a:cs typeface="Calibri"/>
              </a:rPr>
              <a:t>Fuente: HTML del proyecto, grilla_macrozonas.png. Catálogo geográfico: 109 estaciones con celda; inventario histórico: 107 estaciones.</a:t>
            </a:r>
          </a:p>
        </p:txBody>
      </p:sp>
    </p:spTree>
    <p:extLst>
      <p:ext uri="{BB962C8B-B14F-4D97-AF65-F5344CB8AC3E}">
        <p14:creationId xmlns:p14="http://schemas.microsoft.com/office/powerpoint/2010/main" val="3227572768"/>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Pregunta y objetivos de la investigación</a:t>
            </a:r>
          </a:p>
        </p:txBody>
      </p:sp>
      <p:sp>
        <p:nvSpPr>
          <p:cNvPr id="8" name="Objetivo 1">
            <a:extLst xmlns:a="http://schemas.openxmlformats.org/drawingml/2006/main">
              <a:ext uri="{FF2B5EF4-FFF2-40B4-BE49-F238E27FC236}">
                <a16:creationId xmlns:a16="http://schemas.microsoft.com/office/drawing/2014/main" id="{4C21F31F-1D56-41AC-9A9E-03E099AED800}"/>
              </a:ext>
            </a:extLst>
          </p:cNvPr>
          <p:cNvSpPr>
            <a:spLocks xmlns:a="http://schemas.openxmlformats.org/drawingml/2006/main" noGrp="1"/>
          </p:cNvSpPr>
          <p:nvPr/>
        </p:nvSpPr>
        <p:spPr>
          <a:xfrm xmlns:a="http://schemas.openxmlformats.org/drawingml/2006/main">
            <a:off x="548640"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buNone/>
              <a:defRPr sz="1425">
                <a:latin typeface="Calibri"/>
                <a:ea typeface="Calibri"/>
                <a:cs typeface="Calibri"/>
              </a:defRPr>
            </a:pPr>
            <a:r>
              <a:rPr sz="1425" b="1">
                <a:solidFill>
                  <a:srgbClr val="017EDF"/>
                </a:solidFill>
                <a:latin typeface="Calibri"/>
                <a:ea typeface="Calibri"/>
                <a:cs typeface="Calibri"/>
              </a:rPr>
              <a:t>01 · DATOS</a:t>
            </a:r>
          </a:p>
          <a:p xmlns:a="http://schemas.openxmlformats.org/drawingml/2006/main">
            <a:pPr>
              <a:spcAft>
                <a:spcPts val="1300"/>
              </a:spcAft>
              <a:buNone/>
              <a:defRPr sz="1425">
                <a:latin typeface="Calibri"/>
                <a:ea typeface="Calibri"/>
                <a:cs typeface="Calibri"/>
              </a:defRPr>
            </a:pPr>
            <a:r>
              <a:rPr sz="1425" b="1">
                <a:solidFill>
                  <a:srgbClr val="17375D"/>
                </a:solidFill>
                <a:latin typeface="Calibri"/>
                <a:ea typeface="Calibri"/>
                <a:cs typeface="Calibri"/>
              </a:rPr>
              <a:t>Construir el panel</a:t>
            </a:r>
          </a:p>
          <a:p xmlns:a="http://schemas.openxmlformats.org/drawingml/2006/main">
            <a:pPr>
              <a:buNone/>
              <a:defRPr sz="1425">
                <a:latin typeface="Calibri"/>
                <a:ea typeface="Calibri"/>
                <a:cs typeface="Calibri"/>
              </a:defRPr>
            </a:pPr>
            <a:r>
              <a:rPr sz="1425">
                <a:solidFill>
                  <a:srgbClr val="1E293B"/>
                </a:solidFill>
                <a:latin typeface="Calibri"/>
                <a:ea typeface="Calibri"/>
                <a:cs typeface="Calibri"/>
              </a:rPr>
              <a:t>Armonizar calidad, unidades y tiempo; vincular cada estación con los predictores de su celda.</a:t>
            </a:r>
          </a:p>
        </p:txBody>
      </p:sp>
      <p:sp>
        <p:nvSpPr>
          <p:cNvPr id="9" name="Objetivo 2">
            <a:extLst xmlns:a="http://schemas.openxmlformats.org/drawingml/2006/main">
              <a:ext uri="{FF2B5EF4-FFF2-40B4-BE49-F238E27FC236}">
                <a16:creationId xmlns:a16="http://schemas.microsoft.com/office/drawing/2014/main" id="{15A38457-7C15-4590-B6E5-E8E83B376912}"/>
              </a:ext>
            </a:extLst>
          </p:cNvPr>
          <p:cNvSpPr>
            <a:spLocks xmlns:a="http://schemas.openxmlformats.org/drawingml/2006/main" noGrp="1"/>
          </p:cNvSpPr>
          <p:nvPr/>
        </p:nvSpPr>
        <p:spPr>
          <a:xfrm xmlns:a="http://schemas.openxmlformats.org/drawingml/2006/main">
            <a:off x="3319272"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buNone/>
              <a:defRPr sz="1425">
                <a:latin typeface="Calibri"/>
                <a:ea typeface="Calibri"/>
                <a:cs typeface="Calibri"/>
              </a:defRPr>
            </a:pPr>
            <a:r>
              <a:rPr sz="1425" b="1">
                <a:solidFill>
                  <a:srgbClr val="017EDF"/>
                </a:solidFill>
                <a:latin typeface="Calibri"/>
                <a:ea typeface="Calibri"/>
                <a:cs typeface="Calibri"/>
              </a:rPr>
              <a:t>02 · MODELOS</a:t>
            </a:r>
          </a:p>
          <a:p xmlns:a="http://schemas.openxmlformats.org/drawingml/2006/main">
            <a:pPr>
              <a:spcAft>
                <a:spcPts val="1300"/>
              </a:spcAft>
              <a:buNone/>
              <a:defRPr sz="1425">
                <a:latin typeface="Calibri"/>
                <a:ea typeface="Calibri"/>
                <a:cs typeface="Calibri"/>
              </a:defRPr>
            </a:pPr>
            <a:r>
              <a:rPr sz="1425" b="1">
                <a:solidFill>
                  <a:srgbClr val="17375D"/>
                </a:solidFill>
                <a:latin typeface="Calibri"/>
                <a:ea typeface="Calibri"/>
                <a:cs typeface="Calibri"/>
              </a:rPr>
              <a:t>Comparar enfoques</a:t>
            </a:r>
          </a:p>
          <a:p xmlns:a="http://schemas.openxmlformats.org/drawingml/2006/main">
            <a:pPr>
              <a:buNone/>
              <a:defRPr sz="1425">
                <a:latin typeface="Calibri"/>
                <a:ea typeface="Calibri"/>
                <a:cs typeface="Calibri"/>
              </a:defRPr>
            </a:pPr>
            <a:r>
              <a:rPr sz="1425">
                <a:solidFill>
                  <a:srgbClr val="1E293B"/>
                </a:solidFill>
                <a:latin typeface="Calibri"/>
                <a:ea typeface="Calibri"/>
                <a:cs typeface="Calibri"/>
              </a:rPr>
              <a:t>Estimar cada contaminante con una línea base y familias flexibles, espaciales y de ensamble.</a:t>
            </a:r>
          </a:p>
        </p:txBody>
      </p:sp>
      <p:sp>
        <p:nvSpPr>
          <p:cNvPr id="10" name="Objetivo 3">
            <a:extLst xmlns:a="http://schemas.openxmlformats.org/drawingml/2006/main">
              <a:ext uri="{FF2B5EF4-FFF2-40B4-BE49-F238E27FC236}">
                <a16:creationId xmlns:a16="http://schemas.microsoft.com/office/drawing/2014/main" id="{AB68FC77-E0FB-4BA2-806D-4EC10AFED77A}"/>
              </a:ext>
            </a:extLst>
          </p:cNvPr>
          <p:cNvSpPr>
            <a:spLocks xmlns:a="http://schemas.openxmlformats.org/drawingml/2006/main" noGrp="1"/>
          </p:cNvSpPr>
          <p:nvPr/>
        </p:nvSpPr>
        <p:spPr>
          <a:xfrm xmlns:a="http://schemas.openxmlformats.org/drawingml/2006/main">
            <a:off x="6089904" y="1962150"/>
            <a:ext cx="2496312" cy="253365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spcAft>
                <a:spcPts val="1000"/>
              </a:spcAft>
              <a:buNone/>
              <a:defRPr sz="1425">
                <a:latin typeface="Calibri"/>
                <a:ea typeface="Calibri"/>
                <a:cs typeface="Calibri"/>
              </a:defRPr>
            </a:pPr>
            <a:r>
              <a:rPr sz="1425" b="1">
                <a:solidFill>
                  <a:srgbClr val="017EDF"/>
                </a:solidFill>
                <a:latin typeface="Calibri"/>
                <a:ea typeface="Calibri"/>
                <a:cs typeface="Calibri"/>
              </a:rPr>
              <a:t>03 · EVALUACIÓN</a:t>
            </a:r>
          </a:p>
          <a:p xmlns:a="http://schemas.openxmlformats.org/drawingml/2006/main">
            <a:pPr>
              <a:spcAft>
                <a:spcPts val="1300"/>
              </a:spcAft>
              <a:buNone/>
              <a:defRPr sz="1425">
                <a:latin typeface="Calibri"/>
                <a:ea typeface="Calibri"/>
                <a:cs typeface="Calibri"/>
              </a:defRPr>
            </a:pPr>
            <a:r>
              <a:rPr sz="1425" b="1">
                <a:solidFill>
                  <a:srgbClr val="17375D"/>
                </a:solidFill>
                <a:latin typeface="Calibri"/>
                <a:ea typeface="Calibri"/>
                <a:cs typeface="Calibri"/>
              </a:rPr>
              <a:t>Medir transferencia</a:t>
            </a:r>
          </a:p>
          <a:p xmlns:a="http://schemas.openxmlformats.org/drawingml/2006/main">
            <a:pPr>
              <a:buNone/>
              <a:defRPr sz="1425">
                <a:latin typeface="Calibri"/>
                <a:ea typeface="Calibri"/>
                <a:cs typeface="Calibri"/>
              </a:defRPr>
            </a:pPr>
            <a:r>
              <a:rPr sz="1425">
                <a:solidFill>
                  <a:srgbClr val="1E293B"/>
                </a:solidFill>
                <a:latin typeface="Calibri"/>
                <a:ea typeface="Calibri"/>
                <a:cs typeface="Calibri"/>
              </a:rPr>
              <a:t>Reservar sitios, entornos, regiones y periodos; documentar incertidumbre antes de agregar por comuna.</a:t>
            </a:r>
          </a:p>
        </p:txBody>
      </p:sp>
      <p:sp>
        <p:nvSpPr>
          <p:cNvPr id="12" name="Pregunta">
            <a:extLst xmlns:a="http://schemas.openxmlformats.org/drawingml/2006/main">
              <a:ext uri="{FF2B5EF4-FFF2-40B4-BE49-F238E27FC236}">
                <a16:creationId xmlns:a16="http://schemas.microsoft.com/office/drawing/2014/main" id="{945B6C7E-3950-4221-B593-9053318F1957}"/>
              </a:ext>
            </a:extLst>
          </p:cNvPr>
          <p:cNvSpPr>
            <a:spLocks xmlns:a="http://schemas.openxmlformats.org/drawingml/2006/main" noGrp="1"/>
          </p:cNvSpPr>
          <p:nvPr/>
        </p:nvSpPr>
        <p:spPr>
          <a:xfrm xmlns:a="http://schemas.openxmlformats.org/drawingml/2006/main">
            <a:off x="552450" y="1181100"/>
            <a:ext cx="8029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b="1">
                <a:solidFill>
                  <a:srgbClr val="17375D"/>
                </a:solidFill>
                <a:latin typeface="Calibri"/>
                <a:ea typeface="Calibri"/>
                <a:cs typeface="Calibri"/>
              </a:defRPr>
            </a:pPr>
            <a:r>
              <a:rPr sz="1725" b="1">
                <a:solidFill>
                  <a:srgbClr val="17375D"/>
                </a:solidFill>
                <a:latin typeface="Calibri"/>
                <a:ea typeface="Calibri"/>
                <a:cs typeface="Calibri"/>
              </a:rPr>
              <a:t>¿Cómo estimar concentraciones horarias fuera de las estaciones, combinando fuentes ambientales y evaluando su generalización?</a:t>
            </a:r>
          </a:p>
        </p:txBody>
      </p:sp>
      <p:sp>
        <p:nvSpPr>
          <p:cNvPr id="13" name="Fuente y alcance">
            <a:extLst xmlns:a="http://schemas.openxmlformats.org/drawingml/2006/main">
              <a:ext uri="{FF2B5EF4-FFF2-40B4-BE49-F238E27FC236}">
                <a16:creationId xmlns:a16="http://schemas.microsoft.com/office/drawing/2014/main" id="{8E374568-5E84-4C5F-B5BC-530E5F431B07}"/>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Alcance: PM₂.₅, PM₁₀, NO₂, SO₂, O₃ y CO. Desarrollo metodológico documentado en mayor detalle: PM₂.₅ y NO₂.</a:t>
            </a:r>
          </a:p>
        </p:txBody>
      </p:sp>
    </p:spTree>
    <p:extLst>
      <p:ext uri="{BB962C8B-B14F-4D97-AF65-F5344CB8AC3E}">
        <p14:creationId xmlns:p14="http://schemas.microsoft.com/office/powerpoint/2010/main" val="3227572768"/>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Dos antecedentes orientan la integración y los modelos</a:t>
            </a:r>
          </a:p>
        </p:txBody>
      </p:sp>
      <p:sp>
        <p:nvSpPr>
          <p:cNvPr id="8" name="Lectura">
            <a:extLst xmlns:a="http://schemas.openxmlformats.org/drawingml/2006/main">
              <a:ext uri="{FF2B5EF4-FFF2-40B4-BE49-F238E27FC236}">
                <a16:creationId xmlns:a16="http://schemas.microsoft.com/office/drawing/2014/main" id="{52B01B3A-081B-4C8C-BDF7-68BBB8412704}"/>
              </a:ext>
            </a:extLst>
          </p:cNvPr>
          <p:cNvSpPr>
            <a:spLocks xmlns:a="http://schemas.openxmlformats.org/drawingml/2006/main" noGrp="1"/>
          </p:cNvSpPr>
          <p:nvPr/>
        </p:nvSpPr>
        <p:spPr>
          <a:xfrm xmlns:a="http://schemas.openxmlformats.org/drawingml/2006/main">
            <a:off x="552450" y="1209675"/>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75" b="1">
                <a:solidFill>
                  <a:srgbClr val="17375D"/>
                </a:solidFill>
                <a:latin typeface="Calibri"/>
                <a:ea typeface="Calibri"/>
                <a:cs typeface="Calibri"/>
              </a:defRPr>
            </a:pPr>
            <a:r>
              <a:rPr sz="1575" b="1">
                <a:solidFill>
                  <a:srgbClr val="17375D"/>
                </a:solidFill>
                <a:latin typeface="Calibri"/>
                <a:ea typeface="Calibri"/>
                <a:cs typeface="Calibri"/>
              </a:rPr>
              <a:t>La adaptación a Chile y a seis contaminantes requiere evaluación propia.</a:t>
            </a:r>
          </a:p>
        </p:txBody>
      </p:sp>
      <p:graphicFrame>
        <p:nvGraphicFramePr>
          <p:cNvPr id="19" name=""/>
          <p:cNvGraphicFramePr/>
          <p:nvPr/>
        </p:nvGraphicFramePr>
        <p:xfrm>
          <a:off xmlns:a="http://schemas.openxmlformats.org/drawingml/2006/main" x="548640" y="1666875"/>
          <a:ext xmlns:a="http://schemas.openxmlformats.org/drawingml/2006/main" cx="8046720" cy="2552700"/>
        </p:xfrm>
        <a:graphic xmlns:a="http://schemas.openxmlformats.org/drawingml/2006/main">
          <a:graphicData uri="http://schemas.openxmlformats.org/drawingml/2006/table">
            <a:tbl>
              <a:tblPr firstRow="1" bandRow="0"/>
              <a:tblGrid>
                <a:gridCol w="1857375"/>
                <a:gridCol w="2924175"/>
                <a:gridCol w="3265170"/>
              </a:tblGrid>
              <a:tr h="400050">
                <a:tc>
                  <a:txBody>
                    <a:bodyPr wrap="square" lIns="95250" tIns="76200" rIns="95250" bIns="76200">
                      <a:noAutofit/>
                    </a:bodyPr>
                    <a:lstStyle/>
                    <a:p>
                      <a:r>
                        <a:rPr sz="1350" b="1">
                          <a:solidFill>
                            <a:srgbClr val="FFFFFF"/>
                          </a:solidFill>
                          <a:latin typeface="Calibri"/>
                          <a:ea typeface="Calibri"/>
                          <a:cs typeface="Calibri"/>
                        </a:rPr>
                        <a:t>Trabajo</a:t>
                      </a:r>
                    </a:p>
                  </a:txBody>
                  <a:tcPr marL="91440" marR="91440" marT="45720" marB="45720" anchor="ctr">
                    <a:solidFill>
                      <a:srgbClr val="17375D"/>
                    </a:solidFill>
                  </a:tcPr>
                </a:tc>
                <a:tc>
                  <a:txBody>
                    <a:bodyPr wrap="square" lIns="95250" tIns="76200" rIns="95250" bIns="76200">
                      <a:noAutofit/>
                    </a:bodyPr>
                    <a:lstStyle/>
                    <a:p>
                      <a:r>
                        <a:rPr sz="1350" b="1">
                          <a:solidFill>
                            <a:srgbClr val="FFFFFF"/>
                          </a:solidFill>
                          <a:latin typeface="Calibri"/>
                          <a:ea typeface="Calibri"/>
                          <a:cs typeface="Calibri"/>
                        </a:rPr>
                        <a:t>Aporte metodológico</a:t>
                      </a:r>
                    </a:p>
                  </a:txBody>
                  <a:tcPr marL="91440" marR="91440" marT="45720" marB="45720" anchor="ctr">
                    <a:solidFill>
                      <a:srgbClr val="17375D"/>
                    </a:solidFill>
                  </a:tcPr>
                </a:tc>
                <a:tc>
                  <a:txBody>
                    <a:bodyPr wrap="square" lIns="95250" tIns="76200" rIns="95250" bIns="76200">
                      <a:noAutofit/>
                    </a:bodyPr>
                    <a:lstStyle/>
                    <a:p>
                      <a:r>
                        <a:rPr sz="1350" b="1">
                          <a:solidFill>
                            <a:srgbClr val="FFFFFF"/>
                          </a:solidFill>
                          <a:latin typeface="Calibri"/>
                          <a:ea typeface="Calibri"/>
                          <a:cs typeface="Calibri"/>
                        </a:rPr>
                        <a:t>Vínculo y límite en este proyecto</a:t>
                      </a:r>
                    </a:p>
                  </a:txBody>
                  <a:tcPr marL="91440" marR="91440" marT="45720" marB="45720" anchor="ctr">
                    <a:solidFill>
                      <a:srgbClr val="17375D"/>
                    </a:solidFill>
                  </a:tcPr>
                </a:tc>
              </a:tr>
              <a:tr h="1076325">
                <a:tc>
                  <a:txBody>
                    <a:bodyPr wrap="square" lIns="95250" tIns="76200" rIns="95250" bIns="76200">
                      <a:noAutofit/>
                    </a:bodyPr>
                    <a:lstStyle/>
                    <a:p>
                      <a:r>
                        <a:rPr sz="1350" b="0">
                          <a:solidFill>
                            <a:srgbClr val="1E293B"/>
                          </a:solidFill>
                          <a:latin typeface="Calibri"/>
                          <a:ea typeface="Calibri"/>
                          <a:cs typeface="Calibri"/>
                        </a:rPr>
                        <a:t>van Donkelaar et al.</a:t>
                      </a:r>
                    </a:p>
                    <a:p>
                      <a:r>
                        <a:rPr sz="1350" b="0">
                          <a:solidFill>
                            <a:srgbClr val="1E293B"/>
                          </a:solidFill>
                          <a:latin typeface="Calibri"/>
                          <a:ea typeface="Calibri"/>
                          <a:cs typeface="Calibri"/>
                        </a:rPr>
                        <a:t>2016 · PM₂.₅ global</a:t>
                      </a:r>
                    </a:p>
                  </a:txBody>
                  <a:tcPr marL="91440" marR="91440" marT="45720" marB="45720" anchor="ctr">
                    <a:solidFill>
                      <a:srgbClr val="EAF2FD"/>
                    </a:solidFill>
                  </a:tcPr>
                </a:tc>
                <a:tc>
                  <a:txBody>
                    <a:bodyPr wrap="square" lIns="95250" tIns="76200" rIns="95250" bIns="76200">
                      <a:noAutofit/>
                    </a:bodyPr>
                    <a:lstStyle/>
                    <a:p>
                      <a:r>
                        <a:rPr sz="1350" b="0">
                          <a:solidFill>
                            <a:srgbClr val="1E293B"/>
                          </a:solidFill>
                          <a:latin typeface="Calibri"/>
                          <a:ea typeface="Calibri"/>
                          <a:cs typeface="Calibri"/>
                        </a:rPr>
                        <a:t>Combina satélites, modelos atmosféricos y estaciones mediante regresión geográficamente ponderada.</a:t>
                      </a:r>
                    </a:p>
                  </a:txBody>
                  <a:tcPr marL="91440" marR="91440" marT="45720" marB="45720" anchor="ctr">
                    <a:solidFill>
                      <a:srgbClr val="EAF2FD"/>
                    </a:solidFill>
                  </a:tcPr>
                </a:tc>
                <a:tc>
                  <a:txBody>
                    <a:bodyPr wrap="square" lIns="95250" tIns="76200" rIns="95250" bIns="76200">
                      <a:noAutofit/>
                    </a:bodyPr>
                    <a:lstStyle/>
                    <a:p>
                      <a:r>
                        <a:rPr sz="1350" b="0">
                          <a:solidFill>
                            <a:srgbClr val="1E293B"/>
                          </a:solidFill>
                          <a:latin typeface="Calibri"/>
                          <a:ea typeface="Calibri"/>
                          <a:cs typeface="Calibri"/>
                        </a:rPr>
                        <a:t>Motiva la fusión de fuentes. Su escala temporal y cobertura no equivalen a una estimación horaria nacional.</a:t>
                      </a:r>
                    </a:p>
                  </a:txBody>
                  <a:tcPr marL="91440" marR="91440" marT="45720" marB="45720" anchor="ctr">
                    <a:solidFill>
                      <a:srgbClr val="EAF2FD"/>
                    </a:solidFill>
                  </a:tcPr>
                </a:tc>
              </a:tr>
              <a:tr h="1076325">
                <a:tc>
                  <a:txBody>
                    <a:bodyPr wrap="square" lIns="95250" tIns="76200" rIns="95250" bIns="76200">
                      <a:noAutofit/>
                    </a:bodyPr>
                    <a:lstStyle/>
                    <a:p>
                      <a:r>
                        <a:rPr sz="1350" b="0">
                          <a:solidFill>
                            <a:srgbClr val="1E293B"/>
                          </a:solidFill>
                          <a:latin typeface="Calibri"/>
                          <a:ea typeface="Calibri"/>
                          <a:cs typeface="Calibri"/>
                        </a:rPr>
                        <a:t>Di et al.</a:t>
                      </a:r>
                    </a:p>
                    <a:p>
                      <a:r>
                        <a:rPr sz="1350" b="0">
                          <a:solidFill>
                            <a:srgbClr val="1E293B"/>
                          </a:solidFill>
                          <a:latin typeface="Calibri"/>
                          <a:ea typeface="Calibri"/>
                          <a:cs typeface="Calibri"/>
                        </a:rPr>
                        <a:t>2019 · PM₂.₅ en EE. UU.</a:t>
                      </a:r>
                    </a:p>
                  </a:txBody>
                  <a:tcPr marL="91440" marR="91440" marT="45720" marB="45720" anchor="ctr">
                    <a:solidFill>
                      <a:srgbClr val="FFFFFF"/>
                    </a:solidFill>
                  </a:tcPr>
                </a:tc>
                <a:tc>
                  <a:txBody>
                    <a:bodyPr wrap="square" lIns="95250" tIns="76200" rIns="95250" bIns="76200">
                      <a:noAutofit/>
                    </a:bodyPr>
                    <a:lstStyle/>
                    <a:p>
                      <a:r>
                        <a:rPr sz="1350" b="0">
                          <a:solidFill>
                            <a:srgbClr val="1E293B"/>
                          </a:solidFill>
                          <a:latin typeface="Calibri"/>
                          <a:ea typeface="Calibri"/>
                          <a:cs typeface="Calibri"/>
                        </a:rPr>
                        <a:t>Ensamble de redes neuronales, Random Forest y boosting; datos diarios en una grilla de 1 km.</a:t>
                      </a:r>
                    </a:p>
                  </a:txBody>
                  <a:tcPr marL="91440" marR="91440" marT="45720" marB="45720" anchor="ctr">
                    <a:solidFill>
                      <a:srgbClr val="FFFFFF"/>
                    </a:solidFill>
                  </a:tcPr>
                </a:tc>
                <a:tc>
                  <a:txBody>
                    <a:bodyPr wrap="square" lIns="95250" tIns="76200" rIns="95250" bIns="76200">
                      <a:noAutofit/>
                    </a:bodyPr>
                    <a:lstStyle/>
                    <a:p>
                      <a:r>
                        <a:rPr sz="1350" b="0">
                          <a:solidFill>
                            <a:srgbClr val="1E293B"/>
                          </a:solidFill>
                          <a:latin typeface="Calibri"/>
                          <a:ea typeface="Calibri"/>
                          <a:cs typeface="Calibri"/>
                        </a:rPr>
                        <a:t>Motiva comparar familias y combinar predicciones. Sus resultados no acreditan transferencia a Chile o a gases.</a:t>
                      </a:r>
                    </a:p>
                  </a:txBody>
                  <a:tcPr marL="91440" marR="91440" marT="45720" marB="45720" anchor="ctr">
                    <a:solidFill>
                      <a:srgbClr val="FFFFFF"/>
                    </a:solidFill>
                  </a:tcPr>
                </a:tc>
              </a:tr>
            </a:tbl>
          </a:graphicData>
        </a:graphic>
      </p:graphicFrame>
      <p:sp>
        <p:nvSpPr>
          <p:cNvPr id="10" name="Hipótesis">
            <a:extLst xmlns:a="http://schemas.openxmlformats.org/drawingml/2006/main">
              <a:ext uri="{FF2B5EF4-FFF2-40B4-BE49-F238E27FC236}">
                <a16:creationId xmlns:a16="http://schemas.microsoft.com/office/drawing/2014/main" id="{E5315772-5FBD-413E-86A8-AF252CCF6F58}"/>
              </a:ext>
            </a:extLst>
          </p:cNvPr>
          <p:cNvSpPr>
            <a:spLocks xmlns:a="http://schemas.openxmlformats.org/drawingml/2006/main" noGrp="1"/>
          </p:cNvSpPr>
          <p:nvPr/>
        </p:nvSpPr>
        <p:spPr>
          <a:xfrm xmlns:a="http://schemas.openxmlformats.org/drawingml/2006/main">
            <a:off x="552450" y="4324350"/>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63">
                <a:solidFill>
                  <a:srgbClr val="17375D"/>
                </a:solidFill>
                <a:latin typeface="Calibri"/>
                <a:ea typeface="Calibri"/>
                <a:cs typeface="Calibri"/>
              </a:defRPr>
            </a:pPr>
            <a:r>
              <a:rPr sz="1163">
                <a:solidFill>
                  <a:srgbClr val="17375D"/>
                </a:solidFill>
                <a:latin typeface="Calibri"/>
                <a:ea typeface="Calibri"/>
                <a:cs typeface="Calibri"/>
              </a:rPr>
              <a:t>Hipótesis de trabajo: las fuentes complementarias pueden mejorar la estimación respecto de una interpolación de estaciones vecinas.</a:t>
            </a:r>
          </a:p>
        </p:txBody>
      </p:sp>
      <p:sp>
        <p:nvSpPr>
          <p:cNvPr id="11" name="Fuente y alcance">
            <a:extLst xmlns:a="http://schemas.openxmlformats.org/drawingml/2006/main">
              <a:ext uri="{FF2B5EF4-FFF2-40B4-BE49-F238E27FC236}">
                <a16:creationId xmlns:a16="http://schemas.microsoft.com/office/drawing/2014/main" id="{569F6504-DBD9-4449-BA34-E50A286DDCD5}"/>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van Donkelaar et al. (2016), doi:10.1021/acs.est.5b05833 · Di et al. (2019), doi:10.1016/j.envint.2019.104909</a:t>
            </a:r>
          </a:p>
        </p:txBody>
      </p:sp>
    </p:spTree>
    <p:extLst>
      <p:ext uri="{BB962C8B-B14F-4D97-AF65-F5344CB8AC3E}">
        <p14:creationId xmlns:p14="http://schemas.microsoft.com/office/powerpoint/2010/main" val="3227572768"/>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D09F9A76-8869-4B1E-9680-2342E1B660A5}"/>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D237A608-2783-4A34-A145-DA5B065D8121}"/>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0A0C1EC4-DD98-4FA4-BC2C-5068D2D2D85F}"/>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D9AEB266-9C4F-4F3C-9BEA-DEDAE3A9C973}"/>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3CF3DFC7-7B55-46A8-89B8-CCAB1054A2B0}"/>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Flujo de los datos originales al análisis descriptivo</a:t>
            </a:r>
          </a:p>
        </p:txBody>
      </p:sp>
      <p:sp>
        <p:nvSpPr>
          <p:cNvPr id="17" name="Fuente 1">
            <a:extLst xmlns:a="http://schemas.openxmlformats.org/drawingml/2006/main">
              <a:ext uri="{FF2B5EF4-FFF2-40B4-BE49-F238E27FC236}">
                <a16:creationId xmlns:a16="http://schemas.microsoft.com/office/drawing/2014/main" id="{EADEBB5E-E052-4293-83D8-0204D27A5C85}"/>
              </a:ext>
            </a:extLst>
          </p:cNvPr>
          <p:cNvSpPr>
            <a:spLocks xmlns:a="http://schemas.openxmlformats.org/drawingml/2006/main" noGrp="1"/>
          </p:cNvSpPr>
          <p:nvPr/>
        </p:nvSpPr>
        <p:spPr>
          <a:xfrm xmlns:a="http://schemas.openxmlformats.org/drawingml/2006/main">
            <a:off x="552450" y="1495425"/>
            <a:ext cx="1476375" cy="262890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14300" tIns="133350" rIns="114300" bIns="114300" anchor="t">
            <a:noAutofit/>
          </a:bodyPr>
          <a:lstStyle xmlns:a="http://schemas.openxmlformats.org/drawingml/2006/main"/>
          <a:p xmlns:a="http://schemas.openxmlformats.org/drawingml/2006/main">
            <a:pPr algn="l">
              <a:spcBef>
                <a:spcPts val="0"/>
              </a:spcBef>
              <a:spcAft>
                <a:spcPts val="0"/>
              </a:spcAft>
              <a:defRPr sz="1275" b="0">
                <a:solidFill>
                  <a:srgbClr val="17375D"/>
                </a:solidFill>
                <a:latin typeface="Calibri"/>
                <a:ea typeface="Calibri"/>
                <a:cs typeface="Calibri"/>
              </a:defRPr>
            </a:pPr>
            <a:r>
              <a:rPr sz="1275" b="1">
                <a:solidFill>
                  <a:srgbClr val="17375D"/>
                </a:solidFill>
                <a:latin typeface="Calibri"/>
                <a:ea typeface="Calibri"/>
                <a:cs typeface="Calibri"/>
              </a:rPr>
              <a:t>1 · ORIGINALES</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Archivos SINCA</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Observaciones y metadatos de estación.</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Conservar la fuente.</a:t>
            </a:r>
          </a:p>
        </p:txBody>
      </p:sp>
      <p:sp>
        <p:nvSpPr>
          <p:cNvPr id="18" name="Fuente 2">
            <a:extLst xmlns:a="http://schemas.openxmlformats.org/drawingml/2006/main">
              <a:ext uri="{FF2B5EF4-FFF2-40B4-BE49-F238E27FC236}">
                <a16:creationId xmlns:a16="http://schemas.microsoft.com/office/drawing/2014/main" id="{76AB9978-8638-4D2E-973D-E4D4AE315318}"/>
              </a:ext>
            </a:extLst>
          </p:cNvPr>
          <p:cNvSpPr>
            <a:spLocks xmlns:a="http://schemas.openxmlformats.org/drawingml/2006/main" noGrp="1"/>
          </p:cNvSpPr>
          <p:nvPr/>
        </p:nvSpPr>
        <p:spPr>
          <a:xfrm xmlns:a="http://schemas.openxmlformats.org/drawingml/2006/main">
            <a:off x="2181225" y="1495425"/>
            <a:ext cx="1476375" cy="262890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14300" tIns="133350" rIns="114300" bIns="114300" anchor="t">
            <a:noAutofit/>
          </a:bodyPr>
          <a:lstStyle xmlns:a="http://schemas.openxmlformats.org/drawingml/2006/main"/>
          <a:p xmlns:a="http://schemas.openxmlformats.org/drawingml/2006/main">
            <a:pPr algn="l">
              <a:spcBef>
                <a:spcPts val="0"/>
              </a:spcBef>
              <a:spcAft>
                <a:spcPts val="0"/>
              </a:spcAft>
              <a:defRPr sz="1275" b="0">
                <a:solidFill>
                  <a:srgbClr val="17375D"/>
                </a:solidFill>
                <a:latin typeface="Calibri"/>
                <a:ea typeface="Calibri"/>
                <a:cs typeface="Calibri"/>
              </a:defRPr>
            </a:pPr>
            <a:r>
              <a:rPr sz="1275" b="1">
                <a:solidFill>
                  <a:srgbClr val="17375D"/>
                </a:solidFill>
                <a:latin typeface="Calibri"/>
                <a:ea typeface="Calibri"/>
                <a:cs typeface="Calibri"/>
              </a:rPr>
              <a:t>2 · CALIDAD</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Seleccionar filas</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Revisar rangos físicos y excluir rachas de ≥24 valores idénticos.</a:t>
            </a:r>
          </a:p>
        </p:txBody>
      </p:sp>
      <p:sp>
        <p:nvSpPr>
          <p:cNvPr id="19" name="Fuente 3">
            <a:extLst xmlns:a="http://schemas.openxmlformats.org/drawingml/2006/main">
              <a:ext uri="{FF2B5EF4-FFF2-40B4-BE49-F238E27FC236}">
                <a16:creationId xmlns:a16="http://schemas.microsoft.com/office/drawing/2014/main" id="{64E78AE4-DF19-48CD-91F6-41CBE4E7A20C}"/>
              </a:ext>
            </a:extLst>
          </p:cNvPr>
          <p:cNvSpPr>
            <a:spLocks xmlns:a="http://schemas.openxmlformats.org/drawingml/2006/main" noGrp="1"/>
          </p:cNvSpPr>
          <p:nvPr/>
        </p:nvSpPr>
        <p:spPr>
          <a:xfrm xmlns:a="http://schemas.openxmlformats.org/drawingml/2006/main">
            <a:off x="3810000" y="1495425"/>
            <a:ext cx="1476375" cy="262890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14300" tIns="133350" rIns="114300" bIns="114300" anchor="t">
            <a:noAutofit/>
          </a:bodyPr>
          <a:lstStyle xmlns:a="http://schemas.openxmlformats.org/drawingml/2006/main"/>
          <a:p xmlns:a="http://schemas.openxmlformats.org/drawingml/2006/main">
            <a:pPr algn="l">
              <a:spcBef>
                <a:spcPts val="0"/>
              </a:spcBef>
              <a:spcAft>
                <a:spcPts val="0"/>
              </a:spcAft>
              <a:defRPr sz="1275" b="0">
                <a:solidFill>
                  <a:srgbClr val="17375D"/>
                </a:solidFill>
                <a:latin typeface="Calibri"/>
                <a:ea typeface="Calibri"/>
                <a:cs typeface="Calibri"/>
              </a:defRPr>
            </a:pPr>
            <a:r>
              <a:rPr sz="1275" b="1">
                <a:solidFill>
                  <a:srgbClr val="17375D"/>
                </a:solidFill>
                <a:latin typeface="Calibri"/>
                <a:ea typeface="Calibri"/>
                <a:cs typeface="Calibri"/>
              </a:rPr>
              <a:t>3 · TIEMPO</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Preparar las horas</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Convención del HTML: UTC−4 fijo, fin del intervalo.</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Registrar faltantes.</a:t>
            </a:r>
          </a:p>
        </p:txBody>
      </p:sp>
      <p:sp>
        <p:nvSpPr>
          <p:cNvPr id="21" name="Preparación común">
            <a:extLst xmlns:a="http://schemas.openxmlformats.org/drawingml/2006/main">
              <a:ext uri="{FF2B5EF4-FFF2-40B4-BE49-F238E27FC236}">
                <a16:creationId xmlns:a16="http://schemas.microsoft.com/office/drawing/2014/main" id="{689CCC35-0983-4C91-9454-685CE0983C65}"/>
              </a:ext>
            </a:extLst>
          </p:cNvPr>
          <p:cNvSpPr>
            <a:spLocks xmlns:a="http://schemas.openxmlformats.org/drawingml/2006/main" noGrp="1"/>
          </p:cNvSpPr>
          <p:nvPr/>
        </p:nvSpPr>
        <p:spPr>
          <a:xfrm xmlns:a="http://schemas.openxmlformats.org/drawingml/2006/main">
            <a:off x="5438775" y="1495425"/>
            <a:ext cx="1476375" cy="262890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14300" tIns="133350" rIns="114300" bIns="114300" anchor="t">
            <a:noAutofit/>
          </a:bodyPr>
          <a:lstStyle xmlns:a="http://schemas.openxmlformats.org/drawingml/2006/main"/>
          <a:p xmlns:a="http://schemas.openxmlformats.org/drawingml/2006/main">
            <a:pPr algn="l">
              <a:spcBef>
                <a:spcPts val="0"/>
              </a:spcBef>
              <a:spcAft>
                <a:spcPts val="0"/>
              </a:spcAft>
              <a:defRPr sz="1275" b="0">
                <a:solidFill>
                  <a:srgbClr val="17375D"/>
                </a:solidFill>
                <a:latin typeface="Calibri"/>
                <a:ea typeface="Calibri"/>
                <a:cs typeface="Calibri"/>
              </a:defRPr>
            </a:pPr>
            <a:r>
              <a:rPr sz="1275" b="1">
                <a:solidFill>
                  <a:srgbClr val="17375D"/>
                </a:solidFill>
                <a:latin typeface="Calibri"/>
                <a:ea typeface="Calibri"/>
                <a:cs typeface="Calibri"/>
              </a:rPr>
              <a:t>4 · RESUMEN</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Aplicar cobertura</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Mes: ≥75% de horas.</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Ventana: ≥9 meses calendario.</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Climatología mensual.</a:t>
            </a:r>
          </a:p>
        </p:txBody>
      </p:sp>
      <p:sp>
        <p:nvSpPr>
          <p:cNvPr id="22" name="Panel analítico">
            <a:extLst xmlns:a="http://schemas.openxmlformats.org/drawingml/2006/main">
              <a:ext uri="{FF2B5EF4-FFF2-40B4-BE49-F238E27FC236}">
                <a16:creationId xmlns:a16="http://schemas.microsoft.com/office/drawing/2014/main" id="{9C7F8A72-FCDB-473D-8D26-90DFD48B7988}"/>
              </a:ext>
            </a:extLst>
          </p:cNvPr>
          <p:cNvSpPr>
            <a:spLocks xmlns:a="http://schemas.openxmlformats.org/drawingml/2006/main" noGrp="1"/>
          </p:cNvSpPr>
          <p:nvPr/>
        </p:nvSpPr>
        <p:spPr>
          <a:xfrm xmlns:a="http://schemas.openxmlformats.org/drawingml/2006/main">
            <a:off x="7067550" y="1495425"/>
            <a:ext cx="1476375" cy="2628900"/>
          </a:xfrm>
          <a:prstGeom xmlns:a="http://schemas.openxmlformats.org/drawingml/2006/main" prst="roundRect">
            <a:avLst>
              <a:gd name="adj" fmla="val 7500"/>
            </a:avLst>
          </a:prstGeom>
          <a:solidFill xmlns:a="http://schemas.openxmlformats.org/drawingml/2006/main">
            <a:srgbClr val="EAF2FD"/>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14300" tIns="133350" rIns="114300" bIns="114300" anchor="t">
            <a:noAutofit/>
          </a:bodyPr>
          <a:lstStyle xmlns:a="http://schemas.openxmlformats.org/drawingml/2006/main"/>
          <a:p xmlns:a="http://schemas.openxmlformats.org/drawingml/2006/main">
            <a:pPr algn="l">
              <a:spcBef>
                <a:spcPts val="0"/>
              </a:spcBef>
              <a:spcAft>
                <a:spcPts val="0"/>
              </a:spcAft>
              <a:defRPr sz="1275" b="0">
                <a:solidFill>
                  <a:srgbClr val="17375D"/>
                </a:solidFill>
                <a:latin typeface="Calibri"/>
                <a:ea typeface="Calibri"/>
                <a:cs typeface="Calibri"/>
              </a:defRPr>
            </a:pPr>
            <a:r>
              <a:rPr sz="1275" b="1">
                <a:solidFill>
                  <a:srgbClr val="17375D"/>
                </a:solidFill>
                <a:latin typeface="Calibri"/>
                <a:ea typeface="Calibri"/>
                <a:cs typeface="Calibri"/>
              </a:rPr>
              <a:t>5 · DESCRIPTIVOS</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Datos observados</a:t>
            </a:r>
          </a:p>
          <a:p xmlns:a="http://schemas.openxmlformats.org/drawingml/2006/main">
            <a:pPr>
              <a:spcBef>
                <a:spcPts val="0"/>
              </a:spcBef>
              <a:spcAft>
                <a:spcPts val="0"/>
              </a:spcAft>
            </a:pPr>
            <a:r>
              <a:rPr b="0"/>
              <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Mapas de estaciones, concentración media y cobertura.</a:t>
            </a:r>
          </a:p>
          <a:p xmlns:a="http://schemas.openxmlformats.org/drawingml/2006/main">
            <a:pPr algn="l">
              <a:spcBef>
                <a:spcPts val="0"/>
              </a:spcBef>
              <a:spcAft>
                <a:spcPts val="0"/>
              </a:spcAft>
              <a:defRPr sz="1275" b="0">
                <a:solidFill>
                  <a:srgbClr val="17375D"/>
                </a:solidFill>
                <a:latin typeface="Calibri"/>
                <a:ea typeface="Calibri"/>
                <a:cs typeface="Calibri"/>
              </a:defRPr>
            </a:pPr>
            <a:r>
              <a:rPr sz="1275" b="0">
                <a:solidFill>
                  <a:srgbClr val="17375D"/>
                </a:solidFill>
                <a:latin typeface="Calibri"/>
                <a:ea typeface="Calibri"/>
                <a:cs typeface="Calibri"/>
              </a:rPr>
              <a:t>Sin predicciones.</a:t>
            </a:r>
          </a:p>
        </p:txBody>
      </p:sp>
      <p:cxnSp>
        <p:nvCxnSpPr>
          <p:cNvPr id="39" name=""/>
          <p:cNvCxnSpPr>
            <a:stCxn xmlns:a="http://schemas.openxmlformats.org/drawingml/2006/main" id="17" idx="3"/>
            <a:endCxn xmlns:a="http://schemas.openxmlformats.org/drawingml/2006/main" id="18" idx="1"/>
          </p:cNvCxnSpPr>
          <p:nvPr/>
        </p:nvCxnSpPr>
        <p:spPr>
          <a:xfrm xmlns:a="http://schemas.openxmlformats.org/drawingml/2006/main">
            <a:off x="2028825" y="2809875"/>
            <a:ext cx="152400" cy="0"/>
          </a:xfrm>
          <a:prstGeom xmlns:a="http://schemas.openxmlformats.org/drawingml/2006/main" prst="straightConnector1">
            <a:avLst/>
          </a:prstGeom>
          <a:ln xmlns:a="http://schemas.openxmlformats.org/drawingml/2006/main" w="14288">
            <a:solidFill>
              <a:srgbClr val="3366CC"/>
            </a:solidFill>
            <a:prstDash val="solid"/>
            <a:tailEnd type="triangle" w="sm" len="sm"/>
          </a:ln>
        </p:spPr>
      </p:cxnSp>
      <p:cxnSp>
        <p:nvCxnSpPr>
          <p:cNvPr id="40" name=""/>
          <p:cNvCxnSpPr>
            <a:stCxn xmlns:a="http://schemas.openxmlformats.org/drawingml/2006/main" id="18" idx="3"/>
            <a:endCxn xmlns:a="http://schemas.openxmlformats.org/drawingml/2006/main" id="19" idx="1"/>
          </p:cNvCxnSpPr>
          <p:nvPr/>
        </p:nvCxnSpPr>
        <p:spPr>
          <a:xfrm xmlns:a="http://schemas.openxmlformats.org/drawingml/2006/main">
            <a:off x="3657600" y="2809875"/>
            <a:ext cx="152400" cy="0"/>
          </a:xfrm>
          <a:prstGeom xmlns:a="http://schemas.openxmlformats.org/drawingml/2006/main" prst="straightConnector1">
            <a:avLst/>
          </a:prstGeom>
          <a:ln xmlns:a="http://schemas.openxmlformats.org/drawingml/2006/main" w="14288">
            <a:solidFill>
              <a:srgbClr val="3366CC"/>
            </a:solidFill>
            <a:prstDash val="solid"/>
            <a:tailEnd type="triangle" w="sm" len="sm"/>
          </a:ln>
        </p:spPr>
      </p:cxnSp>
      <p:cxnSp>
        <p:nvCxnSpPr>
          <p:cNvPr id="41" name=""/>
          <p:cNvCxnSpPr>
            <a:stCxn xmlns:a="http://schemas.openxmlformats.org/drawingml/2006/main" id="19" idx="3"/>
            <a:endCxn xmlns:a="http://schemas.openxmlformats.org/drawingml/2006/main" id="21" idx="1"/>
          </p:cNvCxnSpPr>
          <p:nvPr/>
        </p:nvCxnSpPr>
        <p:spPr>
          <a:xfrm xmlns:a="http://schemas.openxmlformats.org/drawingml/2006/main">
            <a:off x="5286375" y="2809875"/>
            <a:ext cx="152400" cy="0"/>
          </a:xfrm>
          <a:prstGeom xmlns:a="http://schemas.openxmlformats.org/drawingml/2006/main" prst="straightConnector1">
            <a:avLst/>
          </a:prstGeom>
          <a:ln xmlns:a="http://schemas.openxmlformats.org/drawingml/2006/main" w="14288">
            <a:solidFill>
              <a:srgbClr val="3366CC"/>
            </a:solidFill>
            <a:prstDash val="solid"/>
            <a:tailEnd type="triangle" w="sm" len="sm"/>
          </a:ln>
        </p:spPr>
      </p:cxnSp>
      <p:cxnSp>
        <p:nvCxnSpPr>
          <p:cNvPr id="42" name=""/>
          <p:cNvCxnSpPr>
            <a:stCxn xmlns:a="http://schemas.openxmlformats.org/drawingml/2006/main" id="21" idx="3"/>
            <a:endCxn xmlns:a="http://schemas.openxmlformats.org/drawingml/2006/main" id="22" idx="1"/>
          </p:cNvCxnSpPr>
          <p:nvPr/>
        </p:nvCxnSpPr>
        <p:spPr>
          <a:xfrm xmlns:a="http://schemas.openxmlformats.org/drawingml/2006/main">
            <a:off x="6915150" y="2809875"/>
            <a:ext cx="152400" cy="0"/>
          </a:xfrm>
          <a:prstGeom xmlns:a="http://schemas.openxmlformats.org/drawingml/2006/main" prst="straightConnector1">
            <a:avLst/>
          </a:prstGeom>
          <a:ln xmlns:a="http://schemas.openxmlformats.org/drawingml/2006/main" w="14288">
            <a:solidFill>
              <a:srgbClr val="3366CC"/>
            </a:solidFill>
            <a:prstDash val="solid"/>
            <a:tailEnd type="triangle" w="sm" len="sm"/>
          </a:ln>
        </p:spPr>
      </p:cxnSp>
      <p:sp>
        <p:nvSpPr>
          <p:cNvPr id="27" name="Alcance del flujo">
            <a:extLst xmlns:a="http://schemas.openxmlformats.org/drawingml/2006/main">
              <a:ext uri="{FF2B5EF4-FFF2-40B4-BE49-F238E27FC236}">
                <a16:creationId xmlns:a16="http://schemas.microsoft.com/office/drawing/2014/main" id="{C034110B-5B41-4EEB-8B89-53C55DAE1621}"/>
              </a:ext>
            </a:extLst>
          </p:cNvPr>
          <p:cNvSpPr>
            <a:spLocks xmlns:a="http://schemas.openxmlformats.org/drawingml/2006/main" noGrp="1"/>
          </p:cNvSpPr>
          <p:nvPr/>
        </p:nvSpPr>
        <p:spPr>
          <a:xfrm xmlns:a="http://schemas.openxmlformats.org/drawingml/2006/main">
            <a:off x="552450" y="115252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75D"/>
                </a:solidFill>
                <a:latin typeface="Calibri"/>
                <a:ea typeface="Calibri"/>
                <a:cs typeface="Calibri"/>
              </a:defRPr>
            </a:pPr>
            <a:r>
              <a:rPr sz="1575" b="1">
                <a:solidFill>
                  <a:srgbClr val="17375D"/>
                </a:solidFill>
                <a:latin typeface="Calibri"/>
                <a:ea typeface="Calibri"/>
                <a:cs typeface="Calibri"/>
              </a:rPr>
              <a:t>SINCA: la fuente original se conserva y cada filtro genera una base derivada trazable.</a:t>
            </a:r>
          </a:p>
        </p:txBody>
      </p:sp>
      <p:sp>
        <p:nvSpPr>
          <p:cNvPr id="28" name="Fuente y alcance">
            <a:extLst xmlns:a="http://schemas.openxmlformats.org/drawingml/2006/main">
              <a:ext uri="{FF2B5EF4-FFF2-40B4-BE49-F238E27FC236}">
                <a16:creationId xmlns:a16="http://schemas.microsoft.com/office/drawing/2014/main" id="{34218FBF-2524-4A8D-9ADF-BA6A6F371D53}"/>
              </a:ext>
            </a:extLst>
          </p:cNvPr>
          <p:cNvSpPr>
            <a:spLocks xmlns:a="http://schemas.openxmlformats.org/drawingml/2006/main" noGrp="1"/>
          </p:cNvSpPr>
          <p:nvPr/>
        </p:nvSpPr>
        <p:spPr>
          <a:xfrm xmlns:a="http://schemas.openxmlformats.org/drawingml/2006/main">
            <a:off x="548640" y="461010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63">
                <a:solidFill>
                  <a:srgbClr val="526277"/>
                </a:solidFill>
                <a:latin typeface="Calibri"/>
                <a:ea typeface="Calibri"/>
                <a:cs typeface="Calibri"/>
              </a:defRPr>
            </a:pPr>
            <a:r>
              <a:rPr sz="863">
                <a:solidFill>
                  <a:srgbClr val="526277"/>
                </a:solidFill>
                <a:latin typeface="Calibri"/>
                <a:ea typeface="Calibri"/>
                <a:cs typeface="Calibri"/>
              </a:rPr>
              <a:t>Fuente: HTML, sección 2. La convención temporal y las unidades aún deben confirmarse por serie. La etapa final describe observaciones.</a:t>
            </a:r>
          </a:p>
        </p:txBody>
      </p:sp>
    </p:spTree>
    <p:extLst>
      <p:ext uri="{BB962C8B-B14F-4D97-AF65-F5344CB8AC3E}">
        <p14:creationId xmlns:p14="http://schemas.microsoft.com/office/powerpoint/2010/main" val="3227572768"/>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Inventario de fuentes: un corte común y auditable</a:t>
            </a:r>
          </a:p>
        </p:txBody>
      </p:sp>
      <p:sp>
        <p:nvSpPr>
          <p:cNvPr id="8" name="Corte">
            <a:extLst xmlns:a="http://schemas.openxmlformats.org/drawingml/2006/main">
              <a:ext uri="{FF2B5EF4-FFF2-40B4-BE49-F238E27FC236}">
                <a16:creationId xmlns:a16="http://schemas.microsoft.com/office/drawing/2014/main" id="{B3EC6100-ABB0-4396-9AF5-B20BFC98F2F9}"/>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17375D"/>
                </a:solidFill>
                <a:latin typeface="Calibri"/>
                <a:ea typeface="Calibri"/>
                <a:cs typeface="Calibri"/>
              </a:defRPr>
            </a:pPr>
            <a:r>
              <a:rPr sz="1650" b="1">
                <a:solidFill>
                  <a:srgbClr val="17375D"/>
                </a:solidFill>
                <a:latin typeface="Calibri"/>
                <a:ea typeface="Calibri"/>
                <a:cs typeface="Calibri"/>
              </a:rPr>
              <a:t>Corte auditado al 15 de septiembre de 2026</a:t>
            </a:r>
          </a:p>
        </p:txBody>
      </p:sp>
      <p:graphicFrame>
        <p:nvGraphicFramePr>
          <p:cNvPr id="19" name=""/>
          <p:cNvGraphicFramePr/>
          <p:nvPr/>
        </p:nvGraphicFramePr>
        <p:xfrm>
          <a:off xmlns:a="http://schemas.openxmlformats.org/drawingml/2006/main" x="548640" y="1619250"/>
          <a:ext xmlns:a="http://schemas.openxmlformats.org/drawingml/2006/main" cx="8046720" cy="2543175"/>
        </p:xfrm>
        <a:graphic xmlns:a="http://schemas.openxmlformats.org/drawingml/2006/main">
          <a:graphicData uri="http://schemas.openxmlformats.org/drawingml/2006/table">
            <a:tbl>
              <a:tblPr firstRow="1" bandRow="0"/>
              <a:tblGrid>
                <a:gridCol w="1428750"/>
                <a:gridCol w="2200275"/>
                <a:gridCol w="2114550"/>
                <a:gridCol w="2303145"/>
              </a:tblGrid>
              <a:tr h="381000">
                <a:tc>
                  <a:txBody>
                    <a:bodyPr wrap="square" lIns="95250" tIns="76200" rIns="95250" bIns="76200">
                      <a:noAutofit/>
                    </a:bodyPr>
                    <a:lstStyle/>
                    <a:p>
                      <a:r>
                        <a:rPr sz="1238" b="1">
                          <a:solidFill>
                            <a:srgbClr val="FFFFFF"/>
                          </a:solidFill>
                          <a:latin typeface="Calibri"/>
                          <a:ea typeface="Calibri"/>
                          <a:cs typeface="Calibri"/>
                        </a:rPr>
                        <a:t>Fuente</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Periodo preparado</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Resolución nativa</a:t>
                      </a:r>
                    </a:p>
                  </a:txBody>
                  <a:tcPr marL="91440" marR="91440" marT="45720" marB="45720" anchor="ctr">
                    <a:solidFill>
                      <a:srgbClr val="17375D"/>
                    </a:solidFill>
                  </a:tcPr>
                </a:tc>
                <a:tc>
                  <a:txBody>
                    <a:bodyPr wrap="square" lIns="95250" tIns="76200" rIns="95250" bIns="76200">
                      <a:noAutofit/>
                    </a:bodyPr>
                    <a:lstStyle/>
                    <a:p>
                      <a:r>
                        <a:rPr sz="1238" b="1">
                          <a:solidFill>
                            <a:srgbClr val="FFFFFF"/>
                          </a:solidFill>
                          <a:latin typeface="Calibri"/>
                          <a:ea typeface="Calibri"/>
                          <a:cs typeface="Calibri"/>
                        </a:rPr>
                        <a:t>Volumen del corte</a:t>
                      </a:r>
                    </a:p>
                  </a:txBody>
                  <a:tcPr marL="91440" marR="91440" marT="45720" marB="45720" anchor="ctr">
                    <a:solidFill>
                      <a:srgbClr val="17375D"/>
                    </a:solidFill>
                  </a:tcPr>
                </a:tc>
              </a:tr>
              <a:tr h="720725">
                <a:tc>
                  <a:txBody>
                    <a:bodyPr wrap="square" lIns="95250" tIns="76200" rIns="95250" bIns="76200">
                      <a:noAutofit/>
                    </a:bodyPr>
                    <a:lstStyle/>
                    <a:p>
                      <a:r>
                        <a:rPr sz="1238" b="0">
                          <a:solidFill>
                            <a:srgbClr val="1E293B"/>
                          </a:solidFill>
                          <a:latin typeface="Calibri"/>
                          <a:ea typeface="Calibri"/>
                          <a:cs typeface="Calibri"/>
                        </a:rPr>
                        <a:t>SINCA</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2000–13 sep 2026</a:t>
                      </a:r>
                    </a:p>
                    <a:p>
                      <a:r>
                        <a:rPr sz="1238" b="0">
                          <a:solidFill>
                            <a:srgbClr val="1E293B"/>
                          </a:solidFill>
                          <a:latin typeface="Calibri"/>
                          <a:ea typeface="Calibri"/>
                          <a:cs typeface="Calibri"/>
                        </a:rPr>
                        <a:t>Cobertura variable por serie</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Estaciones y etiquetas horarias originales</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107 estaciones · 403 series</a:t>
                      </a:r>
                    </a:p>
                    <a:p>
                      <a:r>
                        <a:rPr sz="1238" b="0">
                          <a:solidFill>
                            <a:srgbClr val="1E293B"/>
                          </a:solidFill>
                          <a:latin typeface="Calibri"/>
                          <a:ea typeface="Calibri"/>
                          <a:cs typeface="Calibri"/>
                        </a:rPr>
                        <a:t>94.311.869 filas seleccionadas</a:t>
                      </a:r>
                    </a:p>
                  </a:txBody>
                  <a:tcPr marL="91440" marR="91440" marT="45720" marB="45720" anchor="ctr">
                    <a:solidFill>
                      <a:srgbClr val="EAF2FD"/>
                    </a:solidFill>
                  </a:tcPr>
                </a:tc>
              </a:tr>
              <a:tr h="720725">
                <a:tc>
                  <a:txBody>
                    <a:bodyPr wrap="square" lIns="95250" tIns="76200" rIns="95250" bIns="76200">
                      <a:noAutofit/>
                    </a:bodyPr>
                    <a:lstStyle/>
                    <a:p>
                      <a:r>
                        <a:rPr sz="1238" b="0">
                          <a:solidFill>
                            <a:srgbClr val="1E293B"/>
                          </a:solidFill>
                          <a:latin typeface="Calibri"/>
                          <a:ea typeface="Calibri"/>
                          <a:cs typeface="Calibri"/>
                        </a:rPr>
                        <a:t>MERRA-2</a:t>
                      </a:r>
                    </a:p>
                    <a:p>
                      <a:r>
                        <a:rPr sz="1238" b="0">
                          <a:solidFill>
                            <a:srgbClr val="1E293B"/>
                          </a:solidFill>
                          <a:latin typeface="Calibri"/>
                          <a:ea typeface="Calibri"/>
                          <a:cs typeface="Calibri"/>
                        </a:rPr>
                        <a:t>meteorología</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ene 2000–may 2026</a:t>
                      </a:r>
                    </a:p>
                    <a:p>
                      <a:r>
                        <a:rPr sz="1238" b="0">
                          <a:solidFill>
                            <a:srgbClr val="1E293B"/>
                          </a:solidFill>
                          <a:latin typeface="Calibri"/>
                          <a:ea typeface="Calibri"/>
                          <a:cs typeface="Calibri"/>
                        </a:rPr>
                        <a:t>317 meses</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0,5° × 0,625°</a:t>
                      </a:r>
                    </a:p>
                    <a:p>
                      <a:r>
                        <a:rPr sz="1238" b="0">
                          <a:solidFill>
                            <a:srgbClr val="1E293B"/>
                          </a:solidFill>
                          <a:latin typeface="Calibri"/>
                          <a:ea typeface="Calibri"/>
                          <a:cs typeface="Calibri"/>
                        </a:rPr>
                        <a:t>Marcas HH:30 UTC</a:t>
                      </a:r>
                    </a:p>
                  </a:txBody>
                  <a:tcPr marL="91440" marR="91440" marT="45720" marB="45720" anchor="ctr">
                    <a:solidFill>
                      <a:srgbClr val="FFFFFF"/>
                    </a:solidFill>
                  </a:tcPr>
                </a:tc>
                <a:tc>
                  <a:txBody>
                    <a:bodyPr wrap="square" lIns="95250" tIns="76200" rIns="95250" bIns="76200">
                      <a:noAutofit/>
                    </a:bodyPr>
                    <a:lstStyle/>
                    <a:p>
                      <a:r>
                        <a:rPr sz="1238" b="0">
                          <a:solidFill>
                            <a:srgbClr val="1E293B"/>
                          </a:solidFill>
                          <a:latin typeface="Calibri"/>
                          <a:ea typeface="Calibri"/>
                          <a:cs typeface="Calibri"/>
                        </a:rPr>
                        <a:t>419 píxeles</a:t>
                      </a:r>
                    </a:p>
                    <a:p>
                      <a:r>
                        <a:rPr sz="1238" b="0">
                          <a:solidFill>
                            <a:srgbClr val="1E293B"/>
                          </a:solidFill>
                          <a:latin typeface="Calibri"/>
                          <a:ea typeface="Calibri"/>
                          <a:cs typeface="Calibri"/>
                        </a:rPr>
                        <a:t>231.552 marcas temporales</a:t>
                      </a:r>
                    </a:p>
                  </a:txBody>
                  <a:tcPr marL="91440" marR="91440" marT="45720" marB="45720" anchor="ctr">
                    <a:solidFill>
                      <a:srgbClr val="FFFFFF"/>
                    </a:solidFill>
                  </a:tcPr>
                </a:tc>
              </a:tr>
              <a:tr h="720725">
                <a:tc>
                  <a:txBody>
                    <a:bodyPr wrap="square" lIns="95250" tIns="76200" rIns="95250" bIns="76200">
                      <a:noAutofit/>
                    </a:bodyPr>
                    <a:lstStyle/>
                    <a:p>
                      <a:r>
                        <a:rPr sz="1238" b="0">
                          <a:solidFill>
                            <a:srgbClr val="1E293B"/>
                          </a:solidFill>
                          <a:latin typeface="Calibri"/>
                          <a:ea typeface="Calibri"/>
                          <a:cs typeface="Calibri"/>
                        </a:rPr>
                        <a:t>ERA5-Land</a:t>
                      </a:r>
                    </a:p>
                    <a:p>
                      <a:r>
                        <a:rPr sz="1238" b="0">
                          <a:solidFill>
                            <a:srgbClr val="1E293B"/>
                          </a:solidFill>
                          <a:latin typeface="Calibri"/>
                          <a:ea typeface="Calibri"/>
                          <a:cs typeface="Calibri"/>
                        </a:rPr>
                        <a:t>precipitación</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ene 2000–ago 2026</a:t>
                      </a:r>
                    </a:p>
                    <a:p>
                      <a:r>
                        <a:rPr sz="1238" b="0">
                          <a:solidFill>
                            <a:srgbClr val="1E293B"/>
                          </a:solidFill>
                          <a:latin typeface="Calibri"/>
                          <a:ea typeface="Calibri"/>
                          <a:cs typeface="Calibri"/>
                        </a:rPr>
                        <a:t>sep parcial: 216 horas</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0,1°</a:t>
                      </a:r>
                    </a:p>
                    <a:p>
                      <a:r>
                        <a:rPr sz="1238" b="0">
                          <a:solidFill>
                            <a:srgbClr val="1E293B"/>
                          </a:solidFill>
                          <a:latin typeface="Calibri"/>
                          <a:ea typeface="Calibri"/>
                          <a:cs typeface="Calibri"/>
                        </a:rPr>
                        <a:t>Derivación horaria</a:t>
                      </a:r>
                    </a:p>
                  </a:txBody>
                  <a:tcPr marL="91440" marR="91440" marT="45720" marB="45720" anchor="ctr">
                    <a:solidFill>
                      <a:srgbClr val="EAF2FD"/>
                    </a:solidFill>
                  </a:tcPr>
                </a:tc>
                <a:tc>
                  <a:txBody>
                    <a:bodyPr wrap="square" lIns="95250" tIns="76200" rIns="95250" bIns="76200">
                      <a:noAutofit/>
                    </a:bodyPr>
                    <a:lstStyle/>
                    <a:p>
                      <a:r>
                        <a:rPr sz="1238" b="0">
                          <a:solidFill>
                            <a:srgbClr val="1E293B"/>
                          </a:solidFill>
                          <a:latin typeface="Calibri"/>
                          <a:ea typeface="Calibri"/>
                          <a:cs typeface="Calibri"/>
                        </a:rPr>
                        <a:t>9.725 píxeles</a:t>
                      </a:r>
                    </a:p>
                    <a:p>
                      <a:r>
                        <a:rPr sz="1238" b="0">
                          <a:solidFill>
                            <a:srgbClr val="1E293B"/>
                          </a:solidFill>
                          <a:latin typeface="Calibri"/>
                          <a:ea typeface="Calibri"/>
                          <a:cs typeface="Calibri"/>
                        </a:rPr>
                        <a:t>233.976 marcas temporales</a:t>
                      </a:r>
                    </a:p>
                  </a:txBody>
                  <a:tcPr marL="91440" marR="91440" marT="45720" marB="45720" anchor="ctr">
                    <a:solidFill>
                      <a:srgbClr val="EAF2FD"/>
                    </a:solidFill>
                  </a:tcPr>
                </a:tc>
              </a:tr>
            </a:tbl>
          </a:graphicData>
        </a:graphic>
      </p:graphicFrame>
      <p:sp>
        <p:nvSpPr>
          <p:cNvPr id="10" name="Cautela">
            <a:extLst xmlns:a="http://schemas.openxmlformats.org/drawingml/2006/main">
              <a:ext uri="{FF2B5EF4-FFF2-40B4-BE49-F238E27FC236}">
                <a16:creationId xmlns:a16="http://schemas.microsoft.com/office/drawing/2014/main" id="{BA4D6352-1347-4479-88B6-39BE5A65CB46}"/>
              </a:ext>
            </a:extLst>
          </p:cNvPr>
          <p:cNvSpPr>
            <a:spLocks xmlns:a="http://schemas.openxmlformats.org/drawingml/2006/main" noGrp="1"/>
          </p:cNvSpPr>
          <p:nvPr/>
        </p:nvSpPr>
        <p:spPr>
          <a:xfrm xmlns:a="http://schemas.openxmlformats.org/drawingml/2006/main">
            <a:off x="552450" y="4286250"/>
            <a:ext cx="8039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63">
                <a:solidFill>
                  <a:srgbClr val="17375D"/>
                </a:solidFill>
                <a:latin typeface="Calibri"/>
                <a:ea typeface="Calibri"/>
                <a:cs typeface="Calibri"/>
              </a:defRPr>
            </a:pPr>
            <a:r>
              <a:rPr sz="1163">
                <a:solidFill>
                  <a:srgbClr val="17375D"/>
                </a:solidFill>
                <a:latin typeface="Calibri"/>
                <a:ea typeface="Calibri"/>
                <a:cs typeface="Calibri"/>
              </a:rPr>
              <a:t>Conteos de inventario: filas, píxeles y marcas temporales no son unidades intercambiables.</a:t>
            </a:r>
          </a:p>
          <a:p xmlns:a="http://schemas.openxmlformats.org/drawingml/2006/main">
            <a:pPr>
              <a:buNone/>
              <a:defRPr sz="1163">
                <a:solidFill>
                  <a:srgbClr val="17375D"/>
                </a:solidFill>
                <a:latin typeface="Calibri"/>
                <a:ea typeface="Calibri"/>
                <a:cs typeface="Calibri"/>
              </a:defRPr>
            </a:pPr>
            <a:r>
              <a:rPr sz="1163">
                <a:solidFill>
                  <a:srgbClr val="17375D"/>
                </a:solidFill>
                <a:latin typeface="Calibri"/>
                <a:ea typeface="Calibri"/>
                <a:cs typeface="Calibri"/>
              </a:rPr>
              <a:t>La pérdida al unir fuentes aún debe medirse sobre el panel armonizado final.</a:t>
            </a:r>
          </a:p>
        </p:txBody>
      </p:sp>
      <p:sp>
        <p:nvSpPr>
          <p:cNvPr id="11" name="Fuente y alcance">
            <a:extLst xmlns:a="http://schemas.openxmlformats.org/drawingml/2006/main">
              <a:ext uri="{FF2B5EF4-FFF2-40B4-BE49-F238E27FC236}">
                <a16:creationId xmlns:a16="http://schemas.microsoft.com/office/drawing/2014/main" id="{F65949A2-8F69-490F-86FF-DDEB2767909C}"/>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Fuente: logs/control_preparacion_modelado_20260915.json y docs/PREPARACION_MODELADO.md. No representa el cierre de septiembre.</a:t>
            </a:r>
          </a:p>
        </p:txBody>
      </p:sp>
    </p:spTree>
    <p:extLst>
      <p:ext uri="{BB962C8B-B14F-4D97-AF65-F5344CB8AC3E}">
        <p14:creationId xmlns:p14="http://schemas.microsoft.com/office/powerpoint/2010/main" val="3227572768"/>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Descriptivos: la disponibilidad difiere por contaminante</a:t>
            </a:r>
          </a:p>
        </p:txBody>
      </p:sp>
      <p:sp>
        <p:nvSpPr>
          <p:cNvPr id="8" name="Cifras">
            <a:extLst xmlns:a="http://schemas.openxmlformats.org/drawingml/2006/main">
              <a:ext uri="{FF2B5EF4-FFF2-40B4-BE49-F238E27FC236}">
                <a16:creationId xmlns:a16="http://schemas.microsoft.com/office/drawing/2014/main" id="{8229DC8C-C5A4-4017-8AAA-283EF4965C79}"/>
              </a:ext>
            </a:extLst>
          </p:cNvPr>
          <p:cNvSpPr>
            <a:spLocks xmlns:a="http://schemas.openxmlformats.org/drawingml/2006/main" noGrp="1"/>
          </p:cNvSpPr>
          <p:nvPr/>
        </p:nvSpPr>
        <p:spPr>
          <a:xfrm xmlns:a="http://schemas.openxmlformats.org/drawingml/2006/main">
            <a:off x="552450" y="1209675"/>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17375D"/>
                </a:solidFill>
                <a:latin typeface="Calibri"/>
                <a:ea typeface="Calibri"/>
                <a:cs typeface="Calibri"/>
              </a:defRPr>
            </a:pPr>
            <a:r>
              <a:rPr sz="1875" b="1">
                <a:solidFill>
                  <a:srgbClr val="17375D"/>
                </a:solidFill>
                <a:latin typeface="Calibri"/>
                <a:ea typeface="Calibri"/>
                <a:cs typeface="Calibri"/>
              </a:rPr>
              <a:t>107 estaciones únicas · 403 series estación–contaminante</a:t>
            </a:r>
          </a:p>
        </p:txBody>
      </p:sp>
      <p:graphicFrame>
        <p:nvGraphicFramePr>
          <p:cNvPr id="19" name="Chart"/>
          <p:cNvGraphicFramePr/>
          <p:nvPr/>
        </p:nvGraphicFramePr>
        <p:xfrm>
          <a:off xmlns:a="http://schemas.openxmlformats.org/drawingml/2006/main" x="600075" y="1638300"/>
          <a:ext xmlns:a="http://schemas.openxmlformats.org/drawingml/2006/main" cx="7820025" cy="2724150"/>
        </p:xfrm>
        <a:graphic xmlns:a="http://schemas.openxmlformats.org/drawingml/2006/main">
          <a:graphicData uri="http://schemas.openxmlformats.org/drawingml/2006/chart">
            <c:chart xmlns:r="http://schemas.openxmlformats.org/officeDocument/2006/relationships" xmlns:c="http://schemas.openxmlformats.org/drawingml/2006/chart" r:id="R4e6300374c4748c7"/>
          </a:graphicData>
        </a:graphic>
      </p:graphicFrame>
      <p:sp>
        <p:nvSpPr>
          <p:cNvPr id="10" name="Interpretación">
            <a:extLst xmlns:a="http://schemas.openxmlformats.org/drawingml/2006/main">
              <a:ext uri="{FF2B5EF4-FFF2-40B4-BE49-F238E27FC236}">
                <a16:creationId xmlns:a16="http://schemas.microsoft.com/office/drawing/2014/main" id="{55F17CAA-E628-4B02-97BA-DF173C685421}"/>
              </a:ext>
            </a:extLst>
          </p:cNvPr>
          <p:cNvSpPr>
            <a:spLocks xmlns:a="http://schemas.openxmlformats.org/drawingml/2006/main" noGrp="1"/>
          </p:cNvSpPr>
          <p:nvPr/>
        </p:nvSpPr>
        <p:spPr>
          <a:xfrm xmlns:a="http://schemas.openxmlformats.org/drawingml/2006/main">
            <a:off x="552450" y="4352925"/>
            <a:ext cx="803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7375D"/>
                </a:solidFill>
                <a:latin typeface="Calibri"/>
                <a:ea typeface="Calibri"/>
                <a:cs typeface="Calibri"/>
              </a:defRPr>
            </a:pPr>
            <a:r>
              <a:rPr sz="1200">
                <a:solidFill>
                  <a:srgbClr val="17375D"/>
                </a:solidFill>
                <a:latin typeface="Calibri"/>
                <a:ea typeface="Calibri"/>
                <a:cs typeface="Calibri"/>
              </a:rPr>
              <a:t>Una estación puede aportar varios contaminantes. Estos conteos no equivalen al porcentaje del territorio cubierto.</a:t>
            </a:r>
          </a:p>
        </p:txBody>
      </p:sp>
      <p:sp>
        <p:nvSpPr>
          <p:cNvPr id="11" name="Fuente y alcance">
            <a:extLst xmlns:a="http://schemas.openxmlformats.org/drawingml/2006/main">
              <a:ext uri="{FF2B5EF4-FFF2-40B4-BE49-F238E27FC236}">
                <a16:creationId xmlns:a16="http://schemas.microsoft.com/office/drawing/2014/main" id="{CB0F4828-C7BB-4BEB-91C0-8646FE713F39}"/>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Fuente: inventario auditado SINCA, 15-sep-2026. Series contabilizadas en el alcance seleccionado.</a:t>
            </a:r>
          </a:p>
        </p:txBody>
      </p:sp>
    </p:spTree>
    <p:extLst>
      <p:ext uri="{BB962C8B-B14F-4D97-AF65-F5344CB8AC3E}">
        <p14:creationId xmlns:p14="http://schemas.microsoft.com/office/powerpoint/2010/main" val="3227572768"/>
      </p:ext>
    </p:extLst>
  </p:cSld>
</p:sld>
</file>

<file path=ppt/slides/slide8.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Descriptivos: registros SINCA sin medición</a:t>
            </a:r>
          </a:p>
        </p:txBody>
      </p:sp>
      <p:sp>
        <p:nvSpPr>
          <p:cNvPr id="8" name="Denominador">
            <a:extLst xmlns:a="http://schemas.openxmlformats.org/drawingml/2006/main">
              <a:ext uri="{FF2B5EF4-FFF2-40B4-BE49-F238E27FC236}">
                <a16:creationId xmlns:a16="http://schemas.microsoft.com/office/drawing/2014/main" id="{D4DC9827-39C2-4761-ACA2-011E04662E8E}"/>
              </a:ext>
            </a:extLst>
          </p:cNvPr>
          <p:cNvSpPr>
            <a:spLocks xmlns:a="http://schemas.openxmlformats.org/drawingml/2006/main" noGrp="1"/>
          </p:cNvSpPr>
          <p:nvPr/>
        </p:nvSpPr>
        <p:spPr>
          <a:xfrm xmlns:a="http://schemas.openxmlformats.org/drawingml/2006/main">
            <a:off x="552450" y="1200150"/>
            <a:ext cx="8039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17375D"/>
                </a:solidFill>
                <a:latin typeface="Calibri"/>
                <a:ea typeface="Calibri"/>
                <a:cs typeface="Calibri"/>
              </a:defRPr>
            </a:pPr>
            <a:r>
              <a:rPr sz="1650" b="1">
                <a:solidFill>
                  <a:srgbClr val="17375D"/>
                </a:solidFill>
                <a:latin typeface="Calibri"/>
                <a:ea typeface="Calibri"/>
                <a:cs typeface="Calibri"/>
              </a:rPr>
              <a:t>94.311.869 filas seleccionadas · 42.708.344 con medición (45,28%)</a:t>
            </a:r>
          </a:p>
        </p:txBody>
      </p:sp>
      <p:graphicFrame>
        <p:nvGraphicFramePr>
          <p:cNvPr id="19" name="Chart"/>
          <p:cNvGraphicFramePr/>
          <p:nvPr/>
        </p:nvGraphicFramePr>
        <p:xfrm>
          <a:off xmlns:a="http://schemas.openxmlformats.org/drawingml/2006/main" x="600075" y="1666875"/>
          <a:ext xmlns:a="http://schemas.openxmlformats.org/drawingml/2006/main" cx="7820025" cy="2590800"/>
        </p:xfrm>
        <a:graphic xmlns:a="http://schemas.openxmlformats.org/drawingml/2006/main">
          <a:graphicData uri="http://schemas.openxmlformats.org/drawingml/2006/chart">
            <c:chart xmlns:r="http://schemas.openxmlformats.org/officeDocument/2006/relationships" xmlns:c="http://schemas.openxmlformats.org/drawingml/2006/chart" r:id="Re05de673e1a24935"/>
          </a:graphicData>
        </a:graphic>
      </p:graphicFrame>
      <p:sp>
        <p:nvSpPr>
          <p:cNvPr id="10" name="Cautela">
            <a:extLst xmlns:a="http://schemas.openxmlformats.org/drawingml/2006/main">
              <a:ext uri="{FF2B5EF4-FFF2-40B4-BE49-F238E27FC236}">
                <a16:creationId xmlns:a16="http://schemas.microsoft.com/office/drawing/2014/main" id="{461CE665-410F-4170-B7BC-46A1A15AA257}"/>
              </a:ext>
            </a:extLst>
          </p:cNvPr>
          <p:cNvSpPr>
            <a:spLocks xmlns:a="http://schemas.openxmlformats.org/drawingml/2006/main" noGrp="1"/>
          </p:cNvSpPr>
          <p:nvPr/>
        </p:nvSpPr>
        <p:spPr>
          <a:xfrm xmlns:a="http://schemas.openxmlformats.org/drawingml/2006/main">
            <a:off x="552450" y="4333875"/>
            <a:ext cx="8039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spcBef>
                <a:spcPts val="0"/>
              </a:spcBef>
              <a:spcAft>
                <a:spcPts val="0"/>
              </a:spcAft>
              <a:defRPr sz="1200" b="0">
                <a:solidFill>
                  <a:srgbClr val="17375D"/>
                </a:solidFill>
                <a:latin typeface="Calibri"/>
                <a:ea typeface="Calibri"/>
                <a:cs typeface="Calibri"/>
              </a:defRPr>
            </a:pPr>
            <a:r>
              <a:rPr sz="1200" b="0">
                <a:solidFill>
                  <a:srgbClr val="17375D"/>
                </a:solidFill>
                <a:latin typeface="Calibri"/>
                <a:ea typeface="Calibri"/>
                <a:cs typeface="Calibri"/>
              </a:rPr>
              <a:t>Las figuras del HTML usan filtros propios. El reloj y las unidades aún deben confirmarse por serie.</a:t>
            </a:r>
          </a:p>
        </p:txBody>
      </p:sp>
      <p:sp>
        <p:nvSpPr>
          <p:cNvPr id="11" name="Fuente y alcance">
            <a:extLst xmlns:a="http://schemas.openxmlformats.org/drawingml/2006/main">
              <a:ext uri="{FF2B5EF4-FFF2-40B4-BE49-F238E27FC236}">
                <a16:creationId xmlns:a16="http://schemas.microsoft.com/office/drawing/2014/main" id="{5CC8B3C4-48E5-44A8-AAA2-71C8C2ABA65C}"/>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Corte SINCA, 15-sep-2026 · 403 series del inventario; no faltancia territorial. Denominador: 94.311.869; redondeo: 100,01%.</a:t>
            </a:r>
          </a:p>
        </p:txBody>
      </p:sp>
    </p:spTree>
    <p:extLst>
      <p:ext uri="{BB962C8B-B14F-4D97-AF65-F5344CB8AC3E}">
        <p14:creationId xmlns:p14="http://schemas.microsoft.com/office/powerpoint/2010/main" val="3227572768"/>
      </p:ext>
    </p:extLst>
  </p:cSld>
</p:sld>
</file>

<file path=ppt/slides/slide9.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PM₂.₅: concentración observada en las estaciones</a:t>
            </a:r>
          </a:p>
        </p:txBody>
      </p:sp>
      <p:sp>
        <p:nvSpPr>
          <p:cNvPr id="8" name="Periodo">
            <a:extLst xmlns:a="http://schemas.openxmlformats.org/drawingml/2006/main">
              <a:ext uri="{FF2B5EF4-FFF2-40B4-BE49-F238E27FC236}">
                <a16:creationId xmlns:a16="http://schemas.microsoft.com/office/drawing/2014/main" id="{C3BE8E15-1C36-474B-AD31-A03C4DEE62F6}"/>
              </a:ext>
            </a:extLst>
          </p:cNvPr>
          <p:cNvSpPr>
            <a:spLocks xmlns:a="http://schemas.openxmlformats.org/drawingml/2006/main" noGrp="1"/>
          </p:cNvSpPr>
          <p:nvPr/>
        </p:nvSpPr>
        <p:spPr>
          <a:xfrm xmlns:a="http://schemas.openxmlformats.org/drawingml/2006/main">
            <a:off x="552450" y="1143000"/>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75D"/>
                </a:solidFill>
                <a:latin typeface="Calibri"/>
                <a:ea typeface="Calibri"/>
                <a:cs typeface="Calibri"/>
              </a:defRPr>
            </a:pPr>
            <a:r>
              <a:rPr sz="1575" b="1">
                <a:solidFill>
                  <a:srgbClr val="17375D"/>
                </a:solidFill>
                <a:latin typeface="Calibri"/>
                <a:ea typeface="Calibri"/>
                <a:cs typeface="Calibri"/>
              </a:rPr>
              <a:t>2024–13 sep 2026 · período parcial</a:t>
            </a:r>
          </a:p>
        </p:txBody>
      </p:sp>
      <p:sp>
        <p:nvSpPr>
          <p:cNvPr id="9" name="Nacional">
            <a:extLst xmlns:a="http://schemas.openxmlformats.org/drawingml/2006/main">
              <a:ext uri="{FF2B5EF4-FFF2-40B4-BE49-F238E27FC236}">
                <a16:creationId xmlns:a16="http://schemas.microsoft.com/office/drawing/2014/main" id="{F2AFDAEA-8D02-4DB5-95CE-47BFC59F6321}"/>
              </a:ext>
            </a:extLst>
          </p:cNvPr>
          <p:cNvSpPr>
            <a:spLocks xmlns:a="http://schemas.openxmlformats.org/drawingml/2006/main" noGrp="1"/>
          </p:cNvSpPr>
          <p:nvPr/>
        </p:nvSpPr>
        <p:spPr>
          <a:xfrm xmlns:a="http://schemas.openxmlformats.org/drawingml/2006/main">
            <a:off x="561975" y="1514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7375D"/>
                </a:solidFill>
                <a:latin typeface="Calibri"/>
                <a:ea typeface="Calibri"/>
                <a:cs typeface="Calibri"/>
              </a:defRPr>
            </a:pPr>
            <a:r>
              <a:rPr sz="1425" b="1">
                <a:solidFill>
                  <a:srgbClr val="17375D"/>
                </a:solidFill>
                <a:latin typeface="Calibri"/>
                <a:ea typeface="Calibri"/>
                <a:cs typeface="Calibri"/>
              </a:rPr>
              <a:t>Chile continental</a:t>
            </a:r>
          </a:p>
        </p:txBody>
      </p:sp>
      <p:sp>
        <p:nvSpPr>
          <p:cNvPr id="10" name="Centro">
            <a:extLst xmlns:a="http://schemas.openxmlformats.org/drawingml/2006/main">
              <a:ext uri="{FF2B5EF4-FFF2-40B4-BE49-F238E27FC236}">
                <a16:creationId xmlns:a16="http://schemas.microsoft.com/office/drawing/2014/main" id="{F907E0F4-7DDE-4C51-B47E-865392B57092}"/>
              </a:ext>
            </a:extLst>
          </p:cNvPr>
          <p:cNvSpPr>
            <a:spLocks xmlns:a="http://schemas.openxmlformats.org/drawingml/2006/main" noGrp="1"/>
          </p:cNvSpPr>
          <p:nvPr/>
        </p:nvSpPr>
        <p:spPr>
          <a:xfrm xmlns:a="http://schemas.openxmlformats.org/drawingml/2006/main">
            <a:off x="3000375" y="15144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7375D"/>
                </a:solidFill>
                <a:latin typeface="Calibri"/>
                <a:ea typeface="Calibri"/>
                <a:cs typeface="Calibri"/>
              </a:defRPr>
            </a:pPr>
            <a:r>
              <a:rPr sz="1425" b="1">
                <a:solidFill>
                  <a:srgbClr val="17375D"/>
                </a:solidFill>
                <a:latin typeface="Calibri"/>
                <a:ea typeface="Calibri"/>
                <a:cs typeface="Calibri"/>
              </a:rPr>
              <a:t>Detalle de la zona central</a:t>
            </a:r>
          </a:p>
        </p:txBody>
      </p:sp>
      <p:pic>
        <p:nvPicPr>
          <p:cNvPr id="26" name="pm25_desc_mapa_cuatrienios_nacional.png" descr="PM₂.₅ observado en Chile continental, panel 2024–2026, 97 estaciones. Recorte del mapa descriptivo original del HTML."/>
          <p:cNvPicPr>
            <a:picLocks xmlns:a="http://schemas.openxmlformats.org/drawingml/2006/main" noChangeAspect="1"/>
          </p:cNvPicPr>
          <p:nvPr/>
        </p:nvPicPr>
        <p:blipFill>
          <a:blip xmlns:r="http://schemas.openxmlformats.org/officeDocument/2006/relationships" xmlns:a="http://schemas.openxmlformats.org/drawingml/2006/main" r:embed="R76226d7cc4944f4e"/>
          <a:srcRect xmlns:a="http://schemas.openxmlformats.org/drawingml/2006/main" l="71931" t="12457" r="16658" b="1365"/>
          <a:stretch xmlns:a="http://schemas.openxmlformats.org/drawingml/2006/main">
            <a:fillRect l="0" t="0" r="0" b="0"/>
          </a:stretch>
        </p:blipFill>
        <p:spPr>
          <a:xfrm xmlns:a="http://schemas.openxmlformats.org/drawingml/2006/main">
            <a:off x="1193322" y="1847850"/>
            <a:ext cx="585156" cy="2638425"/>
          </a:xfrm>
          <a:prstGeom xmlns:a="http://schemas.openxmlformats.org/drawingml/2006/main" prst="rect">
            <a:avLst/>
          </a:prstGeom>
        </p:spPr>
      </p:pic>
      <p:pic>
        <p:nvPicPr>
          <p:cNvPr id="27" name="pm25_desc_mapa_cuatrienios_centro.png" descr="PM₂.₅ observado en Valparaíso, Metropolitana y O'Higgins, panel 2024–2026. Recorte original sin recalcular valores."/>
          <p:cNvPicPr>
            <a:picLocks xmlns:a="http://schemas.openxmlformats.org/drawingml/2006/main" noChangeAspect="1"/>
          </p:cNvPicPr>
          <p:nvPr/>
        </p:nvPicPr>
        <p:blipFill>
          <a:blip xmlns:r="http://schemas.openxmlformats.org/officeDocument/2006/relationships" xmlns:a="http://schemas.openxmlformats.org/drawingml/2006/main" r:embed="R733f633256eb4515"/>
          <a:srcRect xmlns:a="http://schemas.openxmlformats.org/drawingml/2006/main" l="73258" t="23459" r="14917" b="1789"/>
          <a:stretch xmlns:a="http://schemas.openxmlformats.org/drawingml/2006/main">
            <a:fillRect l="0" t="0" r="0" b="0"/>
          </a:stretch>
        </p:blipFill>
        <p:spPr>
          <a:xfrm xmlns:a="http://schemas.openxmlformats.org/drawingml/2006/main">
            <a:off x="3307341" y="1847850"/>
            <a:ext cx="1691118" cy="2638425"/>
          </a:xfrm>
          <a:prstGeom xmlns:a="http://schemas.openxmlformats.org/drawingml/2006/main" prst="rect">
            <a:avLst/>
          </a:prstGeom>
        </p:spPr>
      </p:pic>
      <p:pic>
        <p:nvPicPr>
          <p:cNvPr id="28" name="pm25_desc_mapa_cuatrienios_centro.png" descr="Escala de concentración observada de PM₂.₅ en µg/m³, idéntica al mapa original."/>
          <p:cNvPicPr>
            <a:picLocks xmlns:a="http://schemas.openxmlformats.org/drawingml/2006/main" noChangeAspect="1"/>
          </p:cNvPicPr>
          <p:nvPr/>
        </p:nvPicPr>
        <p:blipFill>
          <a:blip xmlns:r="http://schemas.openxmlformats.org/officeDocument/2006/relationships" xmlns:a="http://schemas.openxmlformats.org/drawingml/2006/main" r:embed="R7ff9040db92e473b"/>
          <a:srcRect xmlns:a="http://schemas.openxmlformats.org/drawingml/2006/main" l="95142" t="28429" r="0" b="12922"/>
          <a:stretch xmlns:a="http://schemas.openxmlformats.org/drawingml/2006/main">
            <a:fillRect l="0" t="0" r="0" b="0"/>
          </a:stretch>
        </p:blipFill>
        <p:spPr>
          <a:xfrm xmlns:a="http://schemas.openxmlformats.org/drawingml/2006/main">
            <a:off x="5501301" y="1905000"/>
            <a:ext cx="760773" cy="2266950"/>
          </a:xfrm>
          <a:prstGeom xmlns:a="http://schemas.openxmlformats.org/drawingml/2006/main" prst="rect">
            <a:avLst/>
          </a:prstGeom>
        </p:spPr>
      </p:pic>
      <p:sp>
        <p:nvSpPr>
          <p:cNvPr id="14" name="Lectura1">
            <a:extLst xmlns:a="http://schemas.openxmlformats.org/drawingml/2006/main">
              <a:ext uri="{FF2B5EF4-FFF2-40B4-BE49-F238E27FC236}">
                <a16:creationId xmlns:a16="http://schemas.microsoft.com/office/drawing/2014/main" id="{E77AFD83-C843-4AD4-8FBC-F9BE5BEE31D5}"/>
              </a:ext>
            </a:extLst>
          </p:cNvPr>
          <p:cNvSpPr>
            <a:spLocks xmlns:a="http://schemas.openxmlformats.org/drawingml/2006/main" noGrp="1"/>
          </p:cNvSpPr>
          <p:nvPr/>
        </p:nvSpPr>
        <p:spPr>
          <a:xfrm xmlns:a="http://schemas.openxmlformats.org/drawingml/2006/main">
            <a:off x="6629400" y="1924050"/>
            <a:ext cx="184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75D"/>
                </a:solidFill>
                <a:latin typeface="Calibri"/>
                <a:ea typeface="Calibri"/>
                <a:cs typeface="Calibri"/>
              </a:defRPr>
            </a:pPr>
            <a:r>
              <a:rPr sz="1725" b="1">
                <a:solidFill>
                  <a:srgbClr val="17375D"/>
                </a:solidFill>
                <a:latin typeface="Calibri"/>
                <a:ea typeface="Calibri"/>
                <a:cs typeface="Calibri"/>
              </a:rPr>
              <a:t>97 estaciones</a:t>
            </a:r>
          </a:p>
          <a:p xmlns:a="http://schemas.openxmlformats.org/drawingml/2006/main">
            <a:pPr algn="l">
              <a:defRPr sz="1725" b="1">
                <a:solidFill>
                  <a:srgbClr val="17375D"/>
                </a:solidFill>
                <a:latin typeface="Calibri"/>
                <a:ea typeface="Calibri"/>
                <a:cs typeface="Calibri"/>
              </a:defRPr>
            </a:pPr>
            <a:r>
              <a:rPr sz="1725" b="1">
                <a:solidFill>
                  <a:srgbClr val="17375D"/>
                </a:solidFill>
                <a:latin typeface="Calibri"/>
                <a:ea typeface="Calibri"/>
                <a:cs typeface="Calibri"/>
              </a:rPr>
              <a:t>en la vista nacional</a:t>
            </a:r>
          </a:p>
        </p:txBody>
      </p:sp>
      <p:sp>
        <p:nvSpPr>
          <p:cNvPr id="15" name="Lectura2">
            <a:extLst xmlns:a="http://schemas.openxmlformats.org/drawingml/2006/main">
              <a:ext uri="{FF2B5EF4-FFF2-40B4-BE49-F238E27FC236}">
                <a16:creationId xmlns:a16="http://schemas.microsoft.com/office/drawing/2014/main" id="{BB02B59F-B262-449E-B161-A1C10A356487}"/>
              </a:ext>
            </a:extLst>
          </p:cNvPr>
          <p:cNvSpPr>
            <a:spLocks xmlns:a="http://schemas.openxmlformats.org/drawingml/2006/main" noGrp="1"/>
          </p:cNvSpPr>
          <p:nvPr/>
        </p:nvSpPr>
        <p:spPr>
          <a:xfrm xmlns:a="http://schemas.openxmlformats.org/drawingml/2006/main">
            <a:off x="6629400" y="2695575"/>
            <a:ext cx="19145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Cada punto representa</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una estación.</a:t>
            </a:r>
          </a:p>
          <a:p xmlns:a="http://schemas.openxmlformats.org/drawingml/2006/main">
            <a:r>
              <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El color muestra su</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concentración media</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observada (µg/m³).</a:t>
            </a:r>
          </a:p>
        </p:txBody>
      </p:sp>
      <p:sp>
        <p:nvSpPr>
          <p:cNvPr id="16" name="Lectura3">
            <a:extLst xmlns:a="http://schemas.openxmlformats.org/drawingml/2006/main">
              <a:ext uri="{FF2B5EF4-FFF2-40B4-BE49-F238E27FC236}">
                <a16:creationId xmlns:a16="http://schemas.microsoft.com/office/drawing/2014/main" id="{B5318D9B-4913-4306-BD95-961641EA3725}"/>
              </a:ext>
            </a:extLst>
          </p:cNvPr>
          <p:cNvSpPr>
            <a:spLocks xmlns:a="http://schemas.openxmlformats.org/drawingml/2006/main" noGrp="1"/>
          </p:cNvSpPr>
          <p:nvPr/>
        </p:nvSpPr>
        <p:spPr>
          <a:xfrm xmlns:a="http://schemas.openxmlformats.org/drawingml/2006/main">
            <a:off x="6629400" y="4095750"/>
            <a:ext cx="1933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a:solidFill>
                  <a:srgbClr val="17375D"/>
                </a:solidFill>
                <a:latin typeface="Calibri"/>
                <a:ea typeface="Calibri"/>
                <a:cs typeface="Calibri"/>
              </a:defRPr>
            </a:pPr>
            <a:r>
              <a:rPr sz="1275">
                <a:solidFill>
                  <a:srgbClr val="17375D"/>
                </a:solidFill>
                <a:latin typeface="Calibri"/>
                <a:ea typeface="Calibri"/>
                <a:cs typeface="Calibri"/>
              </a:rPr>
              <a:t>Promedios de estación,</a:t>
            </a:r>
          </a:p>
          <a:p xmlns:a="http://schemas.openxmlformats.org/drawingml/2006/main">
            <a:pPr algn="l">
              <a:defRPr sz="1275">
                <a:solidFill>
                  <a:srgbClr val="17375D"/>
                </a:solidFill>
                <a:latin typeface="Calibri"/>
                <a:ea typeface="Calibri"/>
                <a:cs typeface="Calibri"/>
              </a:defRPr>
            </a:pPr>
            <a:r>
              <a:rPr sz="1275">
                <a:solidFill>
                  <a:srgbClr val="17375D"/>
                </a:solidFill>
                <a:latin typeface="Calibri"/>
                <a:ea typeface="Calibri"/>
                <a:cs typeface="Calibri"/>
              </a:rPr>
              <a:t>sin interpolación espacial.</a:t>
            </a:r>
          </a:p>
        </p:txBody>
      </p:sp>
      <p:sp>
        <p:nvSpPr>
          <p:cNvPr id="17" name="Fuente y alcance">
            <a:extLst xmlns:a="http://schemas.openxmlformats.org/drawingml/2006/main">
              <a:ext uri="{FF2B5EF4-FFF2-40B4-BE49-F238E27FC236}">
                <a16:creationId xmlns:a16="http://schemas.microsoft.com/office/drawing/2014/main" id="{01E65211-FA0A-4A3A-AA2B-D3BDE437C703}"/>
              </a:ext>
            </a:extLst>
          </p:cNvPr>
          <p:cNvSpPr>
            <a:spLocks xmlns:a="http://schemas.openxmlformats.org/drawingml/2006/main" noGrp="1"/>
          </p:cNvSpPr>
          <p:nvPr/>
        </p:nvSpPr>
        <p:spPr>
          <a:xfrm xmlns:a="http://schemas.openxmlformats.org/drawingml/2006/main">
            <a:off x="548640" y="461010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63">
                <a:solidFill>
                  <a:srgbClr val="526277"/>
                </a:solidFill>
                <a:latin typeface="Calibri"/>
                <a:ea typeface="Calibri"/>
                <a:cs typeface="Calibri"/>
              </a:defRPr>
            </a:pPr>
            <a:r>
              <a:rPr sz="863">
                <a:solidFill>
                  <a:srgbClr val="526277"/>
                </a:solidFill>
                <a:latin typeface="Calibri"/>
                <a:ea typeface="Calibri"/>
                <a:cs typeface="Calibri"/>
              </a:rPr>
              <a:t>Fuente: HTML, sección 2, mapas descriptivos de PM₂.₅. Muestra filtrada distinta del inventario. Unidades y reloj sujetos al cierre de controles.</a:t>
            </a:r>
          </a:p>
        </p:txBody>
      </p:sp>
    </p:spTree>
    <p:extLst>
      <p:ext uri="{BB962C8B-B14F-4D97-AF65-F5344CB8AC3E}">
        <p14:creationId xmlns:p14="http://schemas.microsoft.com/office/powerpoint/2010/main" val="3227572768"/>
      </p:ext>
    </p:extLst>
  </p:cSld>
</p:sld>
</file>

<file path=ppt/slides/slide10.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lgn="l">
              <a:spcBef>
                <a:spcPts val="0"/>
              </a:spcBef>
              <a:spcAft>
                <a:spcPts val="0"/>
              </a:spcAft>
              <a:defRPr sz="1900" b="1">
                <a:solidFill>
                  <a:srgbClr val="FFFFFF"/>
                </a:solidFill>
                <a:latin typeface="Calibri"/>
                <a:ea typeface="Calibri"/>
                <a:cs typeface="Calibri"/>
              </a:defRPr>
            </a:pPr>
            <a:r>
              <a:rPr sz="1900" b="1">
                <a:solidFill>
                  <a:srgbClr val="FFFFFF"/>
                </a:solidFill>
                <a:latin typeface="Calibri"/>
                <a:ea typeface="Calibri"/>
                <a:cs typeface="Calibri"/>
              </a:rPr>
              <a:t>NO₂: concentración observada en las estaciones</a:t>
            </a:r>
          </a:p>
        </p:txBody>
      </p:sp>
      <p:sp>
        <p:nvSpPr>
          <p:cNvPr id="8" name="Periodo">
            <a:extLst xmlns:a="http://schemas.openxmlformats.org/drawingml/2006/main">
              <a:ext uri="{FF2B5EF4-FFF2-40B4-BE49-F238E27FC236}">
                <a16:creationId xmlns:a16="http://schemas.microsoft.com/office/drawing/2014/main" id="{0F91F2C7-8EDF-41D4-821F-798F41684684}"/>
              </a:ext>
            </a:extLst>
          </p:cNvPr>
          <p:cNvSpPr>
            <a:spLocks xmlns:a="http://schemas.openxmlformats.org/drawingml/2006/main" noGrp="1"/>
          </p:cNvSpPr>
          <p:nvPr/>
        </p:nvSpPr>
        <p:spPr>
          <a:xfrm xmlns:a="http://schemas.openxmlformats.org/drawingml/2006/main">
            <a:off x="552450" y="1143000"/>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7375D"/>
                </a:solidFill>
                <a:latin typeface="Calibri"/>
                <a:ea typeface="Calibri"/>
                <a:cs typeface="Calibri"/>
              </a:defRPr>
            </a:pPr>
            <a:r>
              <a:rPr sz="1575" b="1">
                <a:solidFill>
                  <a:srgbClr val="17375D"/>
                </a:solidFill>
                <a:latin typeface="Calibri"/>
                <a:ea typeface="Calibri"/>
                <a:cs typeface="Calibri"/>
              </a:rPr>
              <a:t>2024–13 sep 2026 · período parcial</a:t>
            </a:r>
          </a:p>
        </p:txBody>
      </p:sp>
      <p:sp>
        <p:nvSpPr>
          <p:cNvPr id="9" name="Nacional">
            <a:extLst xmlns:a="http://schemas.openxmlformats.org/drawingml/2006/main">
              <a:ext uri="{FF2B5EF4-FFF2-40B4-BE49-F238E27FC236}">
                <a16:creationId xmlns:a16="http://schemas.microsoft.com/office/drawing/2014/main" id="{FABACD71-078A-4C65-95F1-5482B9311591}"/>
              </a:ext>
            </a:extLst>
          </p:cNvPr>
          <p:cNvSpPr>
            <a:spLocks xmlns:a="http://schemas.openxmlformats.org/drawingml/2006/main" noGrp="1"/>
          </p:cNvSpPr>
          <p:nvPr/>
        </p:nvSpPr>
        <p:spPr>
          <a:xfrm xmlns:a="http://schemas.openxmlformats.org/drawingml/2006/main">
            <a:off x="561975" y="1514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7375D"/>
                </a:solidFill>
                <a:latin typeface="Calibri"/>
                <a:ea typeface="Calibri"/>
                <a:cs typeface="Calibri"/>
              </a:defRPr>
            </a:pPr>
            <a:r>
              <a:rPr sz="1425" b="1">
                <a:solidFill>
                  <a:srgbClr val="17375D"/>
                </a:solidFill>
                <a:latin typeface="Calibri"/>
                <a:ea typeface="Calibri"/>
                <a:cs typeface="Calibri"/>
              </a:rPr>
              <a:t>Chile continental</a:t>
            </a:r>
          </a:p>
        </p:txBody>
      </p:sp>
      <p:sp>
        <p:nvSpPr>
          <p:cNvPr id="10" name="Centro">
            <a:extLst xmlns:a="http://schemas.openxmlformats.org/drawingml/2006/main">
              <a:ext uri="{FF2B5EF4-FFF2-40B4-BE49-F238E27FC236}">
                <a16:creationId xmlns:a16="http://schemas.microsoft.com/office/drawing/2014/main" id="{DEF4FF34-384D-4610-951B-D01B01C00739}"/>
              </a:ext>
            </a:extLst>
          </p:cNvPr>
          <p:cNvSpPr>
            <a:spLocks xmlns:a="http://schemas.openxmlformats.org/drawingml/2006/main" noGrp="1"/>
          </p:cNvSpPr>
          <p:nvPr/>
        </p:nvSpPr>
        <p:spPr>
          <a:xfrm xmlns:a="http://schemas.openxmlformats.org/drawingml/2006/main">
            <a:off x="3000375" y="15144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7375D"/>
                </a:solidFill>
                <a:latin typeface="Calibri"/>
                <a:ea typeface="Calibri"/>
                <a:cs typeface="Calibri"/>
              </a:defRPr>
            </a:pPr>
            <a:r>
              <a:rPr sz="1425" b="1">
                <a:solidFill>
                  <a:srgbClr val="17375D"/>
                </a:solidFill>
                <a:latin typeface="Calibri"/>
                <a:ea typeface="Calibri"/>
                <a:cs typeface="Calibri"/>
              </a:rPr>
              <a:t>Detalle de la zona central</a:t>
            </a:r>
          </a:p>
        </p:txBody>
      </p:sp>
      <p:pic>
        <p:nvPicPr>
          <p:cNvPr id="26" name="no2_desc_mapa_cuatrienios_nacional.png" descr="NO₂ observado en Chile continental, panel 2024–2026, 41 estaciones. Recorte del mapa descriptivo original del HTML."/>
          <p:cNvPicPr>
            <a:picLocks xmlns:a="http://schemas.openxmlformats.org/drawingml/2006/main" noChangeAspect="1"/>
          </p:cNvPicPr>
          <p:nvPr/>
        </p:nvPicPr>
        <p:blipFill>
          <a:blip xmlns:r="http://schemas.openxmlformats.org/officeDocument/2006/relationships" xmlns:a="http://schemas.openxmlformats.org/drawingml/2006/main" r:embed="R5300de61f6694b93"/>
          <a:srcRect xmlns:a="http://schemas.openxmlformats.org/drawingml/2006/main" l="74376" t="10645" r="13347" b="1006"/>
          <a:stretch xmlns:a="http://schemas.openxmlformats.org/drawingml/2006/main">
            <a:fillRect l="0" t="0" r="0" b="0"/>
          </a:stretch>
        </p:blipFill>
        <p:spPr>
          <a:xfrm xmlns:a="http://schemas.openxmlformats.org/drawingml/2006/main">
            <a:off x="1184258" y="1847850"/>
            <a:ext cx="603283" cy="2638425"/>
          </a:xfrm>
          <a:prstGeom xmlns:a="http://schemas.openxmlformats.org/drawingml/2006/main" prst="rect">
            <a:avLst/>
          </a:prstGeom>
        </p:spPr>
      </p:pic>
      <p:pic>
        <p:nvPicPr>
          <p:cNvPr id="27" name="no2_desc_mapa_cuatrienios_centro.png" descr="NO₂ observado en Valparaíso, Metropolitana y O'Higgins, panel 2024–2026. Recorte original sin recalcular valores."/>
          <p:cNvPicPr>
            <a:picLocks xmlns:a="http://schemas.openxmlformats.org/drawingml/2006/main" noChangeAspect="1"/>
          </p:cNvPicPr>
          <p:nvPr/>
        </p:nvPicPr>
        <p:blipFill>
          <a:blip xmlns:r="http://schemas.openxmlformats.org/officeDocument/2006/relationships" xmlns:a="http://schemas.openxmlformats.org/drawingml/2006/main" r:embed="Rbccdef75395c4563"/>
          <a:srcRect xmlns:a="http://schemas.openxmlformats.org/drawingml/2006/main" l="76055" t="21569" r="11825" b="1765"/>
          <a:stretch xmlns:a="http://schemas.openxmlformats.org/drawingml/2006/main">
            <a:fillRect l="0" t="0" r="0" b="0"/>
          </a:stretch>
        </p:blipFill>
        <p:spPr>
          <a:xfrm xmlns:a="http://schemas.openxmlformats.org/drawingml/2006/main">
            <a:off x="3319536" y="1847850"/>
            <a:ext cx="1666729" cy="2638425"/>
          </a:xfrm>
          <a:prstGeom xmlns:a="http://schemas.openxmlformats.org/drawingml/2006/main" prst="rect">
            <a:avLst/>
          </a:prstGeom>
        </p:spPr>
      </p:pic>
      <p:pic>
        <p:nvPicPr>
          <p:cNvPr id="28" name="no2_desc_mapa_cuatrienios_centro.png" descr="Escala de concentración observada de NO₂ en ppb, idéntica al mapa original."/>
          <p:cNvPicPr>
            <a:picLocks xmlns:a="http://schemas.openxmlformats.org/drawingml/2006/main" noChangeAspect="1"/>
          </p:cNvPicPr>
          <p:nvPr/>
        </p:nvPicPr>
        <p:blipFill>
          <a:blip xmlns:r="http://schemas.openxmlformats.org/officeDocument/2006/relationships" xmlns:a="http://schemas.openxmlformats.org/drawingml/2006/main" r:embed="Rd0694977d3b74954"/>
          <a:srcRect xmlns:a="http://schemas.openxmlformats.org/drawingml/2006/main" l="95142" t="28431" r="0" b="12549"/>
          <a:stretch xmlns:a="http://schemas.openxmlformats.org/drawingml/2006/main">
            <a:fillRect l="0" t="0" r="0" b="0"/>
          </a:stretch>
        </p:blipFill>
        <p:spPr>
          <a:xfrm xmlns:a="http://schemas.openxmlformats.org/drawingml/2006/main">
            <a:off x="5508883" y="1905000"/>
            <a:ext cx="745608" cy="2266950"/>
          </a:xfrm>
          <a:prstGeom xmlns:a="http://schemas.openxmlformats.org/drawingml/2006/main" prst="rect">
            <a:avLst/>
          </a:prstGeom>
        </p:spPr>
      </p:pic>
      <p:sp>
        <p:nvSpPr>
          <p:cNvPr id="14" name="Lectura1">
            <a:extLst xmlns:a="http://schemas.openxmlformats.org/drawingml/2006/main">
              <a:ext uri="{FF2B5EF4-FFF2-40B4-BE49-F238E27FC236}">
                <a16:creationId xmlns:a16="http://schemas.microsoft.com/office/drawing/2014/main" id="{5027565C-4A09-46E6-AC84-E3E047BDC6D5}"/>
              </a:ext>
            </a:extLst>
          </p:cNvPr>
          <p:cNvSpPr>
            <a:spLocks xmlns:a="http://schemas.openxmlformats.org/drawingml/2006/main" noGrp="1"/>
          </p:cNvSpPr>
          <p:nvPr/>
        </p:nvSpPr>
        <p:spPr>
          <a:xfrm xmlns:a="http://schemas.openxmlformats.org/drawingml/2006/main">
            <a:off x="6629400" y="1924050"/>
            <a:ext cx="1847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375D"/>
                </a:solidFill>
                <a:latin typeface="Calibri"/>
                <a:ea typeface="Calibri"/>
                <a:cs typeface="Calibri"/>
              </a:defRPr>
            </a:pPr>
            <a:r>
              <a:rPr sz="1725" b="1">
                <a:solidFill>
                  <a:srgbClr val="17375D"/>
                </a:solidFill>
                <a:latin typeface="Calibri"/>
                <a:ea typeface="Calibri"/>
                <a:cs typeface="Calibri"/>
              </a:rPr>
              <a:t>41 estaciones</a:t>
            </a:r>
          </a:p>
          <a:p xmlns:a="http://schemas.openxmlformats.org/drawingml/2006/main">
            <a:pPr algn="l">
              <a:defRPr sz="1725" b="1">
                <a:solidFill>
                  <a:srgbClr val="17375D"/>
                </a:solidFill>
                <a:latin typeface="Calibri"/>
                <a:ea typeface="Calibri"/>
                <a:cs typeface="Calibri"/>
              </a:defRPr>
            </a:pPr>
            <a:r>
              <a:rPr sz="1725" b="1">
                <a:solidFill>
                  <a:srgbClr val="17375D"/>
                </a:solidFill>
                <a:latin typeface="Calibri"/>
                <a:ea typeface="Calibri"/>
                <a:cs typeface="Calibri"/>
              </a:rPr>
              <a:t>en la vista nacional</a:t>
            </a:r>
          </a:p>
        </p:txBody>
      </p:sp>
      <p:sp>
        <p:nvSpPr>
          <p:cNvPr id="15" name="Lectura2">
            <a:extLst xmlns:a="http://schemas.openxmlformats.org/drawingml/2006/main">
              <a:ext uri="{FF2B5EF4-FFF2-40B4-BE49-F238E27FC236}">
                <a16:creationId xmlns:a16="http://schemas.microsoft.com/office/drawing/2014/main" id="{4FC8A97A-89F2-468C-9DA6-6E41F0A68289}"/>
              </a:ext>
            </a:extLst>
          </p:cNvPr>
          <p:cNvSpPr>
            <a:spLocks xmlns:a="http://schemas.openxmlformats.org/drawingml/2006/main" noGrp="1"/>
          </p:cNvSpPr>
          <p:nvPr/>
        </p:nvSpPr>
        <p:spPr>
          <a:xfrm xmlns:a="http://schemas.openxmlformats.org/drawingml/2006/main">
            <a:off x="6629400" y="2695575"/>
            <a:ext cx="19145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Cada punto representa</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una estación.</a:t>
            </a:r>
          </a:p>
          <a:p xmlns:a="http://schemas.openxmlformats.org/drawingml/2006/main">
            <a:r>
              <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El color muestra su</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concentración media</a:t>
            </a:r>
          </a:p>
          <a:p xmlns:a="http://schemas.openxmlformats.org/drawingml/2006/main">
            <a:pPr algn="l">
              <a:defRPr sz="1425">
                <a:solidFill>
                  <a:srgbClr val="1E293B"/>
                </a:solidFill>
                <a:latin typeface="Calibri"/>
                <a:ea typeface="Calibri"/>
                <a:cs typeface="Calibri"/>
              </a:defRPr>
            </a:pPr>
            <a:r>
              <a:rPr sz="1425">
                <a:solidFill>
                  <a:srgbClr val="1E293B"/>
                </a:solidFill>
                <a:latin typeface="Calibri"/>
                <a:ea typeface="Calibri"/>
                <a:cs typeface="Calibri"/>
              </a:rPr>
              <a:t>observada (ppb).</a:t>
            </a:r>
          </a:p>
        </p:txBody>
      </p:sp>
      <p:sp>
        <p:nvSpPr>
          <p:cNvPr id="16" name="Lectura3">
            <a:extLst xmlns:a="http://schemas.openxmlformats.org/drawingml/2006/main">
              <a:ext uri="{FF2B5EF4-FFF2-40B4-BE49-F238E27FC236}">
                <a16:creationId xmlns:a16="http://schemas.microsoft.com/office/drawing/2014/main" id="{D402188E-D3C9-4E33-84A1-ED61AF03A9B3}"/>
              </a:ext>
            </a:extLst>
          </p:cNvPr>
          <p:cNvSpPr>
            <a:spLocks xmlns:a="http://schemas.openxmlformats.org/drawingml/2006/main" noGrp="1"/>
          </p:cNvSpPr>
          <p:nvPr/>
        </p:nvSpPr>
        <p:spPr>
          <a:xfrm xmlns:a="http://schemas.openxmlformats.org/drawingml/2006/main">
            <a:off x="6629400" y="4095750"/>
            <a:ext cx="1933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a:solidFill>
                  <a:srgbClr val="17375D"/>
                </a:solidFill>
                <a:latin typeface="Calibri"/>
                <a:ea typeface="Calibri"/>
                <a:cs typeface="Calibri"/>
              </a:defRPr>
            </a:pPr>
            <a:r>
              <a:rPr sz="1275">
                <a:solidFill>
                  <a:srgbClr val="17375D"/>
                </a:solidFill>
                <a:latin typeface="Calibri"/>
                <a:ea typeface="Calibri"/>
                <a:cs typeface="Calibri"/>
              </a:rPr>
              <a:t>Promedios de estación,</a:t>
            </a:r>
          </a:p>
          <a:p xmlns:a="http://schemas.openxmlformats.org/drawingml/2006/main">
            <a:pPr algn="l">
              <a:defRPr sz="1275">
                <a:solidFill>
                  <a:srgbClr val="17375D"/>
                </a:solidFill>
                <a:latin typeface="Calibri"/>
                <a:ea typeface="Calibri"/>
                <a:cs typeface="Calibri"/>
              </a:defRPr>
            </a:pPr>
            <a:r>
              <a:rPr sz="1275">
                <a:solidFill>
                  <a:srgbClr val="17375D"/>
                </a:solidFill>
                <a:latin typeface="Calibri"/>
                <a:ea typeface="Calibri"/>
                <a:cs typeface="Calibri"/>
              </a:rPr>
              <a:t>sin interpolación espacial.</a:t>
            </a:r>
          </a:p>
        </p:txBody>
      </p:sp>
      <p:sp>
        <p:nvSpPr>
          <p:cNvPr id="17" name="Fuente y alcance">
            <a:extLst xmlns:a="http://schemas.openxmlformats.org/drawingml/2006/main">
              <a:ext uri="{FF2B5EF4-FFF2-40B4-BE49-F238E27FC236}">
                <a16:creationId xmlns:a16="http://schemas.microsoft.com/office/drawing/2014/main" id="{AB45575E-7902-427F-94BA-2048872DA7F2}"/>
              </a:ext>
            </a:extLst>
          </p:cNvPr>
          <p:cNvSpPr>
            <a:spLocks xmlns:a="http://schemas.openxmlformats.org/drawingml/2006/main" noGrp="1"/>
          </p:cNvSpPr>
          <p:nvPr/>
        </p:nvSpPr>
        <p:spPr>
          <a:xfrm xmlns:a="http://schemas.openxmlformats.org/drawingml/2006/main">
            <a:off x="548640" y="461010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63">
                <a:solidFill>
                  <a:srgbClr val="526277"/>
                </a:solidFill>
                <a:latin typeface="Calibri"/>
                <a:ea typeface="Calibri"/>
                <a:cs typeface="Calibri"/>
              </a:defRPr>
            </a:pPr>
            <a:r>
              <a:rPr sz="863">
                <a:solidFill>
                  <a:srgbClr val="526277"/>
                </a:solidFill>
                <a:latin typeface="Calibri"/>
                <a:ea typeface="Calibri"/>
                <a:cs typeface="Calibri"/>
              </a:rPr>
              <a:t>Fuente: HTML, sección 2, mapas descriptivos de NO₂. Muestra filtrada distinta del inventario. Unidades y reloj sujetos al cierre de controles.</a:t>
            </a:r>
          </a:p>
        </p:txBody>
      </p:sp>
    </p:spTree>
    <p:extLst>
      <p:ext uri="{BB962C8B-B14F-4D97-AF65-F5344CB8AC3E}">
        <p14:creationId xmlns:p14="http://schemas.microsoft.com/office/powerpoint/2010/main" val="3227572768"/>
      </p:ext>
    </p:extLst>
  </p:cSld>
</p:sld>
</file>

<file path=ppt/slides/slide11.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5F8BC7D1-6B2B-4322-898C-9A05FEC3625D}"/>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43AD123-7368-49D0-8B70-353E6E703936}"/>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2AFEA26C-7451-4FB6-BC5B-8D0C7E9FC9F2}"/>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CF06211B-6E42-4F26-B475-F19F308910DF}"/>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BA3E11A9-BEEC-4431-AFAD-994326D4DDD0}"/>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Comparación prevista: qué aporta cada familia</a:t>
            </a:r>
          </a:p>
        </p:txBody>
      </p:sp>
      <p:sp>
        <p:nvSpPr>
          <p:cNvPr id="8" name="Tronco de modelos">
            <a:extLst xmlns:a="http://schemas.openxmlformats.org/drawingml/2006/main">
              <a:ext uri="{FF2B5EF4-FFF2-40B4-BE49-F238E27FC236}">
                <a16:creationId xmlns:a16="http://schemas.microsoft.com/office/drawing/2014/main" id="{6A4680D7-EF0E-4D75-B0FF-4629D1757D12}"/>
              </a:ext>
            </a:extLst>
          </p:cNvPr>
          <p:cNvSpPr>
            <a:spLocks xmlns:a="http://schemas.openxmlformats.org/drawingml/2006/main" noGrp="1"/>
          </p:cNvSpPr>
          <p:nvPr/>
        </p:nvSpPr>
        <p:spPr>
          <a:xfrm xmlns:a="http://schemas.openxmlformats.org/drawingml/2006/main">
            <a:off x="4574286" y="1481328"/>
            <a:ext cx="0" cy="226314"/>
          </a:xfrm>
          <a:prstGeom xmlns:a="http://schemas.openxmlformats.org/drawingml/2006/main" prst="line">
            <a:avLst/>
          </a:prstGeom>
          <a:ln xmlns:a="http://schemas.openxmlformats.org/drawingml/2006/main" w="15240">
            <a:solidFill>
              <a:srgbClr val="3366CC"/>
            </a:solidFill>
            <a:headEnd type="none"/>
            <a:tailEnd type="none"/>
          </a:ln>
        </p:spPr>
      </p:sp>
      <p:sp>
        <p:nvSpPr>
          <p:cNvPr id="9" name="Ramas de familias">
            <a:extLst xmlns:a="http://schemas.openxmlformats.org/drawingml/2006/main">
              <a:ext uri="{FF2B5EF4-FFF2-40B4-BE49-F238E27FC236}">
                <a16:creationId xmlns:a16="http://schemas.microsoft.com/office/drawing/2014/main" id="{3EF5B912-9687-4FDD-A415-DF66190ED77F}"/>
              </a:ext>
            </a:extLst>
          </p:cNvPr>
          <p:cNvSpPr>
            <a:spLocks xmlns:a="http://schemas.openxmlformats.org/drawingml/2006/main" noGrp="1"/>
          </p:cNvSpPr>
          <p:nvPr/>
        </p:nvSpPr>
        <p:spPr>
          <a:xfrm xmlns:a="http://schemas.openxmlformats.org/drawingml/2006/main">
            <a:off x="1796796" y="1707642"/>
            <a:ext cx="5541264" cy="0"/>
          </a:xfrm>
          <a:prstGeom xmlns:a="http://schemas.openxmlformats.org/drawingml/2006/main" prst="line">
            <a:avLst/>
          </a:prstGeom>
          <a:ln xmlns:a="http://schemas.openxmlformats.org/drawingml/2006/main" w="15240">
            <a:solidFill>
              <a:srgbClr val="3366CC"/>
            </a:solidFill>
            <a:headEnd type="none"/>
            <a:tailEnd type="none"/>
          </a:ln>
        </p:spPr>
      </p:sp>
      <p:sp>
        <p:nvSpPr>
          <p:cNvPr id="10" name="Familia 1">
            <a:extLst xmlns:a="http://schemas.openxmlformats.org/drawingml/2006/main">
              <a:ext uri="{FF2B5EF4-FFF2-40B4-BE49-F238E27FC236}">
                <a16:creationId xmlns:a16="http://schemas.microsoft.com/office/drawing/2014/main" id="{74BC9DBE-96C2-4500-8B48-83A69A5977F5}"/>
              </a:ext>
            </a:extLst>
          </p:cNvPr>
          <p:cNvSpPr>
            <a:spLocks xmlns:a="http://schemas.openxmlformats.org/drawingml/2006/main" noGrp="1"/>
          </p:cNvSpPr>
          <p:nvPr/>
        </p:nvSpPr>
        <p:spPr>
          <a:xfrm xmlns:a="http://schemas.openxmlformats.org/drawingml/2006/main">
            <a:off x="1796796"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1" name="Familia 2">
            <a:extLst xmlns:a="http://schemas.openxmlformats.org/drawingml/2006/main">
              <a:ext uri="{FF2B5EF4-FFF2-40B4-BE49-F238E27FC236}">
                <a16:creationId xmlns:a16="http://schemas.microsoft.com/office/drawing/2014/main" id="{DE70ADFB-9566-4614-9494-F6275A1AB0CA}"/>
              </a:ext>
            </a:extLst>
          </p:cNvPr>
          <p:cNvSpPr>
            <a:spLocks xmlns:a="http://schemas.openxmlformats.org/drawingml/2006/main" noGrp="1"/>
          </p:cNvSpPr>
          <p:nvPr/>
        </p:nvSpPr>
        <p:spPr>
          <a:xfrm xmlns:a="http://schemas.openxmlformats.org/drawingml/2006/main">
            <a:off x="4574286"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2" name="Familia 3">
            <a:extLst xmlns:a="http://schemas.openxmlformats.org/drawingml/2006/main">
              <a:ext uri="{FF2B5EF4-FFF2-40B4-BE49-F238E27FC236}">
                <a16:creationId xmlns:a16="http://schemas.microsoft.com/office/drawing/2014/main" id="{A6C1EB58-D50B-4095-BA2B-AB1AE7E4B7DD}"/>
              </a:ext>
            </a:extLst>
          </p:cNvPr>
          <p:cNvSpPr>
            <a:spLocks xmlns:a="http://schemas.openxmlformats.org/drawingml/2006/main" noGrp="1"/>
          </p:cNvSpPr>
          <p:nvPr/>
        </p:nvSpPr>
        <p:spPr>
          <a:xfrm xmlns:a="http://schemas.openxmlformats.org/drawingml/2006/main">
            <a:off x="7338060" y="1707642"/>
            <a:ext cx="0" cy="192024"/>
          </a:xfrm>
          <a:prstGeom xmlns:a="http://schemas.openxmlformats.org/drawingml/2006/main" prst="line">
            <a:avLst/>
          </a:prstGeom>
          <a:ln xmlns:a="http://schemas.openxmlformats.org/drawingml/2006/main" w="15240">
            <a:solidFill>
              <a:srgbClr val="3366CC"/>
            </a:solidFill>
            <a:headEnd type="none"/>
            <a:tailEnd type="triangle"/>
          </a:ln>
        </p:spPr>
      </p:sp>
      <p:sp>
        <p:nvSpPr>
          <p:cNvPr id="13" name="Diez modelos">
            <a:extLst xmlns:a="http://schemas.openxmlformats.org/drawingml/2006/main">
              <a:ext uri="{FF2B5EF4-FFF2-40B4-BE49-F238E27FC236}">
                <a16:creationId xmlns:a16="http://schemas.microsoft.com/office/drawing/2014/main" id="{5B0AF512-1764-4B15-9F34-B773A39C2761}"/>
              </a:ext>
            </a:extLst>
          </p:cNvPr>
          <p:cNvSpPr>
            <a:spLocks xmlns:a="http://schemas.openxmlformats.org/drawingml/2006/main" noGrp="1"/>
          </p:cNvSpPr>
          <p:nvPr/>
        </p:nvSpPr>
        <p:spPr>
          <a:xfrm xmlns:a="http://schemas.openxmlformats.org/drawingml/2006/main">
            <a:off x="3586734" y="1083564"/>
            <a:ext cx="1975104" cy="397764"/>
          </a:xfrm>
          <a:prstGeom xmlns:a="http://schemas.openxmlformats.org/drawingml/2006/main" prst="rect">
            <a:avLst/>
          </a:prstGeom>
          <a:solidFill xmlns:a="http://schemas.openxmlformats.org/drawingml/2006/main">
            <a:srgbClr val="17375D"/>
          </a:solidFill>
          <a:ln xmlns:a="http://schemas.openxmlformats.org/drawingml/2006/main" w="8573">
            <a:noFill/>
          </a:ln>
        </p:spPr>
        <p:txBody>
          <a:bodyPr xmlns:a="http://schemas.openxmlformats.org/drawingml/2006/main" wrap="square" lIns="96012" tIns="96012" rIns="96012" bIns="96012" anchor="ctr">
            <a:noAutofit/>
          </a:bodyPr>
          <a:lstStyle xmlns:a="http://schemas.openxmlformats.org/drawingml/2006/main"/>
          <a:p xmlns:a="http://schemas.openxmlformats.org/drawingml/2006/main">
            <a:pPr algn="ctr">
              <a:spcBef>
                <a:spcPts val="0"/>
              </a:spcBef>
              <a:spcAft>
                <a:spcPts val="0"/>
              </a:spcAft>
              <a:buNone/>
              <a:defRPr sz="1200" b="1">
                <a:solidFill>
                  <a:srgbClr val="FFFFFF"/>
                </a:solidFill>
                <a:latin typeface="Calibri"/>
                <a:ea typeface="Calibri"/>
                <a:cs typeface="Calibri"/>
              </a:defRPr>
            </a:pPr>
            <a:r>
              <a:rPr sz="1200" b="1">
                <a:solidFill>
                  <a:srgbClr val="FFFFFF"/>
                </a:solidFill>
                <a:latin typeface="Calibri"/>
                <a:ea typeface="Calibri"/>
                <a:cs typeface="Calibri"/>
              </a:rPr>
              <a:t>10 ENFOQUES</a:t>
            </a:r>
          </a:p>
          <a:p xmlns:a="http://schemas.openxmlformats.org/drawingml/2006/main">
            <a:pPr algn="ctr">
              <a:spcBef>
                <a:spcPts val="0"/>
              </a:spcBef>
              <a:spcAft>
                <a:spcPts val="0"/>
              </a:spcAft>
              <a:buNone/>
              <a:defRPr sz="1200" b="1">
                <a:solidFill>
                  <a:srgbClr val="FFFFFF"/>
                </a:solidFill>
                <a:latin typeface="Calibri"/>
                <a:ea typeface="Calibri"/>
                <a:cs typeface="Calibri"/>
              </a:defRPr>
            </a:pPr>
            <a:r>
              <a:rPr sz="1200" b="1">
                <a:solidFill>
                  <a:srgbClr val="FFFFFF"/>
                </a:solidFill>
                <a:latin typeface="Calibri"/>
                <a:ea typeface="Calibri"/>
                <a:cs typeface="Calibri"/>
              </a:rPr>
              <a:t>POR CONTAMINANTE</a:t>
            </a:r>
          </a:p>
        </p:txBody>
      </p:sp>
      <p:sp>
        <p:nvSpPr>
          <p:cNvPr id="14" name="Grupo 1">
            <a:extLst xmlns:a="http://schemas.openxmlformats.org/drawingml/2006/main">
              <a:ext uri="{FF2B5EF4-FFF2-40B4-BE49-F238E27FC236}">
                <a16:creationId xmlns:a16="http://schemas.microsoft.com/office/drawing/2014/main" id="{9DB7B8CC-A032-4C17-B113-642C8B400632}"/>
              </a:ext>
            </a:extLst>
          </p:cNvPr>
          <p:cNvSpPr>
            <a:spLocks xmlns:a="http://schemas.openxmlformats.org/drawingml/2006/main" noGrp="1"/>
          </p:cNvSpPr>
          <p:nvPr/>
        </p:nvSpPr>
        <p:spPr>
          <a:xfrm xmlns:a="http://schemas.openxmlformats.org/drawingml/2006/main">
            <a:off x="548640"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Aprendizaje flexible</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1  LightGBM · ajuste log</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2  Random Forest</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3  Red neuronal MLP</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4  Proceso gaussiano Matérn</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relaciones no lineales y flexibilidad local.</a:t>
            </a:r>
          </a:p>
        </p:txBody>
      </p:sp>
      <p:sp>
        <p:nvSpPr>
          <p:cNvPr id="15" name="Grupo 2">
            <a:extLst xmlns:a="http://schemas.openxmlformats.org/drawingml/2006/main">
              <a:ext uri="{FF2B5EF4-FFF2-40B4-BE49-F238E27FC236}">
                <a16:creationId xmlns:a16="http://schemas.microsoft.com/office/drawing/2014/main" id="{40B8A6B3-88D0-4994-A5A5-5B4877341C31}"/>
              </a:ext>
            </a:extLst>
          </p:cNvPr>
          <p:cNvSpPr>
            <a:spLocks xmlns:a="http://schemas.openxmlformats.org/drawingml/2006/main" noGrp="1"/>
          </p:cNvSpPr>
          <p:nvPr/>
        </p:nvSpPr>
        <p:spPr>
          <a:xfrm xmlns:a="http://schemas.openxmlformats.org/drawingml/2006/main">
            <a:off x="3319272"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Estructura espacial y temporal</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5  GWR</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6  Regresión con kriging</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7  Modelo lineal mixto</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8  Interpolación de vecinas</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interpretación espacial y línea base.</a:t>
            </a:r>
          </a:p>
        </p:txBody>
      </p:sp>
      <p:sp>
        <p:nvSpPr>
          <p:cNvPr id="16" name="Grupo 3">
            <a:extLst xmlns:a="http://schemas.openxmlformats.org/drawingml/2006/main">
              <a:ext uri="{FF2B5EF4-FFF2-40B4-BE49-F238E27FC236}">
                <a16:creationId xmlns:a16="http://schemas.microsoft.com/office/drawing/2014/main" id="{6485095E-7B33-420D-8D46-E2051CCCDF1F}"/>
              </a:ext>
            </a:extLst>
          </p:cNvPr>
          <p:cNvSpPr>
            <a:spLocks xmlns:a="http://schemas.openxmlformats.org/drawingml/2006/main" noGrp="1"/>
          </p:cNvSpPr>
          <p:nvPr/>
        </p:nvSpPr>
        <p:spPr>
          <a:xfrm xmlns:a="http://schemas.openxmlformats.org/drawingml/2006/main">
            <a:off x="6089904" y="1899666"/>
            <a:ext cx="2496312" cy="2578608"/>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157734" tIns="157734" rIns="157734" bIns="157734" anchor="t">
            <a:noAutofit/>
          </a:bodyPr>
          <a:lstStyle xmlns:a="http://schemas.openxmlformats.org/drawingml/2006/main"/>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Combinación y alertas</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9  LightGBM de alertas</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Cuantil 0,80 / excedencias</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10  Apilado con ridge</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LightGBM + RF + MLP</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Aporte: extremos y combinación.</a:t>
            </a:r>
          </a:p>
        </p:txBody>
      </p:sp>
      <p:sp>
        <p:nvSpPr>
          <p:cNvPr id="17" name="Fuente y alcance">
            <a:extLst xmlns:a="http://schemas.openxmlformats.org/drawingml/2006/main">
              <a:ext uri="{FF2B5EF4-FFF2-40B4-BE49-F238E27FC236}">
                <a16:creationId xmlns:a16="http://schemas.microsoft.com/office/drawing/2014/main" id="{32A701D4-4E60-4FAE-868F-0B43EBDDFA7E}"/>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Diseño del avance 3. Comparar precisión, sesgo, costo e interpretación; alertas tienen otro objetivo. Apilado anidado aún pendiente.</a:t>
            </a:r>
          </a:p>
        </p:txBody>
      </p:sp>
    </p:spTree>
    <p:extLst>
      <p:ext uri="{BB962C8B-B14F-4D97-AF65-F5344CB8AC3E}">
        <p14:creationId xmlns:p14="http://schemas.microsoft.com/office/powerpoint/2010/main" val="3227572768"/>
      </p:ext>
    </p:extLst>
  </p:cSld>
</p:sld>
</file>

<file path=ppt/slides/slide12.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Validación: cada partición responde una pregunta</a:t>
            </a:r>
          </a:p>
        </p:txBody>
      </p:sp>
      <p:sp>
        <p:nvSpPr>
          <p:cNvPr id="8" name="Diseño">
            <a:extLst xmlns:a="http://schemas.openxmlformats.org/drawingml/2006/main">
              <a:ext uri="{FF2B5EF4-FFF2-40B4-BE49-F238E27FC236}">
                <a16:creationId xmlns:a16="http://schemas.microsoft.com/office/drawing/2014/main" id="{0A7F55D1-A37C-46D3-82B0-52EF8B83AF30}"/>
              </a:ext>
            </a:extLst>
          </p:cNvPr>
          <p:cNvSpPr>
            <a:spLocks xmlns:a="http://schemas.openxmlformats.org/drawingml/2006/main" noGrp="1"/>
          </p:cNvSpPr>
          <p:nvPr/>
        </p:nvSpPr>
        <p:spPr>
          <a:xfrm xmlns:a="http://schemas.openxmlformats.org/drawingml/2006/main">
            <a:off x="552450" y="1200150"/>
            <a:ext cx="8039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17375D"/>
                </a:solidFill>
                <a:latin typeface="Calibri"/>
                <a:ea typeface="Calibri"/>
                <a:cs typeface="Calibri"/>
              </a:defRPr>
            </a:pPr>
            <a:r>
              <a:rPr sz="1650" b="1">
                <a:solidFill>
                  <a:srgbClr val="17375D"/>
                </a:solidFill>
                <a:latin typeface="Calibri"/>
                <a:ea typeface="Calibri"/>
                <a:cs typeface="Calibri"/>
              </a:rPr>
              <a:t>Evaluar con grupos completos reservados, no con filas aleatorias.</a:t>
            </a:r>
          </a:p>
        </p:txBody>
      </p:sp>
      <p:graphicFrame>
        <p:nvGraphicFramePr>
          <p:cNvPr id="19" name=""/>
          <p:cNvGraphicFramePr/>
          <p:nvPr/>
        </p:nvGraphicFramePr>
        <p:xfrm>
          <a:off xmlns:a="http://schemas.openxmlformats.org/drawingml/2006/main" x="548640" y="1657350"/>
          <a:ext xmlns:a="http://schemas.openxmlformats.org/drawingml/2006/main" cx="8046720" cy="2514600"/>
        </p:xfrm>
        <a:graphic xmlns:a="http://schemas.openxmlformats.org/drawingml/2006/main">
          <a:graphicData uri="http://schemas.openxmlformats.org/drawingml/2006/table">
            <a:tbl>
              <a:tblPr firstRow="1" bandRow="0"/>
              <a:tblGrid>
                <a:gridCol w="1524000"/>
                <a:gridCol w="3219450"/>
                <a:gridCol w="3303270"/>
              </a:tblGrid>
              <a:tr h="381000">
                <a:tc>
                  <a:txBody>
                    <a:bodyPr wrap="square" lIns="95250" tIns="76200" rIns="95250" bIns="76200">
                      <a:noAutofit/>
                    </a:bodyPr>
                    <a:lstStyle/>
                    <a:p>
                      <a:r>
                        <a:rPr sz="1275" b="1">
                          <a:solidFill>
                            <a:srgbClr val="FFFFFF"/>
                          </a:solidFill>
                          <a:latin typeface="Calibri"/>
                          <a:ea typeface="Calibri"/>
                          <a:cs typeface="Calibri"/>
                        </a:rPr>
                        <a:t>Protocolo</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Qué se reserva</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Qué se examina</a:t>
                      </a:r>
                    </a:p>
                  </a:txBody>
                  <a:tcPr marL="91440" marR="91440" marT="45720" marB="45720" anchor="ctr">
                    <a:solidFill>
                      <a:srgbClr val="17375D"/>
                    </a:solidFill>
                  </a:tcPr>
                </a:tc>
              </a:tr>
              <a:tr h="533400">
                <a:tc>
                  <a:txBody>
                    <a:bodyPr wrap="square" lIns="95250" tIns="76200" rIns="95250" bIns="76200">
                      <a:noAutofit/>
                    </a:bodyPr>
                    <a:lstStyle/>
                    <a:p>
                      <a:r>
                        <a:rPr sz="1275" b="0">
                          <a:solidFill>
                            <a:srgbClr val="1E293B"/>
                          </a:solidFill>
                          <a:latin typeface="Calibri"/>
                          <a:ea typeface="Calibri"/>
                          <a:cs typeface="Calibri"/>
                        </a:rPr>
                        <a:t>LOSO · sitio</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Todas las estaciones de una misma celda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Transferencia a un sitio no observado</a:t>
                      </a:r>
                    </a:p>
                  </a:txBody>
                  <a:tcPr marL="91440" marR="91440" marT="45720" marB="45720" anchor="ctr">
                    <a:solidFill>
                      <a:srgbClr val="EAF2FD"/>
                    </a:solidFill>
                  </a:tcPr>
                </a:tc>
              </a:tr>
              <a:tr h="533400">
                <a:tc>
                  <a:txBody>
                    <a:bodyPr wrap="square" lIns="95250" tIns="76200" rIns="95250" bIns="76200">
                      <a:noAutofit/>
                    </a:bodyPr>
                    <a:lstStyle/>
                    <a:p>
                      <a:r>
                        <a:rPr sz="1275" b="0">
                          <a:solidFill>
                            <a:srgbClr val="1E293B"/>
                          </a:solidFill>
                          <a:latin typeface="Calibri"/>
                          <a:ea typeface="Calibri"/>
                          <a:cs typeface="Calibri"/>
                        </a:rPr>
                        <a:t>LBO · entorno</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Sitio y estaciones a menos de 10 km</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Sensibilidad a la proximidad de monitores</a:t>
                      </a:r>
                    </a:p>
                  </a:txBody>
                  <a:tcPr marL="91440" marR="91440" marT="45720" marB="45720" anchor="ctr">
                    <a:solidFill>
                      <a:srgbClr val="FFFFFF"/>
                    </a:solidFill>
                  </a:tcPr>
                </a:tc>
              </a:tr>
              <a:tr h="533400">
                <a:tc>
                  <a:txBody>
                    <a:bodyPr wrap="square" lIns="95250" tIns="76200" rIns="95250" bIns="76200">
                      <a:noAutofit/>
                    </a:bodyPr>
                    <a:lstStyle/>
                    <a:p>
                      <a:r>
                        <a:rPr sz="1275" b="0">
                          <a:solidFill>
                            <a:srgbClr val="1E293B"/>
                          </a:solidFill>
                          <a:latin typeface="Calibri"/>
                          <a:ea typeface="Calibri"/>
                          <a:cs typeface="Calibri"/>
                        </a:rPr>
                        <a:t>LRO · región</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Una región completa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Transferencia territorial</a:t>
                      </a:r>
                    </a:p>
                  </a:txBody>
                  <a:tcPr marL="91440" marR="91440" marT="45720" marB="45720" anchor="ctr">
                    <a:solidFill>
                      <a:srgbClr val="EAF2FD"/>
                    </a:solidFill>
                  </a:tcPr>
                </a:tc>
              </a:tr>
              <a:tr h="533400">
                <a:tc>
                  <a:txBody>
                    <a:bodyPr wrap="square" lIns="95250" tIns="76200" rIns="95250" bIns="76200">
                      <a:noAutofit/>
                    </a:bodyPr>
                    <a:lstStyle/>
                    <a:p>
                      <a:r>
                        <a:rPr sz="1275" b="0">
                          <a:solidFill>
                            <a:srgbClr val="1E293B"/>
                          </a:solidFill>
                          <a:latin typeface="Calibri"/>
                          <a:ea typeface="Calibri"/>
                          <a:cs typeface="Calibri"/>
                        </a:rPr>
                        <a:t>LPO · periodo</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Bloques históricos de cuatro años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Transferencia entre periodos históricos</a:t>
                      </a:r>
                    </a:p>
                  </a:txBody>
                  <a:tcPr marL="91440" marR="91440" marT="45720" marB="45720" anchor="ctr">
                    <a:solidFill>
                      <a:srgbClr val="FFFFFF"/>
                    </a:solidFill>
                  </a:tcPr>
                </a:tc>
              </a:tr>
            </a:tbl>
          </a:graphicData>
        </a:graphic>
      </p:graphicFrame>
      <p:sp>
        <p:nvSpPr>
          <p:cNvPr id="10" name="Regla">
            <a:extLst xmlns:a="http://schemas.openxmlformats.org/drawingml/2006/main">
              <a:ext uri="{FF2B5EF4-FFF2-40B4-BE49-F238E27FC236}">
                <a16:creationId xmlns:a16="http://schemas.microsoft.com/office/drawing/2014/main" id="{9D7113E0-7E79-40AD-8B84-B8830C48344D}"/>
              </a:ext>
            </a:extLst>
          </p:cNvPr>
          <p:cNvSpPr>
            <a:spLocks xmlns:a="http://schemas.openxmlformats.org/drawingml/2006/main" noGrp="1"/>
          </p:cNvSpPr>
          <p:nvPr/>
        </p:nvSpPr>
        <p:spPr>
          <a:xfrm xmlns:a="http://schemas.openxmlformats.org/drawingml/2006/main">
            <a:off x="552450" y="4276725"/>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7375D"/>
                </a:solidFill>
                <a:latin typeface="Calibri"/>
                <a:ea typeface="Calibri"/>
                <a:cs typeface="Calibri"/>
              </a:defRPr>
            </a:pPr>
            <a:r>
              <a:rPr sz="1200">
                <a:solidFill>
                  <a:srgbClr val="17375D"/>
                </a:solidFill>
                <a:latin typeface="Calibri"/>
                <a:ea typeface="Calibri"/>
                <a:cs typeface="Calibri"/>
              </a:rPr>
              <a:t>Imputación, escalamiento y vecindarios se definen dentro del entrenamiento.</a:t>
            </a:r>
          </a:p>
          <a:p xmlns:a="http://schemas.openxmlformats.org/drawingml/2006/main">
            <a:pPr>
              <a:buNone/>
              <a:defRPr sz="1200">
                <a:solidFill>
                  <a:srgbClr val="17375D"/>
                </a:solidFill>
                <a:latin typeface="Calibri"/>
                <a:ea typeface="Calibri"/>
                <a:cs typeface="Calibri"/>
              </a:defRPr>
            </a:pPr>
            <a:r>
              <a:rPr sz="1200">
                <a:solidFill>
                  <a:srgbClr val="17375D"/>
                </a:solidFill>
                <a:latin typeface="Calibri"/>
                <a:ea typeface="Calibri"/>
                <a:cs typeface="Calibri"/>
              </a:rPr>
              <a:t>LPO histórico no demuestra capacidad de pronóstico futuro.</a:t>
            </a:r>
          </a:p>
        </p:txBody>
      </p:sp>
      <p:sp>
        <p:nvSpPr>
          <p:cNvPr id="11" name="Fuente y alcance">
            <a:extLst xmlns:a="http://schemas.openxmlformats.org/drawingml/2006/main">
              <a:ext uri="{FF2B5EF4-FFF2-40B4-BE49-F238E27FC236}">
                <a16:creationId xmlns:a16="http://schemas.microsoft.com/office/drawing/2014/main" id="{997BE082-1FCB-4B8D-9367-0A12CA4AEAD3}"/>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Fuente: docs/modelo_1km_horario.qmd; Roberts et al. (2017), doi:10.1111/ecog.02881.</a:t>
            </a:r>
          </a:p>
        </p:txBody>
      </p:sp>
    </p:spTree>
    <p:extLst>
      <p:ext uri="{BB962C8B-B14F-4D97-AF65-F5344CB8AC3E}">
        <p14:creationId xmlns:p14="http://schemas.microsoft.com/office/powerpoint/2010/main" val="3227572768"/>
      </p:ext>
    </p:extLst>
  </p:cSld>
</p:sld>
</file>

<file path=ppt/slides/slide13.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6EAF59AB-94CB-4FEB-AA0A-B34C56B7B110}"/>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DD0C1E97-EBFF-4070-85B6-82581057B7DD}"/>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59E3A391-7BDA-466D-912D-2D8CDA498727}"/>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764D1453-791D-41D2-B658-8F64A9B11BFC}"/>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65B22ECF-75AA-44C4-A5F5-085F19FB2D87}"/>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Separar selección, evaluación y análisis de extremos</a:t>
            </a:r>
          </a:p>
        </p:txBody>
      </p:sp>
      <p:sp>
        <p:nvSpPr>
          <p:cNvPr id="8" name="Riesgo 1">
            <a:extLst xmlns:a="http://schemas.openxmlformats.org/drawingml/2006/main">
              <a:ext uri="{FF2B5EF4-FFF2-40B4-BE49-F238E27FC236}">
                <a16:creationId xmlns:a16="http://schemas.microsoft.com/office/drawing/2014/main" id="{C1732BFB-0691-4244-AA30-96C9D2A47FCD}"/>
              </a:ext>
            </a:extLst>
          </p:cNvPr>
          <p:cNvSpPr>
            <a:spLocks xmlns:a="http://schemas.openxmlformats.org/drawingml/2006/main" noGrp="1"/>
          </p:cNvSpPr>
          <p:nvPr/>
        </p:nvSpPr>
        <p:spPr>
          <a:xfrm xmlns:a="http://schemas.openxmlformats.org/drawingml/2006/main">
            <a:off x="548640" y="1303020"/>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9" name="Problema 1">
            <a:extLst xmlns:a="http://schemas.openxmlformats.org/drawingml/2006/main">
              <a:ext uri="{FF2B5EF4-FFF2-40B4-BE49-F238E27FC236}">
                <a16:creationId xmlns:a16="http://schemas.microsoft.com/office/drawing/2014/main" id="{00A05D63-B4B3-46E1-99E0-EF3589DC4BC0}"/>
              </a:ext>
            </a:extLst>
          </p:cNvPr>
          <p:cNvSpPr>
            <a:spLocks xmlns:a="http://schemas.openxmlformats.org/drawingml/2006/main" noGrp="1"/>
          </p:cNvSpPr>
          <p:nvPr/>
        </p:nvSpPr>
        <p:spPr>
          <a:xfrm xmlns:a="http://schemas.openxmlformats.org/drawingml/2006/main">
            <a:off x="768096" y="1440180"/>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Selección del modelo</a:t>
            </a:r>
          </a:p>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Protocolo por cerrar</a:t>
            </a:r>
          </a:p>
        </p:txBody>
      </p:sp>
      <p:sp>
        <p:nvSpPr>
          <p:cNvPr id="10" name="Respuesta 1">
            <a:extLst xmlns:a="http://schemas.openxmlformats.org/drawingml/2006/main">
              <a:ext uri="{FF2B5EF4-FFF2-40B4-BE49-F238E27FC236}">
                <a16:creationId xmlns:a16="http://schemas.microsoft.com/office/drawing/2014/main" id="{14A0F944-A00D-4E1E-810C-9B685521A456}"/>
              </a:ext>
            </a:extLst>
          </p:cNvPr>
          <p:cNvSpPr>
            <a:spLocks xmlns:a="http://schemas.openxmlformats.org/drawingml/2006/main" noGrp="1"/>
          </p:cNvSpPr>
          <p:nvPr/>
        </p:nvSpPr>
        <p:spPr>
          <a:xfrm xmlns:a="http://schemas.openxmlformats.org/drawingml/2006/main">
            <a:off x="3394710" y="1741932"/>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1" name="Medida 1">
            <a:extLst xmlns:a="http://schemas.openxmlformats.org/drawingml/2006/main">
              <a:ext uri="{FF2B5EF4-FFF2-40B4-BE49-F238E27FC236}">
                <a16:creationId xmlns:a16="http://schemas.microsoft.com/office/drawing/2014/main" id="{E4BAB6B8-E515-4486-9615-D99FD63406E4}"/>
              </a:ext>
            </a:extLst>
          </p:cNvPr>
          <p:cNvSpPr>
            <a:spLocks xmlns:a="http://schemas.openxmlformats.org/drawingml/2006/main" noGrp="1"/>
          </p:cNvSpPr>
          <p:nvPr/>
        </p:nvSpPr>
        <p:spPr>
          <a:xfrm xmlns:a="http://schemas.openxmlformats.org/drawingml/2006/main">
            <a:off x="4128516" y="1440180"/>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350" b="0">
                <a:solidFill>
                  <a:srgbClr val="1E293B"/>
                </a:solidFill>
                <a:latin typeface="Calibri"/>
                <a:ea typeface="Calibri"/>
                <a:cs typeface="Calibri"/>
              </a:defRPr>
            </a:pPr>
            <a:r>
              <a:rPr sz="1350" b="0">
                <a:solidFill>
                  <a:srgbClr val="1E293B"/>
                </a:solidFill>
                <a:latin typeface="Calibri"/>
                <a:ea typeface="Calibri"/>
                <a:cs typeface="Calibri"/>
              </a:rPr>
              <a:t>Ajustar hiperparámetros en particiones internas. Reservar una evaluación externa sin usarla para elegir el modelo.</a:t>
            </a:r>
          </a:p>
        </p:txBody>
      </p:sp>
      <p:sp>
        <p:nvSpPr>
          <p:cNvPr id="12" name="Riesgo 2">
            <a:extLst xmlns:a="http://schemas.openxmlformats.org/drawingml/2006/main">
              <a:ext uri="{FF2B5EF4-FFF2-40B4-BE49-F238E27FC236}">
                <a16:creationId xmlns:a16="http://schemas.microsoft.com/office/drawing/2014/main" id="{82641C91-B247-476C-A2E4-9791C85A7E01}"/>
              </a:ext>
            </a:extLst>
          </p:cNvPr>
          <p:cNvSpPr>
            <a:spLocks xmlns:a="http://schemas.openxmlformats.org/drawingml/2006/main" noGrp="1"/>
          </p:cNvSpPr>
          <p:nvPr/>
        </p:nvSpPr>
        <p:spPr>
          <a:xfrm xmlns:a="http://schemas.openxmlformats.org/drawingml/2006/main">
            <a:off x="548640" y="2352294"/>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13" name="Problema 2">
            <a:extLst xmlns:a="http://schemas.openxmlformats.org/drawingml/2006/main">
              <a:ext uri="{FF2B5EF4-FFF2-40B4-BE49-F238E27FC236}">
                <a16:creationId xmlns:a16="http://schemas.microsoft.com/office/drawing/2014/main" id="{B349B01B-43CD-4AFA-BFE9-2FA657FA4FCC}"/>
              </a:ext>
            </a:extLst>
          </p:cNvPr>
          <p:cNvSpPr>
            <a:spLocks xmlns:a="http://schemas.openxmlformats.org/drawingml/2006/main" noGrp="1"/>
          </p:cNvSpPr>
          <p:nvPr/>
        </p:nvSpPr>
        <p:spPr>
          <a:xfrm xmlns:a="http://schemas.openxmlformats.org/drawingml/2006/main">
            <a:off x="768096" y="2489454"/>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Métrica principal</a:t>
            </a:r>
          </a:p>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Propuesta para acordar</a:t>
            </a:r>
          </a:p>
        </p:txBody>
      </p:sp>
      <p:sp>
        <p:nvSpPr>
          <p:cNvPr id="14" name="Respuesta 2">
            <a:extLst xmlns:a="http://schemas.openxmlformats.org/drawingml/2006/main">
              <a:ext uri="{FF2B5EF4-FFF2-40B4-BE49-F238E27FC236}">
                <a16:creationId xmlns:a16="http://schemas.microsoft.com/office/drawing/2014/main" id="{0B0FF110-36C7-400A-8CD7-25215C9A9146}"/>
              </a:ext>
            </a:extLst>
          </p:cNvPr>
          <p:cNvSpPr>
            <a:spLocks xmlns:a="http://schemas.openxmlformats.org/drawingml/2006/main" noGrp="1"/>
          </p:cNvSpPr>
          <p:nvPr/>
        </p:nvSpPr>
        <p:spPr>
          <a:xfrm xmlns:a="http://schemas.openxmlformats.org/drawingml/2006/main">
            <a:off x="3394710" y="2791206"/>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5" name="Medida 2">
            <a:extLst xmlns:a="http://schemas.openxmlformats.org/drawingml/2006/main">
              <a:ext uri="{FF2B5EF4-FFF2-40B4-BE49-F238E27FC236}">
                <a16:creationId xmlns:a16="http://schemas.microsoft.com/office/drawing/2014/main" id="{E3707A9E-027F-4696-BB01-52247776EB93}"/>
              </a:ext>
            </a:extLst>
          </p:cNvPr>
          <p:cNvSpPr>
            <a:spLocks xmlns:a="http://schemas.openxmlformats.org/drawingml/2006/main" noGrp="1"/>
          </p:cNvSpPr>
          <p:nvPr/>
        </p:nvSpPr>
        <p:spPr>
          <a:xfrm xmlns:a="http://schemas.openxmlformats.org/drawingml/2006/main">
            <a:off x="4128516" y="2489454"/>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350" b="0">
                <a:solidFill>
                  <a:srgbClr val="1E293B"/>
                </a:solidFill>
                <a:latin typeface="Calibri"/>
                <a:ea typeface="Calibri"/>
                <a:cs typeface="Calibri"/>
              </a:defRPr>
            </a:pPr>
            <a:r>
              <a:rPr sz="1350" b="0">
                <a:solidFill>
                  <a:srgbClr val="1E293B"/>
                </a:solidFill>
                <a:latin typeface="Calibri"/>
                <a:ea typeface="Calibri"/>
                <a:cs typeface="Calibri"/>
              </a:rPr>
              <a:t>RMSE por contaminante, con unidades confirmadas; acompañar con MAE y sesgo. Comparar los mismos pares reservados.</a:t>
            </a:r>
          </a:p>
        </p:txBody>
      </p:sp>
      <p:sp>
        <p:nvSpPr>
          <p:cNvPr id="16" name="Riesgo 3">
            <a:extLst xmlns:a="http://schemas.openxmlformats.org/drawingml/2006/main">
              <a:ext uri="{FF2B5EF4-FFF2-40B4-BE49-F238E27FC236}">
                <a16:creationId xmlns:a16="http://schemas.microsoft.com/office/drawing/2014/main" id="{3D6089D9-1AF5-4BE8-8353-F3C11FDB48AA}"/>
              </a:ext>
            </a:extLst>
          </p:cNvPr>
          <p:cNvSpPr>
            <a:spLocks xmlns:a="http://schemas.openxmlformats.org/drawingml/2006/main" noGrp="1"/>
          </p:cNvSpPr>
          <p:nvPr/>
        </p:nvSpPr>
        <p:spPr>
          <a:xfrm xmlns:a="http://schemas.openxmlformats.org/drawingml/2006/main">
            <a:off x="548640" y="3401568"/>
            <a:ext cx="8044434" cy="891540"/>
          </a:xfrm>
          <a:prstGeom xmlns:a="http://schemas.openxmlformats.org/drawingml/2006/main" prst="roundRect">
            <a:avLst>
              <a:gd name="adj" fmla="val 7500"/>
            </a:avLst>
          </a:prstGeom>
          <a:solidFill xmlns:a="http://schemas.openxmlformats.org/drawingml/2006/main">
            <a:srgbClr val="F2F6FC"/>
          </a:solidFill>
          <a:ln xmlns:a="http://schemas.openxmlformats.org/drawingml/2006/main" w="8573">
            <a:solidFill>
              <a:srgbClr val="D6DFEB"/>
            </a:solidFill>
          </a:ln>
          <a:effectLst xmlns:a="http://schemas.openxmlformats.org/drawingml/2006/main">
            <a:outerShdw blurRad="38000" dist="23000" dir="5400000" algn="ctr" rotWithShape="0">
              <a:srgbClr val="000000">
                <a:alpha val="14000"/>
              </a:srgbClr>
            </a:outerShdw>
          </a:effectLst>
        </p:spPr>
        <p:txBody>
          <a:bodyPr xmlns:a="http://schemas.openxmlformats.org/drawingml/2006/main" wrap="square" lIns="96012" tIns="96012" rIns="96012" bIns="96012" anchor="ctr">
            <a:noAutofit/>
          </a:bodyPr>
          <a:lstStyle xmlns:a="http://schemas.openxmlformats.org/drawingml/2006/main"/>
          <a:p xmlns:a="http://schemas.openxmlformats.org/drawingml/2006/main"/>
        </p:txBody>
      </p:sp>
      <p:sp>
        <p:nvSpPr>
          <p:cNvPr id="17" name="Problema 3">
            <a:extLst xmlns:a="http://schemas.openxmlformats.org/drawingml/2006/main">
              <a:ext uri="{FF2B5EF4-FFF2-40B4-BE49-F238E27FC236}">
                <a16:creationId xmlns:a16="http://schemas.microsoft.com/office/drawing/2014/main" id="{189B4E82-C008-45A0-BE1E-72D0A480AA50}"/>
              </a:ext>
            </a:extLst>
          </p:cNvPr>
          <p:cNvSpPr>
            <a:spLocks xmlns:a="http://schemas.openxmlformats.org/drawingml/2006/main" noGrp="1"/>
          </p:cNvSpPr>
          <p:nvPr/>
        </p:nvSpPr>
        <p:spPr>
          <a:xfrm xmlns:a="http://schemas.openxmlformats.org/drawingml/2006/main">
            <a:off x="768096" y="3538728"/>
            <a:ext cx="2379726" cy="617220"/>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Extremos y territorio</a:t>
            </a:r>
          </a:p>
          <a:p xmlns:a="http://schemas.openxmlformats.org/drawingml/2006/main">
            <a:pPr>
              <a:spcBef>
                <a:spcPts val="0"/>
              </a:spcBef>
              <a:spcAft>
                <a:spcPts val="0"/>
              </a:spcAft>
              <a:buNone/>
              <a:defRPr sz="1425" b="1">
                <a:solidFill>
                  <a:srgbClr val="17375D"/>
                </a:solidFill>
                <a:latin typeface="Calibri"/>
                <a:ea typeface="Calibri"/>
                <a:cs typeface="Calibri"/>
              </a:defRPr>
            </a:pPr>
            <a:r>
              <a:rPr sz="1425" b="1">
                <a:solidFill>
                  <a:srgbClr val="17375D"/>
                </a:solidFill>
                <a:latin typeface="Calibri"/>
                <a:ea typeface="Calibri"/>
                <a:cs typeface="Calibri"/>
              </a:rPr>
              <a:t>Evaluación prevista</a:t>
            </a:r>
          </a:p>
        </p:txBody>
      </p:sp>
      <p:sp>
        <p:nvSpPr>
          <p:cNvPr id="18" name="Respuesta 3">
            <a:extLst xmlns:a="http://schemas.openxmlformats.org/drawingml/2006/main">
              <a:ext uri="{FF2B5EF4-FFF2-40B4-BE49-F238E27FC236}">
                <a16:creationId xmlns:a16="http://schemas.microsoft.com/office/drawing/2014/main" id="{B46C4F5B-D776-4C48-A516-6C97667A0CD7}"/>
              </a:ext>
            </a:extLst>
          </p:cNvPr>
          <p:cNvSpPr>
            <a:spLocks xmlns:a="http://schemas.openxmlformats.org/drawingml/2006/main" noGrp="1"/>
          </p:cNvSpPr>
          <p:nvPr/>
        </p:nvSpPr>
        <p:spPr>
          <a:xfrm xmlns:a="http://schemas.openxmlformats.org/drawingml/2006/main">
            <a:off x="3394710" y="3840480"/>
            <a:ext cx="480060" cy="0"/>
          </a:xfrm>
          <a:prstGeom xmlns:a="http://schemas.openxmlformats.org/drawingml/2006/main" prst="line">
            <a:avLst/>
          </a:prstGeom>
          <a:ln xmlns:a="http://schemas.openxmlformats.org/drawingml/2006/main" w="15240">
            <a:solidFill>
              <a:srgbClr val="3366CC"/>
            </a:solidFill>
            <a:headEnd type="none"/>
            <a:tailEnd type="triangle"/>
          </a:ln>
        </p:spPr>
      </p:sp>
      <p:sp>
        <p:nvSpPr>
          <p:cNvPr id="19" name="Medida 3">
            <a:extLst xmlns:a="http://schemas.openxmlformats.org/drawingml/2006/main">
              <a:ext uri="{FF2B5EF4-FFF2-40B4-BE49-F238E27FC236}">
                <a16:creationId xmlns:a16="http://schemas.microsoft.com/office/drawing/2014/main" id="{E1CA38B7-C4ED-49FB-8B51-3BCC878511B9}"/>
              </a:ext>
            </a:extLst>
          </p:cNvPr>
          <p:cNvSpPr>
            <a:spLocks xmlns:a="http://schemas.openxmlformats.org/drawingml/2006/main" noGrp="1"/>
          </p:cNvSpPr>
          <p:nvPr/>
        </p:nvSpPr>
        <p:spPr>
          <a:xfrm xmlns:a="http://schemas.openxmlformats.org/drawingml/2006/main">
            <a:off x="4128516" y="3538728"/>
            <a:ext cx="4114800" cy="624078"/>
          </a:xfrm>
          <a:prstGeom xmlns:a="http://schemas.openxmlformats.org/drawingml/2006/main" prst="rect">
            <a:avLst/>
          </a:prstGeom>
          <a:noFill xmlns:a="http://schemas.openxmlformats.org/drawingml/2006/main"/>
          <a:ln xmlns:a="http://schemas.openxmlformats.org/drawingml/2006/main" w="8573">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350" b="0">
                <a:solidFill>
                  <a:srgbClr val="1E293B"/>
                </a:solidFill>
                <a:latin typeface="Calibri"/>
                <a:ea typeface="Calibri"/>
                <a:cs typeface="Calibri"/>
              </a:defRPr>
            </a:pPr>
            <a:r>
              <a:rPr sz="1350" b="0">
                <a:solidFill>
                  <a:srgbClr val="1E293B"/>
                </a:solidFill>
                <a:latin typeface="Calibri"/>
                <a:ea typeface="Calibri"/>
                <a:cs typeface="Calibri"/>
              </a:rPr>
              <a:t>Definir extremos antes de evaluar. Informar error, excedencias y falsas alarmas por territorio y distancia a estaciones.</a:t>
            </a:r>
          </a:p>
        </p:txBody>
      </p:sp>
      <p:sp>
        <p:nvSpPr>
          <p:cNvPr id="20" name="Métricas de evaluación">
            <a:extLst xmlns:a="http://schemas.openxmlformats.org/drawingml/2006/main">
              <a:ext uri="{FF2B5EF4-FFF2-40B4-BE49-F238E27FC236}">
                <a16:creationId xmlns:a16="http://schemas.microsoft.com/office/drawing/2014/main" id="{08C3A98D-8EDF-42DF-A1C4-2107498C538E}"/>
              </a:ext>
            </a:extLst>
          </p:cNvPr>
          <p:cNvSpPr>
            <a:spLocks xmlns:a="http://schemas.openxmlformats.org/drawingml/2006/main" noGrp="1"/>
          </p:cNvSpPr>
          <p:nvPr/>
        </p:nvSpPr>
        <p:spPr>
          <a:xfrm xmlns:a="http://schemas.openxmlformats.org/drawingml/2006/main">
            <a:off x="548640" y="4434840"/>
            <a:ext cx="804672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163" b="0">
                <a:solidFill>
                  <a:srgbClr val="17375D"/>
                </a:solidFill>
                <a:latin typeface="Calibri"/>
                <a:ea typeface="Calibri"/>
                <a:cs typeface="Calibri"/>
              </a:defRPr>
            </a:pPr>
            <a:r>
              <a:rPr sz="1163" b="0">
                <a:solidFill>
                  <a:srgbClr val="17375D"/>
                </a:solidFill>
                <a:latin typeface="Calibri"/>
                <a:ea typeface="Calibri"/>
                <a:cs typeface="Calibri"/>
              </a:rPr>
              <a:t>Pendientes: validación anidada completa del apilado y cuantificación de incertidumbre.</a:t>
            </a:r>
          </a:p>
        </p:txBody>
      </p:sp>
      <p:sp>
        <p:nvSpPr>
          <p:cNvPr id="21" name="Fuente y alcance">
            <a:extLst xmlns:a="http://schemas.openxmlformats.org/drawingml/2006/main">
              <a:ext uri="{FF2B5EF4-FFF2-40B4-BE49-F238E27FC236}">
                <a16:creationId xmlns:a16="http://schemas.microsoft.com/office/drawing/2014/main" id="{AB632FF5-FC83-4FDA-89AB-2621802C2462}"/>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Correcciones del feedback 3; Varma y Simon (2006), doi:10.1186/1471-2105-7-91. No se presentan resultados predictivos.</a:t>
            </a:r>
          </a:p>
        </p:txBody>
      </p:sp>
    </p:spTree>
    <p:extLst>
      <p:ext uri="{BB962C8B-B14F-4D97-AF65-F5344CB8AC3E}">
        <p14:creationId xmlns:p14="http://schemas.microsoft.com/office/powerpoint/2010/main" val="3227572768"/>
      </p:ext>
    </p:extLst>
  </p:cSld>
</p:sld>
</file>

<file path=ppt/slides/slide14.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De celdas a comunas: una regla explícita para acordar</a:t>
            </a:r>
          </a:p>
        </p:txBody>
      </p:sp>
      <p:sp>
        <p:nvSpPr>
          <p:cNvPr id="8" name="Estado">
            <a:extLst xmlns:a="http://schemas.openxmlformats.org/drawingml/2006/main">
              <a:ext uri="{FF2B5EF4-FFF2-40B4-BE49-F238E27FC236}">
                <a16:creationId xmlns:a16="http://schemas.microsoft.com/office/drawing/2014/main" id="{811869E5-CF79-40B0-92B7-B9F48B0592DB}"/>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1">
                <a:solidFill>
                  <a:srgbClr val="017EDF"/>
                </a:solidFill>
                <a:latin typeface="Calibri"/>
                <a:ea typeface="Calibri"/>
                <a:cs typeface="Calibri"/>
              </a:defRPr>
            </a:pPr>
            <a:r>
              <a:rPr sz="1350" b="1">
                <a:solidFill>
                  <a:srgbClr val="017EDF"/>
                </a:solidFill>
                <a:latin typeface="Calibri"/>
                <a:ea typeface="Calibri"/>
                <a:cs typeface="Calibri"/>
              </a:rPr>
              <a:t>PROPUESTA · pendiente de validación del equipo</a:t>
            </a:r>
          </a:p>
        </p:txBody>
      </p:sp>
      <p:sp>
        <p:nvSpPr>
          <p:cNvPr id="9" name="Regla">
            <a:extLst xmlns:a="http://schemas.openxmlformats.org/drawingml/2006/main">
              <a:ext uri="{FF2B5EF4-FFF2-40B4-BE49-F238E27FC236}">
                <a16:creationId xmlns:a16="http://schemas.microsoft.com/office/drawing/2014/main" id="{21897318-703E-4E43-AC60-E6D6E1BF1D91}"/>
              </a:ext>
            </a:extLst>
          </p:cNvPr>
          <p:cNvSpPr>
            <a:spLocks xmlns:a="http://schemas.openxmlformats.org/drawingml/2006/main" noGrp="1"/>
          </p:cNvSpPr>
          <p:nvPr/>
        </p:nvSpPr>
        <p:spPr>
          <a:xfrm xmlns:a="http://schemas.openxmlformats.org/drawingml/2006/main">
            <a:off x="552450" y="1647825"/>
            <a:ext cx="8039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17375D"/>
                </a:solidFill>
                <a:latin typeface="Calibri"/>
                <a:ea typeface="Calibri"/>
                <a:cs typeface="Calibri"/>
              </a:defRPr>
            </a:pPr>
            <a:r>
              <a:rPr sz="2025" b="1">
                <a:solidFill>
                  <a:srgbClr val="17375D"/>
                </a:solidFill>
                <a:latin typeface="Calibri"/>
                <a:ea typeface="Calibri"/>
                <a:cs typeface="Calibri"/>
              </a:rPr>
              <a:t>Promedio horario ponderado por el área de cada celda que intersecta la comuna</a:t>
            </a:r>
          </a:p>
        </p:txBody>
      </p:sp>
      <p:sp>
        <p:nvSpPr>
          <p:cNvPr id="10" name="Formula">
            <a:extLst xmlns:a="http://schemas.openxmlformats.org/drawingml/2006/main">
              <a:ext uri="{FF2B5EF4-FFF2-40B4-BE49-F238E27FC236}">
                <a16:creationId xmlns:a16="http://schemas.microsoft.com/office/drawing/2014/main" id="{755B20DD-ACE0-4793-8931-8DF2D318ED67}"/>
              </a:ext>
            </a:extLst>
          </p:cNvPr>
          <p:cNvSpPr>
            <a:spLocks xmlns:a="http://schemas.openxmlformats.org/drawingml/2006/main" noGrp="1"/>
          </p:cNvSpPr>
          <p:nvPr/>
        </p:nvSpPr>
        <p:spPr>
          <a:xfrm xmlns:a="http://schemas.openxmlformats.org/drawingml/2006/main">
            <a:off x="552450" y="2390775"/>
            <a:ext cx="8039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725">
                <a:solidFill>
                  <a:srgbClr val="17375D"/>
                </a:solidFill>
                <a:latin typeface="Calibri"/>
                <a:ea typeface="Calibri"/>
                <a:cs typeface="Calibri"/>
              </a:defRPr>
            </a:pPr>
            <a:r>
              <a:rPr sz="1725">
                <a:solidFill>
                  <a:srgbClr val="17375D"/>
                </a:solidFill>
                <a:latin typeface="Calibri"/>
                <a:ea typeface="Calibri"/>
                <a:cs typeface="Calibri"/>
              </a:rPr>
              <a:t>Concentración comunal = Σ (área de intersección × concentración de celda)</a:t>
            </a:r>
          </a:p>
          <a:p xmlns:a="http://schemas.openxmlformats.org/drawingml/2006/main">
            <a:pPr>
              <a:buNone/>
              <a:defRPr sz="1725">
                <a:solidFill>
                  <a:srgbClr val="17375D"/>
                </a:solidFill>
                <a:latin typeface="Calibri"/>
                <a:ea typeface="Calibri"/>
                <a:cs typeface="Calibri"/>
              </a:defRPr>
            </a:pPr>
            <a:r>
              <a:rPr sz="1725">
                <a:solidFill>
                  <a:srgbClr val="17375D"/>
                </a:solidFill>
                <a:latin typeface="Calibri"/>
                <a:ea typeface="Calibri"/>
                <a:cs typeface="Calibri"/>
              </a:rPr>
              <a:t>                                           / Σ áreas de intersección con estimación</a:t>
            </a:r>
          </a:p>
        </p:txBody>
      </p:sp>
      <p:sp>
        <p:nvSpPr>
          <p:cNvPr id="11" name="Condiciones">
            <a:extLst xmlns:a="http://schemas.openxmlformats.org/drawingml/2006/main">
              <a:ext uri="{FF2B5EF4-FFF2-40B4-BE49-F238E27FC236}">
                <a16:creationId xmlns:a16="http://schemas.microsoft.com/office/drawing/2014/main" id="{B0415EED-7F0C-42A7-AFDC-64EB268D7479}"/>
              </a:ext>
            </a:extLst>
          </p:cNvPr>
          <p:cNvSpPr>
            <a:spLocks xmlns:a="http://schemas.openxmlformats.org/drawingml/2006/main" noGrp="1"/>
          </p:cNvSpPr>
          <p:nvPr/>
        </p:nvSpPr>
        <p:spPr>
          <a:xfrm xmlns:a="http://schemas.openxmlformats.org/drawingml/2006/main">
            <a:off x="552450" y="3295650"/>
            <a:ext cx="8039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75">
                <a:solidFill>
                  <a:srgbClr val="1E293B"/>
                </a:solidFill>
                <a:latin typeface="Calibri"/>
                <a:ea typeface="Calibri"/>
                <a:cs typeface="Calibri"/>
              </a:defRPr>
            </a:pPr>
            <a:r>
              <a:rPr sz="1575">
                <a:solidFill>
                  <a:srgbClr val="1E293B"/>
                </a:solidFill>
                <a:latin typeface="Calibri"/>
                <a:ea typeface="Calibri"/>
                <a:cs typeface="Calibri"/>
              </a:rPr>
              <a:t>1. Calcular áreas geodésicas o en una proyección de igual área.</a:t>
            </a:r>
          </a:p>
          <a:p xmlns:a="http://schemas.openxmlformats.org/drawingml/2006/main">
            <a:pPr>
              <a:buNone/>
              <a:defRPr sz="1575">
                <a:solidFill>
                  <a:srgbClr val="1E293B"/>
                </a:solidFill>
                <a:latin typeface="Calibri"/>
                <a:ea typeface="Calibri"/>
                <a:cs typeface="Calibri"/>
              </a:defRPr>
            </a:pPr>
            <a:r>
              <a:rPr sz="1575">
                <a:solidFill>
                  <a:srgbClr val="1E293B"/>
                </a:solidFill>
                <a:latin typeface="Calibri"/>
                <a:ea typeface="Calibri"/>
                <a:cs typeface="Calibri"/>
              </a:rPr>
              <a:t>2. Publicar la fracción de superficie comunal cubierta en cada hora.</a:t>
            </a:r>
          </a:p>
          <a:p xmlns:a="http://schemas.openxmlformats.org/drawingml/2006/main">
            <a:pPr>
              <a:buNone/>
              <a:defRPr sz="1575">
                <a:solidFill>
                  <a:srgbClr val="1E293B"/>
                </a:solidFill>
                <a:latin typeface="Calibri"/>
                <a:ea typeface="Calibri"/>
                <a:cs typeface="Calibri"/>
              </a:defRPr>
            </a:pPr>
            <a:r>
              <a:rPr sz="1575">
                <a:solidFill>
                  <a:srgbClr val="1E293B"/>
                </a:solidFill>
                <a:latin typeface="Calibri"/>
                <a:ea typeface="Calibri"/>
                <a:cs typeface="Calibri"/>
              </a:rPr>
              <a:t>3. Marcar cobertura incompleta y reportar incertidumbre territorial.</a:t>
            </a:r>
          </a:p>
        </p:txBody>
      </p:sp>
      <p:sp>
        <p:nvSpPr>
          <p:cNvPr id="12" name="Interpretación">
            <a:extLst xmlns:a="http://schemas.openxmlformats.org/drawingml/2006/main">
              <a:ext uri="{FF2B5EF4-FFF2-40B4-BE49-F238E27FC236}">
                <a16:creationId xmlns:a16="http://schemas.microsoft.com/office/drawing/2014/main" id="{E1FE6040-EA5C-485B-ABF1-DDF221CB5122}"/>
              </a:ext>
            </a:extLst>
          </p:cNvPr>
          <p:cNvSpPr>
            <a:spLocks xmlns:a="http://schemas.openxmlformats.org/drawingml/2006/main" noGrp="1"/>
          </p:cNvSpPr>
          <p:nvPr/>
        </p:nvSpPr>
        <p:spPr>
          <a:xfrm xmlns:a="http://schemas.openxmlformats.org/drawingml/2006/main">
            <a:off x="552450" y="4333875"/>
            <a:ext cx="803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63">
                <a:solidFill>
                  <a:srgbClr val="17375D"/>
                </a:solidFill>
                <a:latin typeface="Calibri"/>
                <a:ea typeface="Calibri"/>
                <a:cs typeface="Calibri"/>
              </a:defRPr>
            </a:pPr>
            <a:r>
              <a:rPr sz="1163">
                <a:solidFill>
                  <a:srgbClr val="17375D"/>
                </a:solidFill>
                <a:latin typeface="Calibri"/>
                <a:ea typeface="Calibri"/>
                <a:cs typeface="Calibri"/>
              </a:rPr>
              <a:t>Representa concentración media por superficie; no exposición personal ni un promedio ponderado por población.</a:t>
            </a:r>
          </a:p>
        </p:txBody>
      </p:sp>
      <p:sp>
        <p:nvSpPr>
          <p:cNvPr id="13" name="Fuente y alcance">
            <a:extLst xmlns:a="http://schemas.openxmlformats.org/drawingml/2006/main">
              <a:ext uri="{FF2B5EF4-FFF2-40B4-BE49-F238E27FC236}">
                <a16:creationId xmlns:a16="http://schemas.microsoft.com/office/drawing/2014/main" id="{DFFC2B50-2E1F-4C06-A1B2-EFC6B28DDA38}"/>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Formalización propuesta en respuesta al feedback 3. La relación píxel–comuna del catálogo no constituye por sí sola esta agregación.</a:t>
            </a:r>
          </a:p>
        </p:txBody>
      </p:sp>
    </p:spTree>
    <p:extLst>
      <p:ext uri="{BB962C8B-B14F-4D97-AF65-F5344CB8AC3E}">
        <p14:creationId xmlns:p14="http://schemas.microsoft.com/office/powerpoint/2010/main" val="3227572768"/>
      </p:ext>
    </p:extLst>
  </p:cSld>
</p:sld>
</file>

<file path=ppt/slides/slide15.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Ética: quién puede verse afectado y cómo responder</a:t>
            </a:r>
          </a:p>
        </p:txBody>
      </p:sp>
      <p:sp>
        <p:nvSpPr>
          <p:cNvPr id="8" name="Estado">
            <a:extLst xmlns:a="http://schemas.openxmlformats.org/drawingml/2006/main">
              <a:ext uri="{FF2B5EF4-FFF2-40B4-BE49-F238E27FC236}">
                <a16:creationId xmlns:a16="http://schemas.microsoft.com/office/drawing/2014/main" id="{6C117FFE-4D22-4194-AB5C-F9D5CBFEDC4A}"/>
              </a:ext>
            </a:extLst>
          </p:cNvPr>
          <p:cNvSpPr>
            <a:spLocks xmlns:a="http://schemas.openxmlformats.org/drawingml/2006/main" noGrp="1"/>
          </p:cNvSpPr>
          <p:nvPr/>
        </p:nvSpPr>
        <p:spPr>
          <a:xfrm xmlns:a="http://schemas.openxmlformats.org/drawingml/2006/main">
            <a:off x="552450" y="1200150"/>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1">
                <a:solidFill>
                  <a:srgbClr val="17375D"/>
                </a:solidFill>
                <a:latin typeface="Calibri"/>
                <a:ea typeface="Calibri"/>
                <a:cs typeface="Calibri"/>
              </a:defRPr>
            </a:pPr>
            <a:r>
              <a:rPr sz="1650" b="1">
                <a:solidFill>
                  <a:srgbClr val="17375D"/>
                </a:solidFill>
                <a:latin typeface="Calibri"/>
                <a:ea typeface="Calibri"/>
                <a:cs typeface="Calibri"/>
              </a:rPr>
              <a:t>Medidas propuestas para el uso responsable del producto</a:t>
            </a:r>
          </a:p>
        </p:txBody>
      </p:sp>
      <p:graphicFrame>
        <p:nvGraphicFramePr>
          <p:cNvPr id="19" name=""/>
          <p:cNvGraphicFramePr/>
          <p:nvPr/>
        </p:nvGraphicFramePr>
        <p:xfrm>
          <a:off xmlns:a="http://schemas.openxmlformats.org/drawingml/2006/main" x="548640" y="1657350"/>
          <a:ext xmlns:a="http://schemas.openxmlformats.org/drawingml/2006/main" cx="8046720" cy="2581275"/>
        </p:xfrm>
        <a:graphic xmlns:a="http://schemas.openxmlformats.org/drawingml/2006/main">
          <a:graphicData uri="http://schemas.openxmlformats.org/drawingml/2006/table">
            <a:tbl>
              <a:tblPr firstRow="1" bandRow="0"/>
              <a:tblGrid>
                <a:gridCol w="1924050"/>
                <a:gridCol w="2181225"/>
                <a:gridCol w="3941445"/>
              </a:tblGrid>
              <a:tr h="381000">
                <a:tc>
                  <a:txBody>
                    <a:bodyPr wrap="square" lIns="95250" tIns="76200" rIns="95250" bIns="76200">
                      <a:noAutofit/>
                    </a:bodyPr>
                    <a:lstStyle/>
                    <a:p>
                      <a:r>
                        <a:rPr sz="1275" b="1">
                          <a:solidFill>
                            <a:srgbClr val="FFFFFF"/>
                          </a:solidFill>
                          <a:latin typeface="Calibri"/>
                          <a:ea typeface="Calibri"/>
                          <a:cs typeface="Calibri"/>
                        </a:rPr>
                        <a:t>Riesgo</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Actores afectados</a:t>
                      </a:r>
                    </a:p>
                  </a:txBody>
                  <a:tcPr marL="91440" marR="91440" marT="45720" marB="45720" anchor="ctr">
                    <a:solidFill>
                      <a:srgbClr val="17375D"/>
                    </a:solidFill>
                  </a:tcPr>
                </a:tc>
                <a:tc>
                  <a:txBody>
                    <a:bodyPr wrap="square" lIns="95250" tIns="76200" rIns="95250" bIns="76200">
                      <a:noAutofit/>
                    </a:bodyPr>
                    <a:lstStyle/>
                    <a:p>
                      <a:r>
                        <a:rPr sz="1275" b="1">
                          <a:solidFill>
                            <a:srgbClr val="FFFFFF"/>
                          </a:solidFill>
                          <a:latin typeface="Calibri"/>
                          <a:ea typeface="Calibri"/>
                          <a:cs typeface="Calibri"/>
                        </a:rPr>
                        <a:t>Mitigación y evidencia requerida</a:t>
                      </a:r>
                    </a:p>
                  </a:txBody>
                  <a:tcPr marL="91440" marR="91440" marT="45720" marB="45720" anchor="ctr">
                    <a:solidFill>
                      <a:srgbClr val="17375D"/>
                    </a:solidFill>
                  </a:tcPr>
                </a:tc>
              </a:tr>
              <a:tr h="733425">
                <a:tc>
                  <a:txBody>
                    <a:bodyPr wrap="square" lIns="95250" tIns="76200" rIns="95250" bIns="76200">
                      <a:noAutofit/>
                    </a:bodyPr>
                    <a:lstStyle/>
                    <a:p>
                      <a:r>
                        <a:rPr sz="1275" b="0">
                          <a:solidFill>
                            <a:srgbClr val="1E293B"/>
                          </a:solidFill>
                          <a:latin typeface="Calibri"/>
                          <a:ea typeface="Calibri"/>
                          <a:cs typeface="Calibri"/>
                        </a:rPr>
                        <a:t>Desigualdad de cobertura</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Comunidades con pocos monitores; municipios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Describir cobertura y evaluar error e incertidumbre por territorio y distancia a estaciones.</a:t>
                      </a:r>
                    </a:p>
                  </a:txBody>
                  <a:tcPr marL="91440" marR="91440" marT="45720" marB="45720" anchor="ctr">
                    <a:solidFill>
                      <a:srgbClr val="EAF2FD"/>
                    </a:solidFill>
                  </a:tcPr>
                </a:tc>
              </a:tr>
              <a:tr h="733425">
                <a:tc>
                  <a:txBody>
                    <a:bodyPr wrap="square" lIns="95250" tIns="76200" rIns="95250" bIns="76200">
                      <a:noAutofit/>
                    </a:bodyPr>
                    <a:lstStyle/>
                    <a:p>
                      <a:r>
                        <a:rPr sz="1275" b="0">
                          <a:solidFill>
                            <a:srgbClr val="1E293B"/>
                          </a:solidFill>
                          <a:latin typeface="Calibri"/>
                          <a:ea typeface="Calibri"/>
                          <a:cs typeface="Calibri"/>
                        </a:rPr>
                        <a:t>Falsa precisión en episodios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Población y usuarios ambientales</a:t>
                      </a:r>
                    </a:p>
                  </a:txBody>
                  <a:tcPr marL="91440" marR="91440" marT="45720" marB="45720" anchor="ctr">
                    <a:solidFill>
                      <a:srgbClr val="FFFFFF"/>
                    </a:solidFill>
                  </a:tcPr>
                </a:tc>
                <a:tc>
                  <a:txBody>
                    <a:bodyPr wrap="square" lIns="95250" tIns="76200" rIns="95250" bIns="76200">
                      <a:noAutofit/>
                    </a:bodyPr>
                    <a:lstStyle/>
                    <a:p>
                      <a:r>
                        <a:rPr sz="1275" b="0">
                          <a:solidFill>
                            <a:srgbClr val="1E293B"/>
                          </a:solidFill>
                          <a:latin typeface="Calibri"/>
                          <a:ea typeface="Calibri"/>
                          <a:cs typeface="Calibri"/>
                        </a:rPr>
                        <a:t>Distinguir medición de estimación; señalar límites y evaluar extremos antes de uso operativo.</a:t>
                      </a:r>
                    </a:p>
                  </a:txBody>
                  <a:tcPr marL="91440" marR="91440" marT="45720" marB="45720" anchor="ctr">
                    <a:solidFill>
                      <a:srgbClr val="FFFFFF"/>
                    </a:solidFill>
                  </a:tcPr>
                </a:tc>
              </a:tr>
              <a:tr h="733425">
                <a:tc>
                  <a:txBody>
                    <a:bodyPr wrap="square" lIns="95250" tIns="76200" rIns="95250" bIns="76200">
                      <a:noAutofit/>
                    </a:bodyPr>
                    <a:lstStyle/>
                    <a:p>
                      <a:r>
                        <a:rPr sz="1275" b="0">
                          <a:solidFill>
                            <a:srgbClr val="1E293B"/>
                          </a:solidFill>
                          <a:latin typeface="Calibri"/>
                          <a:ea typeface="Calibri"/>
                          <a:cs typeface="Calibri"/>
                        </a:rPr>
                        <a:t>Decisiones poco trazables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Equipo, revisores y proveedores de datos</a:t>
                      </a:r>
                    </a:p>
                  </a:txBody>
                  <a:tcPr marL="91440" marR="91440" marT="45720" marB="45720" anchor="ctr">
                    <a:solidFill>
                      <a:srgbClr val="EAF2FD"/>
                    </a:solidFill>
                  </a:tcPr>
                </a:tc>
                <a:tc>
                  <a:txBody>
                    <a:bodyPr wrap="square" lIns="95250" tIns="76200" rIns="95250" bIns="76200">
                      <a:noAutofit/>
                    </a:bodyPr>
                    <a:lstStyle/>
                    <a:p>
                      <a:r>
                        <a:rPr sz="1275" b="0">
                          <a:solidFill>
                            <a:srgbClr val="1E293B"/>
                          </a:solidFill>
                          <a:latin typeface="Calibri"/>
                          <a:ea typeface="Calibri"/>
                          <a:cs typeface="Calibri"/>
                        </a:rPr>
                        <a:t>Conservar fuentes, versiones y exclusiones; documentar unidades, reloj y pérdidas de integración.</a:t>
                      </a:r>
                    </a:p>
                  </a:txBody>
                  <a:tcPr marL="91440" marR="91440" marT="45720" marB="45720" anchor="ctr">
                    <a:solidFill>
                      <a:srgbClr val="EAF2FD"/>
                    </a:solidFill>
                  </a:tcPr>
                </a:tc>
              </a:tr>
            </a:tbl>
          </a:graphicData>
        </a:graphic>
      </p:graphicFrame>
      <p:sp>
        <p:nvSpPr>
          <p:cNvPr id="10" name="Privacidad">
            <a:extLst xmlns:a="http://schemas.openxmlformats.org/drawingml/2006/main">
              <a:ext uri="{FF2B5EF4-FFF2-40B4-BE49-F238E27FC236}">
                <a16:creationId xmlns:a16="http://schemas.microsoft.com/office/drawing/2014/main" id="{1B4C0D61-6E76-44F9-BACF-33B85B8E4D9B}"/>
              </a:ext>
            </a:extLst>
          </p:cNvPr>
          <p:cNvSpPr>
            <a:spLocks xmlns:a="http://schemas.openxmlformats.org/drawingml/2006/main" noGrp="1"/>
          </p:cNvSpPr>
          <p:nvPr/>
        </p:nvSpPr>
        <p:spPr>
          <a:xfrm xmlns:a="http://schemas.openxmlformats.org/drawingml/2006/main">
            <a:off x="552450" y="4371975"/>
            <a:ext cx="803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163">
                <a:solidFill>
                  <a:srgbClr val="17375D"/>
                </a:solidFill>
                <a:latin typeface="Calibri"/>
                <a:ea typeface="Calibri"/>
                <a:cs typeface="Calibri"/>
              </a:defRPr>
            </a:pPr>
            <a:r>
              <a:rPr sz="1163">
                <a:solidFill>
                  <a:srgbClr val="17375D"/>
                </a:solidFill>
                <a:latin typeface="Calibri"/>
                <a:ea typeface="Calibri"/>
                <a:cs typeface="Calibri"/>
              </a:rPr>
              <a:t>El alcance revisado utiliza datos ambientales y territoriales; no incluye microdatos individuales de salud.</a:t>
            </a:r>
          </a:p>
        </p:txBody>
      </p:sp>
      <p:sp>
        <p:nvSpPr>
          <p:cNvPr id="11" name="Fuente y alcance">
            <a:extLst xmlns:a="http://schemas.openxmlformats.org/drawingml/2006/main">
              <a:ext uri="{FF2B5EF4-FFF2-40B4-BE49-F238E27FC236}">
                <a16:creationId xmlns:a16="http://schemas.microsoft.com/office/drawing/2014/main" id="{3AA35407-A78B-4C92-ADA3-8E3B9EABB94D}"/>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Fuente: contenidos de ética del curso (semanas 6–7) y diseño del proyecto. La equidad del desempeño todavía debe evaluarse.</a:t>
            </a:r>
          </a:p>
        </p:txBody>
      </p:sp>
    </p:spTree>
    <p:extLst>
      <p:ext uri="{BB962C8B-B14F-4D97-AF65-F5344CB8AC3E}">
        <p14:creationId xmlns:p14="http://schemas.microsoft.com/office/powerpoint/2010/main" val="3227572768"/>
      </p:ext>
    </p:extLst>
  </p:cSld>
</p:sld>
</file>

<file path=ppt/slides/slide16.xml><?xml version="1.0" encoding="utf-8"?>
<p:sld xmlns:p="http://schemas.openxmlformats.org/presentationml/2006/main" showMasterSp="0">
  <p:cSld>
    <p:spTree>
      <p:nvGrpSpPr>
        <p:cNvPr id="1" name=""/>
        <p:cNvGrpSpPr/>
        <p:nvPr/>
      </p:nvGrpSpPr>
      <p:grpSpPr>
        <a:xfrm xmlns:a="http://schemas.openxmlformats.org/drawingml/2006/main"/>
      </p:grpSpPr>
      <p:sp>
        <p:nvSpPr>
          <p:cNvPr id="300" name="Fondo azul UC">
            <a:extLst xmlns:a="http://schemas.openxmlformats.org/drawingml/2006/main">
              <a:ext uri="{FF2B5EF4-FFF2-40B4-BE49-F238E27FC236}">
                <a16:creationId xmlns:a16="http://schemas.microsoft.com/office/drawing/2014/main" id="{D0503770-9B26-486E-ACD8-8DDDA2237C2D}"/>
              </a:ext>
            </a:extLst>
          </p:cNvPr>
          <p:cNvSpPr>
            <a:spLocks xmlns:a="http://schemas.openxmlformats.org/drawingml/2006/main" noGrp="1"/>
          </p:cNvSpPr>
          <p:nvPr/>
        </p:nvSpPr>
        <p:spPr>
          <a:xfrm xmlns:a="http://schemas.openxmlformats.org/drawingml/2006/main">
            <a:off x="0" y="0"/>
            <a:ext cx="9144000" cy="4277301"/>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301" name="Rectángulo 9">
            <a:extLst xmlns:a="http://schemas.openxmlformats.org/drawingml/2006/main">
              <a:ext uri="{FF2B5EF4-FFF2-40B4-BE49-F238E27FC236}">
                <a16:creationId xmlns:a16="http://schemas.microsoft.com/office/drawing/2014/main" id="{2A3DD574-74E6-48D5-88B4-C9C436394AB8}"/>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2" name="Continuidad fondo UC">
            <a:extLst xmlns:a="http://schemas.openxmlformats.org/drawingml/2006/main">
              <a:ext uri="{FF2B5EF4-FFF2-40B4-BE49-F238E27FC236}">
                <a16:creationId xmlns:a16="http://schemas.microsoft.com/office/drawing/2014/main" id="{265CFD3F-A75C-4214-A9A8-00C801F40CB8}"/>
              </a:ext>
            </a:extLst>
          </p:cNvPr>
          <p:cNvSpPr>
            <a:spLocks xmlns:a="http://schemas.openxmlformats.org/drawingml/2006/main" noGrp="1"/>
          </p:cNvSpPr>
          <p:nvPr/>
        </p:nvSpPr>
        <p:spPr>
          <a:xfrm xmlns:a="http://schemas.openxmlformats.org/drawingml/2006/main">
            <a:off x="0" y="784483"/>
            <a:ext cx="9144000" cy="3492818"/>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2" name="TextBox 1">
            <a:extLst xmlns:a="http://schemas.openxmlformats.org/drawingml/2006/main">
              <a:ext uri="{FF2B5EF4-FFF2-40B4-BE49-F238E27FC236}">
                <a16:creationId xmlns:a16="http://schemas.microsoft.com/office/drawing/2014/main" id="{F04C3933-2D70-4861-B5B1-DA02FA9A8192}"/>
              </a:ext>
            </a:extLst>
          </p:cNvPr>
          <p:cNvSpPr>
            <a:spLocks xmlns:a="http://schemas.openxmlformats.org/drawingml/2006/main" noGrp="1"/>
          </p:cNvSpPr>
          <p:nvPr/>
        </p:nvSpPr>
        <p:spPr>
          <a:xfrm xmlns:a="http://schemas.openxmlformats.org/drawingml/2006/main">
            <a:off x="502920" y="932688"/>
            <a:ext cx="5394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Un avance verificable y tres</a:t>
            </a:r>
          </a:p>
          <a:p xmlns:a="http://schemas.openxmlformats.org/drawingml/2006/main">
            <a:pPr>
              <a:spcBef>
                <a:spcPts val="0"/>
              </a:spcBef>
              <a:spcAft>
                <a:spcPts val="0"/>
              </a:spcAft>
              <a:buNone/>
              <a:defRPr sz="2250" b="1">
                <a:solidFill>
                  <a:srgbClr val="FFFFFF"/>
                </a:solidFill>
                <a:latin typeface="Calibri"/>
                <a:ea typeface="Calibri"/>
                <a:cs typeface="Calibri"/>
              </a:defRPr>
            </a:pPr>
            <a:r>
              <a:rPr sz="2250" b="1">
                <a:solidFill>
                  <a:srgbClr val="FFFFFF"/>
                </a:solidFill>
                <a:latin typeface="Calibri"/>
                <a:ea typeface="Calibri"/>
                <a:cs typeface="Calibri"/>
              </a:rPr>
              <a:t>decisiones para continuar</a:t>
            </a:r>
          </a:p>
        </p:txBody>
      </p:sp>
      <p:sp>
        <p:nvSpPr>
          <p:cNvPr id="3" name="TextBox 2">
            <a:extLst xmlns:a="http://schemas.openxmlformats.org/drawingml/2006/main">
              <a:ext uri="{FF2B5EF4-FFF2-40B4-BE49-F238E27FC236}">
                <a16:creationId xmlns:a16="http://schemas.microsoft.com/office/drawing/2014/main" id="{961B564C-34D2-44FE-8125-4423D0409CA8}"/>
              </a:ext>
            </a:extLst>
          </p:cNvPr>
          <p:cNvSpPr>
            <a:spLocks xmlns:a="http://schemas.openxmlformats.org/drawingml/2006/main" noGrp="1"/>
          </p:cNvSpPr>
          <p:nvPr/>
        </p:nvSpPr>
        <p:spPr>
          <a:xfrm xmlns:a="http://schemas.openxmlformats.org/drawingml/2006/main">
            <a:off x="502920" y="1783080"/>
            <a:ext cx="5394960" cy="192024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spcBef>
                <a:spcPts val="0"/>
              </a:spcBef>
              <a:spcAft>
                <a:spcPts val="0"/>
              </a:spcAft>
              <a:buNone/>
              <a:defRPr sz="1575" b="0">
                <a:solidFill>
                  <a:srgbClr val="FFFFFF"/>
                </a:solidFill>
                <a:latin typeface="Calibri"/>
                <a:ea typeface="Calibri"/>
                <a:cs typeface="Calibri"/>
              </a:defRPr>
            </a:pPr>
            <a:r>
              <a:rPr sz="1575" b="0">
                <a:solidFill>
                  <a:srgbClr val="FFFFFF"/>
                </a:solidFill>
                <a:latin typeface="Calibri"/>
                <a:ea typeface="Calibri"/>
                <a:cs typeface="Calibri"/>
              </a:rPr>
              <a:t>Hoy: cobertura, volumen y calidad caracterizados.</a:t>
            </a:r>
          </a:p>
          <a:p xmlns:a="http://schemas.openxmlformats.org/drawingml/2006/main">
            <a:pPr>
              <a:spcBef>
                <a:spcPts val="0"/>
              </a:spcBef>
              <a:spcAft>
                <a:spcPts val="0"/>
              </a:spcAft>
              <a:buNone/>
            </a:pPr>
            <a:r>
              <a:rPr b="0"/>
              <a:t/>
            </a:r>
          </a:p>
          <a:p xmlns:a="http://schemas.openxmlformats.org/drawingml/2006/main">
            <a:pPr>
              <a:spcBef>
                <a:spcPts val="0"/>
              </a:spcBef>
              <a:spcAft>
                <a:spcPts val="0"/>
              </a:spcAft>
              <a:buNone/>
              <a:defRPr sz="1575" b="0">
                <a:solidFill>
                  <a:srgbClr val="FFFFFF"/>
                </a:solidFill>
                <a:latin typeface="Calibri"/>
                <a:ea typeface="Calibri"/>
                <a:cs typeface="Calibri"/>
              </a:defRPr>
            </a:pPr>
            <a:r>
              <a:rPr sz="1575" b="0">
                <a:solidFill>
                  <a:srgbClr val="FFFFFF"/>
                </a:solidFill>
                <a:latin typeface="Calibri"/>
                <a:ea typeface="Calibri"/>
                <a:cs typeface="Calibri"/>
              </a:rPr>
              <a:t>1. Confirmar unidades y reloj; medir pérdidas de unión.</a:t>
            </a:r>
          </a:p>
          <a:p xmlns:a="http://schemas.openxmlformats.org/drawingml/2006/main">
            <a:pPr>
              <a:spcBef>
                <a:spcPts val="0"/>
              </a:spcBef>
              <a:spcAft>
                <a:spcPts val="0"/>
              </a:spcAft>
              <a:buNone/>
              <a:defRPr sz="1575" b="0">
                <a:solidFill>
                  <a:srgbClr val="FFFFFF"/>
                </a:solidFill>
                <a:latin typeface="Calibri"/>
                <a:ea typeface="Calibri"/>
                <a:cs typeface="Calibri"/>
              </a:defRPr>
            </a:pPr>
            <a:r>
              <a:rPr sz="1575" b="0">
                <a:solidFill>
                  <a:srgbClr val="FFFFFF"/>
                </a:solidFill>
                <a:latin typeface="Calibri"/>
                <a:ea typeface="Calibri"/>
                <a:cs typeface="Calibri"/>
              </a:rPr>
              <a:t>2. Acordar agregación comunal y métrica principal.</a:t>
            </a:r>
          </a:p>
          <a:p xmlns:a="http://schemas.openxmlformats.org/drawingml/2006/main">
            <a:pPr>
              <a:spcBef>
                <a:spcPts val="0"/>
              </a:spcBef>
              <a:spcAft>
                <a:spcPts val="0"/>
              </a:spcAft>
              <a:buNone/>
              <a:defRPr sz="1575" b="0">
                <a:solidFill>
                  <a:srgbClr val="FFFFFF"/>
                </a:solidFill>
                <a:latin typeface="Calibri"/>
                <a:ea typeface="Calibri"/>
                <a:cs typeface="Calibri"/>
              </a:defRPr>
            </a:pPr>
            <a:r>
              <a:rPr sz="1575" b="0">
                <a:solidFill>
                  <a:srgbClr val="FFFFFF"/>
                </a:solidFill>
                <a:latin typeface="Calibri"/>
                <a:ea typeface="Calibri"/>
                <a:cs typeface="Calibri"/>
              </a:rPr>
              <a:t>3. Completar evaluación independiente e incertidumbre.</a:t>
            </a:r>
          </a:p>
        </p:txBody>
      </p:sp>
      <p:sp>
        <p:nvSpPr>
          <p:cNvPr id="4" name="Rounded Rectangle 3">
            <a:extLst xmlns:a="http://schemas.openxmlformats.org/drawingml/2006/main">
              <a:ext uri="{FF2B5EF4-FFF2-40B4-BE49-F238E27FC236}">
                <a16:creationId xmlns:a16="http://schemas.microsoft.com/office/drawing/2014/main" id="{FF72C57E-7A2A-481D-911D-330A4F98628B}"/>
              </a:ext>
            </a:extLst>
          </p:cNvPr>
          <p:cNvSpPr>
            <a:spLocks xmlns:a="http://schemas.openxmlformats.org/drawingml/2006/main" noGrp="1"/>
          </p:cNvSpPr>
          <p:nvPr/>
        </p:nvSpPr>
        <p:spPr>
          <a:xfrm xmlns:a="http://schemas.openxmlformats.org/drawingml/2006/main">
            <a:off x="502920" y="3456432"/>
            <a:ext cx="5394960" cy="512064"/>
          </a:xfrm>
          <a:prstGeom xmlns:a="http://schemas.openxmlformats.org/drawingml/2006/main" prst="roundRect">
            <a:avLst>
              <a:gd name="adj" fmla="val 10000"/>
            </a:avLst>
          </a:prstGeom>
          <a:solidFill xmlns:a="http://schemas.openxmlformats.org/drawingml/2006/main">
            <a:srgbClr val="113E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19" name="Picture 4"/>
          <p:cNvPicPr>
            <a:picLocks xmlns:a="http://schemas.openxmlformats.org/drawingml/2006/main" noChangeAspect="1"/>
          </p:cNvPicPr>
          <p:nvPr/>
        </p:nvPicPr>
        <p:blipFill>
          <a:blip xmlns:r="http://schemas.openxmlformats.org/officeDocument/2006/relationships" xmlns:a="http://schemas.openxmlformats.org/drawingml/2006/main" r:embed="Ra75512b961f9460a"/>
          <a:stretch xmlns:a="http://schemas.openxmlformats.org/drawingml/2006/main">
            <a:fillRect l="0" t="0" r="0" b="0"/>
          </a:stretch>
        </p:blipFill>
        <p:spPr>
          <a:xfrm xmlns:a="http://schemas.openxmlformats.org/drawingml/2006/main">
            <a:off x="658368" y="3584448"/>
            <a:ext cx="256032" cy="256032"/>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B47427B5-A623-420A-ABFD-3CE7EB974746}"/>
              </a:ext>
            </a:extLst>
          </p:cNvPr>
          <p:cNvSpPr>
            <a:spLocks xmlns:a="http://schemas.openxmlformats.org/drawingml/2006/main" noGrp="1"/>
          </p:cNvSpPr>
          <p:nvPr/>
        </p:nvSpPr>
        <p:spPr>
          <a:xfrm xmlns:a="http://schemas.openxmlformats.org/drawingml/2006/main">
            <a:off x="1005840" y="3456432"/>
            <a:ext cx="484632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pPr>
            <a:r>
              <a:rPr sz="1150" b="1" i="0">
                <a:solidFill>
                  <a:srgbClr val="FFFFFF"/>
                </a:solidFill>
                <a:latin typeface="Calibri"/>
                <a:ea typeface="Calibri"/>
                <a:cs typeface="Calibri"/>
              </a:rPr>
              <a:t>github.com/AmaruSimonAgueroJimenez/Air-Pollution</a:t>
            </a:r>
          </a:p>
        </p:txBody>
      </p:sp>
      <p:sp>
        <p:nvSpPr>
          <p:cNvPr id="7" name="Rounded Rectangle 6">
            <a:extLst xmlns:a="http://schemas.openxmlformats.org/drawingml/2006/main">
              <a:ext uri="{FF2B5EF4-FFF2-40B4-BE49-F238E27FC236}">
                <a16:creationId xmlns:a16="http://schemas.microsoft.com/office/drawing/2014/main" id="{E874C09F-30FB-415B-B410-CAA4DE99AD87}"/>
              </a:ext>
            </a:extLst>
          </p:cNvPr>
          <p:cNvSpPr>
            <a:spLocks xmlns:a="http://schemas.openxmlformats.org/drawingml/2006/main" noGrp="1"/>
          </p:cNvSpPr>
          <p:nvPr/>
        </p:nvSpPr>
        <p:spPr>
          <a:xfrm xmlns:a="http://schemas.openxmlformats.org/drawingml/2006/main">
            <a:off x="6355080" y="932688"/>
            <a:ext cx="2331720" cy="3035808"/>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22" name="Picture 7"/>
          <p:cNvPicPr>
            <a:picLocks xmlns:a="http://schemas.openxmlformats.org/drawingml/2006/main" noChangeAspect="1"/>
          </p:cNvPicPr>
          <p:nvPr/>
        </p:nvPicPr>
        <p:blipFill>
          <a:blip xmlns:r="http://schemas.openxmlformats.org/officeDocument/2006/relationships" xmlns:a="http://schemas.openxmlformats.org/drawingml/2006/main" r:embed="R985ccd79005e4e4a"/>
          <a:stretch xmlns:a="http://schemas.openxmlformats.org/drawingml/2006/main">
            <a:fillRect l="0" t="0" r="0" b="0"/>
          </a:stretch>
        </p:blipFill>
        <p:spPr>
          <a:xfrm xmlns:a="http://schemas.openxmlformats.org/drawingml/2006/main">
            <a:off x="6556248" y="1133856"/>
            <a:ext cx="1929384" cy="1929384"/>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7645EEAC-3E7E-48FC-B4F4-3D35F44895B4}"/>
              </a:ext>
            </a:extLst>
          </p:cNvPr>
          <p:cNvSpPr>
            <a:spLocks xmlns:a="http://schemas.openxmlformats.org/drawingml/2006/main" noGrp="1"/>
          </p:cNvSpPr>
          <p:nvPr/>
        </p:nvSpPr>
        <p:spPr>
          <a:xfrm xmlns:a="http://schemas.openxmlformats.org/drawingml/2006/main">
            <a:off x="6446520" y="3127248"/>
            <a:ext cx="21488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ct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Repositorio del proyecto</a:t>
            </a:r>
          </a:p>
          <a:p xmlns:a="http://schemas.openxmlformats.org/drawingml/2006/main">
            <a:pPr algn="ctr">
              <a:spcBef>
                <a:spcPts val="0"/>
              </a:spcBef>
              <a:spcAft>
                <a:spcPts val="0"/>
              </a:spcAft>
              <a:buNone/>
              <a:defRPr sz="1275" b="0">
                <a:solidFill>
                  <a:srgbClr val="17375D"/>
                </a:solidFill>
                <a:latin typeface="Calibri"/>
                <a:ea typeface="Calibri"/>
                <a:cs typeface="Calibri"/>
              </a:defRPr>
            </a:pPr>
            <a:r>
              <a:rPr sz="1275" b="0">
                <a:solidFill>
                  <a:srgbClr val="17375D"/>
                </a:solidFill>
                <a:latin typeface="Calibri"/>
                <a:ea typeface="Calibri"/>
                <a:cs typeface="Calibri"/>
              </a:rPr>
              <a:t>Código y documentación</a:t>
            </a:r>
          </a:p>
        </p:txBody>
      </p:sp>
      <p:sp>
        <p:nvSpPr>
          <p:cNvPr id="10" name="TextBox 9">
            <a:extLst xmlns:a="http://schemas.openxmlformats.org/drawingml/2006/main">
              <a:ext uri="{FF2B5EF4-FFF2-40B4-BE49-F238E27FC236}">
                <a16:creationId xmlns:a16="http://schemas.microsoft.com/office/drawing/2014/main" id="{6CB327F6-6D7D-40F2-BBEA-9B1D50B966FE}"/>
              </a:ext>
            </a:extLst>
          </p:cNvPr>
          <p:cNvSpPr>
            <a:spLocks xmlns:a="http://schemas.openxmlformats.org/drawingml/2006/main" noGrp="1"/>
          </p:cNvSpPr>
          <p:nvPr/>
        </p:nvSpPr>
        <p:spPr>
          <a:xfrm xmlns:a="http://schemas.openxmlformats.org/drawingml/2006/main">
            <a:off x="502920" y="4389120"/>
            <a:ext cx="8138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spcBef>
                <a:spcPts val="0"/>
              </a:spcBef>
              <a:spcAft>
                <a:spcPts val="0"/>
              </a:spcAft>
              <a:buNone/>
              <a:defRPr sz="1125" b="0">
                <a:solidFill>
                  <a:srgbClr val="17375D"/>
                </a:solidFill>
                <a:latin typeface="Calibri"/>
                <a:ea typeface="Calibri"/>
                <a:cs typeface="Calibri"/>
              </a:defRPr>
            </a:pPr>
            <a:r>
              <a:rPr sz="1125" b="0">
                <a:solidFill>
                  <a:srgbClr val="17375D"/>
                </a:solidFill>
                <a:latin typeface="Calibri"/>
                <a:ea typeface="Calibri"/>
                <a:cs typeface="Calibri"/>
              </a:rPr>
              <a:t>Equipo 2 · José J. Romero · Roberto I. Ávila · Amaru S. Agüero · Esteban A. González</a:t>
            </a:r>
          </a:p>
        </p:txBody>
      </p:sp>
      <p:sp>
        <p:nvSpPr>
          <p:cNvPr id="810" name="Referencias científicas">
            <a:extLst xmlns:a="http://schemas.openxmlformats.org/drawingml/2006/main">
              <a:ext uri="{FF2B5EF4-FFF2-40B4-BE49-F238E27FC236}">
                <a16:creationId xmlns:a16="http://schemas.microsoft.com/office/drawing/2014/main" id="{FFE9D03F-C96C-40DD-828F-DA09A8830180}"/>
              </a:ext>
            </a:extLst>
          </p:cNvPr>
          <p:cNvSpPr>
            <a:spLocks xmlns:a="http://schemas.openxmlformats.org/drawingml/2006/main" noGrp="1"/>
          </p:cNvSpPr>
          <p:nvPr/>
        </p:nvSpPr>
        <p:spPr>
          <a:xfrm xmlns:a="http://schemas.openxmlformats.org/drawingml/2006/main">
            <a:off x="502920" y="4718304"/>
            <a:ext cx="813816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defRPr sz="975" b="0">
                <a:solidFill>
                  <a:srgbClr val="526277"/>
                </a:solidFill>
                <a:latin typeface="Calibri"/>
                <a:ea typeface="Calibri"/>
                <a:cs typeface="Calibri"/>
              </a:defRPr>
            </a:pPr>
            <a:r>
              <a:rPr sz="975" b="0">
                <a:solidFill>
                  <a:srgbClr val="526277"/>
                </a:solidFill>
                <a:latin typeface="Calibri"/>
                <a:ea typeface="Calibri"/>
                <a:cs typeface="Calibri"/>
              </a:rPr>
              <a:t>Resultados expuestos: inventario auditado y descriptivos de las observaciones SINCA.</a:t>
            </a:r>
          </a:p>
        </p:txBody>
      </p:sp>
    </p:spTree>
    <p:extLst>
      <p:ext uri="{BB962C8B-B14F-4D97-AF65-F5344CB8AC3E}">
        <p14:creationId xmlns:p14="http://schemas.microsoft.com/office/powerpoint/2010/main" val="785384284"/>
      </p:ext>
    </p:extLst>
  </p:cSld>
</p:sld>
</file>

<file path=ppt/slides/slide17.xml><?xml version="1.0" encoding="utf-8"?>
<p:sld xmlns:p="http://schemas.openxmlformats.org/presentationml/2006/main" showMasterSp="0">
  <p:cSld>
    <p:spTree>
      <p:nvGrpSpPr>
        <p:cNvPr id="1" name=""/>
        <p:cNvGrpSpPr/>
        <p:nvPr/>
      </p:nvGrpSpPr>
      <p:grpSpPr>
        <a:xfrm xmlns:a="http://schemas.openxmlformats.org/drawingml/2006/main"/>
      </p:grpSpPr>
      <p:sp>
        <p:nvSpPr>
          <p:cNvPr id="3" name="Cabecera azul UC">
            <a:extLst xmlns:a="http://schemas.openxmlformats.org/drawingml/2006/main">
              <a:ext uri="{FF2B5EF4-FFF2-40B4-BE49-F238E27FC236}">
                <a16:creationId xmlns:a16="http://schemas.microsoft.com/office/drawing/2014/main" id="{3486DB9C-93DE-456A-BF48-2757BBD61ACE}"/>
              </a:ext>
            </a:extLst>
          </p:cNvPr>
          <p:cNvSpPr>
            <a:spLocks xmlns:a="http://schemas.openxmlformats.org/drawingml/2006/main" noGrp="1"/>
          </p:cNvSpPr>
          <p:nvPr/>
        </p:nvSpPr>
        <p:spPr>
          <a:xfrm xmlns:a="http://schemas.openxmlformats.org/drawingml/2006/main">
            <a:off x="158742" y="0"/>
            <a:ext cx="8985258" cy="1007195"/>
          </a:xfrm>
          <a:prstGeom xmlns:a="http://schemas.openxmlformats.org/drawingml/2006/main" prst="rect">
            <a:avLst/>
          </a:prstGeom>
          <a:solidFill xmlns:a="http://schemas.openxmlformats.org/drawingml/2006/main">
            <a:srgbClr val="017EDF"/>
          </a:solidFill>
          <a:ln xmlns:a="http://schemas.openxmlformats.org/drawingml/2006/main">
            <a:noFill/>
          </a:ln>
        </p:spPr>
      </p:sp>
      <p:sp>
        <p:nvSpPr>
          <p:cNvPr id="4" name="Rectángulo 9">
            <a:extLst xmlns:a="http://schemas.openxmlformats.org/drawingml/2006/main">
              <a:ext uri="{FF2B5EF4-FFF2-40B4-BE49-F238E27FC236}">
                <a16:creationId xmlns:a16="http://schemas.microsoft.com/office/drawing/2014/main" id="{2DE33766-2918-41FC-A1B9-B4BF483C8974}"/>
              </a:ext>
            </a:extLst>
          </p:cNvPr>
          <p:cNvSpPr>
            <a:spLocks xmlns:a="http://schemas.openxmlformats.org/drawingml/2006/main" noGrp="1"/>
          </p:cNvSpPr>
          <p:nvPr/>
        </p:nvSpPr>
        <p:spPr>
          <a:xfrm xmlns:a="http://schemas.openxmlformats.org/drawingml/2006/main">
            <a:off x="0" y="149945"/>
            <a:ext cx="158742" cy="857250"/>
          </a:xfrm>
          <a:prstGeom xmlns:a="http://schemas.openxmlformats.org/drawingml/2006/main" prst="rect">
            <a:avLst/>
          </a:prstGeom>
          <a:solidFill xmlns:a="http://schemas.openxmlformats.org/drawingml/2006/main">
            <a:srgbClr val="FFE2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ángulo 7">
            <a:extLst xmlns:a="http://schemas.openxmlformats.org/drawingml/2006/main">
              <a:ext uri="{FF2B5EF4-FFF2-40B4-BE49-F238E27FC236}">
                <a16:creationId xmlns:a16="http://schemas.microsoft.com/office/drawing/2014/main" id="{3BCD4458-45E8-4C73-A3B6-249CEEFBDB7B}"/>
              </a:ext>
            </a:extLst>
          </p:cNvPr>
          <p:cNvSpPr>
            <a:spLocks xmlns:a="http://schemas.openxmlformats.org/drawingml/2006/main" noGrp="1"/>
          </p:cNvSpPr>
          <p:nvPr/>
        </p:nvSpPr>
        <p:spPr>
          <a:xfrm xmlns:a="http://schemas.openxmlformats.org/drawingml/2006/main" flipV="1">
            <a:off x="169334" y="4871120"/>
            <a:ext cx="8815911" cy="177311"/>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6" name="Rectángulo 10">
            <a:extLst xmlns:a="http://schemas.openxmlformats.org/drawingml/2006/main">
              <a:ext uri="{FF2B5EF4-FFF2-40B4-BE49-F238E27FC236}">
                <a16:creationId xmlns:a16="http://schemas.microsoft.com/office/drawing/2014/main" id="{A18DC9E6-BD6D-4FE1-AEC0-9715BEE3912A}"/>
              </a:ext>
            </a:extLst>
          </p:cNvPr>
          <p:cNvSpPr>
            <a:spLocks xmlns:a="http://schemas.openxmlformats.org/drawingml/2006/main" noGrp="1"/>
          </p:cNvSpPr>
          <p:nvPr/>
        </p:nvSpPr>
        <p:spPr>
          <a:xfrm xmlns:a="http://schemas.openxmlformats.org/drawingml/2006/main" flipV="1">
            <a:off x="7200957" y="4871118"/>
            <a:ext cx="1119038" cy="177313"/>
          </a:xfrm>
          <a:prstGeom xmlns:a="http://schemas.openxmlformats.org/drawingml/2006/main" prst="rect">
            <a:avLst/>
          </a:prstGeom>
          <a:solidFill xmlns:a="http://schemas.openxmlformats.org/drawingml/2006/main">
            <a:srgbClr val="3366CC"/>
          </a:solidFill>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7" name="Título 1">
            <a:extLst xmlns:a="http://schemas.openxmlformats.org/drawingml/2006/main">
              <a:ext uri="{FF2B5EF4-FFF2-40B4-BE49-F238E27FC236}">
                <a16:creationId xmlns:a16="http://schemas.microsoft.com/office/drawing/2014/main" id="{438D0FA2-1899-4EDF-9FA4-D1742768DFC6}"/>
              </a:ext>
            </a:extLst>
          </p:cNvPr>
          <p:cNvSpPr>
            <a:spLocks xmlns:a="http://schemas.openxmlformats.org/drawingml/2006/main" noGrp="1"/>
          </p:cNvSpPr>
          <p:nvPr>
            <p:ph type="title" idx="0"/>
          </p:nvPr>
        </p:nvSpPr>
        <p:spPr>
          <a:xfrm xmlns:a="http://schemas.openxmlformats.org/drawingml/2006/main">
            <a:off x="457200" y="149945"/>
            <a:ext cx="8229600" cy="857250"/>
          </a:xfrm>
        </p:spPr>
        <p:txBody>
          <a:bodyPr xmlns:a="http://schemas.openxmlformats.org/drawingml/2006/main" wrap="square" anchor="ctr">
            <a:noAutofit/>
          </a:bodyPr>
          <a:lstStyle xmlns:a="http://schemas.openxmlformats.org/drawingml/2006/main"/>
          <a:p xmlns:a="http://schemas.openxmlformats.org/drawingml/2006/main">
            <a:pPr>
              <a:spcBef>
                <a:spcPts val="0"/>
              </a:spcBef>
              <a:spcAft>
                <a:spcPts val="0"/>
              </a:spcAft>
              <a:buNone/>
              <a:defRPr sz="1900" b="1">
                <a:solidFill>
                  <a:srgbClr val="FFFFFF"/>
                </a:solidFill>
                <a:latin typeface="Calibri"/>
                <a:ea typeface="Calibri"/>
                <a:cs typeface="Calibri"/>
              </a:defRPr>
            </a:pPr>
            <a:r>
              <a:rPr sz="1900" b="1">
                <a:solidFill>
                  <a:srgbClr val="FFFFFF"/>
                </a:solidFill>
                <a:latin typeface="Calibri"/>
                <a:ea typeface="Calibri"/>
                <a:cs typeface="Calibri"/>
              </a:rPr>
              <a:t>Referencias metodológicas</a:t>
            </a:r>
          </a:p>
        </p:txBody>
      </p:sp>
      <p:sp>
        <p:nvSpPr>
          <p:cNvPr id="8" name="Referencia 1">
            <a:extLst xmlns:a="http://schemas.openxmlformats.org/drawingml/2006/main">
              <a:ext uri="{FF2B5EF4-FFF2-40B4-BE49-F238E27FC236}">
                <a16:creationId xmlns:a16="http://schemas.microsoft.com/office/drawing/2014/main" id="{EBEED375-0C9C-479E-B580-46CB936C370B}"/>
              </a:ext>
            </a:extLst>
          </p:cNvPr>
          <p:cNvSpPr>
            <a:spLocks xmlns:a="http://schemas.openxmlformats.org/drawingml/2006/main" noGrp="1"/>
          </p:cNvSpPr>
          <p:nvPr/>
        </p:nvSpPr>
        <p:spPr>
          <a:xfrm xmlns:a="http://schemas.openxmlformats.org/drawingml/2006/main">
            <a:off x="552450" y="12096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E293B"/>
                </a:solidFill>
                <a:latin typeface="Calibri"/>
                <a:ea typeface="Calibri"/>
                <a:cs typeface="Calibri"/>
              </a:defRPr>
            </a:pPr>
            <a:r>
              <a:rPr sz="1200" b="1">
                <a:solidFill>
                  <a:srgbClr val="1E293B"/>
                </a:solidFill>
                <a:latin typeface="Calibri"/>
                <a:ea typeface="Calibri"/>
                <a:cs typeface="Calibri"/>
              </a:rPr>
              <a:t>van Donkelaar et al. (2016)</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rPr>
              <a:t>Global Estimates of Fine Particulate Matter using a Combined Geophysical-Statistical Method with Information from Satellites, Models, and Monitors. Environmental Science &amp; Technology, 50(7), 3762–3772.</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62b1759d368543b9"/>
              </a:rPr>
              <a:t>https://doi.org/10.1021/acs.est.5b05833</a:t>
            </a:r>
          </a:p>
        </p:txBody>
      </p:sp>
      <p:sp>
        <p:nvSpPr>
          <p:cNvPr id="9" name="Referencia 2">
            <a:extLst xmlns:a="http://schemas.openxmlformats.org/drawingml/2006/main">
              <a:ext uri="{FF2B5EF4-FFF2-40B4-BE49-F238E27FC236}">
                <a16:creationId xmlns:a16="http://schemas.microsoft.com/office/drawing/2014/main" id="{3E1FED69-7EED-4B66-BF8A-C96B49E46B2F}"/>
              </a:ext>
            </a:extLst>
          </p:cNvPr>
          <p:cNvSpPr>
            <a:spLocks xmlns:a="http://schemas.openxmlformats.org/drawingml/2006/main" noGrp="1"/>
          </p:cNvSpPr>
          <p:nvPr/>
        </p:nvSpPr>
        <p:spPr>
          <a:xfrm xmlns:a="http://schemas.openxmlformats.org/drawingml/2006/main">
            <a:off x="552450" y="20097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E293B"/>
                </a:solidFill>
                <a:latin typeface="Calibri"/>
                <a:ea typeface="Calibri"/>
                <a:cs typeface="Calibri"/>
              </a:defRPr>
            </a:pPr>
            <a:r>
              <a:rPr sz="1200" b="1">
                <a:solidFill>
                  <a:srgbClr val="1E293B"/>
                </a:solidFill>
                <a:latin typeface="Calibri"/>
                <a:ea typeface="Calibri"/>
                <a:cs typeface="Calibri"/>
              </a:rPr>
              <a:t>Di et al. (2019)</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rPr>
              <a:t>An ensemble-based model of PM2.5 concentration across the contiguous United States with high spatiotemporal resolution. Environment International, 130, 104909.</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3f9f37d576064056"/>
              </a:rPr>
              <a:t>https://doi.org/10.1016/j.envint.2019.104909</a:t>
            </a:r>
          </a:p>
        </p:txBody>
      </p:sp>
      <p:sp>
        <p:nvSpPr>
          <p:cNvPr id="10" name="Referencia 3">
            <a:extLst xmlns:a="http://schemas.openxmlformats.org/drawingml/2006/main">
              <a:ext uri="{FF2B5EF4-FFF2-40B4-BE49-F238E27FC236}">
                <a16:creationId xmlns:a16="http://schemas.microsoft.com/office/drawing/2014/main" id="{598DCFA3-6B21-4EBC-AF9C-448BC1EA2D1E}"/>
              </a:ext>
            </a:extLst>
          </p:cNvPr>
          <p:cNvSpPr>
            <a:spLocks xmlns:a="http://schemas.openxmlformats.org/drawingml/2006/main" noGrp="1"/>
          </p:cNvSpPr>
          <p:nvPr/>
        </p:nvSpPr>
        <p:spPr>
          <a:xfrm xmlns:a="http://schemas.openxmlformats.org/drawingml/2006/main">
            <a:off x="552450" y="28098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E293B"/>
                </a:solidFill>
                <a:latin typeface="Calibri"/>
                <a:ea typeface="Calibri"/>
                <a:cs typeface="Calibri"/>
              </a:defRPr>
            </a:pPr>
            <a:r>
              <a:rPr sz="1200" b="1">
                <a:solidFill>
                  <a:srgbClr val="1E293B"/>
                </a:solidFill>
                <a:latin typeface="Calibri"/>
                <a:ea typeface="Calibri"/>
                <a:cs typeface="Calibri"/>
              </a:rPr>
              <a:t>Roberts et al. (2017)</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rPr>
              <a:t>Cross-validation strategies for data with temporal, spatial, hierarchical, or phylogenetic structure. Ecography, 40(8), 913–929.</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0c7e88b74107497f"/>
              </a:rPr>
              <a:t>https://doi.org/10.1111/ecog.02881</a:t>
            </a:r>
          </a:p>
        </p:txBody>
      </p:sp>
      <p:sp>
        <p:nvSpPr>
          <p:cNvPr id="11" name="Referencia 4">
            <a:extLst xmlns:a="http://schemas.openxmlformats.org/drawingml/2006/main">
              <a:ext uri="{FF2B5EF4-FFF2-40B4-BE49-F238E27FC236}">
                <a16:creationId xmlns:a16="http://schemas.microsoft.com/office/drawing/2014/main" id="{495865A1-C119-46A1-9A1E-47B0C2168648}"/>
              </a:ext>
            </a:extLst>
          </p:cNvPr>
          <p:cNvSpPr>
            <a:spLocks xmlns:a="http://schemas.openxmlformats.org/drawingml/2006/main" noGrp="1"/>
          </p:cNvSpPr>
          <p:nvPr/>
        </p:nvSpPr>
        <p:spPr>
          <a:xfrm xmlns:a="http://schemas.openxmlformats.org/drawingml/2006/main">
            <a:off x="552450" y="3609975"/>
            <a:ext cx="8039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200">
                <a:solidFill>
                  <a:srgbClr val="1E293B"/>
                </a:solidFill>
                <a:latin typeface="Calibri"/>
                <a:ea typeface="Calibri"/>
                <a:cs typeface="Calibri"/>
              </a:defRPr>
            </a:pPr>
            <a:r>
              <a:rPr sz="1200" b="1">
                <a:solidFill>
                  <a:srgbClr val="1E293B"/>
                </a:solidFill>
                <a:latin typeface="Calibri"/>
                <a:ea typeface="Calibri"/>
                <a:cs typeface="Calibri"/>
              </a:rPr>
              <a:t>Varma y Simon (2006)</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rPr>
              <a:t>Bias in error estimation when using cross-validation for model selection. BMC Bioinformatics, 7, 91.</a:t>
            </a:r>
          </a:p>
          <a:p xmlns:a="http://schemas.openxmlformats.org/drawingml/2006/main">
            <a:pPr>
              <a:buNone/>
              <a:defRPr sz="1200">
                <a:solidFill>
                  <a:srgbClr val="1E293B"/>
                </a:solidFill>
                <a:latin typeface="Calibri"/>
                <a:ea typeface="Calibri"/>
                <a:cs typeface="Calibri"/>
              </a:defRPr>
            </a:pPr>
            <a:r>
              <a:rPr sz="1200">
                <a:solidFill>
                  <a:srgbClr val="1E293B"/>
                </a:solidFill>
                <a:latin typeface="Calibri"/>
                <a:ea typeface="Calibri"/>
                <a:cs typeface="Calibri"/>
                <a:hlinkClick xmlns:r="http://schemas.openxmlformats.org/officeDocument/2006/relationships" r:id="Rbe455a8442814712"/>
              </a:rPr>
              <a:t>https://doi.org/10.1186/1471-2105-7-91</a:t>
            </a:r>
          </a:p>
        </p:txBody>
      </p:sp>
      <p:sp>
        <p:nvSpPr>
          <p:cNvPr id="12" name="Fuente y alcance">
            <a:extLst xmlns:a="http://schemas.openxmlformats.org/drawingml/2006/main">
              <a:ext uri="{FF2B5EF4-FFF2-40B4-BE49-F238E27FC236}">
                <a16:creationId xmlns:a16="http://schemas.microsoft.com/office/drawing/2014/main" id="{33061D36-9025-411C-9512-6A9D25EEAF5D}"/>
              </a:ext>
            </a:extLst>
          </p:cNvPr>
          <p:cNvSpPr>
            <a:spLocks xmlns:a="http://schemas.openxmlformats.org/drawingml/2006/main" noGrp="1"/>
          </p:cNvSpPr>
          <p:nvPr/>
        </p:nvSpPr>
        <p:spPr>
          <a:xfrm xmlns:a="http://schemas.openxmlformats.org/drawingml/2006/main">
            <a:off x="548640" y="46005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878">
                <a:solidFill>
                  <a:srgbClr val="526277"/>
                </a:solidFill>
                <a:latin typeface="Calibri"/>
                <a:ea typeface="Calibri"/>
                <a:cs typeface="Calibri"/>
              </a:defRPr>
            </a:pPr>
            <a:r>
              <a:rPr sz="878">
                <a:solidFill>
                  <a:srgbClr val="526277"/>
                </a:solidFill>
                <a:latin typeface="Calibri"/>
                <a:ea typeface="Calibri"/>
                <a:cs typeface="Calibri"/>
              </a:rPr>
              <a:t>Fuentes locales y precisiones de cada diapositiva disponibles en las notas del presentador.</a:t>
            </a:r>
          </a:p>
        </p:txBody>
      </p:sp>
    </p:spTree>
    <p:extLst>
      <p:ext uri="{BB962C8B-B14F-4D97-AF65-F5344CB8AC3E}">
        <p14:creationId xmlns:p14="http://schemas.microsoft.com/office/powerpoint/2010/main" val="3227572768"/>
      </p:ext>
    </p:extLst>
  </p:cSld>
</p:sld>
</file>

<file path=ppt/theme/theme1.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2026-09-26T16:02:36.2800000Z</dcterms:created>
  <dcterms:modified xsi:type="dcterms:W3CDTF">2026-09-26T16:02:36.2800000Z</dcterms:modified>
</coreProperties>
</file>