
<file path=[Content_Types].xml><?xml version="1.0" encoding="utf-8"?>
<Types xmlns="http://schemas.openxmlformats.org/package/2006/content-types">
  <Default Extension="xml" ContentType="application/vnd.openxmlformats-package.core-properties+xml"/>
  <Default Extension="emf" ContentType="image/x-emf"/>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5.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f51cb982fd4aae" /><Relationship Type="http://schemas.openxmlformats.org/officeDocument/2006/relationships/extended-properties" Target="/docProps/app.xml" Id="R5697919b0c5e4b37" /><Relationship Type="http://schemas.openxmlformats.org/officeDocument/2006/relationships/officeDocument" Target="/ppt/presentation.xml" Id="R4597ef5f97174b90" /></Relationships>
</file>

<file path=ppt/presentation.xml><?xml version="1.0" encoding="utf-8"?>
<p:presentation xmlns:p="http://schemas.openxmlformats.org/presentationml/2006/main">
  <p:sldMasterIdLst>
    <p:sldMasterId xmlns:r="http://schemas.openxmlformats.org/officeDocument/2006/relationships" id="2147483648" r:id="Rd260694d3b3140ba"/>
    <p:sldMasterId xmlns:r="http://schemas.openxmlformats.org/officeDocument/2006/relationships" id="2147483657" r:id="R5c3bb334f58c4922"/>
    <p:sldMasterId xmlns:r="http://schemas.openxmlformats.org/officeDocument/2006/relationships" id="2147483659" r:id="R3b80acc52d504f9c"/>
  </p:sldMasterIdLst>
  <p:notesMasterIdLst>
    <p:notesMasterId xmlns:r="http://schemas.openxmlformats.org/officeDocument/2006/relationships" r:id="R53f4558234d64460"/>
  </p:notesMasterIdLst>
  <p:sldIdLst>
    <p:sldId xmlns:r="http://schemas.openxmlformats.org/officeDocument/2006/relationships" id="256" r:id="R44b34c794e1e483e"/>
    <p:sldId xmlns:r="http://schemas.openxmlformats.org/officeDocument/2006/relationships" id="257" r:id="Rf328e9eb95f846db"/>
    <p:sldId xmlns:r="http://schemas.openxmlformats.org/officeDocument/2006/relationships" id="258" r:id="R603b62f30e19452b"/>
    <p:sldId xmlns:r="http://schemas.openxmlformats.org/officeDocument/2006/relationships" id="259" r:id="R258f4adfb68a4b5d"/>
    <p:sldId xmlns:r="http://schemas.openxmlformats.org/officeDocument/2006/relationships" id="260" r:id="Rb12bb9489f1e4c9e"/>
    <p:sldId xmlns:r="http://schemas.openxmlformats.org/officeDocument/2006/relationships" id="261" r:id="R32586a9a08f94163"/>
    <p:sldId xmlns:r="http://schemas.openxmlformats.org/officeDocument/2006/relationships" id="262" r:id="R8b1922179c41442f"/>
    <p:sldId xmlns:r="http://schemas.openxmlformats.org/officeDocument/2006/relationships" id="263" r:id="R5f39b92ed6314f6f"/>
    <p:sldId xmlns:r="http://schemas.openxmlformats.org/officeDocument/2006/relationships" id="264" r:id="R9816c59e84564acc"/>
    <p:sldId xmlns:r="http://schemas.openxmlformats.org/officeDocument/2006/relationships" id="265" r:id="R18593f952dcc496c"/>
    <p:sldId xmlns:r="http://schemas.openxmlformats.org/officeDocument/2006/relationships" id="266" r:id="R3f6f970ac98d43ea"/>
    <p:sldId xmlns:r="http://schemas.openxmlformats.org/officeDocument/2006/relationships" id="267" r:id="Rf542a36d193449b8"/>
    <p:sldId xmlns:r="http://schemas.openxmlformats.org/officeDocument/2006/relationships" id="268" r:id="Rf87b826385544c34"/>
    <p:sldId xmlns:r="http://schemas.openxmlformats.org/officeDocument/2006/relationships" id="269" r:id="R30ac77d523274950"/>
    <p:sldId xmlns:r="http://schemas.openxmlformats.org/officeDocument/2006/relationships" id="270" r:id="R597a30ee9b6b4027"/>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85f1dcb12c274eed" /><Relationship Type="http://schemas.openxmlformats.org/officeDocument/2006/relationships/slideMaster" Target="/ppt/slideMasters/slideMaster1.xml" Id="Rd260694d3b3140ba" /><Relationship Type="http://schemas.openxmlformats.org/officeDocument/2006/relationships/slideMaster" Target="/ppt/slideMasters/slideMaster2.xml" Id="R5c3bb334f58c4922" /><Relationship Type="http://schemas.openxmlformats.org/officeDocument/2006/relationships/slideMaster" Target="/ppt/slideMasters/slideMaster3.xml" Id="R3b80acc52d504f9c" /><Relationship Type="http://schemas.openxmlformats.org/officeDocument/2006/relationships/notesMaster" Target="/ppt/notesMasters/notesMaster1.xml" Id="R53f4558234d64460" /><Relationship Type="http://schemas.openxmlformats.org/officeDocument/2006/relationships/presProps" Target="/ppt/presProps.xml" Id="R9658f6e497814c62" /><Relationship Type="http://schemas.openxmlformats.org/officeDocument/2006/relationships/viewProps" Target="/ppt/viewProps.xml" Id="Raed886bd8d594e00" /><Relationship Type="http://schemas.openxmlformats.org/officeDocument/2006/relationships/tableStyles" Target="/ppt/tableStyles.xml" Id="R4f38651a763f4a03" /><Relationship Type="http://schemas.openxmlformats.org/officeDocument/2006/relationships/slide" Target="/ppt/slides/slide1.xml" Id="R44b34c794e1e483e" /><Relationship Type="http://schemas.openxmlformats.org/officeDocument/2006/relationships/slide" Target="/ppt/slides/slide2.xml" Id="Rf328e9eb95f846db" /><Relationship Type="http://schemas.openxmlformats.org/officeDocument/2006/relationships/slide" Target="/ppt/slides/slide3.xml" Id="R603b62f30e19452b" /><Relationship Type="http://schemas.openxmlformats.org/officeDocument/2006/relationships/slide" Target="/ppt/slides/slide4.xml" Id="R258f4adfb68a4b5d" /><Relationship Type="http://schemas.openxmlformats.org/officeDocument/2006/relationships/slide" Target="/ppt/slides/slide5.xml" Id="Rb12bb9489f1e4c9e" /><Relationship Type="http://schemas.openxmlformats.org/officeDocument/2006/relationships/slide" Target="/ppt/slides/slide6.xml" Id="R32586a9a08f94163" /><Relationship Type="http://schemas.openxmlformats.org/officeDocument/2006/relationships/slide" Target="/ppt/slides/slide7.xml" Id="R8b1922179c41442f" /><Relationship Type="http://schemas.openxmlformats.org/officeDocument/2006/relationships/slide" Target="/ppt/slides/slide8.xml" Id="R5f39b92ed6314f6f" /><Relationship Type="http://schemas.openxmlformats.org/officeDocument/2006/relationships/slide" Target="/ppt/slides/slide9.xml" Id="R9816c59e84564acc" /><Relationship Type="http://schemas.openxmlformats.org/officeDocument/2006/relationships/slide" Target="/ppt/slides/slide10.xml" Id="R18593f952dcc496c" /><Relationship Type="http://schemas.openxmlformats.org/officeDocument/2006/relationships/slide" Target="/ppt/slides/slide11.xml" Id="R3f6f970ac98d43ea" /><Relationship Type="http://schemas.openxmlformats.org/officeDocument/2006/relationships/slide" Target="/ppt/slides/slide12.xml" Id="Rf542a36d193449b8" /><Relationship Type="http://schemas.openxmlformats.org/officeDocument/2006/relationships/slide" Target="/ppt/slides/slide13.xml" Id="Rf87b826385544c34" /><Relationship Type="http://schemas.openxmlformats.org/officeDocument/2006/relationships/slide" Target="/ppt/slides/slide14.xml" Id="R30ac77d523274950" /><Relationship Type="http://schemas.openxmlformats.org/officeDocument/2006/relationships/slide" Target="/ppt/slides/slide15.xml" Id="R597a30ee9b6b40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5.xml" Id="Rc6f4fe9d43ba43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5.xml><?xml version="1.0" encoding="utf-8"?>
<a:theme xmlns:a="http://schemas.openxmlformats.org/drawingml/2006/main" name="Plantilla UC">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883c4f1ca24efc" /><Relationship Type="http://schemas.openxmlformats.org/officeDocument/2006/relationships/notesMaster" Target="/ppt/notesMasters/notesMaster1.xml" Id="R23610642df0f43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55526d2c9943cc" /><Relationship Type="http://schemas.openxmlformats.org/officeDocument/2006/relationships/notesMaster" Target="/ppt/notesMasters/notesMaster1.xml" Id="R5c7b95abc9944e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da1a1a0db74be2" /><Relationship Type="http://schemas.openxmlformats.org/officeDocument/2006/relationships/notesMaster" Target="/ppt/notesMasters/notesMaster1.xml" Id="R62631f565d9e41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338cd6f8064727" /><Relationship Type="http://schemas.openxmlformats.org/officeDocument/2006/relationships/notesMaster" Target="/ppt/notesMasters/notesMaster1.xml" Id="R7bd7462c64e1491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b70beb589c4163" /><Relationship Type="http://schemas.openxmlformats.org/officeDocument/2006/relationships/notesMaster" Target="/ppt/notesMasters/notesMaster1.xml" Id="R1da33246f0e540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a4447d946c4262" /><Relationship Type="http://schemas.openxmlformats.org/officeDocument/2006/relationships/notesMaster" Target="/ppt/notesMasters/notesMaster1.xml" Id="R0276749594014b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e64f25085e44037" /><Relationship Type="http://schemas.openxmlformats.org/officeDocument/2006/relationships/notesMaster" Target="/ppt/notesMasters/notesMaster1.xml" Id="R2d3d3d251a4e44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95ffee6ca7d4cf7" /><Relationship Type="http://schemas.openxmlformats.org/officeDocument/2006/relationships/notesMaster" Target="/ppt/notesMasters/notesMaster1.xml" Id="R62661304fb75413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76444266fa444d" /><Relationship Type="http://schemas.openxmlformats.org/officeDocument/2006/relationships/notesMaster" Target="/ppt/notesMasters/notesMaster1.xml" Id="R025777be23d14c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e08ad67563140a7" /><Relationship Type="http://schemas.openxmlformats.org/officeDocument/2006/relationships/notesMaster" Target="/ppt/notesMasters/notesMaster1.xml" Id="R9b1ff2be27aa4ef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b87ca1b61646e1" /><Relationship Type="http://schemas.openxmlformats.org/officeDocument/2006/relationships/notesMaster" Target="/ppt/notesMasters/notesMaster1.xml" Id="Rfb0a3b89387549d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025b6e6558e424a" /><Relationship Type="http://schemas.openxmlformats.org/officeDocument/2006/relationships/notesMaster" Target="/ppt/notesMasters/notesMaster1.xml" Id="Rf2844631c9a448a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b3e4d3f9f1046d2" /><Relationship Type="http://schemas.openxmlformats.org/officeDocument/2006/relationships/notesMaster" Target="/ppt/notesMasters/notesMaster1.xml" Id="R1e679e5f94174bb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3c8e818d0994de4" /><Relationship Type="http://schemas.openxmlformats.org/officeDocument/2006/relationships/notesMaster" Target="/ppt/notesMasters/notesMaster1.xml" Id="R70d0a02b8fdc49f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4b4a0b3d98c4eac" /><Relationship Type="http://schemas.openxmlformats.org/officeDocument/2006/relationships/notesMaster" Target="/ppt/notesMasters/notesMaster1.xml" Id="R4c3933e7cfce47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1 · 00:00–00:15 · 15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Hola, somos el Equipo 2. Presentamos nuestra propuesta para estimar la calidad del aire en Chile. Hoy mostramos el problema, el diseño metodológico y resultados descriptivos de la preparación de datos.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Informe del problema y PPT avance 3, portada. Alcance de esta presentación: resultados descriptivos del inventario auditado.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2 · 00:15–00:55 · 40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El problema que abordamos es conocer la concentración de contaminantes en lugares y momentos donde no hay una medición directa. SINCA entrega observaciones de referencia, pero su cobertura no es uniforme entre territorios ni contaminantes. Esa brecha limita la información disponible para investigación y decisiones ambientales. Nuestra propuesta combina observaciones y predictores para estimar concentraciones. El alcance es predictivo: una estimación precisa, por sí sola, no permite explicar las causas de la contaminación.</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Informe Entrega_problema_central_Equipo2.pdf, pp. 1–2; PPT avance 2, diapositiva 2; feedback 1, 01:00–03:29; feedback 2, 00:34–01:20.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3 · 00:55–01:30 · 35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La pregunta es si los datos satelitales, meteorológicos y territoriales permiten estimar concentraciones superficiales fuera de los puntos de monitoreo. La hipótesis es que estas fuentes aportan información complementaria. Organizamos el trabajo en tres objetivos: consolidar datos trazables, comparar métodos de estimación y evaluar su generalización espacial y temporal. El alcance general considera seis contaminantes; el desarrollo metodológico documentado se concentra inicialmente en PM dos coma cinco y dióxido de nitrógeno.</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Informe, pregunta y objetivos; PPT avance 3 y notas de D2/D4. Seis contaminantes como alcance; PM2.5/NO2 como desarrollo documentado.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4 · 01:30–02:15 · 45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Dos antecedentes orientan la propuesta. Van Donkelaar y colaboradores combinaron satélites, modelos y monitores para estimar material particulado fino a escala global. Su aporte es mostrar cómo integrar fuentes que observan dimensiones distintas del fenómeno. Di y colaboradores desarrollaron un ensamble de modelos para PM dos coma cinco en Estados Unidos, con alta resolución espacial y temporal. Esto motiva comparar familias de métodos. Ambos trabajos estudian otros contextos: trasladar sus enfoques a Chile exige evaluar nuestra disponibilidad de datos y demostrar la generalización local.</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van Donkelaar, A., et al. (2016). Global Estimates of Fine Particulate Matter using a Combined Geophysical-Statistical Method with Information from Satellites, Models, and Monitors. Environmental Science &amp; Technology, 50(7), 3762–3772. DOI: 10.1021/acs.est.5b05833.</a:t>
            </a:r>
          </a:p>
          <a:p xmlns:a="http://schemas.openxmlformats.org/drawingml/2006/main">
            <a:pPr algn="l">
              <a:spcAft>
                <a:spcPts val="500"/>
              </a:spcAft>
              <a:buNone/>
            </a:pPr>
            <a:r>
              <a:rPr sz="1100" b="0">
                <a:solidFill>
                  <a:srgbClr val="000000"/>
                </a:solidFill>
                <a:latin typeface="Calibri"/>
                <a:ea typeface="Calibri"/>
                <a:cs typeface="Calibri"/>
              </a:rPr>
              <a:t>Di, Q., et al. (2019). An ensemble-based model of PM2.5 concentration across the contiguous United States with high spatiotemporal resolution. Environment International, 130, 104909. DOI: 10.1016/j.envint.2019.104909.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5 · 02:15–03:00 · 45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El flujo comienza con fuentes terrestres, satelitales, atmosféricas y territoriales. Primero preservamos los originales y registramos su procedencia. Después revisamos calidad, unidades y convenciones horarias, y vinculamos las observaciones con su celda. El panel integra predictores por contaminante y hora para alimentar los modelos y, posteriormente, el producto territorial. La unidad metodológica es una celda de cero coma cero un grados por hora. Esa grilla es de aproximadamente un kilómetro; no implica que todas las fuentes tengan esa resolución nativa.</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PPT avance 3, D3–D4 y notas; docs/modelo_1km_horario.qmd, resumen y decisiones; docs/PREPARACION_MODELADO.md. La comprobación de unidades/reloj no se infiere del inventario del 15-sep.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6 · 03:00–03:45 · 45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Para cuantificar el avance utilizamos una sola instantánea, auditada al quince de septiembre. SINCA reúne ciento siete estaciones y cuatrocientas tres series de estación y contaminante. MERRA dos meteorológico contiene trescientos diecisiete meses completos, entre enero de dos mil y mayo de dos mil veintiséis. El derivado de precipitación de ERA5-Land tiene trescientos veinte meses completos y septiembre parcial, con doscientas dieciséis horas. Este corte permite comparar fuentes de manera consistente; no representa el estado de las descargas al día de hoy.</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Air-Pollution/logs/control_preparacion_modelado_20260915.json y docs/PREPARACION_MODELADO.md; resumen auditado: sources_table y sinca_inventory. Instantánea auditada el 15-sep-2026. MERRA-2: enero 2000–mayo 2026, 317 meses; ERA5-Land: enero 2000–agosto 2026, 320 meses + 216 horas de septiembre. No mezclar actualización ERA5-Land del 16-sep.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7 · 03:45–04:20 · 35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Estas barras muestran que los contaminantes tienen distinta disponibilidad dentro del inventario. PM dos coma cinco aparece en ciento siete series, mientras que monóxido de carbono tiene cuarenta y seis. Una estación puede medir varios contaminantes: por eso las cuatrocientas tres series no equivalen a cuatrocientas tres estaciones. Tampoco describen el porcentaje del territorio cubierto. El hallazgo descriptivo es que la cantidad de series cambia considerablemente según el contaminante.</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Air-Pollution/logs/control_preparacion_modelado_20260915.json y docs/PREPARACION_MODELADO.md; resumen auditado: series_by_pollutant. Series PM2.5=107, PM10=87, SO2=59, NO2=54, O3=50, CO=46; total: 403. Denominador de estaciones únicas: 107. No es indicador de cobertura territorial.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8 · 04:20–05:05 · 45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Al separar calidad y ausencia, las noventa y cuatro coma tres millones de filas seleccionadas contienen cuarenta y dos coma siete millones de mediciones y cincuenta y uno coma seis millones de faltantes explícitos. Sobre el mismo total, los faltantes representan aproximadamente cincuenta y cuatro coma siete por ciento. Las mediciones se distinguen en validadas, preliminares y no validadas. Por lo tanto, volumen de filas no equivale a volumen de datos utilizables: antes de modelar hay que establecer qué estados se admitirán y documentar sus efectos.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Air-Pollution/logs/control_preparacion_modelado_20260915.json y docs/PREPARACION_MODELADO.md; resumen auditado: selected_rows=94.311.869; observed_measurements=42.708.344; explicit_missing=51.603.525. Denominador común: 94.311.869: validadas 20,93 %; preliminares 8,61 %; no validadas 15,75 %; faltantes 54,72 %. Estos son estados del inventario, no una certificación de aptitud para modelar. Feedback 3, 01:09–02:55.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9 · 05:05–06:05 · 60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La comparación contempla diez enfoques con aportes diferentes. LightGBM, Random Forest, la red neuronal y el proceso gaussiano permiten representar relaciones flexibles. GWR, regresión con kriging y el modelo lineal mixto incorporan estructuras locales, espaciales o temporales. La interpolación de estaciones vecinas entrega una línea base sencilla. LightGBM de alertas se orienta al percentil ochenta y a excedencias; el apilado combina tres modelos mediante ridge. No buscamos solamente ordenar errores: también interesa qué aporta cada familia. Sus objetivos y tamaños de entrenamiento difieren, de modo que debemos explicitar la comparabilidad. Esta presentación no muestra resultados predictivos.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PPT avance 3, D5 y notas; scripts_modelo_1km/README.md, decisiones; feedback 3, 03:15–04:33. Orden en PPT previa: LGBM, RF, MLP, GP, GWR, regresión-kriging, mixto, interpolación, LGBM alertas, apilado. GP: Matérn; mixto: efectos por hora local; apilado: ridge sobre LGBM + RF + MLP. No afirmar validación anidada completa de bases ni ganador.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10 · 06:05–06:55 · 50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Cada protocolo responde a una pregunta distinta. LOSO retira un sitio completo; las estaciones que comparten celda salen juntas. LBO también excluye los monitores del entorno, con un radio de diez kilómetros en el diseño actual. LRO reserva una región y LPO un bloque histórico de cuatro años. Este último evalúa transferencia entre periodos, no pronóstico hacia el futuro. En cada partición deben recalcularse los predictores de vecindario sin las estaciones excluidas. Las transformaciones aprendidas e imputaciones deben ajustarse dentro del entrenamiento para preservar la independencia de la evaluación.</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docs/modelo_1km_horario.qmd, líneas 2315–2356: protocolos LOSO, LBO, LRO, LPO; LBO 10 km por omisión.</a:t>
            </a:r>
          </a:p>
          <a:p xmlns:a="http://schemas.openxmlformats.org/drawingml/2006/main">
            <a:pPr algn="l">
              <a:spcAft>
                <a:spcPts val="500"/>
              </a:spcAft>
              <a:buNone/>
            </a:pPr>
            <a:r>
              <a:rPr sz="1100" b="0">
                <a:solidFill>
                  <a:srgbClr val="000000"/>
                </a:solidFill>
                <a:latin typeface="Calibri"/>
                <a:ea typeface="Calibri"/>
                <a:cs typeface="Calibri"/>
              </a:rPr>
              <a:t>Roberts, D. R., et al. (2017). Cross-validation strategies for data with temporal, spatial, hierarchical, or phylogenetic structure. Ecography, 40(8), 913–929. DOI: 10.1111/ecog.02881.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11 · 06:55–07:35 · 40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Para cerrar el protocolo proponemos utilizar RMSE como métrica principal, acompañado de MAE, sesgo y R cuadrado. Esta elección aún debe confirmarse y justificarse según el contaminante y el uso del producto. La selección de modelos y la evaluación final deben permanecer separadas. Además del promedio, evaluaremos episodios extremos y territorios con poco monitoreo. La incertidumbre acompañará la interpretación territorial. Son decisiones metodológicas por formalizar, no resultados que estemos dando por demostrados.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Propuesta para esta presentación; RMSE como principal no consta acordado en las fuentes previas. Informe: segundo comentario del profesor; feedback 3, 04:14–04:20 y 05:16–05:59.</a:t>
            </a:r>
          </a:p>
          <a:p xmlns:a="http://schemas.openxmlformats.org/drawingml/2006/main">
            <a:pPr algn="l">
              <a:spcAft>
                <a:spcPts val="500"/>
              </a:spcAft>
              <a:buNone/>
            </a:pPr>
            <a:r>
              <a:rPr sz="1100" b="0">
                <a:solidFill>
                  <a:srgbClr val="000000"/>
                </a:solidFill>
                <a:latin typeface="Calibri"/>
                <a:ea typeface="Calibri"/>
                <a:cs typeface="Calibri"/>
              </a:rPr>
              <a:t>Varma, S., &amp; Simon, R. (2006). Bias in error estimation when using cross-validation for model selection. BMC Bioinformatics, 7, 91. DOI: 10.1186/1471-2105-7-91.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12 · 07:35–08:20 · 45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Proponemos agregar las celdas a cada comuna ponderando por el área de intersección. El promedio usaría las predicciones válidas y se acompañaría de la fracción del área comunal efectivamente representada. Así, una cobertura parcial quedaría visible en lugar de confundirse con una comuna completamente observada. La regla y el umbral mínimo de cobertura siguen pendientes de acuerdo y verificación. Este promedio representa concentración ambiental territorial; no equivale directamente a exposición individual ni a un promedio ponderado por población.</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Propuesta para esta presentación: ponderación por área de intersección y reporte de fracción cubierta; no aparece implementada ni acordada en PPT avance 3 ni documentos metodológicos revisados. Feedback 3, 05:16–05:59, pide formalizar agregación celda→comuna. Distinguir promedio territorial de exposición poblacional.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13 · 08:20–09:10 · 50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El análisis ético conecta riesgos con personas y decisiones concretas. Las comunidades con menos monitoreo podrían recibir estimaciones menos confiables; proponemos transparentar cobertura e incertidumbre y evaluar diferencias territoriales. Para municipios e investigadores, una falsa precisión puede inducir interpretaciones equivocadas: debemos distinguir estimación, observación y límites de uso. Para proveedores de datos y revisores, la trazabilidad permite revisar fuentes y transformaciones. Trabajar con datos ambientales no elimina los riesgos. Hoy mostramos evidencia de disponibilidad; la equidad del desempeño y la confiabilidad de las predicciones deberán demostrarse.</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Semana 6: Clase 4 Alcances éticos, análisis por etapas y principios; Semana 7: Ética de IA y datos y Directrices para ciencia de datos responsable. Feedback 3, 05:16–05:40. Mitigaciones descritas como propuestas, sin afirmar equidad de desempeño ni privacidad certificada.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14 · 09:10–09:35 · 25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La retroalimentación ayudó a ordenar el problema y reforzar la validación. Hoy añadimos una caracterización cuantitativa del inventario. Los próximos pasos son cerrar la calidad admisible y la regla comunal, completar una comparación independiente y comunicar extremos e incertidumbre. El repositorio reúne las fuentes y decisiones para revisar el trabajo. Muchas gracias.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Feedback 2, 00:34–01:20 reconoce mejoras de problema/literatura/validación; feedback 3, 01:09–02:55 pide inventario cuantitativo y 05:42–05:59 enumera siguientes pasos. Repositorio: https://github.com/AmaruSimonAgueroJimenez/Air-Pollution.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15 · 09:35–09:40 · 5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Las referencias completas quedan disponibles para su revisión.</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van Donkelaar et al. (2016), DOI 10.1021/acs.est.5b05833; Di et al. (2019), DOI 10.1016/j.envint.2019.104909; Roberts et al. (2017), DOI 10.1111/ecog.02881; Varma y Simon (2006), DOI 10.1186/1471-2105-7-91. Referencias completas en las notas de D4, D10, D11.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9f4ab4559e4aa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09b910643f34de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f10081730f34fe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65078a450574ec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f0a9d9f6c994b7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8e447025330442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f5e695bfc4a419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8f7d357e0e34d3f" /><Relationship Type="http://schemas.openxmlformats.org/officeDocument/2006/relationships/image" Target="/ppt/media/image.emf" Id="Rf0ebd6853c3c40c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5a667c7390064ff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3.xml" Id="Rcd9c10481e2249b5" /></Relationships>
</file>

<file path=ppt/slideLayouts/slideLayout1.xml><?xml version="1.0" encoding="utf-8"?>
<p:sldLayout xmlns:p="http://schemas.openxmlformats.org/presentationml/2006/main" preserve="1">
  <p:cSld name="1_Diseño personalizado">
    <p:spTree>
      <p:nvGrpSpPr>
        <p:cNvPr id="1" name=""/>
        <p:cNvGrpSpPr/>
        <p:nvPr/>
      </p:nvGrpSpPr>
      <p:grpSpPr>
        <a:xfrm xmlns:a="http://schemas.openxmlformats.org/drawingml/2006/main"/>
      </p:grpSpPr>
      <p:sp>
        <p:nvSpPr>
          <p:cNvPr id="4" name="Rectángulo 3">
            <a:extLst xmlns:a="http://schemas.openxmlformats.org/drawingml/2006/main">
              <a:ext uri="{FF2B5EF4-FFF2-40B4-BE49-F238E27FC236}">
                <a16:creationId xmlns:a16="http://schemas.microsoft.com/office/drawing/2014/main" id="{11D74EF3-F3C4-4518-9850-4AC98F847821}"/>
              </a:ext>
            </a:extLst>
          </p:cNvPr>
          <p:cNvSpPr>
            <a:spLocks xmlns:a="http://schemas.openxmlformats.org/drawingml/2006/main" noGrp="1"/>
          </p:cNvSpPr>
          <p:nvPr/>
        </p:nvSpPr>
        <p:spPr>
          <a:xfrm xmlns:a="http://schemas.openxmlformats.org/drawingml/2006/main">
            <a:off x="169334" y="1007195"/>
            <a:ext cx="8974667" cy="2385786"/>
          </a:xfrm>
          <a:prstGeom xmlns:a="http://schemas.openxmlformats.org/drawingml/2006/main" prst="rect">
            <a:avLst/>
          </a:prstGeom>
          <a:solidFill xmlns:a="http://schemas.openxmlformats.org/drawingml/2006/main">
            <a:schemeClr val="tx1">
              <a:lumMod val="50000"/>
              <a:lumOff val="50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5D5024FA-933B-4411-9DA3-B0823AB355A1}"/>
              </a:ext>
            </a:extLst>
          </p:cNvPr>
          <p:cNvSpPr>
            <a:spLocks xmlns:a="http://schemas.openxmlformats.org/drawingml/2006/main" noGrp="1"/>
          </p:cNvSpPr>
          <p:nvPr>
            <p:ph type="title" idx="0" hasCustomPrompt="1"/>
          </p:nvPr>
        </p:nvSpPr>
        <p:spPr>
          <a:xfrm xmlns:a="http://schemas.openxmlformats.org/drawingml/2006/main">
            <a:off x="457200" y="1755587"/>
            <a:ext cx="8229600" cy="857250"/>
          </a:xfrm>
        </p:spPr>
        <p:txBody>
          <a:bodyPr xmlns:a="http://schemas.openxmlformats.org/drawingml/2006/main"/>
          <a:lstStyle xmlns:a="http://schemas.openxmlformats.org/drawingml/2006/main"/>
          <a:p xmlns:a="http://schemas.openxmlformats.org/drawingml/2006/main">
            <a:r>
              <a:t>Clic para editar nombre de capítulo</a:t>
            </a:r>
            <a:endParaRPr/>
          </a:p>
        </p:txBody>
      </p:sp>
    </p:spTree>
  </p:cSld>
</p:sldLayout>
</file>

<file path=ppt/slideLayouts/slideLayout2.xml><?xml version="1.0" encoding="utf-8"?>
<p:sldLayout xmlns:p="http://schemas.openxmlformats.org/presentationml/2006/main" type="obj" preserve="1">
  <p:cSld name="Desarrollo de tema">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2386E501-FF66-43BB-AED5-13B49DEF795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 para editar título</a:t>
            </a:r>
            <a:endParaRPr/>
          </a:p>
        </p:txBody>
      </p:sp>
      <p:sp>
        <p:nvSpPr>
          <p:cNvPr id="3" name="Marcador de contenido 2">
            <a:extLst xmlns:a="http://schemas.openxmlformats.org/drawingml/2006/main">
              <a:ext uri="{FF2B5EF4-FFF2-40B4-BE49-F238E27FC236}">
                <a16:creationId xmlns:a16="http://schemas.microsoft.com/office/drawing/2014/main" id="{81632413-7143-4900-AB27-B9BCA8D681E1}"/>
              </a:ext>
            </a:extLst>
          </p:cNvPr>
          <p:cNvSpPr>
            <a:spLocks xmlns:a="http://schemas.openxmlformats.org/drawingml/2006/main" noGrp="1"/>
          </p:cNvSpPr>
          <p:nvPr>
            <p:ph idx="1"/>
          </p:nvPr>
        </p:nvSpPr>
        <p:spPr>
          <a:xfrm xmlns:a="http://schemas.openxmlformats.org/drawingml/2006/main">
            <a:off x="457200" y="1200150"/>
            <a:ext cx="8229600" cy="3081338"/>
          </a:xfrm>
        </p:spPr>
        <p:txBody>
          <a:bodyPr xmlns:a="http://schemas.openxmlformats.org/drawingml/2006/main"/>
          <a:lstStyle xmlns:a="http://schemas.openxmlformats.org/drawingml/2006/main">
            <a:lvl1pPr>
              <a:buNone/>
              <a:defRPr sz="2600"/>
            </a:lvl1pPr>
            <a:lvl2pPr>
              <a:buNone/>
              <a:defRPr sz="2600"/>
            </a:lvl2pPr>
          </a:lstStyle>
          <a:p xmlns:a="http://schemas.openxmlformats.org/drawingml/2006/main">
            <a:pPr lvl="0">
              <a:buNone/>
            </a:pPr>
            <a:r>
              <a:t>Haga clic para modificar el estilo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Marcador de fecha 3">
            <a:extLst xmlns:a="http://schemas.openxmlformats.org/drawingml/2006/main">
              <a:ext uri="{FF2B5EF4-FFF2-40B4-BE49-F238E27FC236}">
                <a16:creationId xmlns:a16="http://schemas.microsoft.com/office/drawing/2014/main" id="{B93365C3-E196-4611-B9AD-B16A44D9B260}"/>
              </a:ext>
            </a:extLst>
          </p:cNvPr>
          <p:cNvSpPr>
            <a:spLocks xmlns:a="http://schemas.openxmlformats.org/drawingml/2006/main" noGrp="1"/>
          </p:cNvSpPr>
          <p:nvPr>
            <p:ph type="dt" idx="10"/>
          </p:nvPr>
        </p:nvSpPr>
        <p:spPr>
          <a:xfrm xmlns:a="http://schemas.openxmlformats.org/drawingml/2006/main">
            <a:off x="170818" y="4767263"/>
            <a:ext cx="800392"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64248F72-65B5-4A4E-B82F-2E1A76141EF9}" type="datetimeFigureOut">
              <a:t>23/5/19</a:t>
            </a:fld>
            <a:endParaRPr/>
          </a:p>
        </p:txBody>
      </p:sp>
      <p:sp>
        <p:nvSpPr>
          <p:cNvPr id="5" name="Marcador de pie de página 4">
            <a:extLst xmlns:a="http://schemas.openxmlformats.org/drawingml/2006/main">
              <a:ext uri="{FF2B5EF4-FFF2-40B4-BE49-F238E27FC236}">
                <a16:creationId xmlns:a16="http://schemas.microsoft.com/office/drawing/2014/main" id="{ABE03A30-47E3-4E49-BD07-2378B4BF7593}"/>
              </a:ext>
            </a:extLst>
          </p:cNvPr>
          <p:cNvSpPr>
            <a:spLocks xmlns:a="http://schemas.openxmlformats.org/drawingml/2006/main" noGrp="1"/>
          </p:cNvSpPr>
          <p:nvPr>
            <p:ph type="ftr" idx="11"/>
          </p:nvPr>
        </p:nvSpPr>
        <p:spPr>
          <a:xfrm xmlns:a="http://schemas.openxmlformats.org/drawingml/2006/main">
            <a:off x="1627373" y="4767263"/>
            <a:ext cx="28956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7D990DB9-3863-408D-BAED-BB09377A1FD8}"/>
              </a:ext>
            </a:extLst>
          </p:cNvPr>
          <p:cNvSpPr>
            <a:spLocks xmlns:a="http://schemas.openxmlformats.org/drawingml/2006/main" noGrp="1"/>
          </p:cNvSpPr>
          <p:nvPr>
            <p:ph type="sldNum" idx="12"/>
          </p:nvPr>
        </p:nvSpPr>
        <p:spPr>
          <a:xfrm xmlns:a="http://schemas.openxmlformats.org/drawingml/2006/main">
            <a:off x="971211" y="4767263"/>
            <a:ext cx="656163"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4637D2F8-05A4-FD4C-AF87-1FA0BA229BE2}" type="slidenum">
              <a:t>‹Nr.›</a:t>
            </a:fld>
            <a:endParaRPr/>
          </a:p>
        </p:txBody>
      </p:sp>
    </p:spTree>
  </p:cSld>
</p:sldLayout>
</file>

<file path=ppt/slideLayouts/slideLayout3.xml><?xml version="1.0" encoding="utf-8"?>
<p:sldLayout xmlns:p="http://schemas.openxmlformats.org/presentationml/2006/main" type="twoObj" preserve="1">
  <p:cSld name="Comparación">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6FD1FBB2-33A0-484C-A1CB-E5F093C91A0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 para editar título</a:t>
            </a:r>
            <a:endParaRPr/>
          </a:p>
        </p:txBody>
      </p:sp>
      <p:sp>
        <p:nvSpPr>
          <p:cNvPr id="3" name="Marcador de contenido 2">
            <a:extLst xmlns:a="http://schemas.openxmlformats.org/drawingml/2006/main">
              <a:ext uri="{FF2B5EF4-FFF2-40B4-BE49-F238E27FC236}">
                <a16:creationId xmlns:a16="http://schemas.microsoft.com/office/drawing/2014/main" id="{ADD5C3E8-87CE-42E8-A594-938374B09CCF}"/>
              </a:ext>
            </a:extLst>
          </p:cNvPr>
          <p:cNvSpPr>
            <a:spLocks xmlns:a="http://schemas.openxmlformats.org/drawingml/2006/main" noGrp="1"/>
          </p:cNvSpPr>
          <p:nvPr>
            <p:ph idx="1"/>
          </p:nvPr>
        </p:nvSpPr>
        <p:spPr>
          <a:xfrm xmlns:a="http://schemas.openxmlformats.org/drawingml/2006/main">
            <a:off x="457200" y="1200150"/>
            <a:ext cx="4038600" cy="3087291"/>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Haga clic para modificar el estilo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Marcador de contenido 3">
            <a:extLst xmlns:a="http://schemas.openxmlformats.org/drawingml/2006/main">
              <a:ext uri="{FF2B5EF4-FFF2-40B4-BE49-F238E27FC236}">
                <a16:creationId xmlns:a16="http://schemas.microsoft.com/office/drawing/2014/main" id="{14F58E0A-A176-4353-8301-226F0FD12614}"/>
              </a:ext>
            </a:extLst>
          </p:cNvPr>
          <p:cNvSpPr>
            <a:spLocks xmlns:a="http://schemas.openxmlformats.org/drawingml/2006/main" noGrp="1"/>
          </p:cNvSpPr>
          <p:nvPr>
            <p:ph idx="2"/>
          </p:nvPr>
        </p:nvSpPr>
        <p:spPr>
          <a:xfrm xmlns:a="http://schemas.openxmlformats.org/drawingml/2006/main">
            <a:off x="4648200" y="1200151"/>
            <a:ext cx="4038600" cy="3087290"/>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Haga clic para modificar el estilo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5" name="Marcador de fecha 4">
            <a:extLst xmlns:a="http://schemas.openxmlformats.org/drawingml/2006/main">
              <a:ext uri="{FF2B5EF4-FFF2-40B4-BE49-F238E27FC236}">
                <a16:creationId xmlns:a16="http://schemas.microsoft.com/office/drawing/2014/main" id="{303EA75D-8561-4AFF-A458-CD853CAA3F3B}"/>
              </a:ext>
            </a:extLst>
          </p:cNvPr>
          <p:cNvSpPr>
            <a:spLocks xmlns:a="http://schemas.openxmlformats.org/drawingml/2006/main" noGrp="1"/>
          </p:cNvSpPr>
          <p:nvPr>
            <p:ph type="dt" idx="10"/>
          </p:nvPr>
        </p:nvSpPr>
        <p:spPr>
          <a:xfrm xmlns:a="http://schemas.openxmlformats.org/drawingml/2006/main">
            <a:off x="170818" y="4767263"/>
            <a:ext cx="800392"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64248F72-65B5-4A4E-B82F-2E1A76141EF9}" type="datetimeFigureOut">
              <a:t>23/5/19</a:t>
            </a:fld>
            <a:endParaRPr/>
          </a:p>
        </p:txBody>
      </p:sp>
      <p:sp>
        <p:nvSpPr>
          <p:cNvPr id="6" name="Marcador de pie de página 5">
            <a:extLst xmlns:a="http://schemas.openxmlformats.org/drawingml/2006/main">
              <a:ext uri="{FF2B5EF4-FFF2-40B4-BE49-F238E27FC236}">
                <a16:creationId xmlns:a16="http://schemas.microsoft.com/office/drawing/2014/main" id="{B542DD47-223B-432E-85CD-A82852A3E557}"/>
              </a:ext>
            </a:extLst>
          </p:cNvPr>
          <p:cNvSpPr>
            <a:spLocks xmlns:a="http://schemas.openxmlformats.org/drawingml/2006/main" noGrp="1"/>
          </p:cNvSpPr>
          <p:nvPr>
            <p:ph type="ftr" idx="11"/>
          </p:nvPr>
        </p:nvSpPr>
        <p:spPr>
          <a:xfrm xmlns:a="http://schemas.openxmlformats.org/drawingml/2006/main">
            <a:off x="1627373" y="4767263"/>
            <a:ext cx="28956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Marcador de número de diapositiva 6">
            <a:extLst xmlns:a="http://schemas.openxmlformats.org/drawingml/2006/main">
              <a:ext uri="{FF2B5EF4-FFF2-40B4-BE49-F238E27FC236}">
                <a16:creationId xmlns:a16="http://schemas.microsoft.com/office/drawing/2014/main" id="{833CAC4E-5896-4641-870A-E64CC1D29EE5}"/>
              </a:ext>
            </a:extLst>
          </p:cNvPr>
          <p:cNvSpPr>
            <a:spLocks xmlns:a="http://schemas.openxmlformats.org/drawingml/2006/main" noGrp="1"/>
          </p:cNvSpPr>
          <p:nvPr>
            <p:ph type="sldNum" idx="12"/>
          </p:nvPr>
        </p:nvSpPr>
        <p:spPr>
          <a:xfrm xmlns:a="http://schemas.openxmlformats.org/drawingml/2006/main">
            <a:off x="971211" y="4767263"/>
            <a:ext cx="656163"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4637D2F8-05A4-FD4C-AF87-1FA0BA229BE2}" type="slidenum">
              <a:t>‹Nr.›</a:t>
            </a:fld>
            <a:endParaRPr/>
          </a:p>
        </p:txBody>
      </p:sp>
    </p:spTree>
  </p:cSld>
</p:sldLayout>
</file>

<file path=ppt/slideLayouts/slideLayout4.xml><?xml version="1.0" encoding="utf-8"?>
<p:sldLayout xmlns:p="http://schemas.openxmlformats.org/presentationml/2006/main" preserve="1" userDrawn="1">
  <p:cSld name="Texto y objet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D2866A36-1CC3-4C07-91AA-5B40DD8028A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 para editar título</a:t>
            </a:r>
            <a:endParaRPr/>
          </a:p>
        </p:txBody>
      </p:sp>
      <p:sp>
        <p:nvSpPr>
          <p:cNvPr id="3" name="Marcador de texto 2">
            <a:extLst xmlns:a="http://schemas.openxmlformats.org/drawingml/2006/main">
              <a:ext uri="{FF2B5EF4-FFF2-40B4-BE49-F238E27FC236}">
                <a16:creationId xmlns:a16="http://schemas.microsoft.com/office/drawing/2014/main" id="{44309B57-39E6-4A52-9195-79983AA68D91}"/>
              </a:ext>
            </a:extLst>
          </p:cNvPr>
          <p:cNvSpPr>
            <a:spLocks xmlns:a="http://schemas.openxmlformats.org/drawingml/2006/main" noGrp="1"/>
          </p:cNvSpPr>
          <p:nvPr>
            <p:ph type="body" idx="1"/>
          </p:nvPr>
        </p:nvSpPr>
        <p:spPr>
          <a:xfrm xmlns:a="http://schemas.openxmlformats.org/drawingml/2006/main">
            <a:off x="457200" y="1151335"/>
            <a:ext cx="4040188" cy="977420"/>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Haga clic para modificar el estilo de texto del patrón</a:t>
            </a:r>
          </a:p>
        </p:txBody>
      </p:sp>
      <p:sp>
        <p:nvSpPr>
          <p:cNvPr id="4" name="Marcador de contenido 3">
            <a:extLst xmlns:a="http://schemas.openxmlformats.org/drawingml/2006/main">
              <a:ext uri="{FF2B5EF4-FFF2-40B4-BE49-F238E27FC236}">
                <a16:creationId xmlns:a16="http://schemas.microsoft.com/office/drawing/2014/main" id="{19B2B9D6-3F56-49A2-A1BE-0E449A705055}"/>
              </a:ext>
            </a:extLst>
          </p:cNvPr>
          <p:cNvSpPr>
            <a:spLocks xmlns:a="http://schemas.openxmlformats.org/drawingml/2006/main" noGrp="1"/>
          </p:cNvSpPr>
          <p:nvPr>
            <p:ph idx="2"/>
          </p:nvPr>
        </p:nvSpPr>
        <p:spPr>
          <a:xfrm xmlns:a="http://schemas.openxmlformats.org/drawingml/2006/main">
            <a:off x="457200" y="2176006"/>
            <a:ext cx="4040188" cy="2111435"/>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Haga clic para modificar el estilo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7" name="Marcador de fecha 6">
            <a:extLst xmlns:a="http://schemas.openxmlformats.org/drawingml/2006/main">
              <a:ext uri="{FF2B5EF4-FFF2-40B4-BE49-F238E27FC236}">
                <a16:creationId xmlns:a16="http://schemas.microsoft.com/office/drawing/2014/main" id="{C4B2FF24-EBA1-44F1-92B7-23EE3C27FEF4}"/>
              </a:ext>
            </a:extLst>
          </p:cNvPr>
          <p:cNvSpPr>
            <a:spLocks xmlns:a="http://schemas.openxmlformats.org/drawingml/2006/main" noGrp="1"/>
          </p:cNvSpPr>
          <p:nvPr>
            <p:ph type="dt" idx="10"/>
          </p:nvPr>
        </p:nvSpPr>
        <p:spPr>
          <a:xfrm xmlns:a="http://schemas.openxmlformats.org/drawingml/2006/main">
            <a:off x="170818" y="4767263"/>
            <a:ext cx="800392"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64248F72-65B5-4A4E-B82F-2E1A76141EF9}" type="datetimeFigureOut">
              <a:t>23/5/19</a:t>
            </a:fld>
            <a:endParaRPr/>
          </a:p>
        </p:txBody>
      </p:sp>
      <p:sp>
        <p:nvSpPr>
          <p:cNvPr id="8" name="Marcador de pie de página 7">
            <a:extLst xmlns:a="http://schemas.openxmlformats.org/drawingml/2006/main">
              <a:ext uri="{FF2B5EF4-FFF2-40B4-BE49-F238E27FC236}">
                <a16:creationId xmlns:a16="http://schemas.microsoft.com/office/drawing/2014/main" id="{FE3F1C2E-48B4-4D04-934C-5C3904A481D6}"/>
              </a:ext>
            </a:extLst>
          </p:cNvPr>
          <p:cNvSpPr>
            <a:spLocks xmlns:a="http://schemas.openxmlformats.org/drawingml/2006/main" noGrp="1"/>
          </p:cNvSpPr>
          <p:nvPr>
            <p:ph type="ftr" idx="11"/>
          </p:nvPr>
        </p:nvSpPr>
        <p:spPr>
          <a:xfrm xmlns:a="http://schemas.openxmlformats.org/drawingml/2006/main">
            <a:off x="1627373" y="4767263"/>
            <a:ext cx="28956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9" name="Marcador de número de diapositiva 8">
            <a:extLst xmlns:a="http://schemas.openxmlformats.org/drawingml/2006/main">
              <a:ext uri="{FF2B5EF4-FFF2-40B4-BE49-F238E27FC236}">
                <a16:creationId xmlns:a16="http://schemas.microsoft.com/office/drawing/2014/main" id="{C2BA8734-6282-4694-9B7E-EDE58D4FF587}"/>
              </a:ext>
            </a:extLst>
          </p:cNvPr>
          <p:cNvSpPr>
            <a:spLocks xmlns:a="http://schemas.openxmlformats.org/drawingml/2006/main" noGrp="1"/>
          </p:cNvSpPr>
          <p:nvPr>
            <p:ph type="sldNum" idx="12"/>
          </p:nvPr>
        </p:nvSpPr>
        <p:spPr>
          <a:xfrm xmlns:a="http://schemas.openxmlformats.org/drawingml/2006/main">
            <a:off x="971211" y="4767263"/>
            <a:ext cx="656163"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4637D2F8-05A4-FD4C-AF87-1FA0BA229BE2}" type="slidenum">
              <a:t>‹Nr.›</a:t>
            </a:fld>
            <a:endParaRPr/>
          </a:p>
        </p:txBody>
      </p:sp>
      <p:sp>
        <p:nvSpPr>
          <p:cNvPr id="11" name="Marcador de SmartArt 10">
            <a:extLst xmlns:a="http://schemas.openxmlformats.org/drawingml/2006/main">
              <a:ext uri="{FF2B5EF4-FFF2-40B4-BE49-F238E27FC236}">
                <a16:creationId xmlns:a16="http://schemas.microsoft.com/office/drawing/2014/main" id="{8E8D14A6-C242-4177-A9FB-88085EE02D51}"/>
              </a:ext>
            </a:extLst>
          </p:cNvPr>
          <p:cNvSpPr>
            <a:spLocks xmlns:a="http://schemas.openxmlformats.org/drawingml/2006/main" noGrp="1"/>
          </p:cNvSpPr>
          <p:nvPr>
            <p:ph type="dgm" idx="13"/>
          </p:nvPr>
        </p:nvSpPr>
        <p:spPr>
          <a:xfrm xmlns:a="http://schemas.openxmlformats.org/drawingml/2006/main">
            <a:off x="4559300" y="1151335"/>
            <a:ext cx="4127500" cy="3136106"/>
          </a:xfrm>
        </p:spPr>
        <p:txBody>
          <a:bodyPr xmlns:a="http://schemas.openxmlformats.org/drawingml/2006/main"/>
          <a:lstStyle xmlns:a="http://schemas.openxmlformats.org/drawingml/2006/main"/>
          <a:p xmlns:a="http://schemas.openxmlformats.org/drawingml/2006/main">
            <a:r>
              <a:t>Haga clic en el icono para agregar un gráfico SmartArt</a:t>
            </a:r>
            <a:endParaRPr/>
          </a:p>
        </p:txBody>
      </p:sp>
    </p:spTree>
  </p:cSld>
</p:sldLayout>
</file>

<file path=ppt/slideLayouts/slideLayout5.xml><?xml version="1.0" encoding="utf-8"?>
<p:sldLayout xmlns:p="http://schemas.openxmlformats.org/presentationml/2006/main" preserve="1" userDrawn="1">
  <p:cSld name="Diseño con gráfic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1D2C7A89-0720-4008-8CBD-329E1BFC4CF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 para editar título</a:t>
            </a:r>
            <a:endParaRPr/>
          </a:p>
        </p:txBody>
      </p:sp>
      <p:sp>
        <p:nvSpPr>
          <p:cNvPr id="3" name="Marcador de fecha 2">
            <a:extLst xmlns:a="http://schemas.openxmlformats.org/drawingml/2006/main">
              <a:ext uri="{FF2B5EF4-FFF2-40B4-BE49-F238E27FC236}">
                <a16:creationId xmlns:a16="http://schemas.microsoft.com/office/drawing/2014/main" id="{C342D720-67E1-46F3-BB3F-7423AC5347C7}"/>
              </a:ext>
            </a:extLst>
          </p:cNvPr>
          <p:cNvSpPr>
            <a:spLocks xmlns:a="http://schemas.openxmlformats.org/drawingml/2006/main" noGrp="1"/>
          </p:cNvSpPr>
          <p:nvPr>
            <p:ph type="dt" idx="10"/>
          </p:nvPr>
        </p:nvSpPr>
        <p:spPr>
          <a:xfrm xmlns:a="http://schemas.openxmlformats.org/drawingml/2006/main">
            <a:off x="170818" y="4767263"/>
            <a:ext cx="800392"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64248F72-65B5-4A4E-B82F-2E1A76141EF9}" type="datetimeFigureOut">
              <a:t>23/5/19</a:t>
            </a:fld>
            <a:endParaRPr/>
          </a:p>
        </p:txBody>
      </p:sp>
      <p:sp>
        <p:nvSpPr>
          <p:cNvPr id="4" name="Marcador de pie de página 3">
            <a:extLst xmlns:a="http://schemas.openxmlformats.org/drawingml/2006/main">
              <a:ext uri="{FF2B5EF4-FFF2-40B4-BE49-F238E27FC236}">
                <a16:creationId xmlns:a16="http://schemas.microsoft.com/office/drawing/2014/main" id="{0FB557D1-C712-4743-9F7A-38D7663BA1BA}"/>
              </a:ext>
            </a:extLst>
          </p:cNvPr>
          <p:cNvSpPr>
            <a:spLocks xmlns:a="http://schemas.openxmlformats.org/drawingml/2006/main" noGrp="1"/>
          </p:cNvSpPr>
          <p:nvPr>
            <p:ph type="ftr" idx="11"/>
          </p:nvPr>
        </p:nvSpPr>
        <p:spPr>
          <a:xfrm xmlns:a="http://schemas.openxmlformats.org/drawingml/2006/main">
            <a:off x="1627373" y="4767263"/>
            <a:ext cx="28956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5" name="Marcador de número de diapositiva 4">
            <a:extLst xmlns:a="http://schemas.openxmlformats.org/drawingml/2006/main">
              <a:ext uri="{FF2B5EF4-FFF2-40B4-BE49-F238E27FC236}">
                <a16:creationId xmlns:a16="http://schemas.microsoft.com/office/drawing/2014/main" id="{4288DF9F-267C-44B6-8C8F-F76B9C9C5300}"/>
              </a:ext>
            </a:extLst>
          </p:cNvPr>
          <p:cNvSpPr>
            <a:spLocks xmlns:a="http://schemas.openxmlformats.org/drawingml/2006/main" noGrp="1"/>
          </p:cNvSpPr>
          <p:nvPr>
            <p:ph type="sldNum" idx="12"/>
          </p:nvPr>
        </p:nvSpPr>
        <p:spPr>
          <a:xfrm xmlns:a="http://schemas.openxmlformats.org/drawingml/2006/main">
            <a:off x="971211" y="4767263"/>
            <a:ext cx="656163"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4637D2F8-05A4-FD4C-AF87-1FA0BA229BE2}" type="slidenum">
              <a:t>‹Nr.›</a:t>
            </a:fld>
            <a:endParaRPr/>
          </a:p>
        </p:txBody>
      </p:sp>
      <p:sp>
        <p:nvSpPr>
          <p:cNvPr id="7" name="Marcador de gráfico 6">
            <a:extLst xmlns:a="http://schemas.openxmlformats.org/drawingml/2006/main">
              <a:ext uri="{FF2B5EF4-FFF2-40B4-BE49-F238E27FC236}">
                <a16:creationId xmlns:a16="http://schemas.microsoft.com/office/drawing/2014/main" id="{B5052C0B-9611-4630-A98D-CB9955F51E9D}"/>
              </a:ext>
            </a:extLst>
          </p:cNvPr>
          <p:cNvSpPr>
            <a:spLocks xmlns:a="http://schemas.openxmlformats.org/drawingml/2006/main" noGrp="1"/>
          </p:cNvSpPr>
          <p:nvPr>
            <p:ph type="chart" idx="13"/>
          </p:nvPr>
        </p:nvSpPr>
        <p:spPr>
          <a:xfrm xmlns:a="http://schemas.openxmlformats.org/drawingml/2006/main">
            <a:off x="457200" y="1316811"/>
            <a:ext cx="8229600" cy="2970631"/>
          </a:xfrm>
        </p:spPr>
        <p:txBody>
          <a:bodyPr xmlns:a="http://schemas.openxmlformats.org/drawingml/2006/main"/>
          <a:lstStyle xmlns:a="http://schemas.openxmlformats.org/drawingml/2006/main"/>
          <a:p xmlns:a="http://schemas.openxmlformats.org/drawingml/2006/main">
            <a:r>
              <a:t>Haga clic en el icono para agregar un gráfico</a:t>
            </a:r>
            <a:endParaRPr/>
          </a:p>
        </p:txBody>
      </p:sp>
    </p:spTree>
  </p:cSld>
</p:sldLayout>
</file>

<file path=ppt/slideLayouts/slideLayout6.xml><?xml version="1.0" encoding="utf-8"?>
<p:sldLayout xmlns:p="http://schemas.openxmlformats.org/presentationml/2006/main" preserve="1" userDrawn="1">
  <p:cSld name="Sólo el títul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B2AC514E-B4B5-49AA-B533-BF5C2C1AB2B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 para editar título</a:t>
            </a:r>
            <a:endParaRPr/>
          </a:p>
        </p:txBody>
      </p:sp>
      <p:sp>
        <p:nvSpPr>
          <p:cNvPr id="3" name="Marcador de fecha 2">
            <a:extLst xmlns:a="http://schemas.openxmlformats.org/drawingml/2006/main">
              <a:ext uri="{FF2B5EF4-FFF2-40B4-BE49-F238E27FC236}">
                <a16:creationId xmlns:a16="http://schemas.microsoft.com/office/drawing/2014/main" id="{28E59C0D-C6AD-415E-8A27-DCDC187E3804}"/>
              </a:ext>
            </a:extLst>
          </p:cNvPr>
          <p:cNvSpPr>
            <a:spLocks xmlns:a="http://schemas.openxmlformats.org/drawingml/2006/main" noGrp="1"/>
          </p:cNvSpPr>
          <p:nvPr>
            <p:ph type="dt" idx="10"/>
          </p:nvPr>
        </p:nvSpPr>
        <p:spPr>
          <a:xfrm xmlns:a="http://schemas.openxmlformats.org/drawingml/2006/main">
            <a:off x="170818" y="4767263"/>
            <a:ext cx="800392"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64248F72-65B5-4A4E-B82F-2E1A76141EF9}" type="datetimeFigureOut">
              <a:t>23/5/19</a:t>
            </a:fld>
            <a:endParaRPr/>
          </a:p>
        </p:txBody>
      </p:sp>
      <p:sp>
        <p:nvSpPr>
          <p:cNvPr id="4" name="Marcador de pie de página 3">
            <a:extLst xmlns:a="http://schemas.openxmlformats.org/drawingml/2006/main">
              <a:ext uri="{FF2B5EF4-FFF2-40B4-BE49-F238E27FC236}">
                <a16:creationId xmlns:a16="http://schemas.microsoft.com/office/drawing/2014/main" id="{F2959088-1DF3-4070-908D-EED021A1E79B}"/>
              </a:ext>
            </a:extLst>
          </p:cNvPr>
          <p:cNvSpPr>
            <a:spLocks xmlns:a="http://schemas.openxmlformats.org/drawingml/2006/main" noGrp="1"/>
          </p:cNvSpPr>
          <p:nvPr>
            <p:ph type="ftr" idx="11"/>
          </p:nvPr>
        </p:nvSpPr>
        <p:spPr>
          <a:xfrm xmlns:a="http://schemas.openxmlformats.org/drawingml/2006/main">
            <a:off x="1627373" y="4767263"/>
            <a:ext cx="28956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5" name="Marcador de número de diapositiva 4">
            <a:extLst xmlns:a="http://schemas.openxmlformats.org/drawingml/2006/main">
              <a:ext uri="{FF2B5EF4-FFF2-40B4-BE49-F238E27FC236}">
                <a16:creationId xmlns:a16="http://schemas.microsoft.com/office/drawing/2014/main" id="{422FAE53-95CF-4657-9D7C-893C3D515C4F}"/>
              </a:ext>
            </a:extLst>
          </p:cNvPr>
          <p:cNvSpPr>
            <a:spLocks xmlns:a="http://schemas.openxmlformats.org/drawingml/2006/main" noGrp="1"/>
          </p:cNvSpPr>
          <p:nvPr>
            <p:ph type="sldNum" idx="12"/>
          </p:nvPr>
        </p:nvSpPr>
        <p:spPr>
          <a:xfrm xmlns:a="http://schemas.openxmlformats.org/drawingml/2006/main">
            <a:off x="971211" y="4767263"/>
            <a:ext cx="656163"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4637D2F8-05A4-FD4C-AF87-1FA0BA229BE2}" type="slidenum">
              <a:t>‹Nr.›</a:t>
            </a:fld>
            <a:endParaRPr/>
          </a:p>
        </p:txBody>
      </p:sp>
      <p:sp>
        <p:nvSpPr>
          <p:cNvPr id="6" name="Marcador de posición de imagen 2">
            <a:extLst xmlns:a="http://schemas.openxmlformats.org/drawingml/2006/main">
              <a:ext uri="{FF2B5EF4-FFF2-40B4-BE49-F238E27FC236}">
                <a16:creationId xmlns:a16="http://schemas.microsoft.com/office/drawing/2014/main" id="{0BA1E3E2-D5B0-482A-94A0-33B0A6AE125B}"/>
              </a:ext>
            </a:extLst>
          </p:cNvPr>
          <p:cNvSpPr>
            <a:spLocks xmlns:a="http://schemas.openxmlformats.org/drawingml/2006/main" noGrp="1"/>
          </p:cNvSpPr>
          <p:nvPr>
            <p:ph type="pic" idx="1"/>
          </p:nvPr>
        </p:nvSpPr>
        <p:spPr>
          <a:xfrm xmlns:a="http://schemas.openxmlformats.org/drawingml/2006/main">
            <a:off x="457200" y="1214080"/>
            <a:ext cx="8229600" cy="2689657"/>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Arrastre la imagen al marcador de posición o haga clic en el icono para agregar</a:t>
            </a:r>
            <a:endParaRPr/>
          </a:p>
        </p:txBody>
      </p:sp>
      <p:sp>
        <p:nvSpPr>
          <p:cNvPr id="7" name="Marcador de texto 3">
            <a:extLst xmlns:a="http://schemas.openxmlformats.org/drawingml/2006/main">
              <a:ext uri="{FF2B5EF4-FFF2-40B4-BE49-F238E27FC236}">
                <a16:creationId xmlns:a16="http://schemas.microsoft.com/office/drawing/2014/main" id="{4AB946F6-DDC4-407A-A037-A87B716AF59E}"/>
              </a:ext>
            </a:extLst>
          </p:cNvPr>
          <p:cNvSpPr>
            <a:spLocks xmlns:a="http://schemas.openxmlformats.org/drawingml/2006/main" noGrp="1"/>
          </p:cNvSpPr>
          <p:nvPr>
            <p:ph type="body" idx="2"/>
          </p:nvPr>
        </p:nvSpPr>
        <p:spPr>
          <a:xfrm xmlns:a="http://schemas.openxmlformats.org/drawingml/2006/main">
            <a:off x="457200" y="4025504"/>
            <a:ext cx="8229600" cy="261938"/>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Haga clic para modificar el estilo de texto del patrón</a:t>
            </a:r>
          </a:p>
        </p:txBody>
      </p:sp>
    </p:spTree>
  </p:cSld>
</p:sldLayout>
</file>

<file path=ppt/slideLayouts/slideLayout7.xml><?xml version="1.0" encoding="utf-8"?>
<p:sldLayout xmlns:p="http://schemas.openxmlformats.org/presentationml/2006/main" preserve="1">
  <p:cSld name="Diseño personalizad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8F727F49-3A08-4B8B-A2FC-44AAF06DCE8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 para editar título</a:t>
            </a:r>
            <a:endParaRPr/>
          </a:p>
        </p:txBody>
      </p:sp>
      <p:sp>
        <p:nvSpPr>
          <p:cNvPr id="3" name="Marcador de fecha 2">
            <a:extLst xmlns:a="http://schemas.openxmlformats.org/drawingml/2006/main">
              <a:ext uri="{FF2B5EF4-FFF2-40B4-BE49-F238E27FC236}">
                <a16:creationId xmlns:a16="http://schemas.microsoft.com/office/drawing/2014/main" id="{47AE233A-0EB3-43F8-97A6-F6D3C7500ED4}"/>
              </a:ext>
            </a:extLst>
          </p:cNvPr>
          <p:cNvSpPr>
            <a:spLocks xmlns:a="http://schemas.openxmlformats.org/drawingml/2006/main" noGrp="1"/>
          </p:cNvSpPr>
          <p:nvPr>
            <p:ph type="dt" idx="10"/>
          </p:nvPr>
        </p:nvSpPr>
        <p:spPr>
          <a:xfrm xmlns:a="http://schemas.openxmlformats.org/drawingml/2006/main">
            <a:off x="170818" y="4767263"/>
            <a:ext cx="800392"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64248F72-65B5-4A4E-B82F-2E1A76141EF9}" type="datetimeFigureOut">
              <a:t>23/5/19</a:t>
            </a:fld>
            <a:endParaRPr/>
          </a:p>
        </p:txBody>
      </p:sp>
      <p:sp>
        <p:nvSpPr>
          <p:cNvPr id="4" name="Marcador de pie de página 3">
            <a:extLst xmlns:a="http://schemas.openxmlformats.org/drawingml/2006/main">
              <a:ext uri="{FF2B5EF4-FFF2-40B4-BE49-F238E27FC236}">
                <a16:creationId xmlns:a16="http://schemas.microsoft.com/office/drawing/2014/main" id="{9F14E201-C8C6-46F4-A3C9-CF979A5A5C44}"/>
              </a:ext>
            </a:extLst>
          </p:cNvPr>
          <p:cNvSpPr>
            <a:spLocks xmlns:a="http://schemas.openxmlformats.org/drawingml/2006/main" noGrp="1"/>
          </p:cNvSpPr>
          <p:nvPr>
            <p:ph type="ftr" idx="11"/>
          </p:nvPr>
        </p:nvSpPr>
        <p:spPr>
          <a:xfrm xmlns:a="http://schemas.openxmlformats.org/drawingml/2006/main">
            <a:off x="1627373" y="4767263"/>
            <a:ext cx="28956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5" name="Marcador de número de diapositiva 4">
            <a:extLst xmlns:a="http://schemas.openxmlformats.org/drawingml/2006/main">
              <a:ext uri="{FF2B5EF4-FFF2-40B4-BE49-F238E27FC236}">
                <a16:creationId xmlns:a16="http://schemas.microsoft.com/office/drawing/2014/main" id="{EBA2BF01-BF3F-4417-A047-D668F846D9DA}"/>
              </a:ext>
            </a:extLst>
          </p:cNvPr>
          <p:cNvSpPr>
            <a:spLocks xmlns:a="http://schemas.openxmlformats.org/drawingml/2006/main" noGrp="1"/>
          </p:cNvSpPr>
          <p:nvPr>
            <p:ph type="sldNum" idx="12"/>
          </p:nvPr>
        </p:nvSpPr>
        <p:spPr>
          <a:xfrm xmlns:a="http://schemas.openxmlformats.org/drawingml/2006/main">
            <a:off x="971211" y="4767263"/>
            <a:ext cx="656163"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4637D2F8-05A4-FD4C-AF87-1FA0BA229BE2}" type="slidenum">
              <a:t>‹Nr.›</a:t>
            </a:fld>
            <a:endParaRPr/>
          </a:p>
        </p:txBody>
      </p:sp>
    </p:spTree>
  </p:cSld>
</p:sldLayout>
</file>

<file path=ppt/slideLayouts/slideLayout8.xml><?xml version="1.0" encoding="utf-8"?>
<p:sldLayout xmlns:p="http://schemas.openxmlformats.org/presentationml/2006/main" type="blank" preserve="1">
  <p:cSld name="Final">
    <p:spTree>
      <p:nvGrpSpPr>
        <p:cNvPr id="1" name=""/>
        <p:cNvGrpSpPr/>
        <p:nvPr/>
      </p:nvGrpSpPr>
      <p:grpSpPr>
        <a:xfrm xmlns:a="http://schemas.openxmlformats.org/drawingml/2006/main"/>
      </p:grpSpPr>
      <p:pic>
        <p:nvPicPr>
          <p:cNvPr id="2" name="Imagen 4"/>
          <p:cNvPicPr>
            <a:picLocks xmlns:a="http://schemas.openxmlformats.org/drawingml/2006/main" noChangeAspect="1"/>
          </p:cNvPicPr>
          <p:nvPr/>
        </p:nvPicPr>
        <p:blipFill>
          <a:blip xmlns:r="http://schemas.openxmlformats.org/officeDocument/2006/relationships" xmlns:a="http://schemas.openxmlformats.org/drawingml/2006/main" r:embed="Rf0ebd6853c3c40cb"/>
          <a:stretch xmlns:a="http://schemas.openxmlformats.org/drawingml/2006/main">
            <a:fillRect l="0" t="0" r="0" b="0"/>
          </a:stretch>
        </p:blipFill>
        <p:spPr>
          <a:xfrm xmlns:a="http://schemas.openxmlformats.org/drawingml/2006/main">
            <a:off x="0" y="784483"/>
            <a:ext cx="9144000" cy="3492818"/>
          </a:xfrm>
          <a:prstGeom xmlns:a="http://schemas.openxmlformats.org/drawingml/2006/main" prst="rect">
            <a:avLst/>
          </a:prstGeom>
        </p:spPr>
      </p:pic>
    </p:spTree>
  </p:cSld>
</p:sldLayout>
</file>

<file path=ppt/slideLayouts/slideLayout9.xml><?xml version="1.0" encoding="utf-8"?>
<p:sldLayout xmlns:p="http://schemas.openxmlformats.org/presentationml/2006/main" preserve="1" userDrawn="1">
  <p:cSld name="Diapositiva de título">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type="title" preserve="1">
  <p:cSld name="Diapositiva de títul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484CC2EC-A626-4AD1-BB98-E32085625592}"/>
              </a:ext>
            </a:extLst>
          </p:cNvPr>
          <p:cNvSpPr>
            <a:spLocks xmlns:a="http://schemas.openxmlformats.org/drawingml/2006/main" noGrp="1"/>
          </p:cNvSpPr>
          <p:nvPr>
            <p:ph type="ctrTitle" idx="0"/>
          </p:nvPr>
        </p:nvSpPr>
        <p:spPr>
          <a:xfrm xmlns:a="http://schemas.openxmlformats.org/drawingml/2006/main">
            <a:off x="685800" y="1598613"/>
            <a:ext cx="7772400" cy="1101725"/>
          </a:xfrm>
        </p:spPr>
        <p:txBody>
          <a:bodyPr xmlns:a="http://schemas.openxmlformats.org/drawingml/2006/main"/>
          <a:lstStyle xmlns:a="http://schemas.openxmlformats.org/drawingml/2006/main"/>
          <a:p xmlns:a="http://schemas.openxmlformats.org/drawingml/2006/main">
            <a:r>
              <a:t>Clic para editar título</a:t>
            </a:r>
            <a:endParaRPr/>
          </a:p>
        </p:txBody>
      </p:sp>
      <p:sp>
        <p:nvSpPr>
          <p:cNvPr id="3" name="Subtítulo 2">
            <a:extLst xmlns:a="http://schemas.openxmlformats.org/drawingml/2006/main">
              <a:ext uri="{FF2B5EF4-FFF2-40B4-BE49-F238E27FC236}">
                <a16:creationId xmlns:a16="http://schemas.microsoft.com/office/drawing/2014/main" id="{E08223CB-0C16-46F8-A726-6214D5D031A5}"/>
              </a:ext>
            </a:extLst>
          </p:cNvPr>
          <p:cNvSpPr>
            <a:spLocks xmlns:a="http://schemas.openxmlformats.org/drawingml/2006/main" noGrp="1"/>
          </p:cNvSpPr>
          <p:nvPr>
            <p:ph type="subTitle" idx="1"/>
          </p:nvPr>
        </p:nvSpPr>
        <p:spPr>
          <a:xfrm xmlns:a="http://schemas.openxmlformats.org/drawingml/2006/main">
            <a:off x="1371600" y="2914650"/>
            <a:ext cx="6400800" cy="131445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Haga clic para modificar el estilo de subtítulo del patrón</a:t>
            </a:r>
            <a:endParaRPr/>
          </a:p>
        </p:txBody>
      </p:sp>
      <p:sp>
        <p:nvSpPr>
          <p:cNvPr id="4" name="Marcador de fecha 3">
            <a:extLst xmlns:a="http://schemas.openxmlformats.org/drawingml/2006/main">
              <a:ext uri="{FF2B5EF4-FFF2-40B4-BE49-F238E27FC236}">
                <a16:creationId xmlns:a16="http://schemas.microsoft.com/office/drawing/2014/main" id="{49E7A68E-2417-4007-9862-0170F79BB406}"/>
              </a:ext>
            </a:extLst>
          </p:cNvPr>
          <p:cNvSpPr>
            <a:spLocks xmlns:a="http://schemas.openxmlformats.org/drawingml/2006/main" noGrp="1"/>
          </p:cNvSpPr>
          <p:nvPr>
            <p:ph type="dt" idx="10"/>
          </p:nvPr>
        </p:nvSpPr>
        <p:spPr>
          <a:xfrm xmlns:a="http://schemas.openxmlformats.org/drawingml/2006/main">
            <a:off x="457200" y="4767263"/>
            <a:ext cx="2133600" cy="274637"/>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CC73C310-44D8-D44E-9500-41BAE48D6C1F}" type="datetimeFigureOut">
              <a:t>23/5/19</a:t>
            </a:fld>
            <a:endParaRPr/>
          </a:p>
        </p:txBody>
      </p:sp>
      <p:sp>
        <p:nvSpPr>
          <p:cNvPr id="5" name="Marcador de pie de página 4">
            <a:extLst xmlns:a="http://schemas.openxmlformats.org/drawingml/2006/main">
              <a:ext uri="{FF2B5EF4-FFF2-40B4-BE49-F238E27FC236}">
                <a16:creationId xmlns:a16="http://schemas.microsoft.com/office/drawing/2014/main" id="{22B4B1B2-D0EF-48CE-92DF-D5F787D18CA6}"/>
              </a:ext>
            </a:extLst>
          </p:cNvPr>
          <p:cNvSpPr>
            <a:spLocks xmlns:a="http://schemas.openxmlformats.org/drawingml/2006/main" noGrp="1"/>
          </p:cNvSpPr>
          <p:nvPr>
            <p:ph type="ftr" idx="11"/>
          </p:nvPr>
        </p:nvSpPr>
        <p:spPr>
          <a:xfrm xmlns:a="http://schemas.openxmlformats.org/drawingml/2006/main">
            <a:off x="3124200" y="4767263"/>
            <a:ext cx="2895600" cy="274637"/>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938EAECA-7236-4AE5-B2EA-50CAADCEA487}"/>
              </a:ext>
            </a:extLst>
          </p:cNvPr>
          <p:cNvSpPr>
            <a:spLocks xmlns:a="http://schemas.openxmlformats.org/drawingml/2006/main" noGrp="1"/>
          </p:cNvSpPr>
          <p:nvPr>
            <p:ph type="sldNum" idx="12"/>
          </p:nvPr>
        </p:nvSpPr>
        <p:spPr>
          <a:xfrm xmlns:a="http://schemas.openxmlformats.org/drawingml/2006/main">
            <a:off x="6553200" y="4767263"/>
            <a:ext cx="2133600" cy="274637"/>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F152EED2-0F54-FF4E-878C-CD5E3782BC09}" type="slidenum">
              <a:t>‹Nr.›</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emf" Id="R8ae90d605b6c47f2" /><Relationship Type="http://schemas.openxmlformats.org/officeDocument/2006/relationships/theme" Target="/ppt/slideMasters/theme/theme2.xml" Id="Ra969c47f44ab470d" /><Relationship Type="http://schemas.openxmlformats.org/officeDocument/2006/relationships/slideLayout" Target="/ppt/slideLayouts/slideLayout1.xml" Id="R4fa75e6093d2473a" /><Relationship Type="http://schemas.openxmlformats.org/officeDocument/2006/relationships/slideLayout" Target="/ppt/slideLayouts/slideLayout2.xml" Id="Rab3bf44624bf4b86" /><Relationship Type="http://schemas.openxmlformats.org/officeDocument/2006/relationships/slideLayout" Target="/ppt/slideLayouts/slideLayout3.xml" Id="R944b267d42e140b6" /><Relationship Type="http://schemas.openxmlformats.org/officeDocument/2006/relationships/slideLayout" Target="/ppt/slideLayouts/slideLayout4.xml" Id="R2f5df127393d460d" /><Relationship Type="http://schemas.openxmlformats.org/officeDocument/2006/relationships/slideLayout" Target="/ppt/slideLayouts/slideLayout5.xml" Id="R2be9bee2a7854973" /><Relationship Type="http://schemas.openxmlformats.org/officeDocument/2006/relationships/slideLayout" Target="/ppt/slideLayouts/slideLayout6.xml" Id="R8d641a81ccb3415c" /><Relationship Type="http://schemas.openxmlformats.org/officeDocument/2006/relationships/slideLayout" Target="/ppt/slideLayouts/slideLayout7.xml" Id="Rd225e2d0322a4651" /><Relationship Type="http://schemas.openxmlformats.org/officeDocument/2006/relationships/slideLayout" Target="/ppt/slideLayouts/slideLayout8.xml" Id="R0ee1fdd5b5904dc6" /></Relationships>
</file>

<file path=ppt/slideMasters/_rels/slideMaster2.xml.rels>&#65279;<?xml version="1.0" encoding="utf-8"?><Relationships xmlns="http://schemas.openxmlformats.org/package/2006/relationships"><Relationship Type="http://schemas.openxmlformats.org/officeDocument/2006/relationships/image" Target="/ppt/media/image.png" Id="R35e3293f54614e56" /><Relationship Type="http://schemas.openxmlformats.org/officeDocument/2006/relationships/theme" Target="/ppt/slideMasters/theme/theme3.xml" Id="R6494ff5f1fd44cef" /><Relationship Type="http://schemas.openxmlformats.org/officeDocument/2006/relationships/slideLayout" Target="/ppt/slideLayouts/slideLayout9.xml" Id="R4b6e08bde4304b50" /></Relationships>
</file>

<file path=ppt/slideMasters/_rels/slideMaster3.xml.rels>&#65279;<?xml version="1.0" encoding="utf-8"?><Relationships xmlns="http://schemas.openxmlformats.org/package/2006/relationships"><Relationship Type="http://schemas.openxmlformats.org/officeDocument/2006/relationships/image" Target="/ppt/media/image.emf" Id="R2f1314b3a51d4959" /><Relationship Type="http://schemas.openxmlformats.org/officeDocument/2006/relationships/image" Target="/ppt/media/image.png" Id="R13b3d92b26cf4df8" /><Relationship Type="http://schemas.openxmlformats.org/officeDocument/2006/relationships/theme" Target="/ppt/slideMasters/theme/theme4.xml" Id="Re4360dbdf22f4673" /><Relationship Type="http://schemas.openxmlformats.org/officeDocument/2006/relationships/slideLayout" Target="/ppt/slideLayouts/slideLayout10.xml" Id="Rcfb781c4d244451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pic>
        <p:nvPicPr>
          <p:cNvPr id="13" name="Imagen 6"/>
          <p:cNvPicPr>
            <a:picLocks xmlns:a="http://schemas.openxmlformats.org/drawingml/2006/main" noChangeAspect="1"/>
          </p:cNvPicPr>
          <p:nvPr/>
        </p:nvPicPr>
        <p:blipFill>
          <a:blip xmlns:r="http://schemas.openxmlformats.org/officeDocument/2006/relationships" xmlns:a="http://schemas.openxmlformats.org/drawingml/2006/main" r:embed="R8ae90d605b6c47f2"/>
          <a:stretch xmlns:a="http://schemas.openxmlformats.org/drawingml/2006/main">
            <a:fillRect l="0" t="0" r="0" b="0"/>
          </a:stretch>
        </p:blipFill>
        <p:spPr>
          <a:xfrm xmlns:a="http://schemas.openxmlformats.org/drawingml/2006/main">
            <a:off x="158742" y="0"/>
            <a:ext cx="8985258" cy="1007195"/>
          </a:xfrm>
          <a:prstGeom xmlns:a="http://schemas.openxmlformats.org/drawingml/2006/main" prst="rect">
            <a:avLst/>
          </a:prstGeom>
        </p:spPr>
      </p:pic>
      <p:sp>
        <p:nvSpPr>
          <p:cNvPr id="2" name="Marcador de título 1">
            <a:extLst xmlns:a="http://schemas.openxmlformats.org/drawingml/2006/main">
              <a:ext uri="{FF2B5EF4-FFF2-40B4-BE49-F238E27FC236}">
                <a16:creationId xmlns:a16="http://schemas.microsoft.com/office/drawing/2014/main" id="{2070292F-7CFF-470D-913D-1E6BDE8FD92F}"/>
              </a:ext>
            </a:extLst>
          </p:cNvPr>
          <p:cNvSpPr>
            <a:spLocks xmlns:a="http://schemas.openxmlformats.org/drawingml/2006/main" noGrp="1"/>
          </p:cNvSpPr>
          <p:nvPr>
            <p:ph type="title" idx="0"/>
          </p:nvPr>
        </p:nvSpPr>
        <p:spPr>
          <a:xfrm xmlns:a="http://schemas.openxmlformats.org/drawingml/2006/main">
            <a:off x="457200" y="149945"/>
            <a:ext cx="8229600" cy="85725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 para editar título</a:t>
            </a:r>
            <a:endParaRPr/>
          </a:p>
        </p:txBody>
      </p:sp>
      <p:sp>
        <p:nvSpPr>
          <p:cNvPr id="3" name="Marcador de texto 2">
            <a:extLst xmlns:a="http://schemas.openxmlformats.org/drawingml/2006/main">
              <a:ext uri="{FF2B5EF4-FFF2-40B4-BE49-F238E27FC236}">
                <a16:creationId xmlns:a16="http://schemas.microsoft.com/office/drawing/2014/main" id="{E4A36189-524E-4255-AFC0-7A55E4DCB605}"/>
              </a:ext>
            </a:extLst>
          </p:cNvPr>
          <p:cNvSpPr>
            <a:spLocks xmlns:a="http://schemas.openxmlformats.org/drawingml/2006/main" noGrp="1"/>
          </p:cNvSpPr>
          <p:nvPr>
            <p:ph type="body" idx="1"/>
          </p:nvPr>
        </p:nvSpPr>
        <p:spPr>
          <a:xfrm xmlns:a="http://schemas.openxmlformats.org/drawingml/2006/main">
            <a:off x="457200" y="1200151"/>
            <a:ext cx="8229600" cy="3081337"/>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Haga clic para modificar el estilo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10" name="Rectángulo 9">
            <a:extLst xmlns:a="http://schemas.openxmlformats.org/drawingml/2006/main">
              <a:ext uri="{FF2B5EF4-FFF2-40B4-BE49-F238E27FC236}">
                <a16:creationId xmlns:a16="http://schemas.microsoft.com/office/drawing/2014/main" id="{0C62F43A-D755-471C-8B38-05011B6FB72E}"/>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ángulo 7">
            <a:extLst xmlns:a="http://schemas.openxmlformats.org/drawingml/2006/main">
              <a:ext uri="{FF2B5EF4-FFF2-40B4-BE49-F238E27FC236}">
                <a16:creationId xmlns:a16="http://schemas.microsoft.com/office/drawing/2014/main" id="{83609EC7-A296-4965-8074-FF46BB0AD78E}"/>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t>
            </a:r>
            <a:endParaRPr/>
          </a:p>
        </p:txBody>
      </p:sp>
      <p:sp>
        <p:nvSpPr>
          <p:cNvPr id="11" name="Rectángulo 10">
            <a:extLst xmlns:a="http://schemas.openxmlformats.org/drawingml/2006/main">
              <a:ext uri="{FF2B5EF4-FFF2-40B4-BE49-F238E27FC236}">
                <a16:creationId xmlns:a16="http://schemas.microsoft.com/office/drawing/2014/main" id="{6B30BCA3-C1A5-408D-A965-11C39031B93E}"/>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t>
            </a:r>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a75e6093d2473a"/>
    <p:sldLayoutId xmlns:r="http://schemas.openxmlformats.org/officeDocument/2006/relationships" id="2147483650" r:id="Rab3bf44624bf4b86"/>
    <p:sldLayoutId xmlns:r="http://schemas.openxmlformats.org/officeDocument/2006/relationships" id="2147483651" r:id="R944b267d42e140b6"/>
    <p:sldLayoutId xmlns:r="http://schemas.openxmlformats.org/officeDocument/2006/relationships" id="2147483652" r:id="R2f5df127393d460d"/>
    <p:sldLayoutId xmlns:r="http://schemas.openxmlformats.org/officeDocument/2006/relationships" id="2147483653" r:id="R2be9bee2a7854973"/>
    <p:sldLayoutId xmlns:r="http://schemas.openxmlformats.org/officeDocument/2006/relationships" id="2147483654" r:id="R8d641a81ccb3415c"/>
    <p:sldLayoutId xmlns:r="http://schemas.openxmlformats.org/officeDocument/2006/relationships" id="2147483655" r:id="Rd225e2d0322a4651"/>
    <p:sldLayoutId xmlns:r="http://schemas.openxmlformats.org/officeDocument/2006/relationships" id="2147483656" r:id="R0ee1fdd5b5904dc6"/>
  </p:sldLayoutIdLst>
  <p:txStyles>
    <p:titleStyle>
      <a:lvl1pPr xmlns:a="http://schemas.openxmlformats.org/drawingml/2006/main" algn="l" defTabSz="457200">
        <a:spcBef>
          <a:spcPct val="0"/>
        </a:spcBef>
        <a:buNone/>
        <a:defRPr sz="3200" b="1" kern="1200">
          <a:solidFill>
            <a:schemeClr val="bg1"/>
          </a:solidFill>
          <a:latin typeface="Arial"/>
          <a:ea typeface="Arial"/>
          <a:cs typeface="Arial"/>
        </a:defRPr>
      </a:lvl1pPr>
    </p:titleStyle>
    <p:bodyStyle>
      <a:lvl1pPr xmlns:a="http://schemas.openxmlformats.org/drawingml/2006/main" marL="342900" indent="-342900" algn="l" defTabSz="457200">
        <a:spcBef>
          <a:spcPct val="20000"/>
        </a:spcBef>
        <a:buFont typeface="Arial"/>
        <a:buChar char="•"/>
        <a:defRPr sz="2800" b="0" kern="1200">
          <a:solidFill>
            <a:schemeClr val="tx1"/>
          </a:solidFill>
          <a:latin typeface="Arial"/>
          <a:ea typeface="Arial"/>
          <a:cs typeface="Arial"/>
        </a:defRPr>
      </a:lvl1pPr>
      <a:lvl2pPr xmlns:a="http://schemas.openxmlformats.org/drawingml/2006/main" marL="365125" indent="0" algn="l" defTabSz="457200">
        <a:spcBef>
          <a:spcPct val="20000"/>
        </a:spcBef>
        <a:buFontTx/>
        <a:buNone/>
        <a:defRPr sz="2800" kern="1200">
          <a:solidFill>
            <a:schemeClr val="tx1"/>
          </a:solidFill>
          <a:latin typeface="Arial"/>
          <a:ea typeface="Arial"/>
          <a:cs typeface="Arial"/>
        </a:defRPr>
      </a:lvl2pPr>
      <a:lvl3pPr xmlns:a="http://schemas.openxmlformats.org/drawingml/2006/main" marL="630238" indent="-241300" algn="l" defTabSz="457200">
        <a:spcBef>
          <a:spcPct val="20000"/>
        </a:spcBef>
        <a:buFont typeface="Arial"/>
        <a:buChar char="•"/>
        <a:defRPr sz="2400" kern="1200">
          <a:solidFill>
            <a:schemeClr val="tx1"/>
          </a:solidFill>
          <a:latin typeface="Arial"/>
          <a:ea typeface="Arial"/>
          <a:cs typeface="Arial"/>
        </a:defRPr>
      </a:lvl3pPr>
      <a:lvl4pPr xmlns:a="http://schemas.openxmlformats.org/drawingml/2006/main" marL="982663" indent="-268288" algn="l" defTabSz="457200">
        <a:spcBef>
          <a:spcPct val="20000"/>
        </a:spcBef>
        <a:buFont typeface="Arial"/>
        <a:buChar char="–"/>
        <a:defRPr sz="2000" kern="1200">
          <a:solidFill>
            <a:schemeClr val="tx1"/>
          </a:solidFill>
          <a:latin typeface="Arial"/>
          <a:ea typeface="Arial"/>
          <a:cs typeface="Arial"/>
        </a:defRPr>
      </a:lvl4pPr>
      <a:lvl5pPr xmlns:a="http://schemas.openxmlformats.org/drawingml/2006/main" marL="982662" indent="0" algn="l" defTabSz="457200">
        <a:spcBef>
          <a:spcPct val="20000"/>
        </a:spcBef>
        <a:buFontTx/>
        <a:buNone/>
        <a:defRPr sz="2000" kern="1200">
          <a:solidFill>
            <a:schemeClr val="tx1"/>
          </a:solidFill>
          <a:latin typeface="Arial"/>
          <a:ea typeface="Arial"/>
          <a:cs typeface="Arial"/>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pic>
        <p:nvPicPr>
          <p:cNvPr id="2" name="Imagen 2"/>
          <p:cNvPicPr>
            <a:picLocks xmlns:a="http://schemas.openxmlformats.org/drawingml/2006/main" noChangeAspect="1"/>
          </p:cNvPicPr>
          <p:nvPr/>
        </p:nvPicPr>
        <p:blipFill>
          <a:blip xmlns:r="http://schemas.openxmlformats.org/officeDocument/2006/relationships" xmlns:a="http://schemas.openxmlformats.org/drawingml/2006/main" r:embed="R35e3293f54614e56"/>
          <a:stretch xmlns:a="http://schemas.openxmlformats.org/drawingml/2006/main">
            <a:fillRect l="0" t="0" r="0" b="0"/>
          </a:stretch>
        </p:blipFill>
        <p:spPr>
          <a:xfrm xmlns:a="http://schemas.openxmlformats.org/drawingml/2006/main">
            <a:off x="1320800" y="698500"/>
            <a:ext cx="6480264" cy="3733925"/>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58" r:id="R4b6e08bde4304b50"/>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slideMaster3.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Marcador de título 1">
            <a:extLst xmlns:a="http://schemas.openxmlformats.org/drawingml/2006/main">
              <a:ext uri="{FF2B5EF4-FFF2-40B4-BE49-F238E27FC236}">
                <a16:creationId xmlns:a16="http://schemas.microsoft.com/office/drawing/2014/main" id="{597259FA-5822-4A07-87E2-DB03669A7E3E}"/>
              </a:ext>
            </a:extLst>
          </p:cNvPr>
          <p:cNvSpPr>
            <a:spLocks xmlns:a="http://schemas.openxmlformats.org/drawingml/2006/main" noGrp="1"/>
          </p:cNvSpPr>
          <p:nvPr>
            <p:ph type="title" idx="0"/>
          </p:nvPr>
        </p:nvSpPr>
        <p:spPr>
          <a:xfrm xmlns:a="http://schemas.openxmlformats.org/drawingml/2006/main">
            <a:off x="457200" y="1437737"/>
            <a:ext cx="8229600" cy="85725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 para editar título</a:t>
            </a:r>
            <a:endParaRPr/>
          </a:p>
        </p:txBody>
      </p:sp>
      <p:sp>
        <p:nvSpPr>
          <p:cNvPr id="3" name="Marcador de texto 2">
            <a:extLst xmlns:a="http://schemas.openxmlformats.org/drawingml/2006/main">
              <a:ext uri="{FF2B5EF4-FFF2-40B4-BE49-F238E27FC236}">
                <a16:creationId xmlns:a16="http://schemas.microsoft.com/office/drawing/2014/main" id="{AB2A7547-FF11-4B4B-90EC-6C4A7EAE713F}"/>
              </a:ext>
            </a:extLst>
          </p:cNvPr>
          <p:cNvSpPr>
            <a:spLocks xmlns:a="http://schemas.openxmlformats.org/drawingml/2006/main" noGrp="1"/>
          </p:cNvSpPr>
          <p:nvPr>
            <p:ph type="body" idx="1"/>
          </p:nvPr>
        </p:nvSpPr>
        <p:spPr>
          <a:xfrm xmlns:a="http://schemas.openxmlformats.org/drawingml/2006/main">
            <a:off x="457200" y="2770565"/>
            <a:ext cx="8229600" cy="1510924"/>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Integrantes</a:t>
            </a:r>
            <a:endParaRPr/>
          </a:p>
        </p:txBody>
      </p:sp>
      <p:pic>
        <p:nvPicPr>
          <p:cNvPr id="16" name="Imagen 6"/>
          <p:cNvPicPr>
            <a:picLocks xmlns:a="http://schemas.openxmlformats.org/drawingml/2006/main" noChangeAspect="1"/>
          </p:cNvPicPr>
          <p:nvPr/>
        </p:nvPicPr>
        <p:blipFill>
          <a:blip xmlns:r="http://schemas.openxmlformats.org/officeDocument/2006/relationships" xmlns:a="http://schemas.openxmlformats.org/drawingml/2006/main" r:embed="R2f1314b3a51d4959"/>
          <a:stretch xmlns:a="http://schemas.openxmlformats.org/drawingml/2006/main">
            <a:fillRect l="0" t="0" r="0" b="0"/>
          </a:stretch>
        </p:blipFill>
        <p:spPr>
          <a:xfrm xmlns:a="http://schemas.openxmlformats.org/drawingml/2006/main">
            <a:off x="3100137" y="1"/>
            <a:ext cx="6043863" cy="1123125"/>
          </a:xfrm>
          <a:prstGeom xmlns:a="http://schemas.openxmlformats.org/drawingml/2006/main" prst="rect">
            <a:avLst/>
          </a:prstGeom>
        </p:spPr>
      </p:pic>
      <p:sp>
        <p:nvSpPr>
          <p:cNvPr id="8" name="Rectángulo 7">
            <a:extLst xmlns:a="http://schemas.openxmlformats.org/drawingml/2006/main">
              <a:ext uri="{FF2B5EF4-FFF2-40B4-BE49-F238E27FC236}">
                <a16:creationId xmlns:a16="http://schemas.microsoft.com/office/drawing/2014/main" id="{0757CA98-7359-4B07-B547-02DC74A29D35}"/>
              </a:ext>
            </a:extLst>
          </p:cNvPr>
          <p:cNvSpPr>
            <a:spLocks xmlns:a="http://schemas.openxmlformats.org/drawingml/2006/main" noGrp="1"/>
          </p:cNvSpPr>
          <p:nvPr/>
        </p:nvSpPr>
        <p:spPr>
          <a:xfrm xmlns:a="http://schemas.openxmlformats.org/drawingml/2006/main" flipV="1">
            <a:off x="-1" y="-4"/>
            <a:ext cx="177417" cy="1123126"/>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8" name="Imagen 8"/>
          <p:cNvPicPr>
            <a:picLocks xmlns:a="http://schemas.openxmlformats.org/drawingml/2006/main" noChangeAspect="1"/>
          </p:cNvPicPr>
          <p:nvPr/>
        </p:nvPicPr>
        <p:blipFill>
          <a:blip xmlns:r="http://schemas.openxmlformats.org/officeDocument/2006/relationships" xmlns:a="http://schemas.openxmlformats.org/drawingml/2006/main" r:embed="R13b3d92b26cf4df8"/>
          <a:stretch xmlns:a="http://schemas.openxmlformats.org/drawingml/2006/main">
            <a:fillRect l="0" t="0" r="0" b="0"/>
          </a:stretch>
        </p:blipFill>
        <p:spPr>
          <a:xfrm xmlns:a="http://schemas.openxmlformats.org/drawingml/2006/main">
            <a:off x="682784" y="70795"/>
            <a:ext cx="1907624" cy="1099172"/>
          </a:xfrm>
          <a:prstGeom xmlns:a="http://schemas.openxmlformats.org/drawingml/2006/main" prst="rect">
            <a:avLst/>
          </a:prstGeom>
        </p:spPr>
      </p:pic>
      <p:sp>
        <p:nvSpPr>
          <p:cNvPr id="10" name="Rectángulo 9">
            <a:extLst xmlns:a="http://schemas.openxmlformats.org/drawingml/2006/main">
              <a:ext uri="{FF2B5EF4-FFF2-40B4-BE49-F238E27FC236}">
                <a16:creationId xmlns:a16="http://schemas.microsoft.com/office/drawing/2014/main" id="{C6CBE8A6-814B-4B4C-84A7-33426395548E}"/>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t>
            </a:r>
            <a:endParaRPr/>
          </a:p>
        </p:txBody>
      </p:sp>
      <p:sp>
        <p:nvSpPr>
          <p:cNvPr id="11" name="Rectángulo 10">
            <a:extLst xmlns:a="http://schemas.openxmlformats.org/drawingml/2006/main">
              <a:ext uri="{FF2B5EF4-FFF2-40B4-BE49-F238E27FC236}">
                <a16:creationId xmlns:a16="http://schemas.microsoft.com/office/drawing/2014/main" id="{510A60F6-9DBF-4440-9312-A835AFF9EB02}"/>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t>
            </a:r>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60" r:id="Rcfb781c4d244451e"/>
  </p:sldLayoutIdLst>
  <p:txStyles>
    <p:titleStyle>
      <a:lvl1pPr xmlns:a="http://schemas.openxmlformats.org/drawingml/2006/main" algn="r" defTabSz="457200">
        <a:spcBef>
          <a:spcPct val="0"/>
        </a:spcBef>
        <a:buNone/>
        <a:defRPr sz="4400" b="1" i="0" kern="1200">
          <a:solidFill>
            <a:schemeClr val="tx1"/>
          </a:solidFill>
          <a:latin typeface="Arial"/>
          <a:ea typeface="Arial"/>
          <a:cs typeface="Arial"/>
        </a:defRPr>
      </a:lvl1pPr>
    </p:titleStyle>
    <p:bodyStyle>
      <a:lvl1pPr xmlns:a="http://schemas.openxmlformats.org/drawingml/2006/main" marL="342900" indent="-342900" algn="r" defTabSz="457200">
        <a:spcBef>
          <a:spcPct val="20000"/>
        </a:spcBef>
        <a:buFont typeface="Arial"/>
        <a:buChar char="•"/>
        <a:defRPr sz="3200" kern="1200">
          <a:solidFill>
            <a:srgbClr val="595959"/>
          </a:solidFill>
          <a:latin typeface="Arial"/>
          <a:ea typeface="Arial"/>
          <a:cs typeface="Arial"/>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Plantilla UC">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Diseño personalizad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4.xml><?xml version="1.0" encoding="utf-8"?>
<a:theme xmlns:a="http://schemas.openxmlformats.org/drawingml/2006/main" name="2_Diseño personalizad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0.xml" Id="R303184855fff4c75" /><Relationship Type="http://schemas.openxmlformats.org/officeDocument/2006/relationships/notesSlide" Target="/ppt/notesSlides/notesSlide1.xml" Id="R1ae4accb0b3446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c456355b782b4a89" /><Relationship Type="http://schemas.openxmlformats.org/officeDocument/2006/relationships/notesSlide" Target="/ppt/notesSlides/notesSlide2.xml" Id="Radc45f1ef1e74a08"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2ce75ca8ca614c4d" /><Relationship Type="http://schemas.openxmlformats.org/officeDocument/2006/relationships/notesSlide" Target="/ppt/notesSlides/notesSlide3.xml" Id="R1968e4dc13894f6e"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54f3cb1316b94353" /><Relationship Type="http://schemas.openxmlformats.org/officeDocument/2006/relationships/notesSlide" Target="/ppt/notesSlides/notesSlide4.xml" Id="Rc8524c3b889b4a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caefe5b7976d45b5" /><Relationship Type="http://schemas.openxmlformats.org/officeDocument/2006/relationships/notesSlide" Target="/ppt/notesSlides/notesSlide5.xml" Id="R772420287cb74f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df4aca5b420643f9" /><Relationship Type="http://schemas.openxmlformats.org/officeDocument/2006/relationships/notesSlide" Target="/ppt/notesSlides/notesSlide6.xml" Id="R991c291ee31945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531f0c4b44574e7b" /><Relationship Type="http://schemas.openxmlformats.org/officeDocument/2006/relationships/chart" Target="/ppt/slides/charts/chart1.xml" Id="R2d41518da89e4cc3" /><Relationship Type="http://schemas.openxmlformats.org/officeDocument/2006/relationships/notesSlide" Target="/ppt/notesSlides/notesSlide7.xml" Id="R45a118c35e68495c"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39ef1b40656f4f02" /><Relationship Type="http://schemas.openxmlformats.org/officeDocument/2006/relationships/chart" Target="/ppt/slides/charts/chart2.xml" Id="R4404228316064849" /><Relationship Type="http://schemas.openxmlformats.org/officeDocument/2006/relationships/notesSlide" Target="/ppt/notesSlides/notesSlide8.xml" Id="R55a46a12ebf64cda"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97ce9fd9bb614351" /><Relationship Type="http://schemas.openxmlformats.org/officeDocument/2006/relationships/notesSlide" Target="/ppt/notesSlides/notesSlide9.xml" Id="R05ac0f6a32184c6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32a3b1b3e5a0449c" /><Relationship Type="http://schemas.openxmlformats.org/officeDocument/2006/relationships/notesSlide" Target="/ppt/notesSlides/notesSlide10.xml" Id="R64a54b0edca2442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239c7385f7414096" /><Relationship Type="http://schemas.openxmlformats.org/officeDocument/2006/relationships/notesSlide" Target="/ppt/notesSlides/notesSlide11.xml" Id="R8108fe18eb384e3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e023069454f94c3b" /><Relationship Type="http://schemas.openxmlformats.org/officeDocument/2006/relationships/notesSlide" Target="/ppt/notesSlides/notesSlide12.xml" Id="R09f88c721e4d47c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7548e5dff765443d" /><Relationship Type="http://schemas.openxmlformats.org/officeDocument/2006/relationships/notesSlide" Target="/ppt/notesSlides/notesSlide13.xml" Id="R4493af1a4f82428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8.xml" Id="R5def06f3a35b4a84" /><Relationship Type="http://schemas.openxmlformats.org/officeDocument/2006/relationships/image" Target="/ppt/media/image2.png" Id="R2c067076ed214742" /><Relationship Type="http://schemas.openxmlformats.org/officeDocument/2006/relationships/image" Target="/ppt/media/image3.png" Id="R9170b3e31c4644b3" /><Relationship Type="http://schemas.openxmlformats.org/officeDocument/2006/relationships/notesSlide" Target="/ppt/notesSlides/notesSlide14.xml" Id="R70e8f0f192bd4dc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f42181cfe51046c8" /><Relationship Type="http://schemas.openxmlformats.org/officeDocument/2006/relationships/hyperlink" Target="https://doi.org/10.1021/acs.est.5b05833" TargetMode="External" Id="R9a30c16c7c614147" /><Relationship Type="http://schemas.openxmlformats.org/officeDocument/2006/relationships/hyperlink" Target="https://doi.org/10.1016/j.envint.2019.104909" TargetMode="External" Id="R0607ca68a823431c" /><Relationship Type="http://schemas.openxmlformats.org/officeDocument/2006/relationships/hyperlink" Target="https://doi.org/10.1111/ecog.02881" TargetMode="External" Id="R3fe8570d46184eaf" /><Relationship Type="http://schemas.openxmlformats.org/officeDocument/2006/relationships/hyperlink" Target="https://doi.org/10.1186/1471-2105-7-91" TargetMode="External" Id="Re75c115889e84979" /><Relationship Type="http://schemas.openxmlformats.org/officeDocument/2006/relationships/notesSlide" Target="/ppt/notesSlides/notesSlide15.xml" Id="R9d96de91af5d4bc2" /></Relationships>
</file>

<file path=ppt/slides/charts/chart1.xml><?xml version="1.0" encoding="utf-8"?>
<c:chartSpace xmlns:c="http://schemas.openxmlformats.org/drawingml/2006/chart">
  <c:lang val="en-US"/>
  <c:chart>
    <c:plotArea>
      <c:barChart>
        <c:barDir val="bar"/>
        <c:grouping val="clustered"/>
        <c:varyColors val="0"/>
        <c:ser>
          <c:idx val="0"/>
          <c:order val="0"/>
          <c:tx>
            <c:v>Series por contaminante</c:v>
          </c:tx>
          <c:spPr>
            <a:solidFill xmlns:a="http://schemas.openxmlformats.org/drawingml/2006/main">
              <a:srgbClr val="017EDF"/>
            </a:solidFill>
          </c:spPr>
          <c:cat>
            <c:strLit>
              <c:ptCount val="6"/>
              <c:pt idx="0">
                <c:v>CO</c:v>
              </c:pt>
              <c:pt idx="1">
                <c:v>O₃</c:v>
              </c:pt>
              <c:pt idx="2">
                <c:v>NO₂</c:v>
              </c:pt>
              <c:pt idx="3">
                <c:v>SO₂</c:v>
              </c:pt>
              <c:pt idx="4">
                <c:v>PM₁₀</c:v>
              </c:pt>
              <c:pt idx="5">
                <c:v>PM₂.₅</c:v>
              </c:pt>
            </c:strLit>
          </c:cat>
          <c:val>
            <c:numLit>
              <c:formatCode>0.##</c:formatCode>
              <c:ptCount val="6"/>
              <c:pt idx="0">
                <c:v>46</c:v>
              </c:pt>
              <c:pt idx="1">
                <c:v>50</c:v>
              </c:pt>
              <c:pt idx="2">
                <c:v>54</c:v>
              </c:pt>
              <c:pt idx="3">
                <c:v>59</c:v>
              </c:pt>
              <c:pt idx="4">
                <c:v>87</c:v>
              </c:pt>
              <c:pt idx="5">
                <c:v>107</c:v>
              </c:pt>
            </c:numLit>
          </c:val>
        </c:ser>
        <c:dLbls>
          <c:txPr>
            <a:bodyPr xmlns:a="http://schemas.openxmlformats.org/drawingml/2006/main" anchorCtr="1"/>
            <a:lstStyle xmlns:a="http://schemas.openxmlformats.org/drawingml/2006/main"/>
            <a:p xmlns:a="http://schemas.openxmlformats.org/drawingml/2006/main">
              <a:pPr>
                <a:defRPr sz="1275" b="1">
                  <a:solidFill>
                    <a:srgbClr val="17375D"/>
                  </a:solidFill>
                  <a:latin typeface="Calibri"/>
                  <a:ea typeface="Calibri"/>
                  <a:cs typeface="Calibri"/>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1E293B"/>
                </a:solidFill>
                <a:latin typeface="Calibri"/>
                <a:ea typeface="Calibri"/>
                <a:cs typeface="Calibri"/>
              </a:defRPr>
            </a:pPr>
          </a:p>
        </c:txPr>
        <c:crossAx val="48672768"/>
      </c:catAx>
      <c:valAx>
        <c:axId val="48672768"/>
        <c:scaling>
          <c:orientation val="minMax"/>
          <c:max val="120"/>
          <c:min val="0"/>
        </c:scaling>
        <c:delete val="0"/>
        <c:axPos val="b"/>
        <c:majorGridlines>
          <c:spPr>
            <a:ln xmlns:a="http://schemas.openxmlformats.org/drawingml/2006/main" w="6668">
              <a:solidFill>
                <a:srgbClr val="D6DFEB"/>
              </a:solidFill>
            </a:ln>
          </c:spPr>
        </c:majorGridlines>
        <c:title>
          <c:tx>
            <c:rich>
              <a:bodyPr xmlns:a="http://schemas.openxmlformats.org/drawingml/2006/main"/>
              <a:lstStyle xmlns:a="http://schemas.openxmlformats.org/drawingml/2006/main"/>
              <a:p xmlns:a="http://schemas.openxmlformats.org/drawingml/2006/main">
                <a:r>
                  <a:rPr sz="1050">
                    <a:solidFill>
                      <a:srgbClr val="526277"/>
                    </a:solidFill>
                    <a:latin typeface="Calibri"/>
                    <a:ea typeface="Calibri"/>
                    <a:cs typeface="Calibri"/>
                  </a:rPr>
                  <a:t>Series estación–contaminante</a:t>
                </a:r>
              </a:p>
            </c:rich>
          </c:tx>
          <c:overlay val="0"/>
          <c:txPr>
            <a:bodyPr xmlns:a="http://schemas.openxmlformats.org/drawingml/2006/main" anchorCtr="1"/>
            <a:lstStyle xmlns:a="http://schemas.openxmlformats.org/drawingml/2006/main"/>
            <a:p xmlns:a="http://schemas.openxmlformats.org/drawingml/2006/main">
              <a:pPr>
                <a:defRPr sz="1050">
                  <a:solidFill>
                    <a:srgbClr val="526277"/>
                  </a:solidFill>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277"/>
                </a:solidFill>
                <a:latin typeface="Calibri"/>
                <a:ea typeface="Calibri"/>
                <a:cs typeface="Calibri"/>
              </a:defRPr>
            </a:pPr>
          </a:p>
        </c:txPr>
        <c:crossAx val="48650112"/>
        <c:crossBetween val="between"/>
        <c:majorUnit val="2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Filas por estado (millones)</c:v>
          </c:tx>
          <c:spPr>
            <a:solidFill xmlns:a="http://schemas.openxmlformats.org/drawingml/2006/main">
              <a:srgbClr val="017EDF"/>
            </a:solidFill>
          </c:spPr>
          <c:dPt>
            <c:idx val="0"/>
            <c:invertIfNegative val="0"/>
            <c:spPr>
              <a:solidFill xmlns:a="http://schemas.openxmlformats.org/drawingml/2006/main">
                <a:srgbClr val="8999AD"/>
              </a:solidFill>
            </c:spPr>
          </c:dPt>
          <c:dPt>
            <c:idx val="1"/>
            <c:invertIfNegative val="0"/>
            <c:spPr>
              <a:solidFill xmlns:a="http://schemas.openxmlformats.org/drawingml/2006/main">
                <a:srgbClr val="88B9EE"/>
              </a:solidFill>
            </c:spPr>
          </c:dPt>
          <c:dPt>
            <c:idx val="2"/>
            <c:invertIfNegative val="0"/>
            <c:spPr>
              <a:solidFill xmlns:a="http://schemas.openxmlformats.org/drawingml/2006/main">
                <a:srgbClr val="A7CBF2"/>
              </a:solidFill>
            </c:spPr>
          </c:dPt>
          <c:dPt>
            <c:idx val="3"/>
            <c:invertIfNegative val="0"/>
            <c:spPr>
              <a:solidFill xmlns:a="http://schemas.openxmlformats.org/drawingml/2006/main">
                <a:srgbClr val="017EDF"/>
              </a:solidFill>
            </c:spPr>
          </c:dPt>
          <c:dLbls>
            <c:dLbl>
              <c:idx val="0"/>
              <c:tx>
                <c:rich>
                  <a:bodyPr xmlns:a="http://schemas.openxmlformats.org/drawingml/2006/main"/>
                  <a:lstStyle xmlns:a="http://schemas.openxmlformats.org/drawingml/2006/main"/>
                  <a:p xmlns:a="http://schemas.openxmlformats.org/drawingml/2006/main">
                    <a:r>
                      <a:rPr sz="1200">
                        <a:latin typeface="Calibri"/>
                        <a:ea typeface="Calibri"/>
                        <a:cs typeface="Calibri"/>
                      </a:rPr>
                      <a:t>51,60 M · 54,72%</a:t>
                    </a:r>
                  </a:p>
                </c:rich>
              </c:tx>
              <c:txPr>
                <a:bodyPr xmlns:a="http://schemas.openxmlformats.org/drawingml/2006/main" anchorCtr="1"/>
                <a:lstStyle xmlns:a="http://schemas.openxmlformats.org/drawingml/2006/main"/>
                <a:p xmlns:a="http://schemas.openxmlformats.org/drawingml/2006/main">
                  <a:pPr>
                    <a:defRPr sz="1200">
                      <a:latin typeface="Calibri"/>
                      <a:ea typeface="Calibri"/>
                      <a:cs typeface="Calibri"/>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200">
                        <a:latin typeface="Calibri"/>
                        <a:ea typeface="Calibri"/>
                        <a:cs typeface="Calibri"/>
                      </a:rPr>
                      <a:t>14,86 M · 15,75%</a:t>
                    </a:r>
                  </a:p>
                </c:rich>
              </c:tx>
              <c:txPr>
                <a:bodyPr xmlns:a="http://schemas.openxmlformats.org/drawingml/2006/main" anchorCtr="1"/>
                <a:lstStyle xmlns:a="http://schemas.openxmlformats.org/drawingml/2006/main"/>
                <a:p xmlns:a="http://schemas.openxmlformats.org/drawingml/2006/main">
                  <a:pPr>
                    <a:defRPr sz="1200">
                      <a:latin typeface="Calibri"/>
                      <a:ea typeface="Calibri"/>
                      <a:cs typeface="Calibri"/>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200">
                        <a:latin typeface="Calibri"/>
                        <a:ea typeface="Calibri"/>
                        <a:cs typeface="Calibri"/>
                      </a:rPr>
                      <a:t>8,12 M · 8,61%</a:t>
                    </a:r>
                  </a:p>
                </c:rich>
              </c:tx>
              <c:txPr>
                <a:bodyPr xmlns:a="http://schemas.openxmlformats.org/drawingml/2006/main" anchorCtr="1"/>
                <a:lstStyle xmlns:a="http://schemas.openxmlformats.org/drawingml/2006/main"/>
                <a:p xmlns:a="http://schemas.openxmlformats.org/drawingml/2006/main">
                  <a:pPr>
                    <a:defRPr sz="1200">
                      <a:latin typeface="Calibri"/>
                      <a:ea typeface="Calibri"/>
                      <a:cs typeface="Calibri"/>
                    </a:defRPr>
                  </a:pPr>
                </a:p>
              </c:txPr>
              <c:dLblPos val="out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200">
                        <a:latin typeface="Calibri"/>
                        <a:ea typeface="Calibri"/>
                        <a:cs typeface="Calibri"/>
                      </a:rPr>
                      <a:t>19,74 M · 20,93%</a:t>
                    </a:r>
                  </a:p>
                </c:rich>
              </c:tx>
              <c:txPr>
                <a:bodyPr xmlns:a="http://schemas.openxmlformats.org/drawingml/2006/main" anchorCtr="1"/>
                <a:lstStyle xmlns:a="http://schemas.openxmlformats.org/drawingml/2006/main"/>
                <a:p xmlns:a="http://schemas.openxmlformats.org/drawingml/2006/main">
                  <a:pPr>
                    <a:defRPr sz="1200">
                      <a:latin typeface="Calibri"/>
                      <a:ea typeface="Calibri"/>
                      <a:cs typeface="Calibri"/>
                    </a:defRPr>
                  </a:pPr>
                </a:p>
              </c:txPr>
              <c:dLblPos val="outEnd"/>
              <c:showLegendKey val="0"/>
              <c:showVal val="0"/>
              <c:showCatName val="0"/>
              <c:showSerName val="0"/>
              <c:showPercent val="0"/>
              <c:showBubbleSize val="0"/>
            </c:dLbl>
          </c:dLbls>
          <c:cat>
            <c:strLit>
              <c:ptCount val="4"/>
              <c:pt idx="0">
                <c:v>Faltantes explícitos</c:v>
              </c:pt>
              <c:pt idx="1">
                <c:v>No validadas</c:v>
              </c:pt>
              <c:pt idx="2">
                <c:v>Preliminares</c:v>
              </c:pt>
              <c:pt idx="3">
                <c:v>Validadas</c:v>
              </c:pt>
            </c:strLit>
          </c:cat>
          <c:val>
            <c:numLit>
              <c:formatCode>0.##</c:formatCode>
              <c:ptCount val="4"/>
              <c:pt idx="0">
                <c:v>51.603525</c:v>
              </c:pt>
              <c:pt idx="1">
                <c:v>14.857376</c:v>
              </c:pt>
              <c:pt idx="2">
                <c:v>8.115921</c:v>
              </c:pt>
              <c:pt idx="3">
                <c:v>19.735047</c:v>
              </c:pt>
            </c:numLit>
          </c:val>
        </c:ser>
        <c:dLbls>
          <c:txPr>
            <a:bodyPr xmlns:a="http://schemas.openxmlformats.org/drawingml/2006/main" anchorCtr="1"/>
            <a:lstStyle xmlns:a="http://schemas.openxmlformats.org/drawingml/2006/main"/>
            <a:p xmlns:a="http://schemas.openxmlformats.org/drawingml/2006/main">
              <a:pPr>
                <a:defRPr sz="1275" b="1">
                  <a:solidFill>
                    <a:srgbClr val="17375D"/>
                  </a:solidFill>
                  <a:latin typeface="Calibri"/>
                  <a:ea typeface="Calibri"/>
                  <a:cs typeface="Calibri"/>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1E293B"/>
                </a:solidFill>
                <a:latin typeface="Calibri"/>
                <a:ea typeface="Calibri"/>
                <a:cs typeface="Calibri"/>
              </a:defRPr>
            </a:pPr>
          </a:p>
        </c:txPr>
        <c:crossAx val="48672768"/>
      </c:catAx>
      <c:valAx>
        <c:axId val="48672768"/>
        <c:scaling>
          <c:orientation val="minMax"/>
          <c:max val="60"/>
          <c:min val="0"/>
        </c:scaling>
        <c:delete val="0"/>
        <c:axPos val="b"/>
        <c:majorGridlines>
          <c:spPr>
            <a:ln xmlns:a="http://schemas.openxmlformats.org/drawingml/2006/main" w="6668">
              <a:solidFill>
                <a:srgbClr val="D6DFEB"/>
              </a:solidFill>
            </a:ln>
          </c:spPr>
        </c:majorGridlines>
        <c:title>
          <c:tx>
            <c:rich>
              <a:bodyPr xmlns:a="http://schemas.openxmlformats.org/drawingml/2006/main"/>
              <a:lstStyle xmlns:a="http://schemas.openxmlformats.org/drawingml/2006/main"/>
              <a:p xmlns:a="http://schemas.openxmlformats.org/drawingml/2006/main">
                <a:r>
                  <a:rPr sz="1050">
                    <a:solidFill>
                      <a:srgbClr val="526277"/>
                    </a:solidFill>
                    <a:latin typeface="Calibri"/>
                    <a:ea typeface="Calibri"/>
                    <a:cs typeface="Calibri"/>
                  </a:rPr>
                  <a:t>Millones de filas seleccionadas</a:t>
                </a:r>
              </a:p>
            </c:rich>
          </c:tx>
          <c:overlay val="0"/>
          <c:txPr>
            <a:bodyPr xmlns:a="http://schemas.openxmlformats.org/drawingml/2006/main" anchorCtr="1"/>
            <a:lstStyle xmlns:a="http://schemas.openxmlformats.org/drawingml/2006/main"/>
            <a:p xmlns:a="http://schemas.openxmlformats.org/drawingml/2006/main">
              <a:pPr>
                <a:defRPr sz="1050">
                  <a:solidFill>
                    <a:srgbClr val="526277"/>
                  </a:solidFill>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277"/>
                </a:solidFill>
                <a:latin typeface="Calibri"/>
                <a:ea typeface="Calibri"/>
                <a:cs typeface="Calibri"/>
              </a:defRPr>
            </a:pPr>
          </a:p>
        </c:txPr>
        <c:crossAx val="48650112"/>
        <c:crossBetween val="between"/>
        <c:majorUnit val="1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00" name="Bloque azul portada UC">
            <a:extLst xmlns:a="http://schemas.openxmlformats.org/drawingml/2006/main">
              <a:ext uri="{FF2B5EF4-FFF2-40B4-BE49-F238E27FC236}">
                <a16:creationId xmlns:a16="http://schemas.microsoft.com/office/drawing/2014/main" id="{DE011A74-7393-4A26-AB42-FCC865BC9F82}"/>
              </a:ext>
            </a:extLst>
          </p:cNvPr>
          <p:cNvSpPr>
            <a:spLocks xmlns:a="http://schemas.openxmlformats.org/drawingml/2006/main" noGrp="1"/>
          </p:cNvSpPr>
          <p:nvPr/>
        </p:nvSpPr>
        <p:spPr>
          <a:xfrm xmlns:a="http://schemas.openxmlformats.org/drawingml/2006/main">
            <a:off x="3100137" y="1"/>
            <a:ext cx="6043863" cy="1123125"/>
          </a:xfrm>
          <a:prstGeom xmlns:a="http://schemas.openxmlformats.org/drawingml/2006/main" prst="rect">
            <a:avLst/>
          </a:prstGeom>
          <a:solidFill xmlns:a="http://schemas.openxmlformats.org/drawingml/2006/main">
            <a:srgbClr val="017EDF"/>
          </a:solidFill>
          <a:ln xmlns:a="http://schemas.openxmlformats.org/drawingml/2006/main">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spcAft>
                <a:spcPts val="0"/>
              </a:spcAft>
              <a:buNone/>
            </a:pPr>
            <a:r>
              <a:rPr sz="1100" b="0">
                <a:solidFill>
                  <a:srgbClr val="17375D"/>
                </a:solidFill>
                <a:latin typeface="Calibri"/>
                <a:ea typeface="Calibri"/>
                <a:cs typeface="Calibri"/>
              </a:rPr>
              <a:t/>
            </a:r>
          </a:p>
        </p:txBody>
      </p:sp>
      <p:sp>
        <p:nvSpPr>
          <p:cNvPr id="3" name="Subtítulo 2">
            <a:extLst xmlns:a="http://schemas.openxmlformats.org/drawingml/2006/main">
              <a:ext uri="{FF2B5EF4-FFF2-40B4-BE49-F238E27FC236}">
                <a16:creationId xmlns:a16="http://schemas.microsoft.com/office/drawing/2014/main" id="{1A0DB7A2-67DF-4213-825C-57104E35EBA7}"/>
              </a:ext>
            </a:extLst>
          </p:cNvPr>
          <p:cNvSpPr>
            <a:spLocks xmlns:a="http://schemas.openxmlformats.org/drawingml/2006/main" noGrp="1"/>
          </p:cNvSpPr>
          <p:nvPr>
            <p:ph type="subTitle" idx="1"/>
          </p:nvPr>
        </p:nvSpPr>
        <p:spPr>
          <a:xfrm xmlns:a="http://schemas.openxmlformats.org/drawingml/2006/main">
            <a:off x="612648" y="2761488"/>
            <a:ext cx="7772400" cy="1097280"/>
          </a:xfrm>
        </p:spPr>
        <p:txBody>
          <a:bodyPr xmlns:a="http://schemas.openxmlformats.org/drawingml/2006/main" wrap="square" anchor="t">
            <a:noAutofit/>
          </a:bodyPr>
          <a:lstStyle xmlns:a="http://schemas.openxmlformats.org/drawingml/2006/main"/>
          <a:p xmlns:a="http://schemas.openxmlformats.org/drawingml/2006/main">
            <a:pPr algn="l">
              <a:spcBef>
                <a:spcPts val="0"/>
              </a:spcBef>
              <a:spcAft>
                <a:spcPts val="0"/>
              </a:spcAft>
              <a:defRPr sz="1650" b="0">
                <a:solidFill>
                  <a:srgbClr val="17375D"/>
                </a:solidFill>
                <a:latin typeface="Calibri"/>
                <a:ea typeface="Calibri"/>
                <a:cs typeface="Calibri"/>
              </a:defRPr>
            </a:pPr>
            <a:r>
              <a:rPr sz="1650" b="0">
                <a:solidFill>
                  <a:srgbClr val="17375D"/>
                </a:solidFill>
                <a:latin typeface="Calibri"/>
                <a:ea typeface="Calibri"/>
                <a:cs typeface="Calibri"/>
              </a:rPr>
              <a:t>Propuesta metodológica y resultados descriptivos</a:t>
            </a:r>
          </a:p>
          <a:p xmlns:a="http://schemas.openxmlformats.org/drawingml/2006/main">
            <a:pPr algn="l">
              <a:spcBef>
                <a:spcPts val="0"/>
              </a:spcBef>
              <a:spcAft>
                <a:spcPts val="0"/>
              </a:spcAft>
              <a:defRPr sz="1650" b="0">
                <a:solidFill>
                  <a:srgbClr val="17375D"/>
                </a:solidFill>
                <a:latin typeface="Calibri"/>
                <a:ea typeface="Calibri"/>
                <a:cs typeface="Calibri"/>
              </a:defRPr>
            </a:pPr>
            <a:r>
              <a:rPr sz="1650" b="0">
                <a:solidFill>
                  <a:srgbClr val="17375D"/>
                </a:solidFill>
                <a:latin typeface="Calibri"/>
                <a:ea typeface="Calibri"/>
                <a:cs typeface="Calibri"/>
              </a:rPr>
              <a:t>Integración de fuentes, cobertura y calidad de los datos</a:t>
            </a:r>
          </a:p>
        </p:txBody>
      </p:sp>
      <p:sp>
        <p:nvSpPr>
          <p:cNvPr id="4" name="Título 1">
            <a:extLst xmlns:a="http://schemas.openxmlformats.org/drawingml/2006/main">
              <a:ext uri="{FF2B5EF4-FFF2-40B4-BE49-F238E27FC236}">
                <a16:creationId xmlns:a16="http://schemas.microsoft.com/office/drawing/2014/main" id="{5CDD2C26-831A-4057-A94A-55343BEB0C4C}"/>
              </a:ext>
            </a:extLst>
          </p:cNvPr>
          <p:cNvSpPr>
            <a:spLocks xmlns:a="http://schemas.openxmlformats.org/drawingml/2006/main" noGrp="1"/>
          </p:cNvSpPr>
          <p:nvPr>
            <p:ph type="ctrTitle" idx="0"/>
          </p:nvPr>
        </p:nvSpPr>
        <p:spPr>
          <a:xfrm xmlns:a="http://schemas.openxmlformats.org/drawingml/2006/main">
            <a:off x="614967" y="1538445"/>
            <a:ext cx="7772400" cy="1101725"/>
          </a:xfrm>
        </p:spPr>
        <p:txBody>
          <a:bodyPr xmlns:a="http://schemas.openxmlformats.org/drawingml/2006/main" wrap="square" anchor="ctr">
            <a:noAutofit/>
          </a:bodyPr>
          <a:lstStyle xmlns:a="http://schemas.openxmlformats.org/drawingml/2006/main"/>
          <a:p xmlns:a="http://schemas.openxmlformats.org/drawingml/2006/main">
            <a:pPr algn="l">
              <a:spcBef>
                <a:spcPts val="0"/>
              </a:spcBef>
              <a:spcAft>
                <a:spcPts val="0"/>
              </a:spcAft>
              <a:defRPr sz="2550" b="1">
                <a:solidFill>
                  <a:srgbClr val="17375D"/>
                </a:solidFill>
                <a:latin typeface="Calibri"/>
                <a:ea typeface="Calibri"/>
                <a:cs typeface="Calibri"/>
              </a:defRPr>
            </a:pPr>
            <a:r>
              <a:rPr sz="2550" b="1">
                <a:solidFill>
                  <a:srgbClr val="17375D"/>
                </a:solidFill>
                <a:latin typeface="Calibri"/>
                <a:ea typeface="Calibri"/>
                <a:cs typeface="Calibri"/>
              </a:rPr>
              <a:t>Estimación multicontaminante</a:t>
            </a:r>
          </a:p>
          <a:p xmlns:a="http://schemas.openxmlformats.org/drawingml/2006/main">
            <a:pPr algn="l">
              <a:spcBef>
                <a:spcPts val="0"/>
              </a:spcBef>
              <a:spcAft>
                <a:spcPts val="0"/>
              </a:spcAft>
              <a:defRPr sz="2550" b="1">
                <a:solidFill>
                  <a:srgbClr val="17375D"/>
                </a:solidFill>
                <a:latin typeface="Calibri"/>
                <a:ea typeface="Calibri"/>
                <a:cs typeface="Calibri"/>
              </a:defRPr>
            </a:pPr>
            <a:r>
              <a:rPr sz="2550" b="1">
                <a:solidFill>
                  <a:srgbClr val="17375D"/>
                </a:solidFill>
                <a:latin typeface="Calibri"/>
                <a:ea typeface="Calibri"/>
                <a:cs typeface="Calibri"/>
              </a:rPr>
              <a:t>de la calidad del aire en Chile</a:t>
            </a:r>
          </a:p>
        </p:txBody>
      </p:sp>
      <p:sp>
        <p:nvSpPr>
          <p:cNvPr id="5" name="TextBox 4">
            <a:extLst xmlns:a="http://schemas.openxmlformats.org/drawingml/2006/main">
              <a:ext uri="{FF2B5EF4-FFF2-40B4-BE49-F238E27FC236}">
                <a16:creationId xmlns:a16="http://schemas.microsoft.com/office/drawing/2014/main" id="{2C7FCD11-E193-40E2-8612-2FD54FE25314}"/>
              </a:ext>
            </a:extLst>
          </p:cNvPr>
          <p:cNvSpPr>
            <a:spLocks xmlns:a="http://schemas.openxmlformats.org/drawingml/2006/main" noGrp="1"/>
          </p:cNvSpPr>
          <p:nvPr/>
        </p:nvSpPr>
        <p:spPr>
          <a:xfrm xmlns:a="http://schemas.openxmlformats.org/drawingml/2006/main">
            <a:off x="612648" y="1188720"/>
            <a:ext cx="7772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spcBef>
                <a:spcPts val="0"/>
              </a:spcBef>
              <a:spcAft>
                <a:spcPts val="0"/>
              </a:spcAft>
              <a:defRPr sz="975" b="1">
                <a:solidFill>
                  <a:srgbClr val="17375D"/>
                </a:solidFill>
                <a:latin typeface="Calibri"/>
                <a:ea typeface="Calibri"/>
                <a:cs typeface="Calibri"/>
              </a:defRPr>
            </a:pPr>
            <a:r>
              <a:rPr sz="975" b="1">
                <a:solidFill>
                  <a:srgbClr val="17375D"/>
                </a:solidFill>
                <a:latin typeface="Calibri"/>
                <a:ea typeface="Calibri"/>
                <a:cs typeface="Calibri"/>
              </a:rPr>
              <a:t>ACTIVIDAD FINAL DE GRADUACIÓN 1 · MDS3050 · PRESENTACIÓN FINAL</a:t>
            </a:r>
          </a:p>
        </p:txBody>
      </p:sp>
      <p:sp>
        <p:nvSpPr>
          <p:cNvPr id="6" name="Rounded Rectangle 5">
            <a:extLst xmlns:a="http://schemas.openxmlformats.org/drawingml/2006/main">
              <a:ext uri="{FF2B5EF4-FFF2-40B4-BE49-F238E27FC236}">
                <a16:creationId xmlns:a16="http://schemas.microsoft.com/office/drawing/2014/main" id="{62CD7E53-106E-4F63-98B8-82FEC5B1556D}"/>
              </a:ext>
            </a:extLst>
          </p:cNvPr>
          <p:cNvSpPr>
            <a:spLocks xmlns:a="http://schemas.openxmlformats.org/drawingml/2006/main" noGrp="1"/>
          </p:cNvSpPr>
          <p:nvPr/>
        </p:nvSpPr>
        <p:spPr>
          <a:xfrm xmlns:a="http://schemas.openxmlformats.org/drawingml/2006/main">
            <a:off x="612648" y="3950208"/>
            <a:ext cx="1883664" cy="402336"/>
          </a:xfrm>
          <a:prstGeom xmlns:a="http://schemas.openxmlformats.org/drawingml/2006/main" prst="roundRect">
            <a:avLst>
              <a:gd name="adj" fmla="val 18000"/>
            </a:avLst>
          </a:prstGeom>
          <a:solidFill xmlns:a="http://schemas.openxmlformats.org/drawingml/2006/main">
            <a:srgbClr val="EAF2F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67CEBDA8-F95B-4413-88D4-7F98BE3865C0}"/>
              </a:ext>
            </a:extLst>
          </p:cNvPr>
          <p:cNvSpPr>
            <a:spLocks xmlns:a="http://schemas.openxmlformats.org/drawingml/2006/main" noGrp="1"/>
          </p:cNvSpPr>
          <p:nvPr/>
        </p:nvSpPr>
        <p:spPr>
          <a:xfrm xmlns:a="http://schemas.openxmlformats.org/drawingml/2006/main">
            <a:off x="685800" y="3950208"/>
            <a:ext cx="17373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819" b="1" i="0">
                <a:solidFill>
                  <a:srgbClr val="17375D"/>
                </a:solidFill>
                <a:latin typeface="Calibri"/>
                <a:ea typeface="Calibri"/>
                <a:cs typeface="Calibri"/>
              </a:rPr>
              <a:t>José Jesús Romero Fuenmayor</a:t>
            </a:r>
          </a:p>
        </p:txBody>
      </p:sp>
      <p:sp>
        <p:nvSpPr>
          <p:cNvPr id="8" name="Rounded Rectangle 7">
            <a:extLst xmlns:a="http://schemas.openxmlformats.org/drawingml/2006/main">
              <a:ext uri="{FF2B5EF4-FFF2-40B4-BE49-F238E27FC236}">
                <a16:creationId xmlns:a16="http://schemas.microsoft.com/office/drawing/2014/main" id="{20944935-B0E5-406D-94F8-6DBDD9666995}"/>
              </a:ext>
            </a:extLst>
          </p:cNvPr>
          <p:cNvSpPr>
            <a:spLocks xmlns:a="http://schemas.openxmlformats.org/drawingml/2006/main" noGrp="1"/>
          </p:cNvSpPr>
          <p:nvPr/>
        </p:nvSpPr>
        <p:spPr>
          <a:xfrm xmlns:a="http://schemas.openxmlformats.org/drawingml/2006/main">
            <a:off x="2624328" y="3950208"/>
            <a:ext cx="1883664" cy="402336"/>
          </a:xfrm>
          <a:prstGeom xmlns:a="http://schemas.openxmlformats.org/drawingml/2006/main" prst="roundRect">
            <a:avLst>
              <a:gd name="adj" fmla="val 18000"/>
            </a:avLst>
          </a:prstGeom>
          <a:solidFill xmlns:a="http://schemas.openxmlformats.org/drawingml/2006/main">
            <a:srgbClr val="EAF2F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30DCA92C-4011-4AA9-8A97-289D4C5D7232}"/>
              </a:ext>
            </a:extLst>
          </p:cNvPr>
          <p:cNvSpPr>
            <a:spLocks xmlns:a="http://schemas.openxmlformats.org/drawingml/2006/main" noGrp="1"/>
          </p:cNvSpPr>
          <p:nvPr/>
        </p:nvSpPr>
        <p:spPr>
          <a:xfrm xmlns:a="http://schemas.openxmlformats.org/drawingml/2006/main">
            <a:off x="2697480" y="3950208"/>
            <a:ext cx="17373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819" b="1" i="0">
                <a:solidFill>
                  <a:srgbClr val="17375D"/>
                </a:solidFill>
                <a:latin typeface="Calibri"/>
                <a:ea typeface="Calibri"/>
                <a:cs typeface="Calibri"/>
              </a:rPr>
              <a:t>Roberto Ignacio Ávila Escobar</a:t>
            </a:r>
          </a:p>
        </p:txBody>
      </p:sp>
      <p:sp>
        <p:nvSpPr>
          <p:cNvPr id="10" name="Rounded Rectangle 9">
            <a:extLst xmlns:a="http://schemas.openxmlformats.org/drawingml/2006/main">
              <a:ext uri="{FF2B5EF4-FFF2-40B4-BE49-F238E27FC236}">
                <a16:creationId xmlns:a16="http://schemas.microsoft.com/office/drawing/2014/main" id="{045B74AC-0432-4A80-ABE8-182ADFC58378}"/>
              </a:ext>
            </a:extLst>
          </p:cNvPr>
          <p:cNvSpPr>
            <a:spLocks xmlns:a="http://schemas.openxmlformats.org/drawingml/2006/main" noGrp="1"/>
          </p:cNvSpPr>
          <p:nvPr/>
        </p:nvSpPr>
        <p:spPr>
          <a:xfrm xmlns:a="http://schemas.openxmlformats.org/drawingml/2006/main">
            <a:off x="4636008" y="3950208"/>
            <a:ext cx="1883664" cy="402336"/>
          </a:xfrm>
          <a:prstGeom xmlns:a="http://schemas.openxmlformats.org/drawingml/2006/main" prst="roundRect">
            <a:avLst>
              <a:gd name="adj" fmla="val 18000"/>
            </a:avLst>
          </a:prstGeom>
          <a:solidFill xmlns:a="http://schemas.openxmlformats.org/drawingml/2006/main">
            <a:srgbClr val="EAF2F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8F67EDBD-5557-4635-B18F-67069BDB6F30}"/>
              </a:ext>
            </a:extLst>
          </p:cNvPr>
          <p:cNvSpPr>
            <a:spLocks xmlns:a="http://schemas.openxmlformats.org/drawingml/2006/main" noGrp="1"/>
          </p:cNvSpPr>
          <p:nvPr/>
        </p:nvSpPr>
        <p:spPr>
          <a:xfrm xmlns:a="http://schemas.openxmlformats.org/drawingml/2006/main">
            <a:off x="4709160" y="3950208"/>
            <a:ext cx="17373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819" b="1" i="0">
                <a:solidFill>
                  <a:srgbClr val="17375D"/>
                </a:solidFill>
                <a:latin typeface="Calibri"/>
                <a:ea typeface="Calibri"/>
                <a:cs typeface="Calibri"/>
              </a:rPr>
              <a:t>Amaru Simón Agüero Jiménez</a:t>
            </a:r>
          </a:p>
        </p:txBody>
      </p:sp>
      <p:sp>
        <p:nvSpPr>
          <p:cNvPr id="12" name="Rounded Rectangle 11">
            <a:extLst xmlns:a="http://schemas.openxmlformats.org/drawingml/2006/main">
              <a:ext uri="{FF2B5EF4-FFF2-40B4-BE49-F238E27FC236}">
                <a16:creationId xmlns:a16="http://schemas.microsoft.com/office/drawing/2014/main" id="{EC704E1F-C163-4F44-B088-D4753A9F60D2}"/>
              </a:ext>
            </a:extLst>
          </p:cNvPr>
          <p:cNvSpPr>
            <a:spLocks xmlns:a="http://schemas.openxmlformats.org/drawingml/2006/main" noGrp="1"/>
          </p:cNvSpPr>
          <p:nvPr/>
        </p:nvSpPr>
        <p:spPr>
          <a:xfrm xmlns:a="http://schemas.openxmlformats.org/drawingml/2006/main">
            <a:off x="6647688" y="3950208"/>
            <a:ext cx="1883664" cy="402336"/>
          </a:xfrm>
          <a:prstGeom xmlns:a="http://schemas.openxmlformats.org/drawingml/2006/main" prst="roundRect">
            <a:avLst>
              <a:gd name="adj" fmla="val 18000"/>
            </a:avLst>
          </a:prstGeom>
          <a:solidFill xmlns:a="http://schemas.openxmlformats.org/drawingml/2006/main">
            <a:srgbClr val="EAF2F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7C303554-E3B7-40ED-AB03-B3182BF040CE}"/>
              </a:ext>
            </a:extLst>
          </p:cNvPr>
          <p:cNvSpPr>
            <a:spLocks xmlns:a="http://schemas.openxmlformats.org/drawingml/2006/main" noGrp="1"/>
          </p:cNvSpPr>
          <p:nvPr/>
        </p:nvSpPr>
        <p:spPr>
          <a:xfrm xmlns:a="http://schemas.openxmlformats.org/drawingml/2006/main">
            <a:off x="6720840" y="3950208"/>
            <a:ext cx="17373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819" b="1" i="0">
                <a:solidFill>
                  <a:srgbClr val="17375D"/>
                </a:solidFill>
                <a:latin typeface="Calibri"/>
                <a:ea typeface="Calibri"/>
                <a:cs typeface="Calibri"/>
              </a:rPr>
              <a:t>Esteban Adolfo González Rodríguez</a:t>
            </a:r>
          </a:p>
        </p:txBody>
      </p:sp>
      <p:sp>
        <p:nvSpPr>
          <p:cNvPr id="14" name="TextBox 13">
            <a:extLst xmlns:a="http://schemas.openxmlformats.org/drawingml/2006/main">
              <a:ext uri="{FF2B5EF4-FFF2-40B4-BE49-F238E27FC236}">
                <a16:creationId xmlns:a16="http://schemas.microsoft.com/office/drawing/2014/main" id="{28706D8F-E7A0-425C-B1FD-A417AEF4FFB8}"/>
              </a:ext>
            </a:extLst>
          </p:cNvPr>
          <p:cNvSpPr>
            <a:spLocks xmlns:a="http://schemas.openxmlformats.org/drawingml/2006/main" noGrp="1"/>
          </p:cNvSpPr>
          <p:nvPr/>
        </p:nvSpPr>
        <p:spPr>
          <a:xfrm xmlns:a="http://schemas.openxmlformats.org/drawingml/2006/main">
            <a:off x="612648" y="446227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spcBef>
                <a:spcPts val="0"/>
              </a:spcBef>
              <a:spcAft>
                <a:spcPts val="0"/>
              </a:spcAft>
              <a:defRPr sz="1125" b="0">
                <a:solidFill>
                  <a:srgbClr val="17375D"/>
                </a:solidFill>
                <a:latin typeface="Calibri"/>
                <a:ea typeface="Calibri"/>
                <a:cs typeface="Calibri"/>
              </a:defRPr>
            </a:pPr>
            <a:r>
              <a:rPr sz="1125" b="0">
                <a:solidFill>
                  <a:srgbClr val="17375D"/>
                </a:solidFill>
                <a:latin typeface="Calibri"/>
                <a:ea typeface="Calibri"/>
                <a:cs typeface="Calibri"/>
              </a:rPr>
              <a:t>Equipo 2 · 27 de septiembre de 2026</a:t>
            </a:r>
          </a:p>
        </p:txBody>
      </p:sp>
    </p:spTree>
    <p:extLst>
      <p:ext uri="{BB962C8B-B14F-4D97-AF65-F5344CB8AC3E}">
        <p14:creationId xmlns:p14="http://schemas.microsoft.com/office/powerpoint/2010/main" val="4120695355"/>
      </p:ext>
    </p:extLst>
  </p:cSld>
</p:sld>
</file>

<file path=ppt/slides/slide2.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3486DB9C-93DE-456A-BF48-2757BBD61ACE}"/>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2DE33766-2918-41FC-A1B9-B4BF483C8974}"/>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3BCD4458-45E8-4C73-A3B6-249CEEFBDB7B}"/>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A18DC9E6-BD6D-4FE1-AEC0-9715BEE3912A}"/>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438D0FA2-1899-4EDF-9FA4-D1742768DFC6}"/>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El desafío: estimar donde no hay una medición</a:t>
            </a:r>
          </a:p>
        </p:txBody>
      </p:sp>
      <p:sp>
        <p:nvSpPr>
          <p:cNvPr id="8" name="Objetivo 1">
            <a:extLst xmlns:a="http://schemas.openxmlformats.org/drawingml/2006/main">
              <a:ext uri="{FF2B5EF4-FFF2-40B4-BE49-F238E27FC236}">
                <a16:creationId xmlns:a16="http://schemas.microsoft.com/office/drawing/2014/main" id="{4C21F31F-1D56-41AC-9A9E-03E099AED800}"/>
              </a:ext>
            </a:extLst>
          </p:cNvPr>
          <p:cNvSpPr>
            <a:spLocks xmlns:a="http://schemas.openxmlformats.org/drawingml/2006/main" noGrp="1"/>
          </p:cNvSpPr>
          <p:nvPr/>
        </p:nvSpPr>
        <p:spPr>
          <a:xfrm xmlns:a="http://schemas.openxmlformats.org/drawingml/2006/main">
            <a:off x="548640" y="1303020"/>
            <a:ext cx="2496312" cy="3236976"/>
          </a:xfrm>
          <a:prstGeom xmlns:a="http://schemas.openxmlformats.org/drawingml/2006/main" prst="roundRect">
            <a:avLst>
              <a:gd name="adj" fmla="val 7500"/>
            </a:avLst>
          </a:prstGeom>
          <a:solidFill xmlns:a="http://schemas.openxmlformats.org/drawingml/2006/main">
            <a:srgbClr val="F2F6FC"/>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171450" tIns="171450" rIns="171450" bIns="171450" anchor="t">
            <a:noAutofit/>
          </a:bodyPr>
          <a:lstStyle xmlns:a="http://schemas.openxmlformats.org/drawingml/2006/main"/>
          <a:p xmlns:a="http://schemas.openxmlformats.org/drawingml/2006/main">
            <a:pPr>
              <a:spcAft>
                <a:spcPts val="1000"/>
              </a:spcAft>
              <a:defRPr sz="1425">
                <a:latin typeface="Calibri"/>
                <a:ea typeface="Calibri"/>
                <a:cs typeface="Calibri"/>
              </a:defRPr>
            </a:pPr>
            <a:r>
              <a:rPr sz="1425" b="1">
                <a:solidFill>
                  <a:srgbClr val="017EDF"/>
                </a:solidFill>
                <a:latin typeface="Calibri"/>
                <a:ea typeface="Calibri"/>
                <a:cs typeface="Calibri"/>
              </a:rPr>
              <a:t>PROBLEMA</a:t>
            </a:r>
          </a:p>
          <a:p xmlns:a="http://schemas.openxmlformats.org/drawingml/2006/main">
            <a:pPr>
              <a:spcAft>
                <a:spcPts val="1300"/>
              </a:spcAft>
              <a:defRPr sz="1425">
                <a:latin typeface="Calibri"/>
                <a:ea typeface="Calibri"/>
                <a:cs typeface="Calibri"/>
              </a:defRPr>
            </a:pPr>
            <a:r>
              <a:rPr sz="1425" b="1">
                <a:solidFill>
                  <a:srgbClr val="17375D"/>
                </a:solidFill>
                <a:latin typeface="Calibri"/>
                <a:ea typeface="Calibri"/>
                <a:cs typeface="Calibri"/>
              </a:rPr>
              <a:t>La medición es puntual</a:t>
            </a:r>
          </a:p>
          <a:p xmlns:a="http://schemas.openxmlformats.org/drawingml/2006/main">
            <a:pPr>
              <a:defRPr sz="1425">
                <a:latin typeface="Calibri"/>
                <a:ea typeface="Calibri"/>
                <a:cs typeface="Calibri"/>
              </a:defRPr>
            </a:pPr>
            <a:r>
              <a:rPr sz="1425">
                <a:solidFill>
                  <a:srgbClr val="1E293B"/>
                </a:solidFill>
                <a:latin typeface="Calibri"/>
                <a:ea typeface="Calibri"/>
                <a:cs typeface="Calibri"/>
              </a:rPr>
              <a:t>SINCA observa concentraciones en estaciones. Esa información no describe por sí sola cada celda del territorio y cada hora.</a:t>
            </a:r>
          </a:p>
        </p:txBody>
      </p:sp>
      <p:sp>
        <p:nvSpPr>
          <p:cNvPr id="9" name="Objetivo 2">
            <a:extLst xmlns:a="http://schemas.openxmlformats.org/drawingml/2006/main">
              <a:ext uri="{FF2B5EF4-FFF2-40B4-BE49-F238E27FC236}">
                <a16:creationId xmlns:a16="http://schemas.microsoft.com/office/drawing/2014/main" id="{15A38457-7C15-4590-B6E5-E8E83B376912}"/>
              </a:ext>
            </a:extLst>
          </p:cNvPr>
          <p:cNvSpPr>
            <a:spLocks xmlns:a="http://schemas.openxmlformats.org/drawingml/2006/main" noGrp="1"/>
          </p:cNvSpPr>
          <p:nvPr/>
        </p:nvSpPr>
        <p:spPr>
          <a:xfrm xmlns:a="http://schemas.openxmlformats.org/drawingml/2006/main">
            <a:off x="3319272" y="1303020"/>
            <a:ext cx="2496312" cy="3236976"/>
          </a:xfrm>
          <a:prstGeom xmlns:a="http://schemas.openxmlformats.org/drawingml/2006/main" prst="roundRect">
            <a:avLst>
              <a:gd name="adj" fmla="val 7500"/>
            </a:avLst>
          </a:prstGeom>
          <a:solidFill xmlns:a="http://schemas.openxmlformats.org/drawingml/2006/main">
            <a:srgbClr val="F2F6FC"/>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171450" tIns="171450" rIns="171450" bIns="171450" anchor="t">
            <a:noAutofit/>
          </a:bodyPr>
          <a:lstStyle xmlns:a="http://schemas.openxmlformats.org/drawingml/2006/main"/>
          <a:p xmlns:a="http://schemas.openxmlformats.org/drawingml/2006/main">
            <a:pPr>
              <a:spcAft>
                <a:spcPts val="1000"/>
              </a:spcAft>
              <a:defRPr sz="1425">
                <a:latin typeface="Calibri"/>
                <a:ea typeface="Calibri"/>
                <a:cs typeface="Calibri"/>
              </a:defRPr>
            </a:pPr>
            <a:r>
              <a:rPr sz="1425" b="1">
                <a:solidFill>
                  <a:srgbClr val="017EDF"/>
                </a:solidFill>
                <a:latin typeface="Calibri"/>
                <a:ea typeface="Calibri"/>
                <a:cs typeface="Calibri"/>
              </a:rPr>
              <a:t>BRECHA</a:t>
            </a:r>
          </a:p>
          <a:p xmlns:a="http://schemas.openxmlformats.org/drawingml/2006/main">
            <a:pPr>
              <a:spcAft>
                <a:spcPts val="1300"/>
              </a:spcAft>
              <a:defRPr sz="1425">
                <a:latin typeface="Calibri"/>
                <a:ea typeface="Calibri"/>
                <a:cs typeface="Calibri"/>
              </a:defRPr>
            </a:pPr>
            <a:r>
              <a:rPr sz="1425" b="1">
                <a:solidFill>
                  <a:srgbClr val="17375D"/>
                </a:solidFill>
                <a:latin typeface="Calibri"/>
                <a:ea typeface="Calibri"/>
                <a:cs typeface="Calibri"/>
              </a:rPr>
              <a:t>Fuentes con distinta cobertura</a:t>
            </a:r>
          </a:p>
          <a:p xmlns:a="http://schemas.openxmlformats.org/drawingml/2006/main">
            <a:pPr>
              <a:defRPr sz="1425">
                <a:latin typeface="Calibri"/>
                <a:ea typeface="Calibri"/>
                <a:cs typeface="Calibri"/>
              </a:defRPr>
            </a:pPr>
            <a:r>
              <a:rPr sz="1425">
                <a:solidFill>
                  <a:srgbClr val="1E293B"/>
                </a:solidFill>
                <a:latin typeface="Calibri"/>
                <a:ea typeface="Calibri"/>
                <a:cs typeface="Calibri"/>
              </a:rPr>
              <a:t>Estaciones, satélites y reanálisis difieren en frecuencia, resolución y faltantes. Integrarlos exige controles y una evaluación territorial.</a:t>
            </a:r>
          </a:p>
        </p:txBody>
      </p:sp>
      <p:sp>
        <p:nvSpPr>
          <p:cNvPr id="10" name="Objetivo 3">
            <a:extLst xmlns:a="http://schemas.openxmlformats.org/drawingml/2006/main">
              <a:ext uri="{FF2B5EF4-FFF2-40B4-BE49-F238E27FC236}">
                <a16:creationId xmlns:a16="http://schemas.microsoft.com/office/drawing/2014/main" id="{AB68FC77-E0FB-4BA2-806D-4EC10AFED77A}"/>
              </a:ext>
            </a:extLst>
          </p:cNvPr>
          <p:cNvSpPr>
            <a:spLocks xmlns:a="http://schemas.openxmlformats.org/drawingml/2006/main" noGrp="1"/>
          </p:cNvSpPr>
          <p:nvPr/>
        </p:nvSpPr>
        <p:spPr>
          <a:xfrm xmlns:a="http://schemas.openxmlformats.org/drawingml/2006/main">
            <a:off x="6089904" y="1303020"/>
            <a:ext cx="2496312" cy="3236976"/>
          </a:xfrm>
          <a:prstGeom xmlns:a="http://schemas.openxmlformats.org/drawingml/2006/main" prst="roundRect">
            <a:avLst>
              <a:gd name="adj" fmla="val 7500"/>
            </a:avLst>
          </a:prstGeom>
          <a:solidFill xmlns:a="http://schemas.openxmlformats.org/drawingml/2006/main">
            <a:srgbClr val="F2F6FC"/>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171450" tIns="171450" rIns="171450" bIns="171450" anchor="t">
            <a:noAutofit/>
          </a:bodyPr>
          <a:lstStyle xmlns:a="http://schemas.openxmlformats.org/drawingml/2006/main"/>
          <a:p xmlns:a="http://schemas.openxmlformats.org/drawingml/2006/main">
            <a:pPr>
              <a:spcAft>
                <a:spcPts val="1000"/>
              </a:spcAft>
              <a:defRPr sz="1425">
                <a:latin typeface="Calibri"/>
                <a:ea typeface="Calibri"/>
                <a:cs typeface="Calibri"/>
              </a:defRPr>
            </a:pPr>
            <a:r>
              <a:rPr sz="1425" b="1">
                <a:solidFill>
                  <a:srgbClr val="017EDF"/>
                </a:solidFill>
                <a:latin typeface="Calibri"/>
                <a:ea typeface="Calibri"/>
                <a:cs typeface="Calibri"/>
              </a:rPr>
              <a:t>PROPUESTA</a:t>
            </a:r>
          </a:p>
          <a:p xmlns:a="http://schemas.openxmlformats.org/drawingml/2006/main">
            <a:pPr>
              <a:spcAft>
                <a:spcPts val="1300"/>
              </a:spcAft>
              <a:defRPr sz="1425">
                <a:latin typeface="Calibri"/>
                <a:ea typeface="Calibri"/>
                <a:cs typeface="Calibri"/>
              </a:defRPr>
            </a:pPr>
            <a:r>
              <a:rPr sz="1425" b="1">
                <a:solidFill>
                  <a:srgbClr val="17375D"/>
                </a:solidFill>
                <a:latin typeface="Calibri"/>
                <a:ea typeface="Calibri"/>
                <a:cs typeface="Calibri"/>
              </a:rPr>
              <a:t>Una superficie estimada y trazable</a:t>
            </a:r>
          </a:p>
          <a:p xmlns:a="http://schemas.openxmlformats.org/drawingml/2006/main">
            <a:pPr>
              <a:defRPr sz="1425">
                <a:latin typeface="Calibri"/>
                <a:ea typeface="Calibri"/>
                <a:cs typeface="Calibri"/>
              </a:defRPr>
            </a:pPr>
            <a:r>
              <a:rPr sz="1425">
                <a:solidFill>
                  <a:srgbClr val="1E293B"/>
                </a:solidFill>
                <a:latin typeface="Calibri"/>
                <a:ea typeface="Calibri"/>
                <a:cs typeface="Calibri"/>
              </a:rPr>
              <a:t>Relacionar las mediciones de superficie con predictores ambientales para estimar concentraciones fuera de las estaciones.</a:t>
            </a:r>
          </a:p>
        </p:txBody>
      </p:sp>
      <p:sp>
        <p:nvSpPr>
          <p:cNvPr id="11" name="Fuente y alcance">
            <a:extLst xmlns:a="http://schemas.openxmlformats.org/drawingml/2006/main">
              <a:ext uri="{FF2B5EF4-FFF2-40B4-BE49-F238E27FC236}">
                <a16:creationId xmlns:a16="http://schemas.microsoft.com/office/drawing/2014/main" id="{CC88DBEC-EE08-4BC5-9B8C-1149DEE6E7D3}"/>
              </a:ext>
            </a:extLst>
          </p:cNvPr>
          <p:cNvSpPr>
            <a:spLocks xmlns:a="http://schemas.openxmlformats.org/drawingml/2006/main" noGrp="1"/>
          </p:cNvSpPr>
          <p:nvPr/>
        </p:nvSpPr>
        <p:spPr>
          <a:xfrm xmlns:a="http://schemas.openxmlformats.org/drawingml/2006/main">
            <a:off x="548640" y="4600575"/>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878">
                <a:solidFill>
                  <a:srgbClr val="526277"/>
                </a:solidFill>
                <a:latin typeface="Calibri"/>
                <a:ea typeface="Calibri"/>
                <a:cs typeface="Calibri"/>
              </a:defRPr>
            </a:pPr>
            <a:r>
              <a:rPr sz="878">
                <a:solidFill>
                  <a:srgbClr val="526277"/>
                </a:solidFill>
                <a:latin typeface="Calibri"/>
                <a:ea typeface="Calibri"/>
                <a:cs typeface="Calibri"/>
              </a:rPr>
              <a:t>Fuente: informe del Equipo 2; avances 1–3. Alcance de estimación: no se evalúan efectos causales en salud.</a:t>
            </a:r>
          </a:p>
        </p:txBody>
      </p:sp>
    </p:spTree>
    <p:extLst>
      <p:ext uri="{BB962C8B-B14F-4D97-AF65-F5344CB8AC3E}">
        <p14:creationId xmlns:p14="http://schemas.microsoft.com/office/powerpoint/2010/main" val="3227572768"/>
      </p:ext>
    </p:extLst>
  </p:cSld>
</p:sld>
</file>

<file path=ppt/slides/slide3.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3486DB9C-93DE-456A-BF48-2757BBD61ACE}"/>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2DE33766-2918-41FC-A1B9-B4BF483C8974}"/>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3BCD4458-45E8-4C73-A3B6-249CEEFBDB7B}"/>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A18DC9E6-BD6D-4FE1-AEC0-9715BEE3912A}"/>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438D0FA2-1899-4EDF-9FA4-D1742768DFC6}"/>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Pregunta y objetivos de la investigación</a:t>
            </a:r>
          </a:p>
        </p:txBody>
      </p:sp>
      <p:sp>
        <p:nvSpPr>
          <p:cNvPr id="8" name="Objetivo 1">
            <a:extLst xmlns:a="http://schemas.openxmlformats.org/drawingml/2006/main">
              <a:ext uri="{FF2B5EF4-FFF2-40B4-BE49-F238E27FC236}">
                <a16:creationId xmlns:a16="http://schemas.microsoft.com/office/drawing/2014/main" id="{4C21F31F-1D56-41AC-9A9E-03E099AED800}"/>
              </a:ext>
            </a:extLst>
          </p:cNvPr>
          <p:cNvSpPr>
            <a:spLocks xmlns:a="http://schemas.openxmlformats.org/drawingml/2006/main" noGrp="1"/>
          </p:cNvSpPr>
          <p:nvPr/>
        </p:nvSpPr>
        <p:spPr>
          <a:xfrm xmlns:a="http://schemas.openxmlformats.org/drawingml/2006/main">
            <a:off x="548640" y="1962150"/>
            <a:ext cx="2496312" cy="2533650"/>
          </a:xfrm>
          <a:prstGeom xmlns:a="http://schemas.openxmlformats.org/drawingml/2006/main" prst="roundRect">
            <a:avLst>
              <a:gd name="adj" fmla="val 7500"/>
            </a:avLst>
          </a:prstGeom>
          <a:solidFill xmlns:a="http://schemas.openxmlformats.org/drawingml/2006/main">
            <a:srgbClr val="F2F6FC"/>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171450" tIns="171450" rIns="171450" bIns="171450" anchor="t">
            <a:noAutofit/>
          </a:bodyPr>
          <a:lstStyle xmlns:a="http://schemas.openxmlformats.org/drawingml/2006/main"/>
          <a:p xmlns:a="http://schemas.openxmlformats.org/drawingml/2006/main">
            <a:pPr>
              <a:spcAft>
                <a:spcPts val="1000"/>
              </a:spcAft>
              <a:defRPr sz="1425">
                <a:latin typeface="Calibri"/>
                <a:ea typeface="Calibri"/>
                <a:cs typeface="Calibri"/>
              </a:defRPr>
            </a:pPr>
            <a:r>
              <a:rPr sz="1425" b="1">
                <a:solidFill>
                  <a:srgbClr val="017EDF"/>
                </a:solidFill>
                <a:latin typeface="Calibri"/>
                <a:ea typeface="Calibri"/>
                <a:cs typeface="Calibri"/>
              </a:rPr>
              <a:t>01 · DATOS</a:t>
            </a:r>
          </a:p>
          <a:p xmlns:a="http://schemas.openxmlformats.org/drawingml/2006/main">
            <a:pPr>
              <a:spcAft>
                <a:spcPts val="1300"/>
              </a:spcAft>
              <a:defRPr sz="1425">
                <a:latin typeface="Calibri"/>
                <a:ea typeface="Calibri"/>
                <a:cs typeface="Calibri"/>
              </a:defRPr>
            </a:pPr>
            <a:r>
              <a:rPr sz="1425" b="1">
                <a:solidFill>
                  <a:srgbClr val="17375D"/>
                </a:solidFill>
                <a:latin typeface="Calibri"/>
                <a:ea typeface="Calibri"/>
                <a:cs typeface="Calibri"/>
              </a:rPr>
              <a:t>Construir el panel</a:t>
            </a:r>
          </a:p>
          <a:p xmlns:a="http://schemas.openxmlformats.org/drawingml/2006/main">
            <a:pPr>
              <a:defRPr sz="1425">
                <a:latin typeface="Calibri"/>
                <a:ea typeface="Calibri"/>
                <a:cs typeface="Calibri"/>
              </a:defRPr>
            </a:pPr>
            <a:r>
              <a:rPr sz="1425">
                <a:solidFill>
                  <a:srgbClr val="1E293B"/>
                </a:solidFill>
                <a:latin typeface="Calibri"/>
                <a:ea typeface="Calibri"/>
                <a:cs typeface="Calibri"/>
              </a:rPr>
              <a:t>Armonizar calidad, unidades y tiempo; vincular cada estación con los predictores de su celda.</a:t>
            </a:r>
          </a:p>
        </p:txBody>
      </p:sp>
      <p:sp>
        <p:nvSpPr>
          <p:cNvPr id="9" name="Objetivo 2">
            <a:extLst xmlns:a="http://schemas.openxmlformats.org/drawingml/2006/main">
              <a:ext uri="{FF2B5EF4-FFF2-40B4-BE49-F238E27FC236}">
                <a16:creationId xmlns:a16="http://schemas.microsoft.com/office/drawing/2014/main" id="{15A38457-7C15-4590-B6E5-E8E83B376912}"/>
              </a:ext>
            </a:extLst>
          </p:cNvPr>
          <p:cNvSpPr>
            <a:spLocks xmlns:a="http://schemas.openxmlformats.org/drawingml/2006/main" noGrp="1"/>
          </p:cNvSpPr>
          <p:nvPr/>
        </p:nvSpPr>
        <p:spPr>
          <a:xfrm xmlns:a="http://schemas.openxmlformats.org/drawingml/2006/main">
            <a:off x="3319272" y="1962150"/>
            <a:ext cx="2496312" cy="2533650"/>
          </a:xfrm>
          <a:prstGeom xmlns:a="http://schemas.openxmlformats.org/drawingml/2006/main" prst="roundRect">
            <a:avLst>
              <a:gd name="adj" fmla="val 7500"/>
            </a:avLst>
          </a:prstGeom>
          <a:solidFill xmlns:a="http://schemas.openxmlformats.org/drawingml/2006/main">
            <a:srgbClr val="F2F6FC"/>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171450" tIns="171450" rIns="171450" bIns="171450" anchor="t">
            <a:noAutofit/>
          </a:bodyPr>
          <a:lstStyle xmlns:a="http://schemas.openxmlformats.org/drawingml/2006/main"/>
          <a:p xmlns:a="http://schemas.openxmlformats.org/drawingml/2006/main">
            <a:pPr>
              <a:spcAft>
                <a:spcPts val="1000"/>
              </a:spcAft>
              <a:defRPr sz="1425">
                <a:latin typeface="Calibri"/>
                <a:ea typeface="Calibri"/>
                <a:cs typeface="Calibri"/>
              </a:defRPr>
            </a:pPr>
            <a:r>
              <a:rPr sz="1425" b="1">
                <a:solidFill>
                  <a:srgbClr val="017EDF"/>
                </a:solidFill>
                <a:latin typeface="Calibri"/>
                <a:ea typeface="Calibri"/>
                <a:cs typeface="Calibri"/>
              </a:rPr>
              <a:t>02 · MODELOS</a:t>
            </a:r>
          </a:p>
          <a:p xmlns:a="http://schemas.openxmlformats.org/drawingml/2006/main">
            <a:pPr>
              <a:spcAft>
                <a:spcPts val="1300"/>
              </a:spcAft>
              <a:defRPr sz="1425">
                <a:latin typeface="Calibri"/>
                <a:ea typeface="Calibri"/>
                <a:cs typeface="Calibri"/>
              </a:defRPr>
            </a:pPr>
            <a:r>
              <a:rPr sz="1425" b="1">
                <a:solidFill>
                  <a:srgbClr val="17375D"/>
                </a:solidFill>
                <a:latin typeface="Calibri"/>
                <a:ea typeface="Calibri"/>
                <a:cs typeface="Calibri"/>
              </a:rPr>
              <a:t>Comparar enfoques</a:t>
            </a:r>
          </a:p>
          <a:p xmlns:a="http://schemas.openxmlformats.org/drawingml/2006/main">
            <a:pPr>
              <a:defRPr sz="1425">
                <a:latin typeface="Calibri"/>
                <a:ea typeface="Calibri"/>
                <a:cs typeface="Calibri"/>
              </a:defRPr>
            </a:pPr>
            <a:r>
              <a:rPr sz="1425">
                <a:solidFill>
                  <a:srgbClr val="1E293B"/>
                </a:solidFill>
                <a:latin typeface="Calibri"/>
                <a:ea typeface="Calibri"/>
                <a:cs typeface="Calibri"/>
              </a:rPr>
              <a:t>Estimar cada contaminante con una línea base y familias flexibles, espaciales y de ensamble.</a:t>
            </a:r>
          </a:p>
        </p:txBody>
      </p:sp>
      <p:sp>
        <p:nvSpPr>
          <p:cNvPr id="10" name="Objetivo 3">
            <a:extLst xmlns:a="http://schemas.openxmlformats.org/drawingml/2006/main">
              <a:ext uri="{FF2B5EF4-FFF2-40B4-BE49-F238E27FC236}">
                <a16:creationId xmlns:a16="http://schemas.microsoft.com/office/drawing/2014/main" id="{AB68FC77-E0FB-4BA2-806D-4EC10AFED77A}"/>
              </a:ext>
            </a:extLst>
          </p:cNvPr>
          <p:cNvSpPr>
            <a:spLocks xmlns:a="http://schemas.openxmlformats.org/drawingml/2006/main" noGrp="1"/>
          </p:cNvSpPr>
          <p:nvPr/>
        </p:nvSpPr>
        <p:spPr>
          <a:xfrm xmlns:a="http://schemas.openxmlformats.org/drawingml/2006/main">
            <a:off x="6089904" y="1962150"/>
            <a:ext cx="2496312" cy="2533650"/>
          </a:xfrm>
          <a:prstGeom xmlns:a="http://schemas.openxmlformats.org/drawingml/2006/main" prst="roundRect">
            <a:avLst>
              <a:gd name="adj" fmla="val 7500"/>
            </a:avLst>
          </a:prstGeom>
          <a:solidFill xmlns:a="http://schemas.openxmlformats.org/drawingml/2006/main">
            <a:srgbClr val="F2F6FC"/>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171450" tIns="171450" rIns="171450" bIns="171450" anchor="t">
            <a:noAutofit/>
          </a:bodyPr>
          <a:lstStyle xmlns:a="http://schemas.openxmlformats.org/drawingml/2006/main"/>
          <a:p xmlns:a="http://schemas.openxmlformats.org/drawingml/2006/main">
            <a:pPr>
              <a:spcAft>
                <a:spcPts val="1000"/>
              </a:spcAft>
              <a:defRPr sz="1425">
                <a:latin typeface="Calibri"/>
                <a:ea typeface="Calibri"/>
                <a:cs typeface="Calibri"/>
              </a:defRPr>
            </a:pPr>
            <a:r>
              <a:rPr sz="1425" b="1">
                <a:solidFill>
                  <a:srgbClr val="017EDF"/>
                </a:solidFill>
                <a:latin typeface="Calibri"/>
                <a:ea typeface="Calibri"/>
                <a:cs typeface="Calibri"/>
              </a:rPr>
              <a:t>03 · EVALUACIÓN</a:t>
            </a:r>
          </a:p>
          <a:p xmlns:a="http://schemas.openxmlformats.org/drawingml/2006/main">
            <a:pPr>
              <a:spcAft>
                <a:spcPts val="1300"/>
              </a:spcAft>
              <a:defRPr sz="1425">
                <a:latin typeface="Calibri"/>
                <a:ea typeface="Calibri"/>
                <a:cs typeface="Calibri"/>
              </a:defRPr>
            </a:pPr>
            <a:r>
              <a:rPr sz="1425" b="1">
                <a:solidFill>
                  <a:srgbClr val="17375D"/>
                </a:solidFill>
                <a:latin typeface="Calibri"/>
                <a:ea typeface="Calibri"/>
                <a:cs typeface="Calibri"/>
              </a:rPr>
              <a:t>Medir transferencia</a:t>
            </a:r>
          </a:p>
          <a:p xmlns:a="http://schemas.openxmlformats.org/drawingml/2006/main">
            <a:pPr>
              <a:defRPr sz="1425">
                <a:latin typeface="Calibri"/>
                <a:ea typeface="Calibri"/>
                <a:cs typeface="Calibri"/>
              </a:defRPr>
            </a:pPr>
            <a:r>
              <a:rPr sz="1425">
                <a:solidFill>
                  <a:srgbClr val="1E293B"/>
                </a:solidFill>
                <a:latin typeface="Calibri"/>
                <a:ea typeface="Calibri"/>
                <a:cs typeface="Calibri"/>
              </a:rPr>
              <a:t>Reservar sitios, entornos, regiones y periodos; documentar incertidumbre antes de agregar por comuna.</a:t>
            </a:r>
          </a:p>
        </p:txBody>
      </p:sp>
      <p:sp>
        <p:nvSpPr>
          <p:cNvPr id="12" name="Pregunta">
            <a:extLst xmlns:a="http://schemas.openxmlformats.org/drawingml/2006/main">
              <a:ext uri="{FF2B5EF4-FFF2-40B4-BE49-F238E27FC236}">
                <a16:creationId xmlns:a16="http://schemas.microsoft.com/office/drawing/2014/main" id="{945B6C7E-3950-4221-B593-9053318F1957}"/>
              </a:ext>
            </a:extLst>
          </p:cNvPr>
          <p:cNvSpPr>
            <a:spLocks xmlns:a="http://schemas.openxmlformats.org/drawingml/2006/main" noGrp="1"/>
          </p:cNvSpPr>
          <p:nvPr/>
        </p:nvSpPr>
        <p:spPr>
          <a:xfrm xmlns:a="http://schemas.openxmlformats.org/drawingml/2006/main">
            <a:off x="552450" y="1181100"/>
            <a:ext cx="80295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1">
                <a:solidFill>
                  <a:srgbClr val="17375D"/>
                </a:solidFill>
                <a:latin typeface="Calibri"/>
                <a:ea typeface="Calibri"/>
                <a:cs typeface="Calibri"/>
              </a:defRPr>
            </a:pPr>
            <a:r>
              <a:rPr sz="1725" b="1">
                <a:solidFill>
                  <a:srgbClr val="17375D"/>
                </a:solidFill>
                <a:latin typeface="Calibri"/>
                <a:ea typeface="Calibri"/>
                <a:cs typeface="Calibri"/>
              </a:rPr>
              <a:t>¿Cómo estimar concentraciones horarias fuera de las estaciones, combinando fuentes ambientales y evaluando su generalización?</a:t>
            </a:r>
          </a:p>
        </p:txBody>
      </p:sp>
      <p:sp>
        <p:nvSpPr>
          <p:cNvPr id="13" name="Fuente y alcance">
            <a:extLst xmlns:a="http://schemas.openxmlformats.org/drawingml/2006/main">
              <a:ext uri="{FF2B5EF4-FFF2-40B4-BE49-F238E27FC236}">
                <a16:creationId xmlns:a16="http://schemas.microsoft.com/office/drawing/2014/main" id="{8E374568-5E84-4C5F-B5BC-530E5F431B07}"/>
              </a:ext>
            </a:extLst>
          </p:cNvPr>
          <p:cNvSpPr>
            <a:spLocks xmlns:a="http://schemas.openxmlformats.org/drawingml/2006/main" noGrp="1"/>
          </p:cNvSpPr>
          <p:nvPr/>
        </p:nvSpPr>
        <p:spPr>
          <a:xfrm xmlns:a="http://schemas.openxmlformats.org/drawingml/2006/main">
            <a:off x="548640" y="4600575"/>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878">
                <a:solidFill>
                  <a:srgbClr val="526277"/>
                </a:solidFill>
                <a:latin typeface="Calibri"/>
                <a:ea typeface="Calibri"/>
                <a:cs typeface="Calibri"/>
              </a:defRPr>
            </a:pPr>
            <a:r>
              <a:rPr sz="878">
                <a:solidFill>
                  <a:srgbClr val="526277"/>
                </a:solidFill>
                <a:latin typeface="Calibri"/>
                <a:ea typeface="Calibri"/>
                <a:cs typeface="Calibri"/>
              </a:rPr>
              <a:t>Alcance: PM₂.₅, PM₁₀, NO₂, SO₂, O₃ y CO. Desarrollo metodológico documentado en mayor detalle: PM₂.₅ y NO₂.</a:t>
            </a:r>
          </a:p>
        </p:txBody>
      </p:sp>
    </p:spTree>
    <p:extLst>
      <p:ext uri="{BB962C8B-B14F-4D97-AF65-F5344CB8AC3E}">
        <p14:creationId xmlns:p14="http://schemas.microsoft.com/office/powerpoint/2010/main" val="3227572768"/>
      </p:ext>
    </p:extLst>
  </p:cSld>
</p:sld>
</file>

<file path=ppt/slides/slide4.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3486DB9C-93DE-456A-BF48-2757BBD61ACE}"/>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2DE33766-2918-41FC-A1B9-B4BF483C8974}"/>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3BCD4458-45E8-4C73-A3B6-249CEEFBDB7B}"/>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A18DC9E6-BD6D-4FE1-AEC0-9715BEE3912A}"/>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438D0FA2-1899-4EDF-9FA4-D1742768DFC6}"/>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Dos antecedentes orientan la integración y los modelos</a:t>
            </a:r>
          </a:p>
        </p:txBody>
      </p:sp>
      <p:sp>
        <p:nvSpPr>
          <p:cNvPr id="8" name="Lectura">
            <a:extLst xmlns:a="http://schemas.openxmlformats.org/drawingml/2006/main">
              <a:ext uri="{FF2B5EF4-FFF2-40B4-BE49-F238E27FC236}">
                <a16:creationId xmlns:a16="http://schemas.microsoft.com/office/drawing/2014/main" id="{52B01B3A-081B-4C8C-BDF7-68BBB8412704}"/>
              </a:ext>
            </a:extLst>
          </p:cNvPr>
          <p:cNvSpPr>
            <a:spLocks xmlns:a="http://schemas.openxmlformats.org/drawingml/2006/main" noGrp="1"/>
          </p:cNvSpPr>
          <p:nvPr/>
        </p:nvSpPr>
        <p:spPr>
          <a:xfrm xmlns:a="http://schemas.openxmlformats.org/drawingml/2006/main">
            <a:off x="552450" y="1209675"/>
            <a:ext cx="8039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1">
                <a:solidFill>
                  <a:srgbClr val="17375D"/>
                </a:solidFill>
                <a:latin typeface="Calibri"/>
                <a:ea typeface="Calibri"/>
                <a:cs typeface="Calibri"/>
              </a:defRPr>
            </a:pPr>
            <a:r>
              <a:rPr sz="1575" b="1">
                <a:solidFill>
                  <a:srgbClr val="17375D"/>
                </a:solidFill>
                <a:latin typeface="Calibri"/>
                <a:ea typeface="Calibri"/>
                <a:cs typeface="Calibri"/>
              </a:rPr>
              <a:t>La adaptación a Chile y a seis contaminantes requiere evaluación propia.</a:t>
            </a:r>
          </a:p>
        </p:txBody>
      </p:sp>
      <p:graphicFrame>
        <p:nvGraphicFramePr>
          <p:cNvPr id="18" name=""/>
          <p:cNvGraphicFramePr/>
          <p:nvPr/>
        </p:nvGraphicFramePr>
        <p:xfrm>
          <a:off xmlns:a="http://schemas.openxmlformats.org/drawingml/2006/main" x="548640" y="1666875"/>
          <a:ext xmlns:a="http://schemas.openxmlformats.org/drawingml/2006/main" cx="8046720" cy="2552700"/>
        </p:xfrm>
        <a:graphic xmlns:a="http://schemas.openxmlformats.org/drawingml/2006/main">
          <a:graphicData uri="http://schemas.openxmlformats.org/drawingml/2006/table">
            <a:tbl>
              <a:tblPr firstRow="1" bandRow="0"/>
              <a:tblGrid>
                <a:gridCol w="1857375"/>
                <a:gridCol w="2924175"/>
                <a:gridCol w="3265170"/>
              </a:tblGrid>
              <a:tr h="400050">
                <a:tc>
                  <a:txBody>
                    <a:bodyPr wrap="square" lIns="95250" tIns="76200" rIns="95250" bIns="76200">
                      <a:noAutofit/>
                    </a:bodyPr>
                    <a:lstStyle/>
                    <a:p>
                      <a:r>
                        <a:rPr sz="1350" b="1">
                          <a:solidFill>
                            <a:srgbClr val="FFFFFF"/>
                          </a:solidFill>
                          <a:latin typeface="Calibri"/>
                          <a:ea typeface="Calibri"/>
                          <a:cs typeface="Calibri"/>
                        </a:rPr>
                        <a:t>Trabajo</a:t>
                      </a:r>
                    </a:p>
                  </a:txBody>
                  <a:tcPr marL="91440" marR="91440" marT="45720" marB="45720" anchor="ctr">
                    <a:solidFill>
                      <a:srgbClr val="17375D"/>
                    </a:solidFill>
                  </a:tcPr>
                </a:tc>
                <a:tc>
                  <a:txBody>
                    <a:bodyPr wrap="square" lIns="95250" tIns="76200" rIns="95250" bIns="76200">
                      <a:noAutofit/>
                    </a:bodyPr>
                    <a:lstStyle/>
                    <a:p>
                      <a:r>
                        <a:rPr sz="1350" b="1">
                          <a:solidFill>
                            <a:srgbClr val="FFFFFF"/>
                          </a:solidFill>
                          <a:latin typeface="Calibri"/>
                          <a:ea typeface="Calibri"/>
                          <a:cs typeface="Calibri"/>
                        </a:rPr>
                        <a:t>Aporte metodológico</a:t>
                      </a:r>
                    </a:p>
                  </a:txBody>
                  <a:tcPr marL="91440" marR="91440" marT="45720" marB="45720" anchor="ctr">
                    <a:solidFill>
                      <a:srgbClr val="17375D"/>
                    </a:solidFill>
                  </a:tcPr>
                </a:tc>
                <a:tc>
                  <a:txBody>
                    <a:bodyPr wrap="square" lIns="95250" tIns="76200" rIns="95250" bIns="76200">
                      <a:noAutofit/>
                    </a:bodyPr>
                    <a:lstStyle/>
                    <a:p>
                      <a:r>
                        <a:rPr sz="1350" b="1">
                          <a:solidFill>
                            <a:srgbClr val="FFFFFF"/>
                          </a:solidFill>
                          <a:latin typeface="Calibri"/>
                          <a:ea typeface="Calibri"/>
                          <a:cs typeface="Calibri"/>
                        </a:rPr>
                        <a:t>Vínculo y límite en este proyecto</a:t>
                      </a:r>
                    </a:p>
                  </a:txBody>
                  <a:tcPr marL="91440" marR="91440" marT="45720" marB="45720" anchor="ctr">
                    <a:solidFill>
                      <a:srgbClr val="17375D"/>
                    </a:solidFill>
                  </a:tcPr>
                </a:tc>
              </a:tr>
              <a:tr h="1076325">
                <a:tc>
                  <a:txBody>
                    <a:bodyPr wrap="square" lIns="95250" tIns="76200" rIns="95250" bIns="76200">
                      <a:noAutofit/>
                    </a:bodyPr>
                    <a:lstStyle/>
                    <a:p>
                      <a:r>
                        <a:rPr sz="1350" b="0">
                          <a:solidFill>
                            <a:srgbClr val="1E293B"/>
                          </a:solidFill>
                          <a:latin typeface="Calibri"/>
                          <a:ea typeface="Calibri"/>
                          <a:cs typeface="Calibri"/>
                        </a:rPr>
                        <a:t>van Donkelaar et al.</a:t>
                      </a:r>
                    </a:p>
                    <a:p>
                      <a:r>
                        <a:rPr sz="1350" b="0">
                          <a:solidFill>
                            <a:srgbClr val="1E293B"/>
                          </a:solidFill>
                          <a:latin typeface="Calibri"/>
                          <a:ea typeface="Calibri"/>
                          <a:cs typeface="Calibri"/>
                        </a:rPr>
                        <a:t>2016 · PM₂.₅ global</a:t>
                      </a:r>
                    </a:p>
                  </a:txBody>
                  <a:tcPr marL="91440" marR="91440" marT="45720" marB="45720" anchor="ctr">
                    <a:solidFill>
                      <a:srgbClr val="EAF2FD"/>
                    </a:solidFill>
                  </a:tcPr>
                </a:tc>
                <a:tc>
                  <a:txBody>
                    <a:bodyPr wrap="square" lIns="95250" tIns="76200" rIns="95250" bIns="76200">
                      <a:noAutofit/>
                    </a:bodyPr>
                    <a:lstStyle/>
                    <a:p>
                      <a:r>
                        <a:rPr sz="1350" b="0">
                          <a:solidFill>
                            <a:srgbClr val="1E293B"/>
                          </a:solidFill>
                          <a:latin typeface="Calibri"/>
                          <a:ea typeface="Calibri"/>
                          <a:cs typeface="Calibri"/>
                        </a:rPr>
                        <a:t>Combina satélites, modelos atmosféricos y estaciones mediante regresión geográficamente ponderada.</a:t>
                      </a:r>
                    </a:p>
                  </a:txBody>
                  <a:tcPr marL="91440" marR="91440" marT="45720" marB="45720" anchor="ctr">
                    <a:solidFill>
                      <a:srgbClr val="EAF2FD"/>
                    </a:solidFill>
                  </a:tcPr>
                </a:tc>
                <a:tc>
                  <a:txBody>
                    <a:bodyPr wrap="square" lIns="95250" tIns="76200" rIns="95250" bIns="76200">
                      <a:noAutofit/>
                    </a:bodyPr>
                    <a:lstStyle/>
                    <a:p>
                      <a:r>
                        <a:rPr sz="1350" b="0">
                          <a:solidFill>
                            <a:srgbClr val="1E293B"/>
                          </a:solidFill>
                          <a:latin typeface="Calibri"/>
                          <a:ea typeface="Calibri"/>
                          <a:cs typeface="Calibri"/>
                        </a:rPr>
                        <a:t>Motiva la fusión de fuentes. Su escala temporal y cobertura no equivalen a una estimación horaria nacional.</a:t>
                      </a:r>
                    </a:p>
                  </a:txBody>
                  <a:tcPr marL="91440" marR="91440" marT="45720" marB="45720" anchor="ctr">
                    <a:solidFill>
                      <a:srgbClr val="EAF2FD"/>
                    </a:solidFill>
                  </a:tcPr>
                </a:tc>
              </a:tr>
              <a:tr h="1076325">
                <a:tc>
                  <a:txBody>
                    <a:bodyPr wrap="square" lIns="95250" tIns="76200" rIns="95250" bIns="76200">
                      <a:noAutofit/>
                    </a:bodyPr>
                    <a:lstStyle/>
                    <a:p>
                      <a:r>
                        <a:rPr sz="1350" b="0">
                          <a:solidFill>
                            <a:srgbClr val="1E293B"/>
                          </a:solidFill>
                          <a:latin typeface="Calibri"/>
                          <a:ea typeface="Calibri"/>
                          <a:cs typeface="Calibri"/>
                        </a:rPr>
                        <a:t>Di et al.</a:t>
                      </a:r>
                    </a:p>
                    <a:p>
                      <a:r>
                        <a:rPr sz="1350" b="0">
                          <a:solidFill>
                            <a:srgbClr val="1E293B"/>
                          </a:solidFill>
                          <a:latin typeface="Calibri"/>
                          <a:ea typeface="Calibri"/>
                          <a:cs typeface="Calibri"/>
                        </a:rPr>
                        <a:t>2019 · PM₂.₅ en EE. UU.</a:t>
                      </a:r>
                    </a:p>
                  </a:txBody>
                  <a:tcPr marL="91440" marR="91440" marT="45720" marB="45720" anchor="ctr">
                    <a:solidFill>
                      <a:srgbClr val="FFFFFF"/>
                    </a:solidFill>
                  </a:tcPr>
                </a:tc>
                <a:tc>
                  <a:txBody>
                    <a:bodyPr wrap="square" lIns="95250" tIns="76200" rIns="95250" bIns="76200">
                      <a:noAutofit/>
                    </a:bodyPr>
                    <a:lstStyle/>
                    <a:p>
                      <a:r>
                        <a:rPr sz="1350" b="0">
                          <a:solidFill>
                            <a:srgbClr val="1E293B"/>
                          </a:solidFill>
                          <a:latin typeface="Calibri"/>
                          <a:ea typeface="Calibri"/>
                          <a:cs typeface="Calibri"/>
                        </a:rPr>
                        <a:t>Ensamble de redes neuronales, Random Forest y boosting; datos diarios en una grilla de 1 km.</a:t>
                      </a:r>
                    </a:p>
                  </a:txBody>
                  <a:tcPr marL="91440" marR="91440" marT="45720" marB="45720" anchor="ctr">
                    <a:solidFill>
                      <a:srgbClr val="FFFFFF"/>
                    </a:solidFill>
                  </a:tcPr>
                </a:tc>
                <a:tc>
                  <a:txBody>
                    <a:bodyPr wrap="square" lIns="95250" tIns="76200" rIns="95250" bIns="76200">
                      <a:noAutofit/>
                    </a:bodyPr>
                    <a:lstStyle/>
                    <a:p>
                      <a:r>
                        <a:rPr sz="1350" b="0">
                          <a:solidFill>
                            <a:srgbClr val="1E293B"/>
                          </a:solidFill>
                          <a:latin typeface="Calibri"/>
                          <a:ea typeface="Calibri"/>
                          <a:cs typeface="Calibri"/>
                        </a:rPr>
                        <a:t>Motiva comparar familias y combinar predicciones. Sus resultados no acreditan transferencia a Chile o a gases.</a:t>
                      </a:r>
                    </a:p>
                  </a:txBody>
                  <a:tcPr marL="91440" marR="91440" marT="45720" marB="45720" anchor="ctr">
                    <a:solidFill>
                      <a:srgbClr val="FFFFFF"/>
                    </a:solidFill>
                  </a:tcPr>
                </a:tc>
              </a:tr>
            </a:tbl>
          </a:graphicData>
        </a:graphic>
      </p:graphicFrame>
      <p:sp>
        <p:nvSpPr>
          <p:cNvPr id="10" name="Hipótesis">
            <a:extLst xmlns:a="http://schemas.openxmlformats.org/drawingml/2006/main">
              <a:ext uri="{FF2B5EF4-FFF2-40B4-BE49-F238E27FC236}">
                <a16:creationId xmlns:a16="http://schemas.microsoft.com/office/drawing/2014/main" id="{E5315772-5FBD-413E-86A8-AF252CCF6F58}"/>
              </a:ext>
            </a:extLst>
          </p:cNvPr>
          <p:cNvSpPr>
            <a:spLocks xmlns:a="http://schemas.openxmlformats.org/drawingml/2006/main" noGrp="1"/>
          </p:cNvSpPr>
          <p:nvPr/>
        </p:nvSpPr>
        <p:spPr>
          <a:xfrm xmlns:a="http://schemas.openxmlformats.org/drawingml/2006/main">
            <a:off x="552450" y="4324350"/>
            <a:ext cx="8039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63">
                <a:solidFill>
                  <a:srgbClr val="17375D"/>
                </a:solidFill>
                <a:latin typeface="Calibri"/>
                <a:ea typeface="Calibri"/>
                <a:cs typeface="Calibri"/>
              </a:defRPr>
            </a:pPr>
            <a:r>
              <a:rPr sz="1163">
                <a:solidFill>
                  <a:srgbClr val="17375D"/>
                </a:solidFill>
                <a:latin typeface="Calibri"/>
                <a:ea typeface="Calibri"/>
                <a:cs typeface="Calibri"/>
              </a:rPr>
              <a:t>Hipótesis de trabajo: las fuentes complementarias pueden mejorar la estimación respecto de una interpolación de estaciones vecinas.</a:t>
            </a:r>
          </a:p>
        </p:txBody>
      </p:sp>
      <p:sp>
        <p:nvSpPr>
          <p:cNvPr id="11" name="Fuente y alcance">
            <a:extLst xmlns:a="http://schemas.openxmlformats.org/drawingml/2006/main">
              <a:ext uri="{FF2B5EF4-FFF2-40B4-BE49-F238E27FC236}">
                <a16:creationId xmlns:a16="http://schemas.microsoft.com/office/drawing/2014/main" id="{569F6504-DBD9-4449-BA34-E50A286DDCD5}"/>
              </a:ext>
            </a:extLst>
          </p:cNvPr>
          <p:cNvSpPr>
            <a:spLocks xmlns:a="http://schemas.openxmlformats.org/drawingml/2006/main" noGrp="1"/>
          </p:cNvSpPr>
          <p:nvPr/>
        </p:nvSpPr>
        <p:spPr>
          <a:xfrm xmlns:a="http://schemas.openxmlformats.org/drawingml/2006/main">
            <a:off x="548640" y="4600575"/>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878">
                <a:solidFill>
                  <a:srgbClr val="526277"/>
                </a:solidFill>
                <a:latin typeface="Calibri"/>
                <a:ea typeface="Calibri"/>
                <a:cs typeface="Calibri"/>
              </a:defRPr>
            </a:pPr>
            <a:r>
              <a:rPr sz="878">
                <a:solidFill>
                  <a:srgbClr val="526277"/>
                </a:solidFill>
                <a:latin typeface="Calibri"/>
                <a:ea typeface="Calibri"/>
                <a:cs typeface="Calibri"/>
              </a:rPr>
              <a:t>van Donkelaar et al. (2016), doi:10.1021/acs.est.5b05833 · Di et al. (2019), doi:10.1016/j.envint.2019.104909</a:t>
            </a:r>
          </a:p>
        </p:txBody>
      </p:sp>
    </p:spTree>
    <p:extLst>
      <p:ext uri="{BB962C8B-B14F-4D97-AF65-F5344CB8AC3E}">
        <p14:creationId xmlns:p14="http://schemas.microsoft.com/office/powerpoint/2010/main" val="3227572768"/>
      </p:ext>
    </p:extLst>
  </p:cSld>
</p:sld>
</file>

<file path=ppt/slides/slide5.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D09F9A76-8869-4B1E-9680-2342E1B660A5}"/>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D237A608-2783-4A34-A145-DA5B065D8121}"/>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0A0C1EC4-DD98-4FA4-BC2C-5068D2D2D85F}"/>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D9AEB266-9C4F-4F3C-9BEA-DEDAE3A9C973}"/>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3CF3DFC7-7B55-46A8-89B8-CCAB1054A2B0}"/>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Fases de trabajo: de las fuentes al producto territorial</a:t>
            </a:r>
          </a:p>
        </p:txBody>
      </p:sp>
      <p:sp>
        <p:nvSpPr>
          <p:cNvPr id="8" name="Entrada 1">
            <a:extLst xmlns:a="http://schemas.openxmlformats.org/drawingml/2006/main">
              <a:ext uri="{FF2B5EF4-FFF2-40B4-BE49-F238E27FC236}">
                <a16:creationId xmlns:a16="http://schemas.microsoft.com/office/drawing/2014/main" id="{0CAAA28C-5D2B-471F-BCA9-C8AD4BA7EB8E}"/>
              </a:ext>
            </a:extLst>
          </p:cNvPr>
          <p:cNvSpPr>
            <a:spLocks xmlns:a="http://schemas.openxmlformats.org/drawingml/2006/main" noGrp="1"/>
          </p:cNvSpPr>
          <p:nvPr/>
        </p:nvSpPr>
        <p:spPr>
          <a:xfrm xmlns:a="http://schemas.openxmlformats.org/drawingml/2006/main">
            <a:off x="2366010" y="1522476"/>
            <a:ext cx="274320" cy="0"/>
          </a:xfrm>
          <a:prstGeom xmlns:a="http://schemas.openxmlformats.org/drawingml/2006/main" prst="line">
            <a:avLst/>
          </a:prstGeom>
          <a:ln xmlns:a="http://schemas.openxmlformats.org/drawingml/2006/main" w="15240">
            <a:solidFill>
              <a:srgbClr val="3366CC"/>
            </a:solidFill>
            <a:headEnd type="none"/>
            <a:tailEnd type="none"/>
          </a:ln>
        </p:spPr>
      </p:sp>
      <p:sp>
        <p:nvSpPr>
          <p:cNvPr id="9" name="Entrada 2">
            <a:extLst xmlns:a="http://schemas.openxmlformats.org/drawingml/2006/main">
              <a:ext uri="{FF2B5EF4-FFF2-40B4-BE49-F238E27FC236}">
                <a16:creationId xmlns:a16="http://schemas.microsoft.com/office/drawing/2014/main" id="{226F238B-9511-4174-B864-9888550A601F}"/>
              </a:ext>
            </a:extLst>
          </p:cNvPr>
          <p:cNvSpPr>
            <a:spLocks xmlns:a="http://schemas.openxmlformats.org/drawingml/2006/main" noGrp="1"/>
          </p:cNvSpPr>
          <p:nvPr/>
        </p:nvSpPr>
        <p:spPr>
          <a:xfrm xmlns:a="http://schemas.openxmlformats.org/drawingml/2006/main">
            <a:off x="2366010" y="2263140"/>
            <a:ext cx="274320" cy="0"/>
          </a:xfrm>
          <a:prstGeom xmlns:a="http://schemas.openxmlformats.org/drawingml/2006/main" prst="line">
            <a:avLst/>
          </a:prstGeom>
          <a:ln xmlns:a="http://schemas.openxmlformats.org/drawingml/2006/main" w="15240">
            <a:solidFill>
              <a:srgbClr val="3366CC"/>
            </a:solidFill>
            <a:headEnd type="none"/>
            <a:tailEnd type="none"/>
          </a:ln>
        </p:spPr>
      </p:sp>
      <p:sp>
        <p:nvSpPr>
          <p:cNvPr id="10" name="Entrada 3">
            <a:extLst xmlns:a="http://schemas.openxmlformats.org/drawingml/2006/main">
              <a:ext uri="{FF2B5EF4-FFF2-40B4-BE49-F238E27FC236}">
                <a16:creationId xmlns:a16="http://schemas.microsoft.com/office/drawing/2014/main" id="{F3F68536-36BC-4E5C-9231-8DE5092565FA}"/>
              </a:ext>
            </a:extLst>
          </p:cNvPr>
          <p:cNvSpPr>
            <a:spLocks xmlns:a="http://schemas.openxmlformats.org/drawingml/2006/main" noGrp="1"/>
          </p:cNvSpPr>
          <p:nvPr/>
        </p:nvSpPr>
        <p:spPr>
          <a:xfrm xmlns:a="http://schemas.openxmlformats.org/drawingml/2006/main">
            <a:off x="2366010" y="3003804"/>
            <a:ext cx="274320" cy="0"/>
          </a:xfrm>
          <a:prstGeom xmlns:a="http://schemas.openxmlformats.org/drawingml/2006/main" prst="line">
            <a:avLst/>
          </a:prstGeom>
          <a:ln xmlns:a="http://schemas.openxmlformats.org/drawingml/2006/main" w="15240">
            <a:solidFill>
              <a:srgbClr val="3366CC"/>
            </a:solidFill>
            <a:headEnd type="none"/>
            <a:tailEnd type="none"/>
          </a:ln>
        </p:spPr>
      </p:sp>
      <p:sp>
        <p:nvSpPr>
          <p:cNvPr id="11" name="Entrada 4">
            <a:extLst xmlns:a="http://schemas.openxmlformats.org/drawingml/2006/main">
              <a:ext uri="{FF2B5EF4-FFF2-40B4-BE49-F238E27FC236}">
                <a16:creationId xmlns:a16="http://schemas.microsoft.com/office/drawing/2014/main" id="{8A01C6E9-D699-426C-BBB9-815D71331929}"/>
              </a:ext>
            </a:extLst>
          </p:cNvPr>
          <p:cNvSpPr>
            <a:spLocks xmlns:a="http://schemas.openxmlformats.org/drawingml/2006/main" noGrp="1"/>
          </p:cNvSpPr>
          <p:nvPr/>
        </p:nvSpPr>
        <p:spPr>
          <a:xfrm xmlns:a="http://schemas.openxmlformats.org/drawingml/2006/main">
            <a:off x="2366010" y="3744468"/>
            <a:ext cx="274320" cy="0"/>
          </a:xfrm>
          <a:prstGeom xmlns:a="http://schemas.openxmlformats.org/drawingml/2006/main" prst="line">
            <a:avLst/>
          </a:prstGeom>
          <a:ln xmlns:a="http://schemas.openxmlformats.org/drawingml/2006/main" w="15240">
            <a:solidFill>
              <a:srgbClr val="3366CC"/>
            </a:solidFill>
            <a:headEnd type="none"/>
            <a:tailEnd type="none"/>
          </a:ln>
        </p:spPr>
      </p:sp>
      <p:sp>
        <p:nvSpPr>
          <p:cNvPr id="12" name="Colector de fuentes">
            <a:extLst xmlns:a="http://schemas.openxmlformats.org/drawingml/2006/main">
              <a:ext uri="{FF2B5EF4-FFF2-40B4-BE49-F238E27FC236}">
                <a16:creationId xmlns:a16="http://schemas.microsoft.com/office/drawing/2014/main" id="{80BCD2BB-531B-433C-96D6-2D556C2246B8}"/>
              </a:ext>
            </a:extLst>
          </p:cNvPr>
          <p:cNvSpPr>
            <a:spLocks xmlns:a="http://schemas.openxmlformats.org/drawingml/2006/main" noGrp="1"/>
          </p:cNvSpPr>
          <p:nvPr/>
        </p:nvSpPr>
        <p:spPr>
          <a:xfrm xmlns:a="http://schemas.openxmlformats.org/drawingml/2006/main">
            <a:off x="2640330" y="1522476"/>
            <a:ext cx="0" cy="2221992"/>
          </a:xfrm>
          <a:prstGeom xmlns:a="http://schemas.openxmlformats.org/drawingml/2006/main" prst="line">
            <a:avLst/>
          </a:prstGeom>
          <a:ln xmlns:a="http://schemas.openxmlformats.org/drawingml/2006/main" w="15240">
            <a:solidFill>
              <a:srgbClr val="3366CC"/>
            </a:solidFill>
            <a:headEnd type="none"/>
            <a:tailEnd type="none"/>
          </a:ln>
        </p:spPr>
      </p:sp>
      <p:sp>
        <p:nvSpPr>
          <p:cNvPr id="13" name="Fuentes a preparación">
            <a:extLst xmlns:a="http://schemas.openxmlformats.org/drawingml/2006/main">
              <a:ext uri="{FF2B5EF4-FFF2-40B4-BE49-F238E27FC236}">
                <a16:creationId xmlns:a16="http://schemas.microsoft.com/office/drawing/2014/main" id="{2593D13D-51F2-4E90-BA37-4065920C50B5}"/>
              </a:ext>
            </a:extLst>
          </p:cNvPr>
          <p:cNvSpPr>
            <a:spLocks xmlns:a="http://schemas.openxmlformats.org/drawingml/2006/main" noGrp="1"/>
          </p:cNvSpPr>
          <p:nvPr/>
        </p:nvSpPr>
        <p:spPr>
          <a:xfrm xmlns:a="http://schemas.openxmlformats.org/drawingml/2006/main">
            <a:off x="2640330" y="2558034"/>
            <a:ext cx="226314" cy="0"/>
          </a:xfrm>
          <a:prstGeom xmlns:a="http://schemas.openxmlformats.org/drawingml/2006/main" prst="line">
            <a:avLst/>
          </a:prstGeom>
          <a:ln xmlns:a="http://schemas.openxmlformats.org/drawingml/2006/main" w="15240">
            <a:solidFill>
              <a:srgbClr val="3366CC"/>
            </a:solidFill>
            <a:headEnd type="none"/>
            <a:tailEnd type="triangle"/>
          </a:ln>
        </p:spPr>
      </p:sp>
      <p:sp>
        <p:nvSpPr>
          <p:cNvPr id="14" name="Preparación a panel">
            <a:extLst xmlns:a="http://schemas.openxmlformats.org/drawingml/2006/main">
              <a:ext uri="{FF2B5EF4-FFF2-40B4-BE49-F238E27FC236}">
                <a16:creationId xmlns:a16="http://schemas.microsoft.com/office/drawing/2014/main" id="{B41A48FC-7C53-41AA-B7A0-EFF02C04A11B}"/>
              </a:ext>
            </a:extLst>
          </p:cNvPr>
          <p:cNvSpPr>
            <a:spLocks xmlns:a="http://schemas.openxmlformats.org/drawingml/2006/main" noGrp="1"/>
          </p:cNvSpPr>
          <p:nvPr/>
        </p:nvSpPr>
        <p:spPr>
          <a:xfrm xmlns:a="http://schemas.openxmlformats.org/drawingml/2006/main">
            <a:off x="4814316" y="2558034"/>
            <a:ext cx="260604" cy="0"/>
          </a:xfrm>
          <a:prstGeom xmlns:a="http://schemas.openxmlformats.org/drawingml/2006/main" prst="line">
            <a:avLst/>
          </a:prstGeom>
          <a:ln xmlns:a="http://schemas.openxmlformats.org/drawingml/2006/main" w="15240">
            <a:solidFill>
              <a:srgbClr val="3366CC"/>
            </a:solidFill>
            <a:headEnd type="none"/>
            <a:tailEnd type="triangle"/>
          </a:ln>
        </p:spPr>
      </p:sp>
      <p:sp>
        <p:nvSpPr>
          <p:cNvPr id="15" name="Panel a evaluación">
            <a:extLst xmlns:a="http://schemas.openxmlformats.org/drawingml/2006/main">
              <a:ext uri="{FF2B5EF4-FFF2-40B4-BE49-F238E27FC236}">
                <a16:creationId xmlns:a16="http://schemas.microsoft.com/office/drawing/2014/main" id="{0965F86B-8783-43DC-B246-9983CDA05E4D}"/>
              </a:ext>
            </a:extLst>
          </p:cNvPr>
          <p:cNvSpPr>
            <a:spLocks xmlns:a="http://schemas.openxmlformats.org/drawingml/2006/main" noGrp="1"/>
          </p:cNvSpPr>
          <p:nvPr/>
        </p:nvSpPr>
        <p:spPr>
          <a:xfrm xmlns:a="http://schemas.openxmlformats.org/drawingml/2006/main">
            <a:off x="6604254" y="2558034"/>
            <a:ext cx="253746" cy="0"/>
          </a:xfrm>
          <a:prstGeom xmlns:a="http://schemas.openxmlformats.org/drawingml/2006/main" prst="line">
            <a:avLst/>
          </a:prstGeom>
          <a:ln xmlns:a="http://schemas.openxmlformats.org/drawingml/2006/main" w="15240">
            <a:solidFill>
              <a:srgbClr val="3366CC"/>
            </a:solidFill>
            <a:headEnd type="none"/>
            <a:tailEnd type="triangle"/>
          </a:ln>
        </p:spPr>
      </p:sp>
      <p:sp>
        <p:nvSpPr>
          <p:cNvPr id="16" name="Evaluación a producto">
            <a:extLst xmlns:a="http://schemas.openxmlformats.org/drawingml/2006/main">
              <a:ext uri="{FF2B5EF4-FFF2-40B4-BE49-F238E27FC236}">
                <a16:creationId xmlns:a16="http://schemas.microsoft.com/office/drawing/2014/main" id="{4879E797-0784-4C69-A73B-E45E6B8A5699}"/>
              </a:ext>
            </a:extLst>
          </p:cNvPr>
          <p:cNvSpPr>
            <a:spLocks xmlns:a="http://schemas.openxmlformats.org/drawingml/2006/main" noGrp="1"/>
          </p:cNvSpPr>
          <p:nvPr/>
        </p:nvSpPr>
        <p:spPr>
          <a:xfrm xmlns:a="http://schemas.openxmlformats.org/drawingml/2006/main">
            <a:off x="7660386" y="3134106"/>
            <a:ext cx="0" cy="322326"/>
          </a:xfrm>
          <a:prstGeom xmlns:a="http://schemas.openxmlformats.org/drawingml/2006/main" prst="line">
            <a:avLst/>
          </a:prstGeom>
          <a:ln xmlns:a="http://schemas.openxmlformats.org/drawingml/2006/main" w="15240">
            <a:solidFill>
              <a:srgbClr val="3366CC"/>
            </a:solidFill>
            <a:headEnd type="none"/>
            <a:tailEnd type="triangle"/>
          </a:ln>
        </p:spPr>
      </p:sp>
      <p:sp>
        <p:nvSpPr>
          <p:cNvPr id="17" name="Fuente 1">
            <a:extLst xmlns:a="http://schemas.openxmlformats.org/drawingml/2006/main">
              <a:ext uri="{FF2B5EF4-FFF2-40B4-BE49-F238E27FC236}">
                <a16:creationId xmlns:a16="http://schemas.microsoft.com/office/drawing/2014/main" id="{EADEBB5E-E052-4293-83D8-0204D27A5C85}"/>
              </a:ext>
            </a:extLst>
          </p:cNvPr>
          <p:cNvSpPr>
            <a:spLocks xmlns:a="http://schemas.openxmlformats.org/drawingml/2006/main" noGrp="1"/>
          </p:cNvSpPr>
          <p:nvPr/>
        </p:nvSpPr>
        <p:spPr>
          <a:xfrm xmlns:a="http://schemas.openxmlformats.org/drawingml/2006/main">
            <a:off x="548640" y="1220724"/>
            <a:ext cx="1817370" cy="617220"/>
          </a:xfrm>
          <a:prstGeom xmlns:a="http://schemas.openxmlformats.org/drawingml/2006/main" prst="roundRect">
            <a:avLst>
              <a:gd name="adj" fmla="val 7500"/>
            </a:avLst>
          </a:prstGeom>
          <a:solidFill xmlns:a="http://schemas.openxmlformats.org/drawingml/2006/main">
            <a:srgbClr val="EAF2FD"/>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96012" tIns="96012" rIns="96012" bIns="96012" anchor="ctr">
            <a:noAutofit/>
          </a:bodyPr>
          <a:lstStyle xmlns:a="http://schemas.openxmlformats.org/drawingml/2006/main"/>
          <a:p xmlns:a="http://schemas.openxmlformats.org/drawingml/2006/main">
            <a:pPr algn="ctr">
              <a:spcBef>
                <a:spcPts val="0"/>
              </a:spcBef>
              <a:spcAft>
                <a:spcPts val="0"/>
              </a:spcAft>
              <a:defRPr sz="1238" b="1">
                <a:solidFill>
                  <a:srgbClr val="17375D"/>
                </a:solidFill>
                <a:latin typeface="Calibri"/>
                <a:ea typeface="Calibri"/>
                <a:cs typeface="Calibri"/>
              </a:defRPr>
            </a:pPr>
            <a:r>
              <a:rPr sz="1238" b="1">
                <a:solidFill>
                  <a:srgbClr val="17375D"/>
                </a:solidFill>
                <a:latin typeface="Calibri"/>
                <a:ea typeface="Calibri"/>
                <a:cs typeface="Calibri"/>
              </a:rPr>
              <a:t>Referencia terrestre</a:t>
            </a:r>
          </a:p>
          <a:p xmlns:a="http://schemas.openxmlformats.org/drawingml/2006/main">
            <a:pPr algn="ctr">
              <a:spcBef>
                <a:spcPts val="0"/>
              </a:spcBef>
              <a:spcAft>
                <a:spcPts val="0"/>
              </a:spcAft>
              <a:defRPr sz="1238" b="1">
                <a:solidFill>
                  <a:srgbClr val="17375D"/>
                </a:solidFill>
                <a:latin typeface="Calibri"/>
                <a:ea typeface="Calibri"/>
                <a:cs typeface="Calibri"/>
              </a:defRPr>
            </a:pPr>
            <a:r>
              <a:rPr sz="1238" b="1">
                <a:solidFill>
                  <a:srgbClr val="17375D"/>
                </a:solidFill>
                <a:latin typeface="Calibri"/>
                <a:ea typeface="Calibri"/>
                <a:cs typeface="Calibri"/>
              </a:rPr>
              <a:t>SINCA · seis contaminantes</a:t>
            </a:r>
          </a:p>
        </p:txBody>
      </p:sp>
      <p:sp>
        <p:nvSpPr>
          <p:cNvPr id="18" name="Fuente 2">
            <a:extLst xmlns:a="http://schemas.openxmlformats.org/drawingml/2006/main">
              <a:ext uri="{FF2B5EF4-FFF2-40B4-BE49-F238E27FC236}">
                <a16:creationId xmlns:a16="http://schemas.microsoft.com/office/drawing/2014/main" id="{76AB9978-8638-4D2E-973D-E4D4AE315318}"/>
              </a:ext>
            </a:extLst>
          </p:cNvPr>
          <p:cNvSpPr>
            <a:spLocks xmlns:a="http://schemas.openxmlformats.org/drawingml/2006/main" noGrp="1"/>
          </p:cNvSpPr>
          <p:nvPr/>
        </p:nvSpPr>
        <p:spPr>
          <a:xfrm xmlns:a="http://schemas.openxmlformats.org/drawingml/2006/main">
            <a:off x="548640" y="1961388"/>
            <a:ext cx="1817370" cy="617220"/>
          </a:xfrm>
          <a:prstGeom xmlns:a="http://schemas.openxmlformats.org/drawingml/2006/main" prst="roundRect">
            <a:avLst>
              <a:gd name="adj" fmla="val 7500"/>
            </a:avLst>
          </a:prstGeom>
          <a:solidFill xmlns:a="http://schemas.openxmlformats.org/drawingml/2006/main">
            <a:srgbClr val="EAF2FD"/>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96012" tIns="96012" rIns="96012" bIns="96012" anchor="ctr">
            <a:noAutofit/>
          </a:bodyPr>
          <a:lstStyle xmlns:a="http://schemas.openxmlformats.org/drawingml/2006/main"/>
          <a:p xmlns:a="http://schemas.openxmlformats.org/drawingml/2006/main">
            <a:pPr algn="ctr">
              <a:spcBef>
                <a:spcPts val="0"/>
              </a:spcBef>
              <a:spcAft>
                <a:spcPts val="0"/>
              </a:spcAft>
              <a:defRPr sz="1238" b="0">
                <a:solidFill>
                  <a:srgbClr val="17375D"/>
                </a:solidFill>
                <a:latin typeface="Calibri"/>
                <a:ea typeface="Calibri"/>
                <a:cs typeface="Calibri"/>
              </a:defRPr>
            </a:pPr>
            <a:r>
              <a:rPr sz="1238" b="0">
                <a:solidFill>
                  <a:srgbClr val="17375D"/>
                </a:solidFill>
                <a:latin typeface="Calibri"/>
                <a:ea typeface="Calibri"/>
                <a:cs typeface="Calibri"/>
              </a:rPr>
              <a:t>Satélites y ACAG</a:t>
            </a:r>
          </a:p>
          <a:p xmlns:a="http://schemas.openxmlformats.org/drawingml/2006/main">
            <a:pPr algn="ctr">
              <a:spcBef>
                <a:spcPts val="0"/>
              </a:spcBef>
              <a:spcAft>
                <a:spcPts val="0"/>
              </a:spcAft>
              <a:defRPr sz="1238" b="0">
                <a:solidFill>
                  <a:srgbClr val="17375D"/>
                </a:solidFill>
                <a:latin typeface="Calibri"/>
                <a:ea typeface="Calibri"/>
                <a:cs typeface="Calibri"/>
              </a:defRPr>
            </a:pPr>
            <a:r>
              <a:rPr sz="1238" b="0">
                <a:solidFill>
                  <a:srgbClr val="17375D"/>
                </a:solidFill>
                <a:latin typeface="Calibri"/>
                <a:ea typeface="Calibri"/>
                <a:cs typeface="Calibri"/>
              </a:rPr>
              <a:t>MAIAC · TROPOMI · ACAG</a:t>
            </a:r>
          </a:p>
        </p:txBody>
      </p:sp>
      <p:sp>
        <p:nvSpPr>
          <p:cNvPr id="19" name="Fuente 3">
            <a:extLst xmlns:a="http://schemas.openxmlformats.org/drawingml/2006/main">
              <a:ext uri="{FF2B5EF4-FFF2-40B4-BE49-F238E27FC236}">
                <a16:creationId xmlns:a16="http://schemas.microsoft.com/office/drawing/2014/main" id="{64E78AE4-DF19-48CD-91F6-41CBE4E7A20C}"/>
              </a:ext>
            </a:extLst>
          </p:cNvPr>
          <p:cNvSpPr>
            <a:spLocks xmlns:a="http://schemas.openxmlformats.org/drawingml/2006/main" noGrp="1"/>
          </p:cNvSpPr>
          <p:nvPr/>
        </p:nvSpPr>
        <p:spPr>
          <a:xfrm xmlns:a="http://schemas.openxmlformats.org/drawingml/2006/main">
            <a:off x="548640" y="2702052"/>
            <a:ext cx="1817370" cy="617220"/>
          </a:xfrm>
          <a:prstGeom xmlns:a="http://schemas.openxmlformats.org/drawingml/2006/main" prst="roundRect">
            <a:avLst>
              <a:gd name="adj" fmla="val 7500"/>
            </a:avLst>
          </a:prstGeom>
          <a:solidFill xmlns:a="http://schemas.openxmlformats.org/drawingml/2006/main">
            <a:srgbClr val="EAF2FD"/>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96012" tIns="96012" rIns="96012" bIns="96012" anchor="ctr">
            <a:noAutofit/>
          </a:bodyPr>
          <a:lstStyle xmlns:a="http://schemas.openxmlformats.org/drawingml/2006/main"/>
          <a:p xmlns:a="http://schemas.openxmlformats.org/drawingml/2006/main">
            <a:pPr algn="ctr">
              <a:spcBef>
                <a:spcPts val="0"/>
              </a:spcBef>
              <a:spcAft>
                <a:spcPts val="0"/>
              </a:spcAft>
              <a:defRPr sz="1163" b="0">
                <a:solidFill>
                  <a:srgbClr val="17375D"/>
                </a:solidFill>
                <a:latin typeface="Calibri"/>
                <a:ea typeface="Calibri"/>
                <a:cs typeface="Calibri"/>
              </a:defRPr>
            </a:pPr>
            <a:r>
              <a:rPr sz="1163" b="0">
                <a:solidFill>
                  <a:srgbClr val="17375D"/>
                </a:solidFill>
                <a:latin typeface="Calibri"/>
                <a:ea typeface="Calibri"/>
                <a:cs typeface="Calibri"/>
              </a:rPr>
              <a:t>Atmósfera y meteorología</a:t>
            </a:r>
          </a:p>
          <a:p xmlns:a="http://schemas.openxmlformats.org/drawingml/2006/main">
            <a:pPr algn="ctr">
              <a:spcBef>
                <a:spcPts val="0"/>
              </a:spcBef>
              <a:spcAft>
                <a:spcPts val="0"/>
              </a:spcAft>
              <a:defRPr sz="1163" b="0">
                <a:solidFill>
                  <a:srgbClr val="17375D"/>
                </a:solidFill>
                <a:latin typeface="Calibri"/>
                <a:ea typeface="Calibri"/>
                <a:cs typeface="Calibri"/>
              </a:defRPr>
            </a:pPr>
            <a:r>
              <a:rPr sz="1163" b="0">
                <a:solidFill>
                  <a:srgbClr val="17375D"/>
                </a:solidFill>
                <a:latin typeface="Calibri"/>
                <a:ea typeface="Calibri"/>
                <a:cs typeface="Calibri"/>
              </a:rPr>
              <a:t>ERA5/Land · MERRA-2</a:t>
            </a:r>
          </a:p>
          <a:p xmlns:a="http://schemas.openxmlformats.org/drawingml/2006/main">
            <a:pPr algn="ctr">
              <a:spcBef>
                <a:spcPts val="0"/>
              </a:spcBef>
              <a:spcAft>
                <a:spcPts val="0"/>
              </a:spcAft>
              <a:defRPr sz="1163" b="0">
                <a:solidFill>
                  <a:srgbClr val="17375D"/>
                </a:solidFill>
                <a:latin typeface="Calibri"/>
                <a:ea typeface="Calibri"/>
                <a:cs typeface="Calibri"/>
              </a:defRPr>
            </a:pPr>
            <a:r>
              <a:rPr sz="1163" b="0">
                <a:solidFill>
                  <a:srgbClr val="17375D"/>
                </a:solidFill>
                <a:latin typeface="Calibri"/>
                <a:ea typeface="Calibri"/>
                <a:cs typeface="Calibri"/>
              </a:rPr>
              <a:t>CAMS · GEOS-CF</a:t>
            </a:r>
          </a:p>
        </p:txBody>
      </p:sp>
      <p:sp>
        <p:nvSpPr>
          <p:cNvPr id="20" name="Fuente 4">
            <a:extLst xmlns:a="http://schemas.openxmlformats.org/drawingml/2006/main">
              <a:ext uri="{FF2B5EF4-FFF2-40B4-BE49-F238E27FC236}">
                <a16:creationId xmlns:a16="http://schemas.microsoft.com/office/drawing/2014/main" id="{EA5E336B-9A75-4262-BAF6-5CC454236812}"/>
              </a:ext>
            </a:extLst>
          </p:cNvPr>
          <p:cNvSpPr>
            <a:spLocks xmlns:a="http://schemas.openxmlformats.org/drawingml/2006/main" noGrp="1"/>
          </p:cNvSpPr>
          <p:nvPr/>
        </p:nvSpPr>
        <p:spPr>
          <a:xfrm xmlns:a="http://schemas.openxmlformats.org/drawingml/2006/main">
            <a:off x="548640" y="3442716"/>
            <a:ext cx="1817370" cy="617220"/>
          </a:xfrm>
          <a:prstGeom xmlns:a="http://schemas.openxmlformats.org/drawingml/2006/main" prst="roundRect">
            <a:avLst>
              <a:gd name="adj" fmla="val 7500"/>
            </a:avLst>
          </a:prstGeom>
          <a:solidFill xmlns:a="http://schemas.openxmlformats.org/drawingml/2006/main">
            <a:srgbClr val="EAF2FD"/>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96012" tIns="96012" rIns="96012" bIns="96012" anchor="ctr">
            <a:noAutofit/>
          </a:bodyPr>
          <a:lstStyle xmlns:a="http://schemas.openxmlformats.org/drawingml/2006/main"/>
          <a:p xmlns:a="http://schemas.openxmlformats.org/drawingml/2006/main">
            <a:pPr algn="ctr">
              <a:spcBef>
                <a:spcPts val="0"/>
              </a:spcBef>
              <a:spcAft>
                <a:spcPts val="0"/>
              </a:spcAft>
              <a:defRPr sz="1238" b="0">
                <a:solidFill>
                  <a:srgbClr val="17375D"/>
                </a:solidFill>
                <a:latin typeface="Calibri"/>
                <a:ea typeface="Calibri"/>
                <a:cs typeface="Calibri"/>
              </a:defRPr>
            </a:pPr>
            <a:r>
              <a:rPr sz="1238" b="0">
                <a:solidFill>
                  <a:srgbClr val="17375D"/>
                </a:solidFill>
                <a:latin typeface="Calibri"/>
                <a:ea typeface="Calibri"/>
                <a:cs typeface="Calibri"/>
              </a:rPr>
              <a:t>Territorio y calendario</a:t>
            </a:r>
          </a:p>
          <a:p xmlns:a="http://schemas.openxmlformats.org/drawingml/2006/main">
            <a:pPr algn="ctr">
              <a:spcBef>
                <a:spcPts val="0"/>
              </a:spcBef>
              <a:spcAft>
                <a:spcPts val="0"/>
              </a:spcAft>
              <a:defRPr sz="1238" b="0">
                <a:solidFill>
                  <a:srgbClr val="17375D"/>
                </a:solidFill>
                <a:latin typeface="Calibri"/>
                <a:ea typeface="Calibri"/>
                <a:cs typeface="Calibri"/>
              </a:defRPr>
            </a:pPr>
            <a:r>
              <a:rPr sz="1238" b="0">
                <a:solidFill>
                  <a:srgbClr val="17375D"/>
                </a:solidFill>
                <a:latin typeface="Calibri"/>
                <a:ea typeface="Calibri"/>
                <a:cs typeface="Calibri"/>
              </a:rPr>
              <a:t>Suelo · población · tiempo</a:t>
            </a:r>
          </a:p>
        </p:txBody>
      </p:sp>
      <p:sp>
        <p:nvSpPr>
          <p:cNvPr id="21" name="Preparación común">
            <a:extLst xmlns:a="http://schemas.openxmlformats.org/drawingml/2006/main">
              <a:ext uri="{FF2B5EF4-FFF2-40B4-BE49-F238E27FC236}">
                <a16:creationId xmlns:a16="http://schemas.microsoft.com/office/drawing/2014/main" id="{689CCC35-0983-4C91-9454-685CE0983C65}"/>
              </a:ext>
            </a:extLst>
          </p:cNvPr>
          <p:cNvSpPr>
            <a:spLocks xmlns:a="http://schemas.openxmlformats.org/drawingml/2006/main" noGrp="1"/>
          </p:cNvSpPr>
          <p:nvPr/>
        </p:nvSpPr>
        <p:spPr>
          <a:xfrm xmlns:a="http://schemas.openxmlformats.org/drawingml/2006/main">
            <a:off x="2866644" y="1611630"/>
            <a:ext cx="1947672" cy="1899666"/>
          </a:xfrm>
          <a:prstGeom xmlns:a="http://schemas.openxmlformats.org/drawingml/2006/main" prst="roundRect">
            <a:avLst>
              <a:gd name="adj" fmla="val 7500"/>
            </a:avLst>
          </a:prstGeom>
          <a:solidFill xmlns:a="http://schemas.openxmlformats.org/drawingml/2006/main">
            <a:srgbClr val="F2F6FC"/>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137160" tIns="137160" rIns="137160" bIns="137160" anchor="ctr">
            <a:noAutofit/>
          </a:bodyPr>
          <a:lstStyle xmlns:a="http://schemas.openxmlformats.org/drawingml/2006/main"/>
          <a:p xmlns:a="http://schemas.openxmlformats.org/drawingml/2006/main">
            <a:pPr algn="ctr">
              <a:spcBef>
                <a:spcPts val="0"/>
              </a:spcBef>
              <a:spcAft>
                <a:spcPts val="0"/>
              </a:spcAft>
              <a:defRPr sz="1350" b="0">
                <a:solidFill>
                  <a:srgbClr val="17375D"/>
                </a:solidFill>
                <a:latin typeface="Calibri"/>
                <a:ea typeface="Calibri"/>
                <a:cs typeface="Calibri"/>
              </a:defRPr>
            </a:pPr>
            <a:r>
              <a:rPr sz="1350" b="0">
                <a:solidFill>
                  <a:srgbClr val="17375D"/>
                </a:solidFill>
                <a:latin typeface="Calibri"/>
                <a:ea typeface="Calibri"/>
                <a:cs typeface="Calibri"/>
              </a:rPr>
              <a:t>1 · ARMONIZAR</a:t>
            </a:r>
          </a:p>
          <a:p xmlns:a="http://schemas.openxmlformats.org/drawingml/2006/main">
            <a:pPr algn="ctr">
              <a:spcBef>
                <a:spcPts val="0"/>
              </a:spcBef>
              <a:spcAft>
                <a:spcPts val="0"/>
              </a:spcAft>
              <a:defRPr sz="1350" b="0">
                <a:solidFill>
                  <a:srgbClr val="17375D"/>
                </a:solidFill>
                <a:latin typeface="Calibri"/>
                <a:ea typeface="Calibri"/>
                <a:cs typeface="Calibri"/>
              </a:defRPr>
            </a:pPr>
            <a:r>
              <a:rPr sz="1350" b="0">
                <a:solidFill>
                  <a:srgbClr val="17375D"/>
                </a:solidFill>
                <a:latin typeface="Calibri"/>
                <a:ea typeface="Calibri"/>
                <a:cs typeface="Calibri"/>
              </a:rPr>
              <a:t>Formatos y calidad</a:t>
            </a:r>
          </a:p>
          <a:p xmlns:a="http://schemas.openxmlformats.org/drawingml/2006/main">
            <a:pPr algn="ctr">
              <a:spcBef>
                <a:spcPts val="0"/>
              </a:spcBef>
              <a:spcAft>
                <a:spcPts val="0"/>
              </a:spcAft>
              <a:defRPr sz="1350" b="0">
                <a:solidFill>
                  <a:srgbClr val="17375D"/>
                </a:solidFill>
                <a:latin typeface="Calibri"/>
                <a:ea typeface="Calibri"/>
                <a:cs typeface="Calibri"/>
              </a:defRPr>
            </a:pPr>
            <a:r>
              <a:rPr sz="1350" b="0">
                <a:solidFill>
                  <a:srgbClr val="17375D"/>
                </a:solidFill>
                <a:latin typeface="Calibri"/>
                <a:ea typeface="Calibri"/>
                <a:cs typeface="Calibri"/>
              </a:rPr>
              <a:t>Unidades y reloj</a:t>
            </a:r>
          </a:p>
          <a:p xmlns:a="http://schemas.openxmlformats.org/drawingml/2006/main">
            <a:pPr algn="ctr">
              <a:spcBef>
                <a:spcPts val="0"/>
              </a:spcBef>
              <a:spcAft>
                <a:spcPts val="0"/>
              </a:spcAft>
              <a:defRPr sz="1350" b="0">
                <a:solidFill>
                  <a:srgbClr val="17375D"/>
                </a:solidFill>
                <a:latin typeface="Calibri"/>
                <a:ea typeface="Calibri"/>
                <a:cs typeface="Calibri"/>
              </a:defRPr>
            </a:pPr>
            <a:r>
              <a:rPr sz="1350" b="0">
                <a:solidFill>
                  <a:srgbClr val="17375D"/>
                </a:solidFill>
                <a:latin typeface="Calibri"/>
                <a:ea typeface="Calibri"/>
                <a:cs typeface="Calibri"/>
              </a:rPr>
              <a:t>Enlace celda–píxel</a:t>
            </a:r>
          </a:p>
          <a:p xmlns:a="http://schemas.openxmlformats.org/drawingml/2006/main">
            <a:pPr algn="ctr">
              <a:spcBef>
                <a:spcPts val="0"/>
              </a:spcBef>
              <a:spcAft>
                <a:spcPts val="0"/>
              </a:spcAft>
              <a:defRPr sz="1350" b="0">
                <a:solidFill>
                  <a:srgbClr val="17375D"/>
                </a:solidFill>
                <a:latin typeface="Calibri"/>
                <a:ea typeface="Calibri"/>
                <a:cs typeface="Calibri"/>
              </a:defRPr>
            </a:pPr>
            <a:r>
              <a:rPr sz="1350" b="0">
                <a:solidFill>
                  <a:srgbClr val="17375D"/>
                </a:solidFill>
                <a:latin typeface="Calibri"/>
                <a:ea typeface="Calibri"/>
                <a:cs typeface="Calibri"/>
              </a:rPr>
              <a:t>Pérdidas en cada unión</a:t>
            </a:r>
          </a:p>
        </p:txBody>
      </p:sp>
      <p:sp>
        <p:nvSpPr>
          <p:cNvPr id="22" name="Panel analítico">
            <a:extLst xmlns:a="http://schemas.openxmlformats.org/drawingml/2006/main">
              <a:ext uri="{FF2B5EF4-FFF2-40B4-BE49-F238E27FC236}">
                <a16:creationId xmlns:a16="http://schemas.microsoft.com/office/drawing/2014/main" id="{9C7F8A72-FCDB-473D-8D26-90DFD48B7988}"/>
              </a:ext>
            </a:extLst>
          </p:cNvPr>
          <p:cNvSpPr>
            <a:spLocks xmlns:a="http://schemas.openxmlformats.org/drawingml/2006/main" noGrp="1"/>
          </p:cNvSpPr>
          <p:nvPr/>
        </p:nvSpPr>
        <p:spPr>
          <a:xfrm xmlns:a="http://schemas.openxmlformats.org/drawingml/2006/main">
            <a:off x="5074920" y="1995678"/>
            <a:ext cx="1529334" cy="1131570"/>
          </a:xfrm>
          <a:prstGeom xmlns:a="http://schemas.openxmlformats.org/drawingml/2006/main" prst="roundRect">
            <a:avLst>
              <a:gd name="adj" fmla="val 7500"/>
            </a:avLst>
          </a:prstGeom>
          <a:solidFill xmlns:a="http://schemas.openxmlformats.org/drawingml/2006/main">
            <a:srgbClr val="EAF2FD"/>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96012" tIns="96012" rIns="96012" bIns="96012" anchor="ctr">
            <a:noAutofit/>
          </a:bodyPr>
          <a:lstStyle xmlns:a="http://schemas.openxmlformats.org/drawingml/2006/main"/>
          <a:p xmlns:a="http://schemas.openxmlformats.org/drawingml/2006/main">
            <a:pPr algn="ct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2 · PANEL</a:t>
            </a:r>
          </a:p>
          <a:p xmlns:a="http://schemas.openxmlformats.org/drawingml/2006/main">
            <a:pPr algn="ct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Celda de 0,01° × hora</a:t>
            </a:r>
          </a:p>
          <a:p xmlns:a="http://schemas.openxmlformats.org/drawingml/2006/main">
            <a:pPr algn="ct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Por contaminante</a:t>
            </a:r>
          </a:p>
        </p:txBody>
      </p:sp>
      <p:sp>
        <p:nvSpPr>
          <p:cNvPr id="23" name="Ajuste y validación">
            <a:extLst xmlns:a="http://schemas.openxmlformats.org/drawingml/2006/main">
              <a:ext uri="{FF2B5EF4-FFF2-40B4-BE49-F238E27FC236}">
                <a16:creationId xmlns:a16="http://schemas.microsoft.com/office/drawing/2014/main" id="{A5D0062F-301B-4767-8EF9-D75F163C6FA3}"/>
              </a:ext>
            </a:extLst>
          </p:cNvPr>
          <p:cNvSpPr>
            <a:spLocks xmlns:a="http://schemas.openxmlformats.org/drawingml/2006/main" noGrp="1"/>
          </p:cNvSpPr>
          <p:nvPr/>
        </p:nvSpPr>
        <p:spPr>
          <a:xfrm xmlns:a="http://schemas.openxmlformats.org/drawingml/2006/main">
            <a:off x="6858000" y="1995678"/>
            <a:ext cx="1604772" cy="1131570"/>
          </a:xfrm>
          <a:prstGeom xmlns:a="http://schemas.openxmlformats.org/drawingml/2006/main" prst="roundRect">
            <a:avLst>
              <a:gd name="adj" fmla="val 7500"/>
            </a:avLst>
          </a:prstGeom>
          <a:solidFill xmlns:a="http://schemas.openxmlformats.org/drawingml/2006/main">
            <a:srgbClr val="EAF2FD"/>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96012" tIns="96012" rIns="96012" bIns="96012" anchor="ctr">
            <a:noAutofit/>
          </a:bodyPr>
          <a:lstStyle xmlns:a="http://schemas.openxmlformats.org/drawingml/2006/main"/>
          <a:p xmlns:a="http://schemas.openxmlformats.org/drawingml/2006/main">
            <a:pPr algn="ct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3 · COMPARAR</a:t>
            </a:r>
          </a:p>
          <a:p xmlns:a="http://schemas.openxmlformats.org/drawingml/2006/main">
            <a:pPr algn="ct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Ajuste y evaluación</a:t>
            </a:r>
          </a:p>
          <a:p xmlns:a="http://schemas.openxmlformats.org/drawingml/2006/main">
            <a:pPr algn="ct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Fuera del entrenamiento</a:t>
            </a:r>
          </a:p>
        </p:txBody>
      </p:sp>
      <p:sp>
        <p:nvSpPr>
          <p:cNvPr id="24" name="Producto territorial">
            <a:extLst xmlns:a="http://schemas.openxmlformats.org/drawingml/2006/main">
              <a:ext uri="{FF2B5EF4-FFF2-40B4-BE49-F238E27FC236}">
                <a16:creationId xmlns:a16="http://schemas.microsoft.com/office/drawing/2014/main" id="{965D704E-1FF8-42FB-994C-6F7CFB6CD541}"/>
              </a:ext>
            </a:extLst>
          </p:cNvPr>
          <p:cNvSpPr>
            <a:spLocks xmlns:a="http://schemas.openxmlformats.org/drawingml/2006/main" noGrp="1"/>
          </p:cNvSpPr>
          <p:nvPr/>
        </p:nvSpPr>
        <p:spPr>
          <a:xfrm xmlns:a="http://schemas.openxmlformats.org/drawingml/2006/main">
            <a:off x="6858000" y="3456432"/>
            <a:ext cx="1604772" cy="768096"/>
          </a:xfrm>
          <a:prstGeom xmlns:a="http://schemas.openxmlformats.org/drawingml/2006/main" prst="roundRect">
            <a:avLst>
              <a:gd name="adj" fmla="val 7500"/>
            </a:avLst>
          </a:prstGeom>
          <a:solidFill xmlns:a="http://schemas.openxmlformats.org/drawingml/2006/main">
            <a:srgbClr val="EAF2FD"/>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96012" tIns="96012" rIns="96012" bIns="96012" anchor="ctr">
            <a:noAutofit/>
          </a:bodyPr>
          <a:lstStyle xmlns:a="http://schemas.openxmlformats.org/drawingml/2006/main"/>
          <a:p xmlns:a="http://schemas.openxmlformats.org/drawingml/2006/main">
            <a:pPr algn="ct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4 · PRODUCTO</a:t>
            </a:r>
          </a:p>
          <a:p xmlns:a="http://schemas.openxmlformats.org/drawingml/2006/main">
            <a:pPr algn="ct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Superficie horaria</a:t>
            </a:r>
          </a:p>
          <a:p xmlns:a="http://schemas.openxmlformats.org/drawingml/2006/main">
            <a:pPr algn="ct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Agregación comunal</a:t>
            </a:r>
          </a:p>
        </p:txBody>
      </p:sp>
      <p:sp>
        <p:nvSpPr>
          <p:cNvPr id="25" name="Trazabilidad">
            <a:extLst xmlns:a="http://schemas.openxmlformats.org/drawingml/2006/main">
              <a:ext uri="{FF2B5EF4-FFF2-40B4-BE49-F238E27FC236}">
                <a16:creationId xmlns:a16="http://schemas.microsoft.com/office/drawing/2014/main" id="{ABF7BE10-1491-4E3B-B1DA-948B4C71A144}"/>
              </a:ext>
            </a:extLst>
          </p:cNvPr>
          <p:cNvSpPr>
            <a:spLocks xmlns:a="http://schemas.openxmlformats.org/drawingml/2006/main" noGrp="1"/>
          </p:cNvSpPr>
          <p:nvPr/>
        </p:nvSpPr>
        <p:spPr>
          <a:xfrm xmlns:a="http://schemas.openxmlformats.org/drawingml/2006/main">
            <a:off x="2866644" y="3840480"/>
            <a:ext cx="3737610" cy="438912"/>
          </a:xfrm>
          <a:prstGeom xmlns:a="http://schemas.openxmlformats.org/drawingml/2006/main" prst="rect">
            <a:avLst/>
          </a:prstGeom>
          <a:noFill xmlns:a="http://schemas.openxmlformats.org/drawingml/2006/main"/>
          <a:ln xmlns:a="http://schemas.openxmlformats.org/drawingml/2006/main" w="8573">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spcBef>
                <a:spcPts val="0"/>
              </a:spcBef>
              <a:spcAft>
                <a:spcPts val="0"/>
              </a:spcAft>
              <a:defRPr sz="1125" b="0">
                <a:solidFill>
                  <a:srgbClr val="526277"/>
                </a:solidFill>
                <a:latin typeface="Calibri"/>
                <a:ea typeface="Calibri"/>
                <a:cs typeface="Calibri"/>
              </a:defRPr>
            </a:pPr>
            <a:r>
              <a:rPr sz="1125" b="0">
                <a:solidFill>
                  <a:srgbClr val="526277"/>
                </a:solidFill>
                <a:latin typeface="Calibri"/>
                <a:ea typeface="Calibri"/>
                <a:cs typeface="Calibri"/>
              </a:rPr>
              <a:t>Grilla de 0,01° ≈ 1 km; su área varía con la latitud.</a:t>
            </a:r>
          </a:p>
          <a:p xmlns:a="http://schemas.openxmlformats.org/drawingml/2006/main">
            <a:pPr algn="ctr">
              <a:spcBef>
                <a:spcPts val="0"/>
              </a:spcBef>
              <a:spcAft>
                <a:spcPts val="0"/>
              </a:spcAft>
              <a:defRPr sz="1125" b="0">
                <a:solidFill>
                  <a:srgbClr val="526277"/>
                </a:solidFill>
                <a:latin typeface="Calibri"/>
                <a:ea typeface="Calibri"/>
                <a:cs typeface="Calibri"/>
              </a:defRPr>
            </a:pPr>
            <a:r>
              <a:rPr sz="1125" b="0">
                <a:solidFill>
                  <a:srgbClr val="526277"/>
                </a:solidFill>
                <a:latin typeface="Calibri"/>
                <a:ea typeface="Calibri"/>
                <a:cs typeface="Calibri"/>
              </a:rPr>
              <a:t>Crudos, derivados y decisiones trazables.</a:t>
            </a:r>
          </a:p>
        </p:txBody>
      </p:sp>
      <p:sp>
        <p:nvSpPr>
          <p:cNvPr id="26" name="Fuente y alcance">
            <a:extLst xmlns:a="http://schemas.openxmlformats.org/drawingml/2006/main">
              <a:ext uri="{FF2B5EF4-FFF2-40B4-BE49-F238E27FC236}">
                <a16:creationId xmlns:a16="http://schemas.microsoft.com/office/drawing/2014/main" id="{67CF3AFD-D2CB-4AE1-831D-646786F95341}"/>
              </a:ext>
            </a:extLst>
          </p:cNvPr>
          <p:cNvSpPr>
            <a:spLocks xmlns:a="http://schemas.openxmlformats.org/drawingml/2006/main" noGrp="1"/>
          </p:cNvSpPr>
          <p:nvPr/>
        </p:nvSpPr>
        <p:spPr>
          <a:xfrm xmlns:a="http://schemas.openxmlformats.org/drawingml/2006/main">
            <a:off x="548640" y="4600575"/>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878">
                <a:solidFill>
                  <a:srgbClr val="526277"/>
                </a:solidFill>
                <a:latin typeface="Calibri"/>
                <a:ea typeface="Calibri"/>
                <a:cs typeface="Calibri"/>
              </a:defRPr>
            </a:pPr>
            <a:r>
              <a:rPr sz="878">
                <a:solidFill>
                  <a:srgbClr val="526277"/>
                </a:solidFill>
                <a:latin typeface="Calibri"/>
                <a:ea typeface="Calibri"/>
                <a:cs typeface="Calibri"/>
              </a:rPr>
              <a:t>Diseño metodológico; no todas las fuentes tienen cobertura completa verificada. UTC/unidades SINCA y pérdidas de unión: pendientes.</a:t>
            </a:r>
          </a:p>
        </p:txBody>
      </p:sp>
    </p:spTree>
    <p:extLst>
      <p:ext uri="{BB962C8B-B14F-4D97-AF65-F5344CB8AC3E}">
        <p14:creationId xmlns:p14="http://schemas.microsoft.com/office/powerpoint/2010/main" val="3227572768"/>
      </p:ext>
    </p:extLst>
  </p:cSld>
</p:sld>
</file>

<file path=ppt/slides/slide6.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3486DB9C-93DE-456A-BF48-2757BBD61ACE}"/>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2DE33766-2918-41FC-A1B9-B4BF483C8974}"/>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3BCD4458-45E8-4C73-A3B6-249CEEFBDB7B}"/>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A18DC9E6-BD6D-4FE1-AEC0-9715BEE3912A}"/>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438D0FA2-1899-4EDF-9FA4-D1742768DFC6}"/>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Inventario de fuentes: un corte común y auditable</a:t>
            </a:r>
          </a:p>
        </p:txBody>
      </p:sp>
      <p:sp>
        <p:nvSpPr>
          <p:cNvPr id="8" name="Corte">
            <a:extLst xmlns:a="http://schemas.openxmlformats.org/drawingml/2006/main">
              <a:ext uri="{FF2B5EF4-FFF2-40B4-BE49-F238E27FC236}">
                <a16:creationId xmlns:a16="http://schemas.microsoft.com/office/drawing/2014/main" id="{B3EC6100-ABB0-4396-9AF5-B20BFC98F2F9}"/>
              </a:ext>
            </a:extLst>
          </p:cNvPr>
          <p:cNvSpPr>
            <a:spLocks xmlns:a="http://schemas.openxmlformats.org/drawingml/2006/main" noGrp="1"/>
          </p:cNvSpPr>
          <p:nvPr/>
        </p:nvSpPr>
        <p:spPr>
          <a:xfrm xmlns:a="http://schemas.openxmlformats.org/drawingml/2006/main">
            <a:off x="552450" y="1200150"/>
            <a:ext cx="803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17375D"/>
                </a:solidFill>
                <a:latin typeface="Calibri"/>
                <a:ea typeface="Calibri"/>
                <a:cs typeface="Calibri"/>
              </a:defRPr>
            </a:pPr>
            <a:r>
              <a:rPr sz="1650" b="1">
                <a:solidFill>
                  <a:srgbClr val="17375D"/>
                </a:solidFill>
                <a:latin typeface="Calibri"/>
                <a:ea typeface="Calibri"/>
                <a:cs typeface="Calibri"/>
              </a:rPr>
              <a:t>Corte auditado al 15 de septiembre de 2026</a:t>
            </a:r>
          </a:p>
        </p:txBody>
      </p:sp>
      <p:graphicFrame>
        <p:nvGraphicFramePr>
          <p:cNvPr id="18" name=""/>
          <p:cNvGraphicFramePr/>
          <p:nvPr/>
        </p:nvGraphicFramePr>
        <p:xfrm>
          <a:off xmlns:a="http://schemas.openxmlformats.org/drawingml/2006/main" x="548640" y="1619250"/>
          <a:ext xmlns:a="http://schemas.openxmlformats.org/drawingml/2006/main" cx="8046720" cy="2543175"/>
        </p:xfrm>
        <a:graphic xmlns:a="http://schemas.openxmlformats.org/drawingml/2006/main">
          <a:graphicData uri="http://schemas.openxmlformats.org/drawingml/2006/table">
            <a:tbl>
              <a:tblPr firstRow="1" bandRow="0"/>
              <a:tblGrid>
                <a:gridCol w="1428750"/>
                <a:gridCol w="2200275"/>
                <a:gridCol w="2114550"/>
                <a:gridCol w="2303145"/>
              </a:tblGrid>
              <a:tr h="381000">
                <a:tc>
                  <a:txBody>
                    <a:bodyPr wrap="square" lIns="95250" tIns="76200" rIns="95250" bIns="76200">
                      <a:noAutofit/>
                    </a:bodyPr>
                    <a:lstStyle/>
                    <a:p>
                      <a:r>
                        <a:rPr sz="1238" b="1">
                          <a:solidFill>
                            <a:srgbClr val="FFFFFF"/>
                          </a:solidFill>
                          <a:latin typeface="Calibri"/>
                          <a:ea typeface="Calibri"/>
                          <a:cs typeface="Calibri"/>
                        </a:rPr>
                        <a:t>Fuente</a:t>
                      </a:r>
                    </a:p>
                  </a:txBody>
                  <a:tcPr marL="91440" marR="91440" marT="45720" marB="45720" anchor="ctr">
                    <a:solidFill>
                      <a:srgbClr val="17375D"/>
                    </a:solidFill>
                  </a:tcPr>
                </a:tc>
                <a:tc>
                  <a:txBody>
                    <a:bodyPr wrap="square" lIns="95250" tIns="76200" rIns="95250" bIns="76200">
                      <a:noAutofit/>
                    </a:bodyPr>
                    <a:lstStyle/>
                    <a:p>
                      <a:r>
                        <a:rPr sz="1238" b="1">
                          <a:solidFill>
                            <a:srgbClr val="FFFFFF"/>
                          </a:solidFill>
                          <a:latin typeface="Calibri"/>
                          <a:ea typeface="Calibri"/>
                          <a:cs typeface="Calibri"/>
                        </a:rPr>
                        <a:t>Periodo preparado</a:t>
                      </a:r>
                    </a:p>
                  </a:txBody>
                  <a:tcPr marL="91440" marR="91440" marT="45720" marB="45720" anchor="ctr">
                    <a:solidFill>
                      <a:srgbClr val="17375D"/>
                    </a:solidFill>
                  </a:tcPr>
                </a:tc>
                <a:tc>
                  <a:txBody>
                    <a:bodyPr wrap="square" lIns="95250" tIns="76200" rIns="95250" bIns="76200">
                      <a:noAutofit/>
                    </a:bodyPr>
                    <a:lstStyle/>
                    <a:p>
                      <a:r>
                        <a:rPr sz="1238" b="1">
                          <a:solidFill>
                            <a:srgbClr val="FFFFFF"/>
                          </a:solidFill>
                          <a:latin typeface="Calibri"/>
                          <a:ea typeface="Calibri"/>
                          <a:cs typeface="Calibri"/>
                        </a:rPr>
                        <a:t>Resolución nativa</a:t>
                      </a:r>
                    </a:p>
                  </a:txBody>
                  <a:tcPr marL="91440" marR="91440" marT="45720" marB="45720" anchor="ctr">
                    <a:solidFill>
                      <a:srgbClr val="17375D"/>
                    </a:solidFill>
                  </a:tcPr>
                </a:tc>
                <a:tc>
                  <a:txBody>
                    <a:bodyPr wrap="square" lIns="95250" tIns="76200" rIns="95250" bIns="76200">
                      <a:noAutofit/>
                    </a:bodyPr>
                    <a:lstStyle/>
                    <a:p>
                      <a:r>
                        <a:rPr sz="1238" b="1">
                          <a:solidFill>
                            <a:srgbClr val="FFFFFF"/>
                          </a:solidFill>
                          <a:latin typeface="Calibri"/>
                          <a:ea typeface="Calibri"/>
                          <a:cs typeface="Calibri"/>
                        </a:rPr>
                        <a:t>Volumen del corte</a:t>
                      </a:r>
                    </a:p>
                  </a:txBody>
                  <a:tcPr marL="91440" marR="91440" marT="45720" marB="45720" anchor="ctr">
                    <a:solidFill>
                      <a:srgbClr val="17375D"/>
                    </a:solidFill>
                  </a:tcPr>
                </a:tc>
              </a:tr>
              <a:tr h="720725">
                <a:tc>
                  <a:txBody>
                    <a:bodyPr wrap="square" lIns="95250" tIns="76200" rIns="95250" bIns="76200">
                      <a:noAutofit/>
                    </a:bodyPr>
                    <a:lstStyle/>
                    <a:p>
                      <a:r>
                        <a:rPr sz="1238" b="0">
                          <a:solidFill>
                            <a:srgbClr val="1E293B"/>
                          </a:solidFill>
                          <a:latin typeface="Calibri"/>
                          <a:ea typeface="Calibri"/>
                          <a:cs typeface="Calibri"/>
                        </a:rPr>
                        <a:t>SINCA</a:t>
                      </a:r>
                    </a:p>
                  </a:txBody>
                  <a:tcPr marL="91440" marR="91440" marT="45720" marB="45720" anchor="ctr">
                    <a:solidFill>
                      <a:srgbClr val="EAF2FD"/>
                    </a:solidFill>
                  </a:tcPr>
                </a:tc>
                <a:tc>
                  <a:txBody>
                    <a:bodyPr wrap="square" lIns="95250" tIns="76200" rIns="95250" bIns="76200">
                      <a:noAutofit/>
                    </a:bodyPr>
                    <a:lstStyle/>
                    <a:p>
                      <a:r>
                        <a:rPr sz="1238" b="0">
                          <a:solidFill>
                            <a:srgbClr val="1E293B"/>
                          </a:solidFill>
                          <a:latin typeface="Calibri"/>
                          <a:ea typeface="Calibri"/>
                          <a:cs typeface="Calibri"/>
                        </a:rPr>
                        <a:t>2000–13 sep 2026</a:t>
                      </a:r>
                    </a:p>
                    <a:p>
                      <a:r>
                        <a:rPr sz="1238" b="0">
                          <a:solidFill>
                            <a:srgbClr val="1E293B"/>
                          </a:solidFill>
                          <a:latin typeface="Calibri"/>
                          <a:ea typeface="Calibri"/>
                          <a:cs typeface="Calibri"/>
                        </a:rPr>
                        <a:t>Cobertura variable por serie</a:t>
                      </a:r>
                    </a:p>
                  </a:txBody>
                  <a:tcPr marL="91440" marR="91440" marT="45720" marB="45720" anchor="ctr">
                    <a:solidFill>
                      <a:srgbClr val="EAF2FD"/>
                    </a:solidFill>
                  </a:tcPr>
                </a:tc>
                <a:tc>
                  <a:txBody>
                    <a:bodyPr wrap="square" lIns="95250" tIns="76200" rIns="95250" bIns="76200">
                      <a:noAutofit/>
                    </a:bodyPr>
                    <a:lstStyle/>
                    <a:p>
                      <a:r>
                        <a:rPr sz="1238" b="0">
                          <a:solidFill>
                            <a:srgbClr val="1E293B"/>
                          </a:solidFill>
                          <a:latin typeface="Calibri"/>
                          <a:ea typeface="Calibri"/>
                          <a:cs typeface="Calibri"/>
                        </a:rPr>
                        <a:t>Estaciones y etiquetas horarias originales</a:t>
                      </a:r>
                    </a:p>
                  </a:txBody>
                  <a:tcPr marL="91440" marR="91440" marT="45720" marB="45720" anchor="ctr">
                    <a:solidFill>
                      <a:srgbClr val="EAF2FD"/>
                    </a:solidFill>
                  </a:tcPr>
                </a:tc>
                <a:tc>
                  <a:txBody>
                    <a:bodyPr wrap="square" lIns="95250" tIns="76200" rIns="95250" bIns="76200">
                      <a:noAutofit/>
                    </a:bodyPr>
                    <a:lstStyle/>
                    <a:p>
                      <a:r>
                        <a:rPr sz="1238" b="0">
                          <a:solidFill>
                            <a:srgbClr val="1E293B"/>
                          </a:solidFill>
                          <a:latin typeface="Calibri"/>
                          <a:ea typeface="Calibri"/>
                          <a:cs typeface="Calibri"/>
                        </a:rPr>
                        <a:t>107 estaciones · 403 series</a:t>
                      </a:r>
                    </a:p>
                    <a:p>
                      <a:r>
                        <a:rPr sz="1238" b="0">
                          <a:solidFill>
                            <a:srgbClr val="1E293B"/>
                          </a:solidFill>
                          <a:latin typeface="Calibri"/>
                          <a:ea typeface="Calibri"/>
                          <a:cs typeface="Calibri"/>
                        </a:rPr>
                        <a:t>94.311.869 filas seleccionadas</a:t>
                      </a:r>
                    </a:p>
                  </a:txBody>
                  <a:tcPr marL="91440" marR="91440" marT="45720" marB="45720" anchor="ctr">
                    <a:solidFill>
                      <a:srgbClr val="EAF2FD"/>
                    </a:solidFill>
                  </a:tcPr>
                </a:tc>
              </a:tr>
              <a:tr h="720725">
                <a:tc>
                  <a:txBody>
                    <a:bodyPr wrap="square" lIns="95250" tIns="76200" rIns="95250" bIns="76200">
                      <a:noAutofit/>
                    </a:bodyPr>
                    <a:lstStyle/>
                    <a:p>
                      <a:r>
                        <a:rPr sz="1238" b="0">
                          <a:solidFill>
                            <a:srgbClr val="1E293B"/>
                          </a:solidFill>
                          <a:latin typeface="Calibri"/>
                          <a:ea typeface="Calibri"/>
                          <a:cs typeface="Calibri"/>
                        </a:rPr>
                        <a:t>MERRA-2</a:t>
                      </a:r>
                    </a:p>
                    <a:p>
                      <a:r>
                        <a:rPr sz="1238" b="0">
                          <a:solidFill>
                            <a:srgbClr val="1E293B"/>
                          </a:solidFill>
                          <a:latin typeface="Calibri"/>
                          <a:ea typeface="Calibri"/>
                          <a:cs typeface="Calibri"/>
                        </a:rPr>
                        <a:t>meteorología</a:t>
                      </a:r>
                    </a:p>
                  </a:txBody>
                  <a:tcPr marL="91440" marR="91440" marT="45720" marB="45720" anchor="ctr">
                    <a:solidFill>
                      <a:srgbClr val="FFFFFF"/>
                    </a:solidFill>
                  </a:tcPr>
                </a:tc>
                <a:tc>
                  <a:txBody>
                    <a:bodyPr wrap="square" lIns="95250" tIns="76200" rIns="95250" bIns="76200">
                      <a:noAutofit/>
                    </a:bodyPr>
                    <a:lstStyle/>
                    <a:p>
                      <a:r>
                        <a:rPr sz="1238" b="0">
                          <a:solidFill>
                            <a:srgbClr val="1E293B"/>
                          </a:solidFill>
                          <a:latin typeface="Calibri"/>
                          <a:ea typeface="Calibri"/>
                          <a:cs typeface="Calibri"/>
                        </a:rPr>
                        <a:t>ene 2000–may 2026</a:t>
                      </a:r>
                    </a:p>
                    <a:p>
                      <a:r>
                        <a:rPr sz="1238" b="0">
                          <a:solidFill>
                            <a:srgbClr val="1E293B"/>
                          </a:solidFill>
                          <a:latin typeface="Calibri"/>
                          <a:ea typeface="Calibri"/>
                          <a:cs typeface="Calibri"/>
                        </a:rPr>
                        <a:t>317 meses</a:t>
                      </a:r>
                    </a:p>
                  </a:txBody>
                  <a:tcPr marL="91440" marR="91440" marT="45720" marB="45720" anchor="ctr">
                    <a:solidFill>
                      <a:srgbClr val="FFFFFF"/>
                    </a:solidFill>
                  </a:tcPr>
                </a:tc>
                <a:tc>
                  <a:txBody>
                    <a:bodyPr wrap="square" lIns="95250" tIns="76200" rIns="95250" bIns="76200">
                      <a:noAutofit/>
                    </a:bodyPr>
                    <a:lstStyle/>
                    <a:p>
                      <a:r>
                        <a:rPr sz="1238" b="0">
                          <a:solidFill>
                            <a:srgbClr val="1E293B"/>
                          </a:solidFill>
                          <a:latin typeface="Calibri"/>
                          <a:ea typeface="Calibri"/>
                          <a:cs typeface="Calibri"/>
                        </a:rPr>
                        <a:t>0,5° × 0,625°</a:t>
                      </a:r>
                    </a:p>
                    <a:p>
                      <a:r>
                        <a:rPr sz="1238" b="0">
                          <a:solidFill>
                            <a:srgbClr val="1E293B"/>
                          </a:solidFill>
                          <a:latin typeface="Calibri"/>
                          <a:ea typeface="Calibri"/>
                          <a:cs typeface="Calibri"/>
                        </a:rPr>
                        <a:t>Marcas HH:30 UTC</a:t>
                      </a:r>
                    </a:p>
                  </a:txBody>
                  <a:tcPr marL="91440" marR="91440" marT="45720" marB="45720" anchor="ctr">
                    <a:solidFill>
                      <a:srgbClr val="FFFFFF"/>
                    </a:solidFill>
                  </a:tcPr>
                </a:tc>
                <a:tc>
                  <a:txBody>
                    <a:bodyPr wrap="square" lIns="95250" tIns="76200" rIns="95250" bIns="76200">
                      <a:noAutofit/>
                    </a:bodyPr>
                    <a:lstStyle/>
                    <a:p>
                      <a:r>
                        <a:rPr sz="1238" b="0">
                          <a:solidFill>
                            <a:srgbClr val="1E293B"/>
                          </a:solidFill>
                          <a:latin typeface="Calibri"/>
                          <a:ea typeface="Calibri"/>
                          <a:cs typeface="Calibri"/>
                        </a:rPr>
                        <a:t>419 píxeles</a:t>
                      </a:r>
                    </a:p>
                    <a:p>
                      <a:r>
                        <a:rPr sz="1238" b="0">
                          <a:solidFill>
                            <a:srgbClr val="1E293B"/>
                          </a:solidFill>
                          <a:latin typeface="Calibri"/>
                          <a:ea typeface="Calibri"/>
                          <a:cs typeface="Calibri"/>
                        </a:rPr>
                        <a:t>231.552 marcas temporales</a:t>
                      </a:r>
                    </a:p>
                  </a:txBody>
                  <a:tcPr marL="91440" marR="91440" marT="45720" marB="45720" anchor="ctr">
                    <a:solidFill>
                      <a:srgbClr val="FFFFFF"/>
                    </a:solidFill>
                  </a:tcPr>
                </a:tc>
              </a:tr>
              <a:tr h="720725">
                <a:tc>
                  <a:txBody>
                    <a:bodyPr wrap="square" lIns="95250" tIns="76200" rIns="95250" bIns="76200">
                      <a:noAutofit/>
                    </a:bodyPr>
                    <a:lstStyle/>
                    <a:p>
                      <a:r>
                        <a:rPr sz="1238" b="0">
                          <a:solidFill>
                            <a:srgbClr val="1E293B"/>
                          </a:solidFill>
                          <a:latin typeface="Calibri"/>
                          <a:ea typeface="Calibri"/>
                          <a:cs typeface="Calibri"/>
                        </a:rPr>
                        <a:t>ERA5-Land</a:t>
                      </a:r>
                    </a:p>
                    <a:p>
                      <a:r>
                        <a:rPr sz="1238" b="0">
                          <a:solidFill>
                            <a:srgbClr val="1E293B"/>
                          </a:solidFill>
                          <a:latin typeface="Calibri"/>
                          <a:ea typeface="Calibri"/>
                          <a:cs typeface="Calibri"/>
                        </a:rPr>
                        <a:t>precipitación</a:t>
                      </a:r>
                    </a:p>
                  </a:txBody>
                  <a:tcPr marL="91440" marR="91440" marT="45720" marB="45720" anchor="ctr">
                    <a:solidFill>
                      <a:srgbClr val="EAF2FD"/>
                    </a:solidFill>
                  </a:tcPr>
                </a:tc>
                <a:tc>
                  <a:txBody>
                    <a:bodyPr wrap="square" lIns="95250" tIns="76200" rIns="95250" bIns="76200">
                      <a:noAutofit/>
                    </a:bodyPr>
                    <a:lstStyle/>
                    <a:p>
                      <a:r>
                        <a:rPr sz="1238" b="0">
                          <a:solidFill>
                            <a:srgbClr val="1E293B"/>
                          </a:solidFill>
                          <a:latin typeface="Calibri"/>
                          <a:ea typeface="Calibri"/>
                          <a:cs typeface="Calibri"/>
                        </a:rPr>
                        <a:t>ene 2000–ago 2026</a:t>
                      </a:r>
                    </a:p>
                    <a:p>
                      <a:r>
                        <a:rPr sz="1238" b="0">
                          <a:solidFill>
                            <a:srgbClr val="1E293B"/>
                          </a:solidFill>
                          <a:latin typeface="Calibri"/>
                          <a:ea typeface="Calibri"/>
                          <a:cs typeface="Calibri"/>
                        </a:rPr>
                        <a:t>sep parcial: 216 horas</a:t>
                      </a:r>
                    </a:p>
                  </a:txBody>
                  <a:tcPr marL="91440" marR="91440" marT="45720" marB="45720" anchor="ctr">
                    <a:solidFill>
                      <a:srgbClr val="EAF2FD"/>
                    </a:solidFill>
                  </a:tcPr>
                </a:tc>
                <a:tc>
                  <a:txBody>
                    <a:bodyPr wrap="square" lIns="95250" tIns="76200" rIns="95250" bIns="76200">
                      <a:noAutofit/>
                    </a:bodyPr>
                    <a:lstStyle/>
                    <a:p>
                      <a:r>
                        <a:rPr sz="1238" b="0">
                          <a:solidFill>
                            <a:srgbClr val="1E293B"/>
                          </a:solidFill>
                          <a:latin typeface="Calibri"/>
                          <a:ea typeface="Calibri"/>
                          <a:cs typeface="Calibri"/>
                        </a:rPr>
                        <a:t>0,1°</a:t>
                      </a:r>
                    </a:p>
                    <a:p>
                      <a:r>
                        <a:rPr sz="1238" b="0">
                          <a:solidFill>
                            <a:srgbClr val="1E293B"/>
                          </a:solidFill>
                          <a:latin typeface="Calibri"/>
                          <a:ea typeface="Calibri"/>
                          <a:cs typeface="Calibri"/>
                        </a:rPr>
                        <a:t>Derivación horaria</a:t>
                      </a:r>
                    </a:p>
                  </a:txBody>
                  <a:tcPr marL="91440" marR="91440" marT="45720" marB="45720" anchor="ctr">
                    <a:solidFill>
                      <a:srgbClr val="EAF2FD"/>
                    </a:solidFill>
                  </a:tcPr>
                </a:tc>
                <a:tc>
                  <a:txBody>
                    <a:bodyPr wrap="square" lIns="95250" tIns="76200" rIns="95250" bIns="76200">
                      <a:noAutofit/>
                    </a:bodyPr>
                    <a:lstStyle/>
                    <a:p>
                      <a:r>
                        <a:rPr sz="1238" b="0">
                          <a:solidFill>
                            <a:srgbClr val="1E293B"/>
                          </a:solidFill>
                          <a:latin typeface="Calibri"/>
                          <a:ea typeface="Calibri"/>
                          <a:cs typeface="Calibri"/>
                        </a:rPr>
                        <a:t>9.725 píxeles</a:t>
                      </a:r>
                    </a:p>
                    <a:p>
                      <a:r>
                        <a:rPr sz="1238" b="0">
                          <a:solidFill>
                            <a:srgbClr val="1E293B"/>
                          </a:solidFill>
                          <a:latin typeface="Calibri"/>
                          <a:ea typeface="Calibri"/>
                          <a:cs typeface="Calibri"/>
                        </a:rPr>
                        <a:t>233.976 marcas temporales</a:t>
                      </a:r>
                    </a:p>
                  </a:txBody>
                  <a:tcPr marL="91440" marR="91440" marT="45720" marB="45720" anchor="ctr">
                    <a:solidFill>
                      <a:srgbClr val="EAF2FD"/>
                    </a:solidFill>
                  </a:tcPr>
                </a:tc>
              </a:tr>
            </a:tbl>
          </a:graphicData>
        </a:graphic>
      </p:graphicFrame>
      <p:sp>
        <p:nvSpPr>
          <p:cNvPr id="10" name="Cautela">
            <a:extLst xmlns:a="http://schemas.openxmlformats.org/drawingml/2006/main">
              <a:ext uri="{FF2B5EF4-FFF2-40B4-BE49-F238E27FC236}">
                <a16:creationId xmlns:a16="http://schemas.microsoft.com/office/drawing/2014/main" id="{BA4D6352-1347-4479-88B6-39BE5A65CB46}"/>
              </a:ext>
            </a:extLst>
          </p:cNvPr>
          <p:cNvSpPr>
            <a:spLocks xmlns:a="http://schemas.openxmlformats.org/drawingml/2006/main" noGrp="1"/>
          </p:cNvSpPr>
          <p:nvPr/>
        </p:nvSpPr>
        <p:spPr>
          <a:xfrm xmlns:a="http://schemas.openxmlformats.org/drawingml/2006/main">
            <a:off x="552450" y="4286250"/>
            <a:ext cx="80391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63">
                <a:solidFill>
                  <a:srgbClr val="17375D"/>
                </a:solidFill>
                <a:latin typeface="Calibri"/>
                <a:ea typeface="Calibri"/>
                <a:cs typeface="Calibri"/>
              </a:defRPr>
            </a:pPr>
            <a:r>
              <a:rPr sz="1163">
                <a:solidFill>
                  <a:srgbClr val="17375D"/>
                </a:solidFill>
                <a:latin typeface="Calibri"/>
                <a:ea typeface="Calibri"/>
                <a:cs typeface="Calibri"/>
              </a:rPr>
              <a:t>Conteos de inventario: filas, píxeles y marcas temporales no son unidades intercambiables.</a:t>
            </a:r>
          </a:p>
          <a:p xmlns:a="http://schemas.openxmlformats.org/drawingml/2006/main">
            <a:pPr>
              <a:defRPr sz="1163">
                <a:solidFill>
                  <a:srgbClr val="17375D"/>
                </a:solidFill>
                <a:latin typeface="Calibri"/>
                <a:ea typeface="Calibri"/>
                <a:cs typeface="Calibri"/>
              </a:defRPr>
            </a:pPr>
            <a:r>
              <a:rPr sz="1163">
                <a:solidFill>
                  <a:srgbClr val="17375D"/>
                </a:solidFill>
                <a:latin typeface="Calibri"/>
                <a:ea typeface="Calibri"/>
                <a:cs typeface="Calibri"/>
              </a:rPr>
              <a:t>La pérdida al unir fuentes aún debe medirse sobre el panel armonizado final.</a:t>
            </a:r>
          </a:p>
        </p:txBody>
      </p:sp>
      <p:sp>
        <p:nvSpPr>
          <p:cNvPr id="11" name="Fuente y alcance">
            <a:extLst xmlns:a="http://schemas.openxmlformats.org/drawingml/2006/main">
              <a:ext uri="{FF2B5EF4-FFF2-40B4-BE49-F238E27FC236}">
                <a16:creationId xmlns:a16="http://schemas.microsoft.com/office/drawing/2014/main" id="{F65949A2-8F69-490F-86FF-DDEB2767909C}"/>
              </a:ext>
            </a:extLst>
          </p:cNvPr>
          <p:cNvSpPr>
            <a:spLocks xmlns:a="http://schemas.openxmlformats.org/drawingml/2006/main" noGrp="1"/>
          </p:cNvSpPr>
          <p:nvPr/>
        </p:nvSpPr>
        <p:spPr>
          <a:xfrm xmlns:a="http://schemas.openxmlformats.org/drawingml/2006/main">
            <a:off x="548640" y="4600575"/>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878">
                <a:solidFill>
                  <a:srgbClr val="526277"/>
                </a:solidFill>
                <a:latin typeface="Calibri"/>
                <a:ea typeface="Calibri"/>
                <a:cs typeface="Calibri"/>
              </a:defRPr>
            </a:pPr>
            <a:r>
              <a:rPr sz="878">
                <a:solidFill>
                  <a:srgbClr val="526277"/>
                </a:solidFill>
                <a:latin typeface="Calibri"/>
                <a:ea typeface="Calibri"/>
                <a:cs typeface="Calibri"/>
              </a:rPr>
              <a:t>Fuente: logs/control_preparacion_modelado_20260915.json y docs/PREPARACION_MODELADO.md. No representa el cierre de septiembre.</a:t>
            </a:r>
          </a:p>
        </p:txBody>
      </p:sp>
    </p:spTree>
    <p:extLst>
      <p:ext uri="{BB962C8B-B14F-4D97-AF65-F5344CB8AC3E}">
        <p14:creationId xmlns:p14="http://schemas.microsoft.com/office/powerpoint/2010/main" val="3227572768"/>
      </p:ext>
    </p:extLst>
  </p:cSld>
</p:sld>
</file>

<file path=ppt/slides/slide7.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3486DB9C-93DE-456A-BF48-2757BBD61ACE}"/>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2DE33766-2918-41FC-A1B9-B4BF483C8974}"/>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3BCD4458-45E8-4C73-A3B6-249CEEFBDB7B}"/>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A18DC9E6-BD6D-4FE1-AEC0-9715BEE3912A}"/>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438D0FA2-1899-4EDF-9FA4-D1742768DFC6}"/>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Descriptivos: la disponibilidad difiere por contaminante</a:t>
            </a:r>
          </a:p>
        </p:txBody>
      </p:sp>
      <p:sp>
        <p:nvSpPr>
          <p:cNvPr id="8" name="Cifras">
            <a:extLst xmlns:a="http://schemas.openxmlformats.org/drawingml/2006/main">
              <a:ext uri="{FF2B5EF4-FFF2-40B4-BE49-F238E27FC236}">
                <a16:creationId xmlns:a16="http://schemas.microsoft.com/office/drawing/2014/main" id="{8229DC8C-C5A4-4017-8AAA-283EF4965C79}"/>
              </a:ext>
            </a:extLst>
          </p:cNvPr>
          <p:cNvSpPr>
            <a:spLocks xmlns:a="http://schemas.openxmlformats.org/drawingml/2006/main" noGrp="1"/>
          </p:cNvSpPr>
          <p:nvPr/>
        </p:nvSpPr>
        <p:spPr>
          <a:xfrm xmlns:a="http://schemas.openxmlformats.org/drawingml/2006/main">
            <a:off x="552450" y="1209675"/>
            <a:ext cx="8039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7375D"/>
                </a:solidFill>
                <a:latin typeface="Calibri"/>
                <a:ea typeface="Calibri"/>
                <a:cs typeface="Calibri"/>
              </a:defRPr>
            </a:pPr>
            <a:r>
              <a:rPr sz="1875" b="1">
                <a:solidFill>
                  <a:srgbClr val="17375D"/>
                </a:solidFill>
                <a:latin typeface="Calibri"/>
                <a:ea typeface="Calibri"/>
                <a:cs typeface="Calibri"/>
              </a:rPr>
              <a:t>107 estaciones únicas · 403 series estación–contaminante</a:t>
            </a:r>
          </a:p>
        </p:txBody>
      </p:sp>
      <p:graphicFrame>
        <p:nvGraphicFramePr>
          <p:cNvPr id="18" name="Chart"/>
          <p:cNvGraphicFramePr/>
          <p:nvPr/>
        </p:nvGraphicFramePr>
        <p:xfrm>
          <a:off xmlns:a="http://schemas.openxmlformats.org/drawingml/2006/main" x="600075" y="1638300"/>
          <a:ext xmlns:a="http://schemas.openxmlformats.org/drawingml/2006/main" cx="7820025" cy="2724150"/>
        </p:xfrm>
        <a:graphic xmlns:a="http://schemas.openxmlformats.org/drawingml/2006/main">
          <a:graphicData uri="http://schemas.openxmlformats.org/drawingml/2006/chart">
            <c:chart xmlns:r="http://schemas.openxmlformats.org/officeDocument/2006/relationships" xmlns:c="http://schemas.openxmlformats.org/drawingml/2006/chart" r:id="R2d41518da89e4cc3"/>
          </a:graphicData>
        </a:graphic>
      </p:graphicFrame>
      <p:sp>
        <p:nvSpPr>
          <p:cNvPr id="10" name="Interpretación">
            <a:extLst xmlns:a="http://schemas.openxmlformats.org/drawingml/2006/main">
              <a:ext uri="{FF2B5EF4-FFF2-40B4-BE49-F238E27FC236}">
                <a16:creationId xmlns:a16="http://schemas.microsoft.com/office/drawing/2014/main" id="{55F17CAA-E628-4B02-97BA-DF173C685421}"/>
              </a:ext>
            </a:extLst>
          </p:cNvPr>
          <p:cNvSpPr>
            <a:spLocks xmlns:a="http://schemas.openxmlformats.org/drawingml/2006/main" noGrp="1"/>
          </p:cNvSpPr>
          <p:nvPr/>
        </p:nvSpPr>
        <p:spPr>
          <a:xfrm xmlns:a="http://schemas.openxmlformats.org/drawingml/2006/main">
            <a:off x="552450" y="4352925"/>
            <a:ext cx="803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a:solidFill>
                  <a:srgbClr val="17375D"/>
                </a:solidFill>
                <a:latin typeface="Calibri"/>
                <a:ea typeface="Calibri"/>
                <a:cs typeface="Calibri"/>
              </a:defRPr>
            </a:pPr>
            <a:r>
              <a:rPr sz="1200">
                <a:solidFill>
                  <a:srgbClr val="17375D"/>
                </a:solidFill>
                <a:latin typeface="Calibri"/>
                <a:ea typeface="Calibri"/>
                <a:cs typeface="Calibri"/>
              </a:rPr>
              <a:t>Una estación puede aportar varios contaminantes. Estos conteos no equivalen al porcentaje del territorio cubierto.</a:t>
            </a:r>
          </a:p>
        </p:txBody>
      </p:sp>
      <p:sp>
        <p:nvSpPr>
          <p:cNvPr id="11" name="Fuente y alcance">
            <a:extLst xmlns:a="http://schemas.openxmlformats.org/drawingml/2006/main">
              <a:ext uri="{FF2B5EF4-FFF2-40B4-BE49-F238E27FC236}">
                <a16:creationId xmlns:a16="http://schemas.microsoft.com/office/drawing/2014/main" id="{CB0F4828-C7BB-4BEB-91C0-8646FE713F39}"/>
              </a:ext>
            </a:extLst>
          </p:cNvPr>
          <p:cNvSpPr>
            <a:spLocks xmlns:a="http://schemas.openxmlformats.org/drawingml/2006/main" noGrp="1"/>
          </p:cNvSpPr>
          <p:nvPr/>
        </p:nvSpPr>
        <p:spPr>
          <a:xfrm xmlns:a="http://schemas.openxmlformats.org/drawingml/2006/main">
            <a:off x="548640" y="4600575"/>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878">
                <a:solidFill>
                  <a:srgbClr val="526277"/>
                </a:solidFill>
                <a:latin typeface="Calibri"/>
                <a:ea typeface="Calibri"/>
                <a:cs typeface="Calibri"/>
              </a:defRPr>
            </a:pPr>
            <a:r>
              <a:rPr sz="878">
                <a:solidFill>
                  <a:srgbClr val="526277"/>
                </a:solidFill>
                <a:latin typeface="Calibri"/>
                <a:ea typeface="Calibri"/>
                <a:cs typeface="Calibri"/>
              </a:rPr>
              <a:t>Fuente: inventario auditado SINCA, 15-sep-2026. Series contabilizadas en el alcance seleccionado.</a:t>
            </a:r>
          </a:p>
        </p:txBody>
      </p:sp>
    </p:spTree>
    <p:extLst>
      <p:ext uri="{BB962C8B-B14F-4D97-AF65-F5344CB8AC3E}">
        <p14:creationId xmlns:p14="http://schemas.microsoft.com/office/powerpoint/2010/main" val="3227572768"/>
      </p:ext>
    </p:extLst>
  </p:cSld>
</p:sld>
</file>

<file path=ppt/slides/slide8.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3486DB9C-93DE-456A-BF48-2757BBD61ACE}"/>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2DE33766-2918-41FC-A1B9-B4BF483C8974}"/>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3BCD4458-45E8-4C73-A3B6-249CEEFBDB7B}"/>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A18DC9E6-BD6D-4FE1-AEC0-9715BEE3912A}"/>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438D0FA2-1899-4EDF-9FA4-D1742768DFC6}"/>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Descriptivos: registros SINCA sin medición</a:t>
            </a:r>
          </a:p>
        </p:txBody>
      </p:sp>
      <p:sp>
        <p:nvSpPr>
          <p:cNvPr id="8" name="Denominador">
            <a:extLst xmlns:a="http://schemas.openxmlformats.org/drawingml/2006/main">
              <a:ext uri="{FF2B5EF4-FFF2-40B4-BE49-F238E27FC236}">
                <a16:creationId xmlns:a16="http://schemas.microsoft.com/office/drawing/2014/main" id="{D4DC9827-39C2-4761-ACA2-011E04662E8E}"/>
              </a:ext>
            </a:extLst>
          </p:cNvPr>
          <p:cNvSpPr>
            <a:spLocks xmlns:a="http://schemas.openxmlformats.org/drawingml/2006/main" noGrp="1"/>
          </p:cNvSpPr>
          <p:nvPr/>
        </p:nvSpPr>
        <p:spPr>
          <a:xfrm xmlns:a="http://schemas.openxmlformats.org/drawingml/2006/main">
            <a:off x="552450" y="1200150"/>
            <a:ext cx="80391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17375D"/>
                </a:solidFill>
                <a:latin typeface="Calibri"/>
                <a:ea typeface="Calibri"/>
                <a:cs typeface="Calibri"/>
              </a:defRPr>
            </a:pPr>
            <a:r>
              <a:rPr sz="1650" b="1">
                <a:solidFill>
                  <a:srgbClr val="17375D"/>
                </a:solidFill>
                <a:latin typeface="Calibri"/>
                <a:ea typeface="Calibri"/>
                <a:cs typeface="Calibri"/>
              </a:rPr>
              <a:t>94.311.869 filas seleccionadas · 42.708.344 con medición (45,28%)</a:t>
            </a:r>
          </a:p>
        </p:txBody>
      </p:sp>
      <p:graphicFrame>
        <p:nvGraphicFramePr>
          <p:cNvPr id="18" name="Chart"/>
          <p:cNvGraphicFramePr/>
          <p:nvPr/>
        </p:nvGraphicFramePr>
        <p:xfrm>
          <a:off xmlns:a="http://schemas.openxmlformats.org/drawingml/2006/main" x="600075" y="1666875"/>
          <a:ext xmlns:a="http://schemas.openxmlformats.org/drawingml/2006/main" cx="7820025" cy="2590800"/>
        </p:xfrm>
        <a:graphic xmlns:a="http://schemas.openxmlformats.org/drawingml/2006/main">
          <a:graphicData uri="http://schemas.openxmlformats.org/drawingml/2006/chart">
            <c:chart xmlns:r="http://schemas.openxmlformats.org/officeDocument/2006/relationships" xmlns:c="http://schemas.openxmlformats.org/drawingml/2006/chart" r:id="R4404228316064849"/>
          </a:graphicData>
        </a:graphic>
      </p:graphicFrame>
      <p:sp>
        <p:nvSpPr>
          <p:cNvPr id="10" name="Cautela">
            <a:extLst xmlns:a="http://schemas.openxmlformats.org/drawingml/2006/main">
              <a:ext uri="{FF2B5EF4-FFF2-40B4-BE49-F238E27FC236}">
                <a16:creationId xmlns:a16="http://schemas.microsoft.com/office/drawing/2014/main" id="{461CE665-410F-4170-B7BC-46A1A15AA257}"/>
              </a:ext>
            </a:extLst>
          </p:cNvPr>
          <p:cNvSpPr>
            <a:spLocks xmlns:a="http://schemas.openxmlformats.org/drawingml/2006/main" noGrp="1"/>
          </p:cNvSpPr>
          <p:nvPr/>
        </p:nvSpPr>
        <p:spPr>
          <a:xfrm xmlns:a="http://schemas.openxmlformats.org/drawingml/2006/main">
            <a:off x="552450" y="4333875"/>
            <a:ext cx="8039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a:solidFill>
                  <a:srgbClr val="17375D"/>
                </a:solidFill>
                <a:latin typeface="Calibri"/>
                <a:ea typeface="Calibri"/>
                <a:cs typeface="Calibri"/>
              </a:defRPr>
            </a:pPr>
            <a:r>
              <a:rPr sz="1200">
                <a:solidFill>
                  <a:srgbClr val="17375D"/>
                </a:solidFill>
                <a:latin typeface="Calibri"/>
                <a:ea typeface="Calibri"/>
                <a:cs typeface="Calibri"/>
              </a:rPr>
              <a:t>“Con medición” no significa “validada”. Antes de describir concentraciones: confirmar unidades y reloj por serie.</a:t>
            </a:r>
          </a:p>
        </p:txBody>
      </p:sp>
      <p:sp>
        <p:nvSpPr>
          <p:cNvPr id="11" name="Fuente y alcance">
            <a:extLst xmlns:a="http://schemas.openxmlformats.org/drawingml/2006/main">
              <a:ext uri="{FF2B5EF4-FFF2-40B4-BE49-F238E27FC236}">
                <a16:creationId xmlns:a16="http://schemas.microsoft.com/office/drawing/2014/main" id="{5CC8B3C4-48E5-44A8-AAA2-71C8C2ABA65C}"/>
              </a:ext>
            </a:extLst>
          </p:cNvPr>
          <p:cNvSpPr>
            <a:spLocks xmlns:a="http://schemas.openxmlformats.org/drawingml/2006/main" noGrp="1"/>
          </p:cNvSpPr>
          <p:nvPr/>
        </p:nvSpPr>
        <p:spPr>
          <a:xfrm xmlns:a="http://schemas.openxmlformats.org/drawingml/2006/main">
            <a:off x="548640" y="4600575"/>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878">
                <a:solidFill>
                  <a:srgbClr val="526277"/>
                </a:solidFill>
                <a:latin typeface="Calibri"/>
                <a:ea typeface="Calibri"/>
                <a:cs typeface="Calibri"/>
              </a:defRPr>
            </a:pPr>
            <a:r>
              <a:rPr sz="878">
                <a:solidFill>
                  <a:srgbClr val="526277"/>
                </a:solidFill>
                <a:latin typeface="Calibri"/>
                <a:ea typeface="Calibri"/>
                <a:cs typeface="Calibri"/>
              </a:rPr>
              <a:t>Corte SINCA, 15-sep-2026 · 403 series del inventario; no faltancia territorial. Denominador: 94.311.869; redondeo: 100,01%.</a:t>
            </a:r>
          </a:p>
        </p:txBody>
      </p:sp>
    </p:spTree>
    <p:extLst>
      <p:ext uri="{BB962C8B-B14F-4D97-AF65-F5344CB8AC3E}">
        <p14:creationId xmlns:p14="http://schemas.microsoft.com/office/powerpoint/2010/main" val="3227572768"/>
      </p:ext>
    </p:extLst>
  </p:cSld>
</p:sld>
</file>

<file path=ppt/slides/slide9.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5F8BC7D1-6B2B-4322-898C-9A05FEC3625D}"/>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243AD123-7368-49D0-8B70-353E6E703936}"/>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2AFEA26C-7451-4FB6-BC5B-8D0C7E9FC9F2}"/>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CF06211B-6E42-4F26-B475-F19F308910DF}"/>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BA3E11A9-BEEC-4431-AFAD-994326D4DDD0}"/>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Comparación prevista: qué aporta cada familia</a:t>
            </a:r>
          </a:p>
        </p:txBody>
      </p:sp>
      <p:sp>
        <p:nvSpPr>
          <p:cNvPr id="8" name="Tronco de modelos">
            <a:extLst xmlns:a="http://schemas.openxmlformats.org/drawingml/2006/main">
              <a:ext uri="{FF2B5EF4-FFF2-40B4-BE49-F238E27FC236}">
                <a16:creationId xmlns:a16="http://schemas.microsoft.com/office/drawing/2014/main" id="{6A4680D7-EF0E-4D75-B0FF-4629D1757D12}"/>
              </a:ext>
            </a:extLst>
          </p:cNvPr>
          <p:cNvSpPr>
            <a:spLocks xmlns:a="http://schemas.openxmlformats.org/drawingml/2006/main" noGrp="1"/>
          </p:cNvSpPr>
          <p:nvPr/>
        </p:nvSpPr>
        <p:spPr>
          <a:xfrm xmlns:a="http://schemas.openxmlformats.org/drawingml/2006/main">
            <a:off x="4574286" y="1481328"/>
            <a:ext cx="0" cy="226314"/>
          </a:xfrm>
          <a:prstGeom xmlns:a="http://schemas.openxmlformats.org/drawingml/2006/main" prst="line">
            <a:avLst/>
          </a:prstGeom>
          <a:ln xmlns:a="http://schemas.openxmlformats.org/drawingml/2006/main" w="15240">
            <a:solidFill>
              <a:srgbClr val="3366CC"/>
            </a:solidFill>
            <a:headEnd type="none"/>
            <a:tailEnd type="none"/>
          </a:ln>
        </p:spPr>
      </p:sp>
      <p:sp>
        <p:nvSpPr>
          <p:cNvPr id="9" name="Ramas de familias">
            <a:extLst xmlns:a="http://schemas.openxmlformats.org/drawingml/2006/main">
              <a:ext uri="{FF2B5EF4-FFF2-40B4-BE49-F238E27FC236}">
                <a16:creationId xmlns:a16="http://schemas.microsoft.com/office/drawing/2014/main" id="{3EF5B912-9687-4FDD-A415-DF66190ED77F}"/>
              </a:ext>
            </a:extLst>
          </p:cNvPr>
          <p:cNvSpPr>
            <a:spLocks xmlns:a="http://schemas.openxmlformats.org/drawingml/2006/main" noGrp="1"/>
          </p:cNvSpPr>
          <p:nvPr/>
        </p:nvSpPr>
        <p:spPr>
          <a:xfrm xmlns:a="http://schemas.openxmlformats.org/drawingml/2006/main">
            <a:off x="1796796" y="1707642"/>
            <a:ext cx="5541264" cy="0"/>
          </a:xfrm>
          <a:prstGeom xmlns:a="http://schemas.openxmlformats.org/drawingml/2006/main" prst="line">
            <a:avLst/>
          </a:prstGeom>
          <a:ln xmlns:a="http://schemas.openxmlformats.org/drawingml/2006/main" w="15240">
            <a:solidFill>
              <a:srgbClr val="3366CC"/>
            </a:solidFill>
            <a:headEnd type="none"/>
            <a:tailEnd type="none"/>
          </a:ln>
        </p:spPr>
      </p:sp>
      <p:sp>
        <p:nvSpPr>
          <p:cNvPr id="10" name="Familia 1">
            <a:extLst xmlns:a="http://schemas.openxmlformats.org/drawingml/2006/main">
              <a:ext uri="{FF2B5EF4-FFF2-40B4-BE49-F238E27FC236}">
                <a16:creationId xmlns:a16="http://schemas.microsoft.com/office/drawing/2014/main" id="{74BC9DBE-96C2-4500-8B48-83A69A5977F5}"/>
              </a:ext>
            </a:extLst>
          </p:cNvPr>
          <p:cNvSpPr>
            <a:spLocks xmlns:a="http://schemas.openxmlformats.org/drawingml/2006/main" noGrp="1"/>
          </p:cNvSpPr>
          <p:nvPr/>
        </p:nvSpPr>
        <p:spPr>
          <a:xfrm xmlns:a="http://schemas.openxmlformats.org/drawingml/2006/main">
            <a:off x="1796796" y="1707642"/>
            <a:ext cx="0" cy="192024"/>
          </a:xfrm>
          <a:prstGeom xmlns:a="http://schemas.openxmlformats.org/drawingml/2006/main" prst="line">
            <a:avLst/>
          </a:prstGeom>
          <a:ln xmlns:a="http://schemas.openxmlformats.org/drawingml/2006/main" w="15240">
            <a:solidFill>
              <a:srgbClr val="3366CC"/>
            </a:solidFill>
            <a:headEnd type="none"/>
            <a:tailEnd type="triangle"/>
          </a:ln>
        </p:spPr>
      </p:sp>
      <p:sp>
        <p:nvSpPr>
          <p:cNvPr id="11" name="Familia 2">
            <a:extLst xmlns:a="http://schemas.openxmlformats.org/drawingml/2006/main">
              <a:ext uri="{FF2B5EF4-FFF2-40B4-BE49-F238E27FC236}">
                <a16:creationId xmlns:a16="http://schemas.microsoft.com/office/drawing/2014/main" id="{DE70ADFB-9566-4614-9494-F6275A1AB0CA}"/>
              </a:ext>
            </a:extLst>
          </p:cNvPr>
          <p:cNvSpPr>
            <a:spLocks xmlns:a="http://schemas.openxmlformats.org/drawingml/2006/main" noGrp="1"/>
          </p:cNvSpPr>
          <p:nvPr/>
        </p:nvSpPr>
        <p:spPr>
          <a:xfrm xmlns:a="http://schemas.openxmlformats.org/drawingml/2006/main">
            <a:off x="4574286" y="1707642"/>
            <a:ext cx="0" cy="192024"/>
          </a:xfrm>
          <a:prstGeom xmlns:a="http://schemas.openxmlformats.org/drawingml/2006/main" prst="line">
            <a:avLst/>
          </a:prstGeom>
          <a:ln xmlns:a="http://schemas.openxmlformats.org/drawingml/2006/main" w="15240">
            <a:solidFill>
              <a:srgbClr val="3366CC"/>
            </a:solidFill>
            <a:headEnd type="none"/>
            <a:tailEnd type="triangle"/>
          </a:ln>
        </p:spPr>
      </p:sp>
      <p:sp>
        <p:nvSpPr>
          <p:cNvPr id="12" name="Familia 3">
            <a:extLst xmlns:a="http://schemas.openxmlformats.org/drawingml/2006/main">
              <a:ext uri="{FF2B5EF4-FFF2-40B4-BE49-F238E27FC236}">
                <a16:creationId xmlns:a16="http://schemas.microsoft.com/office/drawing/2014/main" id="{A6C1EB58-D50B-4095-BA2B-AB1AE7E4B7DD}"/>
              </a:ext>
            </a:extLst>
          </p:cNvPr>
          <p:cNvSpPr>
            <a:spLocks xmlns:a="http://schemas.openxmlformats.org/drawingml/2006/main" noGrp="1"/>
          </p:cNvSpPr>
          <p:nvPr/>
        </p:nvSpPr>
        <p:spPr>
          <a:xfrm xmlns:a="http://schemas.openxmlformats.org/drawingml/2006/main">
            <a:off x="7338060" y="1707642"/>
            <a:ext cx="0" cy="192024"/>
          </a:xfrm>
          <a:prstGeom xmlns:a="http://schemas.openxmlformats.org/drawingml/2006/main" prst="line">
            <a:avLst/>
          </a:prstGeom>
          <a:ln xmlns:a="http://schemas.openxmlformats.org/drawingml/2006/main" w="15240">
            <a:solidFill>
              <a:srgbClr val="3366CC"/>
            </a:solidFill>
            <a:headEnd type="none"/>
            <a:tailEnd type="triangle"/>
          </a:ln>
        </p:spPr>
      </p:sp>
      <p:sp>
        <p:nvSpPr>
          <p:cNvPr id="13" name="Diez modelos">
            <a:extLst xmlns:a="http://schemas.openxmlformats.org/drawingml/2006/main">
              <a:ext uri="{FF2B5EF4-FFF2-40B4-BE49-F238E27FC236}">
                <a16:creationId xmlns:a16="http://schemas.microsoft.com/office/drawing/2014/main" id="{5B0AF512-1764-4B15-9F34-B773A39C2761}"/>
              </a:ext>
            </a:extLst>
          </p:cNvPr>
          <p:cNvSpPr>
            <a:spLocks xmlns:a="http://schemas.openxmlformats.org/drawingml/2006/main" noGrp="1"/>
          </p:cNvSpPr>
          <p:nvPr/>
        </p:nvSpPr>
        <p:spPr>
          <a:xfrm xmlns:a="http://schemas.openxmlformats.org/drawingml/2006/main">
            <a:off x="3586734" y="1083564"/>
            <a:ext cx="1975104" cy="397764"/>
          </a:xfrm>
          <a:prstGeom xmlns:a="http://schemas.openxmlformats.org/drawingml/2006/main" prst="rect">
            <a:avLst/>
          </a:prstGeom>
          <a:solidFill xmlns:a="http://schemas.openxmlformats.org/drawingml/2006/main">
            <a:srgbClr val="17375D"/>
          </a:solidFill>
          <a:ln xmlns:a="http://schemas.openxmlformats.org/drawingml/2006/main" w="8573">
            <a:noFill/>
          </a:ln>
        </p:spPr>
        <p:txBody>
          <a:bodyPr xmlns:a="http://schemas.openxmlformats.org/drawingml/2006/main" wrap="square" lIns="96012" tIns="96012" rIns="96012" bIns="96012" anchor="ctr">
            <a:noAutofit/>
          </a:bodyPr>
          <a:lstStyle xmlns:a="http://schemas.openxmlformats.org/drawingml/2006/main"/>
          <a:p xmlns:a="http://schemas.openxmlformats.org/drawingml/2006/main">
            <a:pPr algn="ctr">
              <a:spcBef>
                <a:spcPts val="0"/>
              </a:spcBef>
              <a:spcAft>
                <a:spcPts val="0"/>
              </a:spcAft>
              <a:defRPr sz="1200" b="1">
                <a:solidFill>
                  <a:srgbClr val="FFFFFF"/>
                </a:solidFill>
                <a:latin typeface="Calibri"/>
                <a:ea typeface="Calibri"/>
                <a:cs typeface="Calibri"/>
              </a:defRPr>
            </a:pPr>
            <a:r>
              <a:rPr sz="1200" b="1">
                <a:solidFill>
                  <a:srgbClr val="FFFFFF"/>
                </a:solidFill>
                <a:latin typeface="Calibri"/>
                <a:ea typeface="Calibri"/>
                <a:cs typeface="Calibri"/>
              </a:rPr>
              <a:t>10 ENFOQUES</a:t>
            </a:r>
          </a:p>
          <a:p xmlns:a="http://schemas.openxmlformats.org/drawingml/2006/main">
            <a:pPr algn="ctr">
              <a:spcBef>
                <a:spcPts val="0"/>
              </a:spcBef>
              <a:spcAft>
                <a:spcPts val="0"/>
              </a:spcAft>
              <a:defRPr sz="1200" b="1">
                <a:solidFill>
                  <a:srgbClr val="FFFFFF"/>
                </a:solidFill>
                <a:latin typeface="Calibri"/>
                <a:ea typeface="Calibri"/>
                <a:cs typeface="Calibri"/>
              </a:defRPr>
            </a:pPr>
            <a:r>
              <a:rPr sz="1200" b="1">
                <a:solidFill>
                  <a:srgbClr val="FFFFFF"/>
                </a:solidFill>
                <a:latin typeface="Calibri"/>
                <a:ea typeface="Calibri"/>
                <a:cs typeface="Calibri"/>
              </a:rPr>
              <a:t>POR CONTAMINANTE</a:t>
            </a:r>
          </a:p>
        </p:txBody>
      </p:sp>
      <p:sp>
        <p:nvSpPr>
          <p:cNvPr id="14" name="Grupo 1">
            <a:extLst xmlns:a="http://schemas.openxmlformats.org/drawingml/2006/main">
              <a:ext uri="{FF2B5EF4-FFF2-40B4-BE49-F238E27FC236}">
                <a16:creationId xmlns:a16="http://schemas.microsoft.com/office/drawing/2014/main" id="{9DB7B8CC-A032-4C17-B113-642C8B400632}"/>
              </a:ext>
            </a:extLst>
          </p:cNvPr>
          <p:cNvSpPr>
            <a:spLocks xmlns:a="http://schemas.openxmlformats.org/drawingml/2006/main" noGrp="1"/>
          </p:cNvSpPr>
          <p:nvPr/>
        </p:nvSpPr>
        <p:spPr>
          <a:xfrm xmlns:a="http://schemas.openxmlformats.org/drawingml/2006/main">
            <a:off x="548640" y="1899666"/>
            <a:ext cx="2496312" cy="2578608"/>
          </a:xfrm>
          <a:prstGeom xmlns:a="http://schemas.openxmlformats.org/drawingml/2006/main" prst="roundRect">
            <a:avLst>
              <a:gd name="adj" fmla="val 7500"/>
            </a:avLst>
          </a:prstGeom>
          <a:solidFill xmlns:a="http://schemas.openxmlformats.org/drawingml/2006/main">
            <a:srgbClr val="F2F6FC"/>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157734" tIns="157734" rIns="157734" bIns="157734" anchor="t">
            <a:noAutofit/>
          </a:bodyPr>
          <a:lstStyle xmlns:a="http://schemas.openxmlformats.org/drawingml/2006/main"/>
          <a:p xmlns:a="http://schemas.openxmlformats.org/drawingml/2006/main">
            <a:pP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Aprendizaje flexible</a:t>
            </a:r>
          </a:p>
          <a:p xmlns:a="http://schemas.openxmlformats.org/drawingml/2006/main">
            <a:pPr>
              <a:spcBef>
                <a:spcPts val="0"/>
              </a:spcBef>
              <a:spcAft>
                <a:spcPts val="0"/>
              </a:spcAft>
            </a:pPr>
            <a:r>
              <a:rPr b="0"/>
              <a:t/>
            </a:r>
          </a:p>
          <a:p xmlns:a="http://schemas.openxmlformats.org/drawingml/2006/main">
            <a:pP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1  LightGBM · ajuste log</a:t>
            </a:r>
          </a:p>
          <a:p xmlns:a="http://schemas.openxmlformats.org/drawingml/2006/main">
            <a:pP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2  Random Forest</a:t>
            </a:r>
          </a:p>
          <a:p xmlns:a="http://schemas.openxmlformats.org/drawingml/2006/main">
            <a:pP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3  Red neuronal MLP</a:t>
            </a:r>
          </a:p>
          <a:p xmlns:a="http://schemas.openxmlformats.org/drawingml/2006/main">
            <a:pP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4  Proceso gaussiano Matérn</a:t>
            </a:r>
          </a:p>
          <a:p xmlns:a="http://schemas.openxmlformats.org/drawingml/2006/main">
            <a:pPr>
              <a:spcBef>
                <a:spcPts val="0"/>
              </a:spcBef>
              <a:spcAft>
                <a:spcPts val="0"/>
              </a:spcAft>
            </a:pPr>
            <a:r>
              <a:rPr b="0"/>
              <a:t/>
            </a:r>
          </a:p>
          <a:p xmlns:a="http://schemas.openxmlformats.org/drawingml/2006/main">
            <a:pP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Aporte: relaciones no lineales y flexibilidad local.</a:t>
            </a:r>
          </a:p>
        </p:txBody>
      </p:sp>
      <p:sp>
        <p:nvSpPr>
          <p:cNvPr id="15" name="Grupo 2">
            <a:extLst xmlns:a="http://schemas.openxmlformats.org/drawingml/2006/main">
              <a:ext uri="{FF2B5EF4-FFF2-40B4-BE49-F238E27FC236}">
                <a16:creationId xmlns:a16="http://schemas.microsoft.com/office/drawing/2014/main" id="{40B8A6B3-88D0-4994-A5A5-5B4877341C31}"/>
              </a:ext>
            </a:extLst>
          </p:cNvPr>
          <p:cNvSpPr>
            <a:spLocks xmlns:a="http://schemas.openxmlformats.org/drawingml/2006/main" noGrp="1"/>
          </p:cNvSpPr>
          <p:nvPr/>
        </p:nvSpPr>
        <p:spPr>
          <a:xfrm xmlns:a="http://schemas.openxmlformats.org/drawingml/2006/main">
            <a:off x="3319272" y="1899666"/>
            <a:ext cx="2496312" cy="2578608"/>
          </a:xfrm>
          <a:prstGeom xmlns:a="http://schemas.openxmlformats.org/drawingml/2006/main" prst="roundRect">
            <a:avLst>
              <a:gd name="adj" fmla="val 7500"/>
            </a:avLst>
          </a:prstGeom>
          <a:solidFill xmlns:a="http://schemas.openxmlformats.org/drawingml/2006/main">
            <a:srgbClr val="F2F6FC"/>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157734" tIns="157734" rIns="157734" bIns="157734" anchor="t">
            <a:noAutofit/>
          </a:bodyPr>
          <a:lstStyle xmlns:a="http://schemas.openxmlformats.org/drawingml/2006/main"/>
          <a:p xmlns:a="http://schemas.openxmlformats.org/drawingml/2006/main">
            <a:pP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Estructura espacial y temporal</a:t>
            </a:r>
          </a:p>
          <a:p xmlns:a="http://schemas.openxmlformats.org/drawingml/2006/main">
            <a:pPr>
              <a:spcBef>
                <a:spcPts val="0"/>
              </a:spcBef>
              <a:spcAft>
                <a:spcPts val="0"/>
              </a:spcAft>
            </a:pPr>
            <a:r>
              <a:rPr b="0"/>
              <a:t/>
            </a:r>
          </a:p>
          <a:p xmlns:a="http://schemas.openxmlformats.org/drawingml/2006/main">
            <a:pP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5  GWR</a:t>
            </a:r>
          </a:p>
          <a:p xmlns:a="http://schemas.openxmlformats.org/drawingml/2006/main">
            <a:pP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6  Regresión con kriging</a:t>
            </a:r>
          </a:p>
          <a:p xmlns:a="http://schemas.openxmlformats.org/drawingml/2006/main">
            <a:pP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7  Modelo lineal mixto</a:t>
            </a:r>
          </a:p>
          <a:p xmlns:a="http://schemas.openxmlformats.org/drawingml/2006/main">
            <a:pP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8  Interpolación de vecinas</a:t>
            </a:r>
          </a:p>
          <a:p xmlns:a="http://schemas.openxmlformats.org/drawingml/2006/main">
            <a:pPr>
              <a:spcBef>
                <a:spcPts val="0"/>
              </a:spcBef>
              <a:spcAft>
                <a:spcPts val="0"/>
              </a:spcAft>
            </a:pPr>
            <a:r>
              <a:rPr b="0"/>
              <a:t/>
            </a:r>
          </a:p>
          <a:p xmlns:a="http://schemas.openxmlformats.org/drawingml/2006/main">
            <a:pP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Aporte: interpretación espacial y línea base.</a:t>
            </a:r>
          </a:p>
        </p:txBody>
      </p:sp>
      <p:sp>
        <p:nvSpPr>
          <p:cNvPr id="16" name="Grupo 3">
            <a:extLst xmlns:a="http://schemas.openxmlformats.org/drawingml/2006/main">
              <a:ext uri="{FF2B5EF4-FFF2-40B4-BE49-F238E27FC236}">
                <a16:creationId xmlns:a16="http://schemas.microsoft.com/office/drawing/2014/main" id="{6485095E-7B33-420D-8D46-E2051CCCDF1F}"/>
              </a:ext>
            </a:extLst>
          </p:cNvPr>
          <p:cNvSpPr>
            <a:spLocks xmlns:a="http://schemas.openxmlformats.org/drawingml/2006/main" noGrp="1"/>
          </p:cNvSpPr>
          <p:nvPr/>
        </p:nvSpPr>
        <p:spPr>
          <a:xfrm xmlns:a="http://schemas.openxmlformats.org/drawingml/2006/main">
            <a:off x="6089904" y="1899666"/>
            <a:ext cx="2496312" cy="2578608"/>
          </a:xfrm>
          <a:prstGeom xmlns:a="http://schemas.openxmlformats.org/drawingml/2006/main" prst="roundRect">
            <a:avLst>
              <a:gd name="adj" fmla="val 7500"/>
            </a:avLst>
          </a:prstGeom>
          <a:solidFill xmlns:a="http://schemas.openxmlformats.org/drawingml/2006/main">
            <a:srgbClr val="F2F6FC"/>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157734" tIns="157734" rIns="157734" bIns="157734" anchor="t">
            <a:noAutofit/>
          </a:bodyPr>
          <a:lstStyle xmlns:a="http://schemas.openxmlformats.org/drawingml/2006/main"/>
          <a:p xmlns:a="http://schemas.openxmlformats.org/drawingml/2006/main">
            <a:pP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Combinación y alertas</a:t>
            </a:r>
          </a:p>
          <a:p xmlns:a="http://schemas.openxmlformats.org/drawingml/2006/main">
            <a:pPr>
              <a:spcBef>
                <a:spcPts val="0"/>
              </a:spcBef>
              <a:spcAft>
                <a:spcPts val="0"/>
              </a:spcAft>
            </a:pPr>
            <a:r>
              <a:rPr b="0"/>
              <a:t/>
            </a:r>
          </a:p>
          <a:p xmlns:a="http://schemas.openxmlformats.org/drawingml/2006/main">
            <a:pP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9  LightGBM de alertas</a:t>
            </a:r>
          </a:p>
          <a:p xmlns:a="http://schemas.openxmlformats.org/drawingml/2006/main">
            <a:pP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Cuantil 0,80 / excedencias</a:t>
            </a:r>
          </a:p>
          <a:p xmlns:a="http://schemas.openxmlformats.org/drawingml/2006/main">
            <a:pP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10  Apilado con ridge</a:t>
            </a:r>
          </a:p>
          <a:p xmlns:a="http://schemas.openxmlformats.org/drawingml/2006/main">
            <a:pP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LightGBM + RF + MLP</a:t>
            </a:r>
          </a:p>
          <a:p xmlns:a="http://schemas.openxmlformats.org/drawingml/2006/main">
            <a:pPr>
              <a:spcBef>
                <a:spcPts val="0"/>
              </a:spcBef>
              <a:spcAft>
                <a:spcPts val="0"/>
              </a:spcAft>
            </a:pPr>
            <a:r>
              <a:rPr b="0"/>
              <a:t/>
            </a:r>
          </a:p>
          <a:p xmlns:a="http://schemas.openxmlformats.org/drawingml/2006/main">
            <a:pP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Aporte: extremos y combinación.</a:t>
            </a:r>
          </a:p>
        </p:txBody>
      </p:sp>
      <p:sp>
        <p:nvSpPr>
          <p:cNvPr id="17" name="Fuente y alcance">
            <a:extLst xmlns:a="http://schemas.openxmlformats.org/drawingml/2006/main">
              <a:ext uri="{FF2B5EF4-FFF2-40B4-BE49-F238E27FC236}">
                <a16:creationId xmlns:a16="http://schemas.microsoft.com/office/drawing/2014/main" id="{32A701D4-4E60-4FAE-868F-0B43EBDDFA7E}"/>
              </a:ext>
            </a:extLst>
          </p:cNvPr>
          <p:cNvSpPr>
            <a:spLocks xmlns:a="http://schemas.openxmlformats.org/drawingml/2006/main" noGrp="1"/>
          </p:cNvSpPr>
          <p:nvPr/>
        </p:nvSpPr>
        <p:spPr>
          <a:xfrm xmlns:a="http://schemas.openxmlformats.org/drawingml/2006/main">
            <a:off x="548640" y="4600575"/>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878">
                <a:solidFill>
                  <a:srgbClr val="526277"/>
                </a:solidFill>
                <a:latin typeface="Calibri"/>
                <a:ea typeface="Calibri"/>
                <a:cs typeface="Calibri"/>
              </a:defRPr>
            </a:pPr>
            <a:r>
              <a:rPr sz="878">
                <a:solidFill>
                  <a:srgbClr val="526277"/>
                </a:solidFill>
                <a:latin typeface="Calibri"/>
                <a:ea typeface="Calibri"/>
                <a:cs typeface="Calibri"/>
              </a:rPr>
              <a:t>Diseño del avance 3. Comparar precisión, sesgo, costo e interpretación; alertas tienen otro objetivo. Apilado anidado aún pendiente.</a:t>
            </a:r>
          </a:p>
        </p:txBody>
      </p:sp>
    </p:spTree>
    <p:extLst>
      <p:ext uri="{BB962C8B-B14F-4D97-AF65-F5344CB8AC3E}">
        <p14:creationId xmlns:p14="http://schemas.microsoft.com/office/powerpoint/2010/main" val="3227572768"/>
      </p:ext>
    </p:extLst>
  </p:cSld>
</p:sld>
</file>

<file path=ppt/slides/slide10.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3486DB9C-93DE-456A-BF48-2757BBD61ACE}"/>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2DE33766-2918-41FC-A1B9-B4BF483C8974}"/>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3BCD4458-45E8-4C73-A3B6-249CEEFBDB7B}"/>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A18DC9E6-BD6D-4FE1-AEC0-9715BEE3912A}"/>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438D0FA2-1899-4EDF-9FA4-D1742768DFC6}"/>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Validación: cada partición responde una pregunta</a:t>
            </a:r>
          </a:p>
        </p:txBody>
      </p:sp>
      <p:sp>
        <p:nvSpPr>
          <p:cNvPr id="8" name="Diseño">
            <a:extLst xmlns:a="http://schemas.openxmlformats.org/drawingml/2006/main">
              <a:ext uri="{FF2B5EF4-FFF2-40B4-BE49-F238E27FC236}">
                <a16:creationId xmlns:a16="http://schemas.microsoft.com/office/drawing/2014/main" id="{0A7F55D1-A37C-46D3-82B0-52EF8B83AF30}"/>
              </a:ext>
            </a:extLst>
          </p:cNvPr>
          <p:cNvSpPr>
            <a:spLocks xmlns:a="http://schemas.openxmlformats.org/drawingml/2006/main" noGrp="1"/>
          </p:cNvSpPr>
          <p:nvPr/>
        </p:nvSpPr>
        <p:spPr>
          <a:xfrm xmlns:a="http://schemas.openxmlformats.org/drawingml/2006/main">
            <a:off x="552450" y="1200150"/>
            <a:ext cx="80391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17375D"/>
                </a:solidFill>
                <a:latin typeface="Calibri"/>
                <a:ea typeface="Calibri"/>
                <a:cs typeface="Calibri"/>
              </a:defRPr>
            </a:pPr>
            <a:r>
              <a:rPr sz="1650" b="1">
                <a:solidFill>
                  <a:srgbClr val="17375D"/>
                </a:solidFill>
                <a:latin typeface="Calibri"/>
                <a:ea typeface="Calibri"/>
                <a:cs typeface="Calibri"/>
              </a:rPr>
              <a:t>Evaluar con grupos completos reservados, no con filas aleatorias.</a:t>
            </a:r>
          </a:p>
        </p:txBody>
      </p:sp>
      <p:graphicFrame>
        <p:nvGraphicFramePr>
          <p:cNvPr id="18" name=""/>
          <p:cNvGraphicFramePr/>
          <p:nvPr/>
        </p:nvGraphicFramePr>
        <p:xfrm>
          <a:off xmlns:a="http://schemas.openxmlformats.org/drawingml/2006/main" x="548640" y="1657350"/>
          <a:ext xmlns:a="http://schemas.openxmlformats.org/drawingml/2006/main" cx="8046720" cy="2514600"/>
        </p:xfrm>
        <a:graphic xmlns:a="http://schemas.openxmlformats.org/drawingml/2006/main">
          <a:graphicData uri="http://schemas.openxmlformats.org/drawingml/2006/table">
            <a:tbl>
              <a:tblPr firstRow="1" bandRow="0"/>
              <a:tblGrid>
                <a:gridCol w="1524000"/>
                <a:gridCol w="3219450"/>
                <a:gridCol w="3303270"/>
              </a:tblGrid>
              <a:tr h="381000">
                <a:tc>
                  <a:txBody>
                    <a:bodyPr wrap="square" lIns="95250" tIns="76200" rIns="95250" bIns="76200">
                      <a:noAutofit/>
                    </a:bodyPr>
                    <a:lstStyle/>
                    <a:p>
                      <a:r>
                        <a:rPr sz="1275" b="1">
                          <a:solidFill>
                            <a:srgbClr val="FFFFFF"/>
                          </a:solidFill>
                          <a:latin typeface="Calibri"/>
                          <a:ea typeface="Calibri"/>
                          <a:cs typeface="Calibri"/>
                        </a:rPr>
                        <a:t>Protocolo</a:t>
                      </a:r>
                    </a:p>
                  </a:txBody>
                  <a:tcPr marL="91440" marR="91440" marT="45720" marB="45720" anchor="ctr">
                    <a:solidFill>
                      <a:srgbClr val="17375D"/>
                    </a:solidFill>
                  </a:tcPr>
                </a:tc>
                <a:tc>
                  <a:txBody>
                    <a:bodyPr wrap="square" lIns="95250" tIns="76200" rIns="95250" bIns="76200">
                      <a:noAutofit/>
                    </a:bodyPr>
                    <a:lstStyle/>
                    <a:p>
                      <a:r>
                        <a:rPr sz="1275" b="1">
                          <a:solidFill>
                            <a:srgbClr val="FFFFFF"/>
                          </a:solidFill>
                          <a:latin typeface="Calibri"/>
                          <a:ea typeface="Calibri"/>
                          <a:cs typeface="Calibri"/>
                        </a:rPr>
                        <a:t>Qué se reserva</a:t>
                      </a:r>
                    </a:p>
                  </a:txBody>
                  <a:tcPr marL="91440" marR="91440" marT="45720" marB="45720" anchor="ctr">
                    <a:solidFill>
                      <a:srgbClr val="17375D"/>
                    </a:solidFill>
                  </a:tcPr>
                </a:tc>
                <a:tc>
                  <a:txBody>
                    <a:bodyPr wrap="square" lIns="95250" tIns="76200" rIns="95250" bIns="76200">
                      <a:noAutofit/>
                    </a:bodyPr>
                    <a:lstStyle/>
                    <a:p>
                      <a:r>
                        <a:rPr sz="1275" b="1">
                          <a:solidFill>
                            <a:srgbClr val="FFFFFF"/>
                          </a:solidFill>
                          <a:latin typeface="Calibri"/>
                          <a:ea typeface="Calibri"/>
                          <a:cs typeface="Calibri"/>
                        </a:rPr>
                        <a:t>Qué se examina</a:t>
                      </a:r>
                    </a:p>
                  </a:txBody>
                  <a:tcPr marL="91440" marR="91440" marT="45720" marB="45720" anchor="ctr">
                    <a:solidFill>
                      <a:srgbClr val="17375D"/>
                    </a:solidFill>
                  </a:tcPr>
                </a:tc>
              </a:tr>
              <a:tr h="533400">
                <a:tc>
                  <a:txBody>
                    <a:bodyPr wrap="square" lIns="95250" tIns="76200" rIns="95250" bIns="76200">
                      <a:noAutofit/>
                    </a:bodyPr>
                    <a:lstStyle/>
                    <a:p>
                      <a:r>
                        <a:rPr sz="1275" b="0">
                          <a:solidFill>
                            <a:srgbClr val="1E293B"/>
                          </a:solidFill>
                          <a:latin typeface="Calibri"/>
                          <a:ea typeface="Calibri"/>
                          <a:cs typeface="Calibri"/>
                        </a:rPr>
                        <a:t>LOSO · sitio</a:t>
                      </a:r>
                    </a:p>
                  </a:txBody>
                  <a:tcPr marL="91440" marR="91440" marT="45720" marB="45720" anchor="ctr">
                    <a:solidFill>
                      <a:srgbClr val="EAF2FD"/>
                    </a:solidFill>
                  </a:tcPr>
                </a:tc>
                <a:tc>
                  <a:txBody>
                    <a:bodyPr wrap="square" lIns="95250" tIns="76200" rIns="95250" bIns="76200">
                      <a:noAutofit/>
                    </a:bodyPr>
                    <a:lstStyle/>
                    <a:p>
                      <a:r>
                        <a:rPr sz="1275" b="0">
                          <a:solidFill>
                            <a:srgbClr val="1E293B"/>
                          </a:solidFill>
                          <a:latin typeface="Calibri"/>
                          <a:ea typeface="Calibri"/>
                          <a:cs typeface="Calibri"/>
                        </a:rPr>
                        <a:t>Todas las estaciones de una misma celda</a:t>
                      </a:r>
                    </a:p>
                  </a:txBody>
                  <a:tcPr marL="91440" marR="91440" marT="45720" marB="45720" anchor="ctr">
                    <a:solidFill>
                      <a:srgbClr val="EAF2FD"/>
                    </a:solidFill>
                  </a:tcPr>
                </a:tc>
                <a:tc>
                  <a:txBody>
                    <a:bodyPr wrap="square" lIns="95250" tIns="76200" rIns="95250" bIns="76200">
                      <a:noAutofit/>
                    </a:bodyPr>
                    <a:lstStyle/>
                    <a:p>
                      <a:r>
                        <a:rPr sz="1275" b="0">
                          <a:solidFill>
                            <a:srgbClr val="1E293B"/>
                          </a:solidFill>
                          <a:latin typeface="Calibri"/>
                          <a:ea typeface="Calibri"/>
                          <a:cs typeface="Calibri"/>
                        </a:rPr>
                        <a:t>Transferencia a un sitio no observado</a:t>
                      </a:r>
                    </a:p>
                  </a:txBody>
                  <a:tcPr marL="91440" marR="91440" marT="45720" marB="45720" anchor="ctr">
                    <a:solidFill>
                      <a:srgbClr val="EAF2FD"/>
                    </a:solidFill>
                  </a:tcPr>
                </a:tc>
              </a:tr>
              <a:tr h="533400">
                <a:tc>
                  <a:txBody>
                    <a:bodyPr wrap="square" lIns="95250" tIns="76200" rIns="95250" bIns="76200">
                      <a:noAutofit/>
                    </a:bodyPr>
                    <a:lstStyle/>
                    <a:p>
                      <a:r>
                        <a:rPr sz="1275" b="0">
                          <a:solidFill>
                            <a:srgbClr val="1E293B"/>
                          </a:solidFill>
                          <a:latin typeface="Calibri"/>
                          <a:ea typeface="Calibri"/>
                          <a:cs typeface="Calibri"/>
                        </a:rPr>
                        <a:t>LBO · entorno</a:t>
                      </a:r>
                    </a:p>
                  </a:txBody>
                  <a:tcPr marL="91440" marR="91440" marT="45720" marB="45720" anchor="ctr">
                    <a:solidFill>
                      <a:srgbClr val="FFFFFF"/>
                    </a:solidFill>
                  </a:tcPr>
                </a:tc>
                <a:tc>
                  <a:txBody>
                    <a:bodyPr wrap="square" lIns="95250" tIns="76200" rIns="95250" bIns="76200">
                      <a:noAutofit/>
                    </a:bodyPr>
                    <a:lstStyle/>
                    <a:p>
                      <a:r>
                        <a:rPr sz="1275" b="0">
                          <a:solidFill>
                            <a:srgbClr val="1E293B"/>
                          </a:solidFill>
                          <a:latin typeface="Calibri"/>
                          <a:ea typeface="Calibri"/>
                          <a:cs typeface="Calibri"/>
                        </a:rPr>
                        <a:t>Sitio y estaciones a menos de 10 km</a:t>
                      </a:r>
                    </a:p>
                  </a:txBody>
                  <a:tcPr marL="91440" marR="91440" marT="45720" marB="45720" anchor="ctr">
                    <a:solidFill>
                      <a:srgbClr val="FFFFFF"/>
                    </a:solidFill>
                  </a:tcPr>
                </a:tc>
                <a:tc>
                  <a:txBody>
                    <a:bodyPr wrap="square" lIns="95250" tIns="76200" rIns="95250" bIns="76200">
                      <a:noAutofit/>
                    </a:bodyPr>
                    <a:lstStyle/>
                    <a:p>
                      <a:r>
                        <a:rPr sz="1275" b="0">
                          <a:solidFill>
                            <a:srgbClr val="1E293B"/>
                          </a:solidFill>
                          <a:latin typeface="Calibri"/>
                          <a:ea typeface="Calibri"/>
                          <a:cs typeface="Calibri"/>
                        </a:rPr>
                        <a:t>Sensibilidad a la proximidad de monitores</a:t>
                      </a:r>
                    </a:p>
                  </a:txBody>
                  <a:tcPr marL="91440" marR="91440" marT="45720" marB="45720" anchor="ctr">
                    <a:solidFill>
                      <a:srgbClr val="FFFFFF"/>
                    </a:solidFill>
                  </a:tcPr>
                </a:tc>
              </a:tr>
              <a:tr h="533400">
                <a:tc>
                  <a:txBody>
                    <a:bodyPr wrap="square" lIns="95250" tIns="76200" rIns="95250" bIns="76200">
                      <a:noAutofit/>
                    </a:bodyPr>
                    <a:lstStyle/>
                    <a:p>
                      <a:r>
                        <a:rPr sz="1275" b="0">
                          <a:solidFill>
                            <a:srgbClr val="1E293B"/>
                          </a:solidFill>
                          <a:latin typeface="Calibri"/>
                          <a:ea typeface="Calibri"/>
                          <a:cs typeface="Calibri"/>
                        </a:rPr>
                        <a:t>LRO · región</a:t>
                      </a:r>
                    </a:p>
                  </a:txBody>
                  <a:tcPr marL="91440" marR="91440" marT="45720" marB="45720" anchor="ctr">
                    <a:solidFill>
                      <a:srgbClr val="EAF2FD"/>
                    </a:solidFill>
                  </a:tcPr>
                </a:tc>
                <a:tc>
                  <a:txBody>
                    <a:bodyPr wrap="square" lIns="95250" tIns="76200" rIns="95250" bIns="76200">
                      <a:noAutofit/>
                    </a:bodyPr>
                    <a:lstStyle/>
                    <a:p>
                      <a:r>
                        <a:rPr sz="1275" b="0">
                          <a:solidFill>
                            <a:srgbClr val="1E293B"/>
                          </a:solidFill>
                          <a:latin typeface="Calibri"/>
                          <a:ea typeface="Calibri"/>
                          <a:cs typeface="Calibri"/>
                        </a:rPr>
                        <a:t>Una región completa</a:t>
                      </a:r>
                    </a:p>
                  </a:txBody>
                  <a:tcPr marL="91440" marR="91440" marT="45720" marB="45720" anchor="ctr">
                    <a:solidFill>
                      <a:srgbClr val="EAF2FD"/>
                    </a:solidFill>
                  </a:tcPr>
                </a:tc>
                <a:tc>
                  <a:txBody>
                    <a:bodyPr wrap="square" lIns="95250" tIns="76200" rIns="95250" bIns="76200">
                      <a:noAutofit/>
                    </a:bodyPr>
                    <a:lstStyle/>
                    <a:p>
                      <a:r>
                        <a:rPr sz="1275" b="0">
                          <a:solidFill>
                            <a:srgbClr val="1E293B"/>
                          </a:solidFill>
                          <a:latin typeface="Calibri"/>
                          <a:ea typeface="Calibri"/>
                          <a:cs typeface="Calibri"/>
                        </a:rPr>
                        <a:t>Transferencia territorial</a:t>
                      </a:r>
                    </a:p>
                  </a:txBody>
                  <a:tcPr marL="91440" marR="91440" marT="45720" marB="45720" anchor="ctr">
                    <a:solidFill>
                      <a:srgbClr val="EAF2FD"/>
                    </a:solidFill>
                  </a:tcPr>
                </a:tc>
              </a:tr>
              <a:tr h="533400">
                <a:tc>
                  <a:txBody>
                    <a:bodyPr wrap="square" lIns="95250" tIns="76200" rIns="95250" bIns="76200">
                      <a:noAutofit/>
                    </a:bodyPr>
                    <a:lstStyle/>
                    <a:p>
                      <a:r>
                        <a:rPr sz="1275" b="0">
                          <a:solidFill>
                            <a:srgbClr val="1E293B"/>
                          </a:solidFill>
                          <a:latin typeface="Calibri"/>
                          <a:ea typeface="Calibri"/>
                          <a:cs typeface="Calibri"/>
                        </a:rPr>
                        <a:t>LPO · periodo</a:t>
                      </a:r>
                    </a:p>
                  </a:txBody>
                  <a:tcPr marL="91440" marR="91440" marT="45720" marB="45720" anchor="ctr">
                    <a:solidFill>
                      <a:srgbClr val="FFFFFF"/>
                    </a:solidFill>
                  </a:tcPr>
                </a:tc>
                <a:tc>
                  <a:txBody>
                    <a:bodyPr wrap="square" lIns="95250" tIns="76200" rIns="95250" bIns="76200">
                      <a:noAutofit/>
                    </a:bodyPr>
                    <a:lstStyle/>
                    <a:p>
                      <a:r>
                        <a:rPr sz="1275" b="0">
                          <a:solidFill>
                            <a:srgbClr val="1E293B"/>
                          </a:solidFill>
                          <a:latin typeface="Calibri"/>
                          <a:ea typeface="Calibri"/>
                          <a:cs typeface="Calibri"/>
                        </a:rPr>
                        <a:t>Bloques históricos de cuatro años</a:t>
                      </a:r>
                    </a:p>
                  </a:txBody>
                  <a:tcPr marL="91440" marR="91440" marT="45720" marB="45720" anchor="ctr">
                    <a:solidFill>
                      <a:srgbClr val="FFFFFF"/>
                    </a:solidFill>
                  </a:tcPr>
                </a:tc>
                <a:tc>
                  <a:txBody>
                    <a:bodyPr wrap="square" lIns="95250" tIns="76200" rIns="95250" bIns="76200">
                      <a:noAutofit/>
                    </a:bodyPr>
                    <a:lstStyle/>
                    <a:p>
                      <a:r>
                        <a:rPr sz="1275" b="0">
                          <a:solidFill>
                            <a:srgbClr val="1E293B"/>
                          </a:solidFill>
                          <a:latin typeface="Calibri"/>
                          <a:ea typeface="Calibri"/>
                          <a:cs typeface="Calibri"/>
                        </a:rPr>
                        <a:t>Transferencia entre periodos históricos</a:t>
                      </a:r>
                    </a:p>
                  </a:txBody>
                  <a:tcPr marL="91440" marR="91440" marT="45720" marB="45720" anchor="ctr">
                    <a:solidFill>
                      <a:srgbClr val="FFFFFF"/>
                    </a:solidFill>
                  </a:tcPr>
                </a:tc>
              </a:tr>
            </a:tbl>
          </a:graphicData>
        </a:graphic>
      </p:graphicFrame>
      <p:sp>
        <p:nvSpPr>
          <p:cNvPr id="10" name="Regla">
            <a:extLst xmlns:a="http://schemas.openxmlformats.org/drawingml/2006/main">
              <a:ext uri="{FF2B5EF4-FFF2-40B4-BE49-F238E27FC236}">
                <a16:creationId xmlns:a16="http://schemas.microsoft.com/office/drawing/2014/main" id="{9D7113E0-7E79-40AD-8B84-B8830C48344D}"/>
              </a:ext>
            </a:extLst>
          </p:cNvPr>
          <p:cNvSpPr>
            <a:spLocks xmlns:a="http://schemas.openxmlformats.org/drawingml/2006/main" noGrp="1"/>
          </p:cNvSpPr>
          <p:nvPr/>
        </p:nvSpPr>
        <p:spPr>
          <a:xfrm xmlns:a="http://schemas.openxmlformats.org/drawingml/2006/main">
            <a:off x="552450" y="4276725"/>
            <a:ext cx="803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a:solidFill>
                  <a:srgbClr val="17375D"/>
                </a:solidFill>
                <a:latin typeface="Calibri"/>
                <a:ea typeface="Calibri"/>
                <a:cs typeface="Calibri"/>
              </a:defRPr>
            </a:pPr>
            <a:r>
              <a:rPr sz="1200">
                <a:solidFill>
                  <a:srgbClr val="17375D"/>
                </a:solidFill>
                <a:latin typeface="Calibri"/>
                <a:ea typeface="Calibri"/>
                <a:cs typeface="Calibri"/>
              </a:rPr>
              <a:t>Imputación, escalamiento y vecindarios se definen dentro del entrenamiento.</a:t>
            </a:r>
          </a:p>
          <a:p xmlns:a="http://schemas.openxmlformats.org/drawingml/2006/main">
            <a:pPr>
              <a:defRPr sz="1200">
                <a:solidFill>
                  <a:srgbClr val="17375D"/>
                </a:solidFill>
                <a:latin typeface="Calibri"/>
                <a:ea typeface="Calibri"/>
                <a:cs typeface="Calibri"/>
              </a:defRPr>
            </a:pPr>
            <a:r>
              <a:rPr sz="1200">
                <a:solidFill>
                  <a:srgbClr val="17375D"/>
                </a:solidFill>
                <a:latin typeface="Calibri"/>
                <a:ea typeface="Calibri"/>
                <a:cs typeface="Calibri"/>
              </a:rPr>
              <a:t>LPO histórico no demuestra capacidad de pronóstico futuro.</a:t>
            </a:r>
          </a:p>
        </p:txBody>
      </p:sp>
      <p:sp>
        <p:nvSpPr>
          <p:cNvPr id="11" name="Fuente y alcance">
            <a:extLst xmlns:a="http://schemas.openxmlformats.org/drawingml/2006/main">
              <a:ext uri="{FF2B5EF4-FFF2-40B4-BE49-F238E27FC236}">
                <a16:creationId xmlns:a16="http://schemas.microsoft.com/office/drawing/2014/main" id="{997BE082-1FCB-4B8D-9367-0A12CA4AEAD3}"/>
              </a:ext>
            </a:extLst>
          </p:cNvPr>
          <p:cNvSpPr>
            <a:spLocks xmlns:a="http://schemas.openxmlformats.org/drawingml/2006/main" noGrp="1"/>
          </p:cNvSpPr>
          <p:nvPr/>
        </p:nvSpPr>
        <p:spPr>
          <a:xfrm xmlns:a="http://schemas.openxmlformats.org/drawingml/2006/main">
            <a:off x="548640" y="4600575"/>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878">
                <a:solidFill>
                  <a:srgbClr val="526277"/>
                </a:solidFill>
                <a:latin typeface="Calibri"/>
                <a:ea typeface="Calibri"/>
                <a:cs typeface="Calibri"/>
              </a:defRPr>
            </a:pPr>
            <a:r>
              <a:rPr sz="878">
                <a:solidFill>
                  <a:srgbClr val="526277"/>
                </a:solidFill>
                <a:latin typeface="Calibri"/>
                <a:ea typeface="Calibri"/>
                <a:cs typeface="Calibri"/>
              </a:rPr>
              <a:t>Fuente: docs/modelo_1km_horario.qmd; Roberts et al. (2017), doi:10.1111/ecog.02881.</a:t>
            </a:r>
          </a:p>
        </p:txBody>
      </p:sp>
    </p:spTree>
    <p:extLst>
      <p:ext uri="{BB962C8B-B14F-4D97-AF65-F5344CB8AC3E}">
        <p14:creationId xmlns:p14="http://schemas.microsoft.com/office/powerpoint/2010/main" val="3227572768"/>
      </p:ext>
    </p:extLst>
  </p:cSld>
</p:sld>
</file>

<file path=ppt/slides/slide11.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6EAF59AB-94CB-4FEB-AA0A-B34C56B7B110}"/>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DD0C1E97-EBFF-4070-85B6-82581057B7DD}"/>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59E3A391-7BDA-466D-912D-2D8CDA498727}"/>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764D1453-791D-41D2-B658-8F64A9B11BFC}"/>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65B22ECF-75AA-44C4-A5F5-085F19FB2D87}"/>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Separar selección, evaluación y análisis de extremos</a:t>
            </a:r>
          </a:p>
        </p:txBody>
      </p:sp>
      <p:sp>
        <p:nvSpPr>
          <p:cNvPr id="8" name="Riesgo 1">
            <a:extLst xmlns:a="http://schemas.openxmlformats.org/drawingml/2006/main">
              <a:ext uri="{FF2B5EF4-FFF2-40B4-BE49-F238E27FC236}">
                <a16:creationId xmlns:a16="http://schemas.microsoft.com/office/drawing/2014/main" id="{C1732BFB-0691-4244-AA30-96C9D2A47FCD}"/>
              </a:ext>
            </a:extLst>
          </p:cNvPr>
          <p:cNvSpPr>
            <a:spLocks xmlns:a="http://schemas.openxmlformats.org/drawingml/2006/main" noGrp="1"/>
          </p:cNvSpPr>
          <p:nvPr/>
        </p:nvSpPr>
        <p:spPr>
          <a:xfrm xmlns:a="http://schemas.openxmlformats.org/drawingml/2006/main">
            <a:off x="548640" y="1303020"/>
            <a:ext cx="8044434" cy="891540"/>
          </a:xfrm>
          <a:prstGeom xmlns:a="http://schemas.openxmlformats.org/drawingml/2006/main" prst="roundRect">
            <a:avLst>
              <a:gd name="adj" fmla="val 7500"/>
            </a:avLst>
          </a:prstGeom>
          <a:solidFill xmlns:a="http://schemas.openxmlformats.org/drawingml/2006/main">
            <a:srgbClr val="F2F6FC"/>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96012" tIns="96012" rIns="96012" bIns="96012" anchor="ctr">
            <a:noAutofit/>
          </a:bodyPr>
          <a:lstStyle xmlns:a="http://schemas.openxmlformats.org/drawingml/2006/main"/>
          <a:p xmlns:a="http://schemas.openxmlformats.org/drawingml/2006/main"/>
        </p:txBody>
      </p:sp>
      <p:sp>
        <p:nvSpPr>
          <p:cNvPr id="9" name="Problema 1">
            <a:extLst xmlns:a="http://schemas.openxmlformats.org/drawingml/2006/main">
              <a:ext uri="{FF2B5EF4-FFF2-40B4-BE49-F238E27FC236}">
                <a16:creationId xmlns:a16="http://schemas.microsoft.com/office/drawing/2014/main" id="{00A05D63-B4B3-46E1-99E0-EF3589DC4BC0}"/>
              </a:ext>
            </a:extLst>
          </p:cNvPr>
          <p:cNvSpPr>
            <a:spLocks xmlns:a="http://schemas.openxmlformats.org/drawingml/2006/main" noGrp="1"/>
          </p:cNvSpPr>
          <p:nvPr/>
        </p:nvSpPr>
        <p:spPr>
          <a:xfrm xmlns:a="http://schemas.openxmlformats.org/drawingml/2006/main">
            <a:off x="768096" y="1440180"/>
            <a:ext cx="2379726" cy="617220"/>
          </a:xfrm>
          <a:prstGeom xmlns:a="http://schemas.openxmlformats.org/drawingml/2006/main" prst="rect">
            <a:avLst/>
          </a:prstGeom>
          <a:noFill xmlns:a="http://schemas.openxmlformats.org/drawingml/2006/main"/>
          <a:ln xmlns:a="http://schemas.openxmlformats.org/drawingml/2006/main" w="8573">
            <a:noFill/>
          </a:ln>
        </p:spPr>
        <p:txBody>
          <a:bodyPr xmlns:a="http://schemas.openxmlformats.org/drawingml/2006/main" wrap="square" lIns="0" tIns="0" rIns="0" bIns="0" anchor="t">
            <a:noAutofit/>
          </a:bodyPr>
          <a:lstStyle xmlns:a="http://schemas.openxmlformats.org/drawingml/2006/main"/>
          <a:p xmlns:a="http://schemas.openxmlformats.org/drawingml/2006/main">
            <a:pPr>
              <a:spcBef>
                <a:spcPts val="0"/>
              </a:spcBef>
              <a:spcAft>
                <a:spcPts val="0"/>
              </a:spcAft>
              <a:defRPr sz="1425" b="1">
                <a:solidFill>
                  <a:srgbClr val="17375D"/>
                </a:solidFill>
                <a:latin typeface="Calibri"/>
                <a:ea typeface="Calibri"/>
                <a:cs typeface="Calibri"/>
              </a:defRPr>
            </a:pPr>
            <a:r>
              <a:rPr sz="1425" b="1">
                <a:solidFill>
                  <a:srgbClr val="17375D"/>
                </a:solidFill>
                <a:latin typeface="Calibri"/>
                <a:ea typeface="Calibri"/>
                <a:cs typeface="Calibri"/>
              </a:rPr>
              <a:t>Selección del modelo</a:t>
            </a:r>
          </a:p>
          <a:p xmlns:a="http://schemas.openxmlformats.org/drawingml/2006/main">
            <a:pPr>
              <a:spcBef>
                <a:spcPts val="0"/>
              </a:spcBef>
              <a:spcAft>
                <a:spcPts val="0"/>
              </a:spcAft>
              <a:defRPr sz="1425" b="1">
                <a:solidFill>
                  <a:srgbClr val="17375D"/>
                </a:solidFill>
                <a:latin typeface="Calibri"/>
                <a:ea typeface="Calibri"/>
                <a:cs typeface="Calibri"/>
              </a:defRPr>
            </a:pPr>
            <a:r>
              <a:rPr sz="1425" b="1">
                <a:solidFill>
                  <a:srgbClr val="17375D"/>
                </a:solidFill>
                <a:latin typeface="Calibri"/>
                <a:ea typeface="Calibri"/>
                <a:cs typeface="Calibri"/>
              </a:rPr>
              <a:t>Protocolo por cerrar</a:t>
            </a:r>
          </a:p>
        </p:txBody>
      </p:sp>
      <p:sp>
        <p:nvSpPr>
          <p:cNvPr id="10" name="Respuesta 1">
            <a:extLst xmlns:a="http://schemas.openxmlformats.org/drawingml/2006/main">
              <a:ext uri="{FF2B5EF4-FFF2-40B4-BE49-F238E27FC236}">
                <a16:creationId xmlns:a16="http://schemas.microsoft.com/office/drawing/2014/main" id="{14A0F944-A00D-4E1E-810C-9B685521A456}"/>
              </a:ext>
            </a:extLst>
          </p:cNvPr>
          <p:cNvSpPr>
            <a:spLocks xmlns:a="http://schemas.openxmlformats.org/drawingml/2006/main" noGrp="1"/>
          </p:cNvSpPr>
          <p:nvPr/>
        </p:nvSpPr>
        <p:spPr>
          <a:xfrm xmlns:a="http://schemas.openxmlformats.org/drawingml/2006/main">
            <a:off x="3394710" y="1741932"/>
            <a:ext cx="480060" cy="0"/>
          </a:xfrm>
          <a:prstGeom xmlns:a="http://schemas.openxmlformats.org/drawingml/2006/main" prst="line">
            <a:avLst/>
          </a:prstGeom>
          <a:ln xmlns:a="http://schemas.openxmlformats.org/drawingml/2006/main" w="15240">
            <a:solidFill>
              <a:srgbClr val="3366CC"/>
            </a:solidFill>
            <a:headEnd type="none"/>
            <a:tailEnd type="triangle"/>
          </a:ln>
        </p:spPr>
      </p:sp>
      <p:sp>
        <p:nvSpPr>
          <p:cNvPr id="11" name="Medida 1">
            <a:extLst xmlns:a="http://schemas.openxmlformats.org/drawingml/2006/main">
              <a:ext uri="{FF2B5EF4-FFF2-40B4-BE49-F238E27FC236}">
                <a16:creationId xmlns:a16="http://schemas.microsoft.com/office/drawing/2014/main" id="{E4BAB6B8-E515-4486-9615-D99FD63406E4}"/>
              </a:ext>
            </a:extLst>
          </p:cNvPr>
          <p:cNvSpPr>
            <a:spLocks xmlns:a="http://schemas.openxmlformats.org/drawingml/2006/main" noGrp="1"/>
          </p:cNvSpPr>
          <p:nvPr/>
        </p:nvSpPr>
        <p:spPr>
          <a:xfrm xmlns:a="http://schemas.openxmlformats.org/drawingml/2006/main">
            <a:off x="4128516" y="1440180"/>
            <a:ext cx="4114800" cy="624078"/>
          </a:xfrm>
          <a:prstGeom xmlns:a="http://schemas.openxmlformats.org/drawingml/2006/main" prst="rect">
            <a:avLst/>
          </a:prstGeom>
          <a:noFill xmlns:a="http://schemas.openxmlformats.org/drawingml/2006/main"/>
          <a:ln xmlns:a="http://schemas.openxmlformats.org/drawingml/2006/main" w="8573">
            <a:noFill/>
          </a:ln>
        </p:spPr>
        <p:txBody>
          <a:bodyPr xmlns:a="http://schemas.openxmlformats.org/drawingml/2006/main" wrap="square" lIns="0" tIns="0" rIns="0" bIns="0" anchor="t">
            <a:noAutofit/>
          </a:bodyPr>
          <a:lstStyle xmlns:a="http://schemas.openxmlformats.org/drawingml/2006/main"/>
          <a:p xmlns:a="http://schemas.openxmlformats.org/drawingml/2006/main">
            <a:pPr>
              <a:spcBef>
                <a:spcPts val="0"/>
              </a:spcBef>
              <a:spcAft>
                <a:spcPts val="0"/>
              </a:spcAft>
              <a:defRPr sz="1350" b="0">
                <a:solidFill>
                  <a:srgbClr val="1E293B"/>
                </a:solidFill>
                <a:latin typeface="Calibri"/>
                <a:ea typeface="Calibri"/>
                <a:cs typeface="Calibri"/>
              </a:defRPr>
            </a:pPr>
            <a:r>
              <a:rPr sz="1350" b="0">
                <a:solidFill>
                  <a:srgbClr val="1E293B"/>
                </a:solidFill>
                <a:latin typeface="Calibri"/>
                <a:ea typeface="Calibri"/>
                <a:cs typeface="Calibri"/>
              </a:rPr>
              <a:t>Ajustar hiperparámetros en particiones internas. Reservar una evaluación externa sin usarla para elegir el modelo.</a:t>
            </a:r>
          </a:p>
        </p:txBody>
      </p:sp>
      <p:sp>
        <p:nvSpPr>
          <p:cNvPr id="12" name="Riesgo 2">
            <a:extLst xmlns:a="http://schemas.openxmlformats.org/drawingml/2006/main">
              <a:ext uri="{FF2B5EF4-FFF2-40B4-BE49-F238E27FC236}">
                <a16:creationId xmlns:a16="http://schemas.microsoft.com/office/drawing/2014/main" id="{82641C91-B247-476C-A2E4-9791C85A7E01}"/>
              </a:ext>
            </a:extLst>
          </p:cNvPr>
          <p:cNvSpPr>
            <a:spLocks xmlns:a="http://schemas.openxmlformats.org/drawingml/2006/main" noGrp="1"/>
          </p:cNvSpPr>
          <p:nvPr/>
        </p:nvSpPr>
        <p:spPr>
          <a:xfrm xmlns:a="http://schemas.openxmlformats.org/drawingml/2006/main">
            <a:off x="548640" y="2352294"/>
            <a:ext cx="8044434" cy="891540"/>
          </a:xfrm>
          <a:prstGeom xmlns:a="http://schemas.openxmlformats.org/drawingml/2006/main" prst="roundRect">
            <a:avLst>
              <a:gd name="adj" fmla="val 7500"/>
            </a:avLst>
          </a:prstGeom>
          <a:solidFill xmlns:a="http://schemas.openxmlformats.org/drawingml/2006/main">
            <a:srgbClr val="F2F6FC"/>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96012" tIns="96012" rIns="96012" bIns="96012" anchor="ctr">
            <a:noAutofit/>
          </a:bodyPr>
          <a:lstStyle xmlns:a="http://schemas.openxmlformats.org/drawingml/2006/main"/>
          <a:p xmlns:a="http://schemas.openxmlformats.org/drawingml/2006/main"/>
        </p:txBody>
      </p:sp>
      <p:sp>
        <p:nvSpPr>
          <p:cNvPr id="13" name="Problema 2">
            <a:extLst xmlns:a="http://schemas.openxmlformats.org/drawingml/2006/main">
              <a:ext uri="{FF2B5EF4-FFF2-40B4-BE49-F238E27FC236}">
                <a16:creationId xmlns:a16="http://schemas.microsoft.com/office/drawing/2014/main" id="{B349B01B-43CD-4AFA-BFE9-2FA657FA4FCC}"/>
              </a:ext>
            </a:extLst>
          </p:cNvPr>
          <p:cNvSpPr>
            <a:spLocks xmlns:a="http://schemas.openxmlformats.org/drawingml/2006/main" noGrp="1"/>
          </p:cNvSpPr>
          <p:nvPr/>
        </p:nvSpPr>
        <p:spPr>
          <a:xfrm xmlns:a="http://schemas.openxmlformats.org/drawingml/2006/main">
            <a:off x="768096" y="2489454"/>
            <a:ext cx="2379726" cy="617220"/>
          </a:xfrm>
          <a:prstGeom xmlns:a="http://schemas.openxmlformats.org/drawingml/2006/main" prst="rect">
            <a:avLst/>
          </a:prstGeom>
          <a:noFill xmlns:a="http://schemas.openxmlformats.org/drawingml/2006/main"/>
          <a:ln xmlns:a="http://schemas.openxmlformats.org/drawingml/2006/main" w="8573">
            <a:noFill/>
          </a:ln>
        </p:spPr>
        <p:txBody>
          <a:bodyPr xmlns:a="http://schemas.openxmlformats.org/drawingml/2006/main" wrap="square" lIns="0" tIns="0" rIns="0" bIns="0" anchor="t">
            <a:noAutofit/>
          </a:bodyPr>
          <a:lstStyle xmlns:a="http://schemas.openxmlformats.org/drawingml/2006/main"/>
          <a:p xmlns:a="http://schemas.openxmlformats.org/drawingml/2006/main">
            <a:pPr>
              <a:spcBef>
                <a:spcPts val="0"/>
              </a:spcBef>
              <a:spcAft>
                <a:spcPts val="0"/>
              </a:spcAft>
              <a:defRPr sz="1425" b="1">
                <a:solidFill>
                  <a:srgbClr val="17375D"/>
                </a:solidFill>
                <a:latin typeface="Calibri"/>
                <a:ea typeface="Calibri"/>
                <a:cs typeface="Calibri"/>
              </a:defRPr>
            </a:pPr>
            <a:r>
              <a:rPr sz="1425" b="1">
                <a:solidFill>
                  <a:srgbClr val="17375D"/>
                </a:solidFill>
                <a:latin typeface="Calibri"/>
                <a:ea typeface="Calibri"/>
                <a:cs typeface="Calibri"/>
              </a:rPr>
              <a:t>Métrica principal</a:t>
            </a:r>
          </a:p>
          <a:p xmlns:a="http://schemas.openxmlformats.org/drawingml/2006/main">
            <a:pPr>
              <a:spcBef>
                <a:spcPts val="0"/>
              </a:spcBef>
              <a:spcAft>
                <a:spcPts val="0"/>
              </a:spcAft>
              <a:defRPr sz="1425" b="1">
                <a:solidFill>
                  <a:srgbClr val="17375D"/>
                </a:solidFill>
                <a:latin typeface="Calibri"/>
                <a:ea typeface="Calibri"/>
                <a:cs typeface="Calibri"/>
              </a:defRPr>
            </a:pPr>
            <a:r>
              <a:rPr sz="1425" b="1">
                <a:solidFill>
                  <a:srgbClr val="17375D"/>
                </a:solidFill>
                <a:latin typeface="Calibri"/>
                <a:ea typeface="Calibri"/>
                <a:cs typeface="Calibri"/>
              </a:rPr>
              <a:t>Propuesta para acordar</a:t>
            </a:r>
          </a:p>
        </p:txBody>
      </p:sp>
      <p:sp>
        <p:nvSpPr>
          <p:cNvPr id="14" name="Respuesta 2">
            <a:extLst xmlns:a="http://schemas.openxmlformats.org/drawingml/2006/main">
              <a:ext uri="{FF2B5EF4-FFF2-40B4-BE49-F238E27FC236}">
                <a16:creationId xmlns:a16="http://schemas.microsoft.com/office/drawing/2014/main" id="{0B0FF110-36C7-400A-8CD7-25215C9A9146}"/>
              </a:ext>
            </a:extLst>
          </p:cNvPr>
          <p:cNvSpPr>
            <a:spLocks xmlns:a="http://schemas.openxmlformats.org/drawingml/2006/main" noGrp="1"/>
          </p:cNvSpPr>
          <p:nvPr/>
        </p:nvSpPr>
        <p:spPr>
          <a:xfrm xmlns:a="http://schemas.openxmlformats.org/drawingml/2006/main">
            <a:off x="3394710" y="2791206"/>
            <a:ext cx="480060" cy="0"/>
          </a:xfrm>
          <a:prstGeom xmlns:a="http://schemas.openxmlformats.org/drawingml/2006/main" prst="line">
            <a:avLst/>
          </a:prstGeom>
          <a:ln xmlns:a="http://schemas.openxmlformats.org/drawingml/2006/main" w="15240">
            <a:solidFill>
              <a:srgbClr val="3366CC"/>
            </a:solidFill>
            <a:headEnd type="none"/>
            <a:tailEnd type="triangle"/>
          </a:ln>
        </p:spPr>
      </p:sp>
      <p:sp>
        <p:nvSpPr>
          <p:cNvPr id="15" name="Medida 2">
            <a:extLst xmlns:a="http://schemas.openxmlformats.org/drawingml/2006/main">
              <a:ext uri="{FF2B5EF4-FFF2-40B4-BE49-F238E27FC236}">
                <a16:creationId xmlns:a16="http://schemas.microsoft.com/office/drawing/2014/main" id="{E3707A9E-027F-4696-BB01-52247776EB93}"/>
              </a:ext>
            </a:extLst>
          </p:cNvPr>
          <p:cNvSpPr>
            <a:spLocks xmlns:a="http://schemas.openxmlformats.org/drawingml/2006/main" noGrp="1"/>
          </p:cNvSpPr>
          <p:nvPr/>
        </p:nvSpPr>
        <p:spPr>
          <a:xfrm xmlns:a="http://schemas.openxmlformats.org/drawingml/2006/main">
            <a:off x="4128516" y="2489454"/>
            <a:ext cx="4114800" cy="624078"/>
          </a:xfrm>
          <a:prstGeom xmlns:a="http://schemas.openxmlformats.org/drawingml/2006/main" prst="rect">
            <a:avLst/>
          </a:prstGeom>
          <a:noFill xmlns:a="http://schemas.openxmlformats.org/drawingml/2006/main"/>
          <a:ln xmlns:a="http://schemas.openxmlformats.org/drawingml/2006/main" w="8573">
            <a:noFill/>
          </a:ln>
        </p:spPr>
        <p:txBody>
          <a:bodyPr xmlns:a="http://schemas.openxmlformats.org/drawingml/2006/main" wrap="square" lIns="0" tIns="0" rIns="0" bIns="0" anchor="t">
            <a:noAutofit/>
          </a:bodyPr>
          <a:lstStyle xmlns:a="http://schemas.openxmlformats.org/drawingml/2006/main"/>
          <a:p xmlns:a="http://schemas.openxmlformats.org/drawingml/2006/main">
            <a:pPr>
              <a:spcBef>
                <a:spcPts val="0"/>
              </a:spcBef>
              <a:spcAft>
                <a:spcPts val="0"/>
              </a:spcAft>
              <a:defRPr sz="1350" b="0">
                <a:solidFill>
                  <a:srgbClr val="1E293B"/>
                </a:solidFill>
                <a:latin typeface="Calibri"/>
                <a:ea typeface="Calibri"/>
                <a:cs typeface="Calibri"/>
              </a:defRPr>
            </a:pPr>
            <a:r>
              <a:rPr sz="1350" b="0">
                <a:solidFill>
                  <a:srgbClr val="1E293B"/>
                </a:solidFill>
                <a:latin typeface="Calibri"/>
                <a:ea typeface="Calibri"/>
                <a:cs typeface="Calibri"/>
              </a:rPr>
              <a:t>RMSE por contaminante, con unidades confirmadas; acompañar con MAE y sesgo. Comparar los mismos pares reservados.</a:t>
            </a:r>
          </a:p>
        </p:txBody>
      </p:sp>
      <p:sp>
        <p:nvSpPr>
          <p:cNvPr id="16" name="Riesgo 3">
            <a:extLst xmlns:a="http://schemas.openxmlformats.org/drawingml/2006/main">
              <a:ext uri="{FF2B5EF4-FFF2-40B4-BE49-F238E27FC236}">
                <a16:creationId xmlns:a16="http://schemas.microsoft.com/office/drawing/2014/main" id="{3D6089D9-1AF5-4BE8-8353-F3C11FDB48AA}"/>
              </a:ext>
            </a:extLst>
          </p:cNvPr>
          <p:cNvSpPr>
            <a:spLocks xmlns:a="http://schemas.openxmlformats.org/drawingml/2006/main" noGrp="1"/>
          </p:cNvSpPr>
          <p:nvPr/>
        </p:nvSpPr>
        <p:spPr>
          <a:xfrm xmlns:a="http://schemas.openxmlformats.org/drawingml/2006/main">
            <a:off x="548640" y="3401568"/>
            <a:ext cx="8044434" cy="891540"/>
          </a:xfrm>
          <a:prstGeom xmlns:a="http://schemas.openxmlformats.org/drawingml/2006/main" prst="roundRect">
            <a:avLst>
              <a:gd name="adj" fmla="val 7500"/>
            </a:avLst>
          </a:prstGeom>
          <a:solidFill xmlns:a="http://schemas.openxmlformats.org/drawingml/2006/main">
            <a:srgbClr val="F2F6FC"/>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96012" tIns="96012" rIns="96012" bIns="96012" anchor="ctr">
            <a:noAutofit/>
          </a:bodyPr>
          <a:lstStyle xmlns:a="http://schemas.openxmlformats.org/drawingml/2006/main"/>
          <a:p xmlns:a="http://schemas.openxmlformats.org/drawingml/2006/main"/>
        </p:txBody>
      </p:sp>
      <p:sp>
        <p:nvSpPr>
          <p:cNvPr id="17" name="Problema 3">
            <a:extLst xmlns:a="http://schemas.openxmlformats.org/drawingml/2006/main">
              <a:ext uri="{FF2B5EF4-FFF2-40B4-BE49-F238E27FC236}">
                <a16:creationId xmlns:a16="http://schemas.microsoft.com/office/drawing/2014/main" id="{189B4E82-C008-45A0-BE1E-72D0A480AA50}"/>
              </a:ext>
            </a:extLst>
          </p:cNvPr>
          <p:cNvSpPr>
            <a:spLocks xmlns:a="http://schemas.openxmlformats.org/drawingml/2006/main" noGrp="1"/>
          </p:cNvSpPr>
          <p:nvPr/>
        </p:nvSpPr>
        <p:spPr>
          <a:xfrm xmlns:a="http://schemas.openxmlformats.org/drawingml/2006/main">
            <a:off x="768096" y="3538728"/>
            <a:ext cx="2379726" cy="617220"/>
          </a:xfrm>
          <a:prstGeom xmlns:a="http://schemas.openxmlformats.org/drawingml/2006/main" prst="rect">
            <a:avLst/>
          </a:prstGeom>
          <a:noFill xmlns:a="http://schemas.openxmlformats.org/drawingml/2006/main"/>
          <a:ln xmlns:a="http://schemas.openxmlformats.org/drawingml/2006/main" w="8573">
            <a:noFill/>
          </a:ln>
        </p:spPr>
        <p:txBody>
          <a:bodyPr xmlns:a="http://schemas.openxmlformats.org/drawingml/2006/main" wrap="square" lIns="0" tIns="0" rIns="0" bIns="0" anchor="t">
            <a:noAutofit/>
          </a:bodyPr>
          <a:lstStyle xmlns:a="http://schemas.openxmlformats.org/drawingml/2006/main"/>
          <a:p xmlns:a="http://schemas.openxmlformats.org/drawingml/2006/main">
            <a:pPr>
              <a:spcBef>
                <a:spcPts val="0"/>
              </a:spcBef>
              <a:spcAft>
                <a:spcPts val="0"/>
              </a:spcAft>
              <a:defRPr sz="1425" b="1">
                <a:solidFill>
                  <a:srgbClr val="17375D"/>
                </a:solidFill>
                <a:latin typeface="Calibri"/>
                <a:ea typeface="Calibri"/>
                <a:cs typeface="Calibri"/>
              </a:defRPr>
            </a:pPr>
            <a:r>
              <a:rPr sz="1425" b="1">
                <a:solidFill>
                  <a:srgbClr val="17375D"/>
                </a:solidFill>
                <a:latin typeface="Calibri"/>
                <a:ea typeface="Calibri"/>
                <a:cs typeface="Calibri"/>
              </a:rPr>
              <a:t>Extremos y territorio</a:t>
            </a:r>
          </a:p>
          <a:p xmlns:a="http://schemas.openxmlformats.org/drawingml/2006/main">
            <a:pPr>
              <a:spcBef>
                <a:spcPts val="0"/>
              </a:spcBef>
              <a:spcAft>
                <a:spcPts val="0"/>
              </a:spcAft>
              <a:defRPr sz="1425" b="1">
                <a:solidFill>
                  <a:srgbClr val="17375D"/>
                </a:solidFill>
                <a:latin typeface="Calibri"/>
                <a:ea typeface="Calibri"/>
                <a:cs typeface="Calibri"/>
              </a:defRPr>
            </a:pPr>
            <a:r>
              <a:rPr sz="1425" b="1">
                <a:solidFill>
                  <a:srgbClr val="17375D"/>
                </a:solidFill>
                <a:latin typeface="Calibri"/>
                <a:ea typeface="Calibri"/>
                <a:cs typeface="Calibri"/>
              </a:rPr>
              <a:t>Evaluación prevista</a:t>
            </a:r>
          </a:p>
        </p:txBody>
      </p:sp>
      <p:sp>
        <p:nvSpPr>
          <p:cNvPr id="18" name="Respuesta 3">
            <a:extLst xmlns:a="http://schemas.openxmlformats.org/drawingml/2006/main">
              <a:ext uri="{FF2B5EF4-FFF2-40B4-BE49-F238E27FC236}">
                <a16:creationId xmlns:a16="http://schemas.microsoft.com/office/drawing/2014/main" id="{B46C4F5B-D776-4C48-A516-6C97667A0CD7}"/>
              </a:ext>
            </a:extLst>
          </p:cNvPr>
          <p:cNvSpPr>
            <a:spLocks xmlns:a="http://schemas.openxmlformats.org/drawingml/2006/main" noGrp="1"/>
          </p:cNvSpPr>
          <p:nvPr/>
        </p:nvSpPr>
        <p:spPr>
          <a:xfrm xmlns:a="http://schemas.openxmlformats.org/drawingml/2006/main">
            <a:off x="3394710" y="3840480"/>
            <a:ext cx="480060" cy="0"/>
          </a:xfrm>
          <a:prstGeom xmlns:a="http://schemas.openxmlformats.org/drawingml/2006/main" prst="line">
            <a:avLst/>
          </a:prstGeom>
          <a:ln xmlns:a="http://schemas.openxmlformats.org/drawingml/2006/main" w="15240">
            <a:solidFill>
              <a:srgbClr val="3366CC"/>
            </a:solidFill>
            <a:headEnd type="none"/>
            <a:tailEnd type="triangle"/>
          </a:ln>
        </p:spPr>
      </p:sp>
      <p:sp>
        <p:nvSpPr>
          <p:cNvPr id="19" name="Medida 3">
            <a:extLst xmlns:a="http://schemas.openxmlformats.org/drawingml/2006/main">
              <a:ext uri="{FF2B5EF4-FFF2-40B4-BE49-F238E27FC236}">
                <a16:creationId xmlns:a16="http://schemas.microsoft.com/office/drawing/2014/main" id="{E1CA38B7-C4ED-49FB-8B51-3BCC878511B9}"/>
              </a:ext>
            </a:extLst>
          </p:cNvPr>
          <p:cNvSpPr>
            <a:spLocks xmlns:a="http://schemas.openxmlformats.org/drawingml/2006/main" noGrp="1"/>
          </p:cNvSpPr>
          <p:nvPr/>
        </p:nvSpPr>
        <p:spPr>
          <a:xfrm xmlns:a="http://schemas.openxmlformats.org/drawingml/2006/main">
            <a:off x="4128516" y="3538728"/>
            <a:ext cx="4114800" cy="624078"/>
          </a:xfrm>
          <a:prstGeom xmlns:a="http://schemas.openxmlformats.org/drawingml/2006/main" prst="rect">
            <a:avLst/>
          </a:prstGeom>
          <a:noFill xmlns:a="http://schemas.openxmlformats.org/drawingml/2006/main"/>
          <a:ln xmlns:a="http://schemas.openxmlformats.org/drawingml/2006/main" w="8573">
            <a:noFill/>
          </a:ln>
        </p:spPr>
        <p:txBody>
          <a:bodyPr xmlns:a="http://schemas.openxmlformats.org/drawingml/2006/main" wrap="square" lIns="0" tIns="0" rIns="0" bIns="0" anchor="t">
            <a:noAutofit/>
          </a:bodyPr>
          <a:lstStyle xmlns:a="http://schemas.openxmlformats.org/drawingml/2006/main"/>
          <a:p xmlns:a="http://schemas.openxmlformats.org/drawingml/2006/main">
            <a:pPr>
              <a:spcBef>
                <a:spcPts val="0"/>
              </a:spcBef>
              <a:spcAft>
                <a:spcPts val="0"/>
              </a:spcAft>
              <a:defRPr sz="1350" b="0">
                <a:solidFill>
                  <a:srgbClr val="1E293B"/>
                </a:solidFill>
                <a:latin typeface="Calibri"/>
                <a:ea typeface="Calibri"/>
                <a:cs typeface="Calibri"/>
              </a:defRPr>
            </a:pPr>
            <a:r>
              <a:rPr sz="1350" b="0">
                <a:solidFill>
                  <a:srgbClr val="1E293B"/>
                </a:solidFill>
                <a:latin typeface="Calibri"/>
                <a:ea typeface="Calibri"/>
                <a:cs typeface="Calibri"/>
              </a:rPr>
              <a:t>Definir extremos antes de evaluar. Informar error, excedencias y falsas alarmas por territorio y distancia a estaciones.</a:t>
            </a:r>
          </a:p>
        </p:txBody>
      </p:sp>
      <p:sp>
        <p:nvSpPr>
          <p:cNvPr id="20" name="Métricas de evaluación">
            <a:extLst xmlns:a="http://schemas.openxmlformats.org/drawingml/2006/main">
              <a:ext uri="{FF2B5EF4-FFF2-40B4-BE49-F238E27FC236}">
                <a16:creationId xmlns:a16="http://schemas.microsoft.com/office/drawing/2014/main" id="{08C3A98D-8EDF-42DF-A1C4-2107498C538E}"/>
              </a:ext>
            </a:extLst>
          </p:cNvPr>
          <p:cNvSpPr>
            <a:spLocks xmlns:a="http://schemas.openxmlformats.org/drawingml/2006/main" noGrp="1"/>
          </p:cNvSpPr>
          <p:nvPr/>
        </p:nvSpPr>
        <p:spPr>
          <a:xfrm xmlns:a="http://schemas.openxmlformats.org/drawingml/2006/main">
            <a:off x="548640" y="4434840"/>
            <a:ext cx="804672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spcBef>
                <a:spcPts val="0"/>
              </a:spcBef>
              <a:spcAft>
                <a:spcPts val="0"/>
              </a:spcAft>
              <a:defRPr sz="1163" b="0">
                <a:solidFill>
                  <a:srgbClr val="17375D"/>
                </a:solidFill>
                <a:latin typeface="Calibri"/>
                <a:ea typeface="Calibri"/>
                <a:cs typeface="Calibri"/>
              </a:defRPr>
            </a:pPr>
            <a:r>
              <a:rPr sz="1163" b="0">
                <a:solidFill>
                  <a:srgbClr val="17375D"/>
                </a:solidFill>
                <a:latin typeface="Calibri"/>
                <a:ea typeface="Calibri"/>
                <a:cs typeface="Calibri"/>
              </a:rPr>
              <a:t>Pendientes: validación anidada completa del apilado y cuantificación de incertidumbre.</a:t>
            </a:r>
          </a:p>
        </p:txBody>
      </p:sp>
      <p:sp>
        <p:nvSpPr>
          <p:cNvPr id="21" name="Fuente y alcance">
            <a:extLst xmlns:a="http://schemas.openxmlformats.org/drawingml/2006/main">
              <a:ext uri="{FF2B5EF4-FFF2-40B4-BE49-F238E27FC236}">
                <a16:creationId xmlns:a16="http://schemas.microsoft.com/office/drawing/2014/main" id="{AB632FF5-FC83-4FDA-89AB-2621802C2462}"/>
              </a:ext>
            </a:extLst>
          </p:cNvPr>
          <p:cNvSpPr>
            <a:spLocks xmlns:a="http://schemas.openxmlformats.org/drawingml/2006/main" noGrp="1"/>
          </p:cNvSpPr>
          <p:nvPr/>
        </p:nvSpPr>
        <p:spPr>
          <a:xfrm xmlns:a="http://schemas.openxmlformats.org/drawingml/2006/main">
            <a:off x="548640" y="4600575"/>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878">
                <a:solidFill>
                  <a:srgbClr val="526277"/>
                </a:solidFill>
                <a:latin typeface="Calibri"/>
                <a:ea typeface="Calibri"/>
                <a:cs typeface="Calibri"/>
              </a:defRPr>
            </a:pPr>
            <a:r>
              <a:rPr sz="878">
                <a:solidFill>
                  <a:srgbClr val="526277"/>
                </a:solidFill>
                <a:latin typeface="Calibri"/>
                <a:ea typeface="Calibri"/>
                <a:cs typeface="Calibri"/>
              </a:rPr>
              <a:t>Correcciones del feedback 3; Varma y Simon (2006), doi:10.1186/1471-2105-7-91. No se presentan resultados predictivos.</a:t>
            </a:r>
          </a:p>
        </p:txBody>
      </p:sp>
    </p:spTree>
    <p:extLst>
      <p:ext uri="{BB962C8B-B14F-4D97-AF65-F5344CB8AC3E}">
        <p14:creationId xmlns:p14="http://schemas.microsoft.com/office/powerpoint/2010/main" val="3227572768"/>
      </p:ext>
    </p:extLst>
  </p:cSld>
</p:sld>
</file>

<file path=ppt/slides/slide12.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3486DB9C-93DE-456A-BF48-2757BBD61ACE}"/>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2DE33766-2918-41FC-A1B9-B4BF483C8974}"/>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3BCD4458-45E8-4C73-A3B6-249CEEFBDB7B}"/>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A18DC9E6-BD6D-4FE1-AEC0-9715BEE3912A}"/>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438D0FA2-1899-4EDF-9FA4-D1742768DFC6}"/>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De celdas a comunas: una regla explícita para acordar</a:t>
            </a:r>
          </a:p>
        </p:txBody>
      </p:sp>
      <p:sp>
        <p:nvSpPr>
          <p:cNvPr id="8" name="Estado">
            <a:extLst xmlns:a="http://schemas.openxmlformats.org/drawingml/2006/main">
              <a:ext uri="{FF2B5EF4-FFF2-40B4-BE49-F238E27FC236}">
                <a16:creationId xmlns:a16="http://schemas.microsoft.com/office/drawing/2014/main" id="{811869E5-CF79-40B0-92B7-B9F48B0592DB}"/>
              </a:ext>
            </a:extLst>
          </p:cNvPr>
          <p:cNvSpPr>
            <a:spLocks xmlns:a="http://schemas.openxmlformats.org/drawingml/2006/main" noGrp="1"/>
          </p:cNvSpPr>
          <p:nvPr/>
        </p:nvSpPr>
        <p:spPr>
          <a:xfrm xmlns:a="http://schemas.openxmlformats.org/drawingml/2006/main">
            <a:off x="552450" y="1200150"/>
            <a:ext cx="803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1">
                <a:solidFill>
                  <a:srgbClr val="017EDF"/>
                </a:solidFill>
                <a:latin typeface="Calibri"/>
                <a:ea typeface="Calibri"/>
                <a:cs typeface="Calibri"/>
              </a:defRPr>
            </a:pPr>
            <a:r>
              <a:rPr sz="1350" b="1">
                <a:solidFill>
                  <a:srgbClr val="017EDF"/>
                </a:solidFill>
                <a:latin typeface="Calibri"/>
                <a:ea typeface="Calibri"/>
                <a:cs typeface="Calibri"/>
              </a:rPr>
              <a:t>PROPUESTA · pendiente de validación del equipo</a:t>
            </a:r>
          </a:p>
        </p:txBody>
      </p:sp>
      <p:sp>
        <p:nvSpPr>
          <p:cNvPr id="9" name="Regla">
            <a:extLst xmlns:a="http://schemas.openxmlformats.org/drawingml/2006/main">
              <a:ext uri="{FF2B5EF4-FFF2-40B4-BE49-F238E27FC236}">
                <a16:creationId xmlns:a16="http://schemas.microsoft.com/office/drawing/2014/main" id="{21897318-703E-4E43-AC60-E6D6E1BF1D91}"/>
              </a:ext>
            </a:extLst>
          </p:cNvPr>
          <p:cNvSpPr>
            <a:spLocks xmlns:a="http://schemas.openxmlformats.org/drawingml/2006/main" noGrp="1"/>
          </p:cNvSpPr>
          <p:nvPr/>
        </p:nvSpPr>
        <p:spPr>
          <a:xfrm xmlns:a="http://schemas.openxmlformats.org/drawingml/2006/main">
            <a:off x="552450" y="1647825"/>
            <a:ext cx="8039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17375D"/>
                </a:solidFill>
                <a:latin typeface="Calibri"/>
                <a:ea typeface="Calibri"/>
                <a:cs typeface="Calibri"/>
              </a:defRPr>
            </a:pPr>
            <a:r>
              <a:rPr sz="2025" b="1">
                <a:solidFill>
                  <a:srgbClr val="17375D"/>
                </a:solidFill>
                <a:latin typeface="Calibri"/>
                <a:ea typeface="Calibri"/>
                <a:cs typeface="Calibri"/>
              </a:rPr>
              <a:t>Promedio horario ponderado por el área de cada celda que intersecta la comuna</a:t>
            </a:r>
          </a:p>
        </p:txBody>
      </p:sp>
      <p:sp>
        <p:nvSpPr>
          <p:cNvPr id="10" name="Formula">
            <a:extLst xmlns:a="http://schemas.openxmlformats.org/drawingml/2006/main">
              <a:ext uri="{FF2B5EF4-FFF2-40B4-BE49-F238E27FC236}">
                <a16:creationId xmlns:a16="http://schemas.microsoft.com/office/drawing/2014/main" id="{755B20DD-ACE0-4793-8931-8DF2D318ED67}"/>
              </a:ext>
            </a:extLst>
          </p:cNvPr>
          <p:cNvSpPr>
            <a:spLocks xmlns:a="http://schemas.openxmlformats.org/drawingml/2006/main" noGrp="1"/>
          </p:cNvSpPr>
          <p:nvPr/>
        </p:nvSpPr>
        <p:spPr>
          <a:xfrm xmlns:a="http://schemas.openxmlformats.org/drawingml/2006/main">
            <a:off x="552450" y="2390775"/>
            <a:ext cx="80391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a:solidFill>
                  <a:srgbClr val="17375D"/>
                </a:solidFill>
                <a:latin typeface="Calibri"/>
                <a:ea typeface="Calibri"/>
                <a:cs typeface="Calibri"/>
              </a:defRPr>
            </a:pPr>
            <a:r>
              <a:rPr sz="1725">
                <a:solidFill>
                  <a:srgbClr val="17375D"/>
                </a:solidFill>
                <a:latin typeface="Calibri"/>
                <a:ea typeface="Calibri"/>
                <a:cs typeface="Calibri"/>
              </a:rPr>
              <a:t>Concentración comunal = Σ (área de intersección × concentración de celda)</a:t>
            </a:r>
          </a:p>
          <a:p xmlns:a="http://schemas.openxmlformats.org/drawingml/2006/main">
            <a:pPr>
              <a:defRPr sz="1725">
                <a:solidFill>
                  <a:srgbClr val="17375D"/>
                </a:solidFill>
                <a:latin typeface="Calibri"/>
                <a:ea typeface="Calibri"/>
                <a:cs typeface="Calibri"/>
              </a:defRPr>
            </a:pPr>
            <a:r>
              <a:rPr sz="1725">
                <a:solidFill>
                  <a:srgbClr val="17375D"/>
                </a:solidFill>
                <a:latin typeface="Calibri"/>
                <a:ea typeface="Calibri"/>
                <a:cs typeface="Calibri"/>
              </a:rPr>
              <a:t>                                           / Σ áreas de intersección con estimación</a:t>
            </a:r>
          </a:p>
        </p:txBody>
      </p:sp>
      <p:sp>
        <p:nvSpPr>
          <p:cNvPr id="11" name="Condiciones">
            <a:extLst xmlns:a="http://schemas.openxmlformats.org/drawingml/2006/main">
              <a:ext uri="{FF2B5EF4-FFF2-40B4-BE49-F238E27FC236}">
                <a16:creationId xmlns:a16="http://schemas.microsoft.com/office/drawing/2014/main" id="{B0415EED-7F0C-42A7-AFDC-64EB268D7479}"/>
              </a:ext>
            </a:extLst>
          </p:cNvPr>
          <p:cNvSpPr>
            <a:spLocks xmlns:a="http://schemas.openxmlformats.org/drawingml/2006/main" noGrp="1"/>
          </p:cNvSpPr>
          <p:nvPr/>
        </p:nvSpPr>
        <p:spPr>
          <a:xfrm xmlns:a="http://schemas.openxmlformats.org/drawingml/2006/main">
            <a:off x="552450" y="3295650"/>
            <a:ext cx="80391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1E293B"/>
                </a:solidFill>
                <a:latin typeface="Calibri"/>
                <a:ea typeface="Calibri"/>
                <a:cs typeface="Calibri"/>
              </a:defRPr>
            </a:pPr>
            <a:r>
              <a:rPr sz="1575">
                <a:solidFill>
                  <a:srgbClr val="1E293B"/>
                </a:solidFill>
                <a:latin typeface="Calibri"/>
                <a:ea typeface="Calibri"/>
                <a:cs typeface="Calibri"/>
              </a:rPr>
              <a:t>1. Calcular áreas geodésicas o en una proyección de igual área.</a:t>
            </a:r>
          </a:p>
          <a:p xmlns:a="http://schemas.openxmlformats.org/drawingml/2006/main">
            <a:pPr>
              <a:defRPr sz="1575">
                <a:solidFill>
                  <a:srgbClr val="1E293B"/>
                </a:solidFill>
                <a:latin typeface="Calibri"/>
                <a:ea typeface="Calibri"/>
                <a:cs typeface="Calibri"/>
              </a:defRPr>
            </a:pPr>
            <a:r>
              <a:rPr sz="1575">
                <a:solidFill>
                  <a:srgbClr val="1E293B"/>
                </a:solidFill>
                <a:latin typeface="Calibri"/>
                <a:ea typeface="Calibri"/>
                <a:cs typeface="Calibri"/>
              </a:rPr>
              <a:t>2. Publicar la fracción de superficie comunal cubierta en cada hora.</a:t>
            </a:r>
          </a:p>
          <a:p xmlns:a="http://schemas.openxmlformats.org/drawingml/2006/main">
            <a:pPr>
              <a:defRPr sz="1575">
                <a:solidFill>
                  <a:srgbClr val="1E293B"/>
                </a:solidFill>
                <a:latin typeface="Calibri"/>
                <a:ea typeface="Calibri"/>
                <a:cs typeface="Calibri"/>
              </a:defRPr>
            </a:pPr>
            <a:r>
              <a:rPr sz="1575">
                <a:solidFill>
                  <a:srgbClr val="1E293B"/>
                </a:solidFill>
                <a:latin typeface="Calibri"/>
                <a:ea typeface="Calibri"/>
                <a:cs typeface="Calibri"/>
              </a:rPr>
              <a:t>3. Marcar cobertura incompleta y reportar incertidumbre territorial.</a:t>
            </a:r>
          </a:p>
        </p:txBody>
      </p:sp>
      <p:sp>
        <p:nvSpPr>
          <p:cNvPr id="12" name="Interpretación">
            <a:extLst xmlns:a="http://schemas.openxmlformats.org/drawingml/2006/main">
              <a:ext uri="{FF2B5EF4-FFF2-40B4-BE49-F238E27FC236}">
                <a16:creationId xmlns:a16="http://schemas.microsoft.com/office/drawing/2014/main" id="{E1FE6040-EA5C-485B-ABF1-DDF221CB5122}"/>
              </a:ext>
            </a:extLst>
          </p:cNvPr>
          <p:cNvSpPr>
            <a:spLocks xmlns:a="http://schemas.openxmlformats.org/drawingml/2006/main" noGrp="1"/>
          </p:cNvSpPr>
          <p:nvPr/>
        </p:nvSpPr>
        <p:spPr>
          <a:xfrm xmlns:a="http://schemas.openxmlformats.org/drawingml/2006/main">
            <a:off x="552450" y="4333875"/>
            <a:ext cx="803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63">
                <a:solidFill>
                  <a:srgbClr val="17375D"/>
                </a:solidFill>
                <a:latin typeface="Calibri"/>
                <a:ea typeface="Calibri"/>
                <a:cs typeface="Calibri"/>
              </a:defRPr>
            </a:pPr>
            <a:r>
              <a:rPr sz="1163">
                <a:solidFill>
                  <a:srgbClr val="17375D"/>
                </a:solidFill>
                <a:latin typeface="Calibri"/>
                <a:ea typeface="Calibri"/>
                <a:cs typeface="Calibri"/>
              </a:rPr>
              <a:t>Representa concentración media por superficie; no exposición personal ni un promedio ponderado por población.</a:t>
            </a:r>
          </a:p>
        </p:txBody>
      </p:sp>
      <p:sp>
        <p:nvSpPr>
          <p:cNvPr id="13" name="Fuente y alcance">
            <a:extLst xmlns:a="http://schemas.openxmlformats.org/drawingml/2006/main">
              <a:ext uri="{FF2B5EF4-FFF2-40B4-BE49-F238E27FC236}">
                <a16:creationId xmlns:a16="http://schemas.microsoft.com/office/drawing/2014/main" id="{DFFC2B50-2E1F-4C06-A1B2-EFC6B28DDA38}"/>
              </a:ext>
            </a:extLst>
          </p:cNvPr>
          <p:cNvSpPr>
            <a:spLocks xmlns:a="http://schemas.openxmlformats.org/drawingml/2006/main" noGrp="1"/>
          </p:cNvSpPr>
          <p:nvPr/>
        </p:nvSpPr>
        <p:spPr>
          <a:xfrm xmlns:a="http://schemas.openxmlformats.org/drawingml/2006/main">
            <a:off x="548640" y="4600575"/>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878">
                <a:solidFill>
                  <a:srgbClr val="526277"/>
                </a:solidFill>
                <a:latin typeface="Calibri"/>
                <a:ea typeface="Calibri"/>
                <a:cs typeface="Calibri"/>
              </a:defRPr>
            </a:pPr>
            <a:r>
              <a:rPr sz="878">
                <a:solidFill>
                  <a:srgbClr val="526277"/>
                </a:solidFill>
                <a:latin typeface="Calibri"/>
                <a:ea typeface="Calibri"/>
                <a:cs typeface="Calibri"/>
              </a:rPr>
              <a:t>Formalización propuesta en respuesta al feedback 3. La relación píxel–comuna del catálogo no constituye por sí sola esta agregación.</a:t>
            </a:r>
          </a:p>
        </p:txBody>
      </p:sp>
    </p:spTree>
    <p:extLst>
      <p:ext uri="{BB962C8B-B14F-4D97-AF65-F5344CB8AC3E}">
        <p14:creationId xmlns:p14="http://schemas.microsoft.com/office/powerpoint/2010/main" val="3227572768"/>
      </p:ext>
    </p:extLst>
  </p:cSld>
</p:sld>
</file>

<file path=ppt/slides/slide13.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3486DB9C-93DE-456A-BF48-2757BBD61ACE}"/>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2DE33766-2918-41FC-A1B9-B4BF483C8974}"/>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3BCD4458-45E8-4C73-A3B6-249CEEFBDB7B}"/>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A18DC9E6-BD6D-4FE1-AEC0-9715BEE3912A}"/>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438D0FA2-1899-4EDF-9FA4-D1742768DFC6}"/>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Ética: quién puede verse afectado y cómo responder</a:t>
            </a:r>
          </a:p>
        </p:txBody>
      </p:sp>
      <p:sp>
        <p:nvSpPr>
          <p:cNvPr id="8" name="Estado">
            <a:extLst xmlns:a="http://schemas.openxmlformats.org/drawingml/2006/main">
              <a:ext uri="{FF2B5EF4-FFF2-40B4-BE49-F238E27FC236}">
                <a16:creationId xmlns:a16="http://schemas.microsoft.com/office/drawing/2014/main" id="{6C117FFE-4D22-4194-AB5C-F9D5CBFEDC4A}"/>
              </a:ext>
            </a:extLst>
          </p:cNvPr>
          <p:cNvSpPr>
            <a:spLocks xmlns:a="http://schemas.openxmlformats.org/drawingml/2006/main" noGrp="1"/>
          </p:cNvSpPr>
          <p:nvPr/>
        </p:nvSpPr>
        <p:spPr>
          <a:xfrm xmlns:a="http://schemas.openxmlformats.org/drawingml/2006/main">
            <a:off x="552450" y="1200150"/>
            <a:ext cx="803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17375D"/>
                </a:solidFill>
                <a:latin typeface="Calibri"/>
                <a:ea typeface="Calibri"/>
                <a:cs typeface="Calibri"/>
              </a:defRPr>
            </a:pPr>
            <a:r>
              <a:rPr sz="1650" b="1">
                <a:solidFill>
                  <a:srgbClr val="17375D"/>
                </a:solidFill>
                <a:latin typeface="Calibri"/>
                <a:ea typeface="Calibri"/>
                <a:cs typeface="Calibri"/>
              </a:rPr>
              <a:t>Medidas propuestas para el uso responsable del producto</a:t>
            </a:r>
          </a:p>
        </p:txBody>
      </p:sp>
      <p:graphicFrame>
        <p:nvGraphicFramePr>
          <p:cNvPr id="18" name=""/>
          <p:cNvGraphicFramePr/>
          <p:nvPr/>
        </p:nvGraphicFramePr>
        <p:xfrm>
          <a:off xmlns:a="http://schemas.openxmlformats.org/drawingml/2006/main" x="548640" y="1657350"/>
          <a:ext xmlns:a="http://schemas.openxmlformats.org/drawingml/2006/main" cx="8046720" cy="2581275"/>
        </p:xfrm>
        <a:graphic xmlns:a="http://schemas.openxmlformats.org/drawingml/2006/main">
          <a:graphicData uri="http://schemas.openxmlformats.org/drawingml/2006/table">
            <a:tbl>
              <a:tblPr firstRow="1" bandRow="0"/>
              <a:tblGrid>
                <a:gridCol w="1924050"/>
                <a:gridCol w="2181225"/>
                <a:gridCol w="3941445"/>
              </a:tblGrid>
              <a:tr h="381000">
                <a:tc>
                  <a:txBody>
                    <a:bodyPr wrap="square" lIns="95250" tIns="76200" rIns="95250" bIns="76200">
                      <a:noAutofit/>
                    </a:bodyPr>
                    <a:lstStyle/>
                    <a:p>
                      <a:r>
                        <a:rPr sz="1275" b="1">
                          <a:solidFill>
                            <a:srgbClr val="FFFFFF"/>
                          </a:solidFill>
                          <a:latin typeface="Calibri"/>
                          <a:ea typeface="Calibri"/>
                          <a:cs typeface="Calibri"/>
                        </a:rPr>
                        <a:t>Riesgo</a:t>
                      </a:r>
                    </a:p>
                  </a:txBody>
                  <a:tcPr marL="91440" marR="91440" marT="45720" marB="45720" anchor="ctr">
                    <a:solidFill>
                      <a:srgbClr val="17375D"/>
                    </a:solidFill>
                  </a:tcPr>
                </a:tc>
                <a:tc>
                  <a:txBody>
                    <a:bodyPr wrap="square" lIns="95250" tIns="76200" rIns="95250" bIns="76200">
                      <a:noAutofit/>
                    </a:bodyPr>
                    <a:lstStyle/>
                    <a:p>
                      <a:r>
                        <a:rPr sz="1275" b="1">
                          <a:solidFill>
                            <a:srgbClr val="FFFFFF"/>
                          </a:solidFill>
                          <a:latin typeface="Calibri"/>
                          <a:ea typeface="Calibri"/>
                          <a:cs typeface="Calibri"/>
                        </a:rPr>
                        <a:t>Actores afectados</a:t>
                      </a:r>
                    </a:p>
                  </a:txBody>
                  <a:tcPr marL="91440" marR="91440" marT="45720" marB="45720" anchor="ctr">
                    <a:solidFill>
                      <a:srgbClr val="17375D"/>
                    </a:solidFill>
                  </a:tcPr>
                </a:tc>
                <a:tc>
                  <a:txBody>
                    <a:bodyPr wrap="square" lIns="95250" tIns="76200" rIns="95250" bIns="76200">
                      <a:noAutofit/>
                    </a:bodyPr>
                    <a:lstStyle/>
                    <a:p>
                      <a:r>
                        <a:rPr sz="1275" b="1">
                          <a:solidFill>
                            <a:srgbClr val="FFFFFF"/>
                          </a:solidFill>
                          <a:latin typeface="Calibri"/>
                          <a:ea typeface="Calibri"/>
                          <a:cs typeface="Calibri"/>
                        </a:rPr>
                        <a:t>Mitigación y evidencia requerida</a:t>
                      </a:r>
                    </a:p>
                  </a:txBody>
                  <a:tcPr marL="91440" marR="91440" marT="45720" marB="45720" anchor="ctr">
                    <a:solidFill>
                      <a:srgbClr val="17375D"/>
                    </a:solidFill>
                  </a:tcPr>
                </a:tc>
              </a:tr>
              <a:tr h="733425">
                <a:tc>
                  <a:txBody>
                    <a:bodyPr wrap="square" lIns="95250" tIns="76200" rIns="95250" bIns="76200">
                      <a:noAutofit/>
                    </a:bodyPr>
                    <a:lstStyle/>
                    <a:p>
                      <a:r>
                        <a:rPr sz="1275" b="0">
                          <a:solidFill>
                            <a:srgbClr val="1E293B"/>
                          </a:solidFill>
                          <a:latin typeface="Calibri"/>
                          <a:ea typeface="Calibri"/>
                          <a:cs typeface="Calibri"/>
                        </a:rPr>
                        <a:t>Desigualdad de cobertura</a:t>
                      </a:r>
                    </a:p>
                  </a:txBody>
                  <a:tcPr marL="91440" marR="91440" marT="45720" marB="45720" anchor="ctr">
                    <a:solidFill>
                      <a:srgbClr val="EAF2FD"/>
                    </a:solidFill>
                  </a:tcPr>
                </a:tc>
                <a:tc>
                  <a:txBody>
                    <a:bodyPr wrap="square" lIns="95250" tIns="76200" rIns="95250" bIns="76200">
                      <a:noAutofit/>
                    </a:bodyPr>
                    <a:lstStyle/>
                    <a:p>
                      <a:r>
                        <a:rPr sz="1275" b="0">
                          <a:solidFill>
                            <a:srgbClr val="1E293B"/>
                          </a:solidFill>
                          <a:latin typeface="Calibri"/>
                          <a:ea typeface="Calibri"/>
                          <a:cs typeface="Calibri"/>
                        </a:rPr>
                        <a:t>Comunidades con pocos monitores; municipios</a:t>
                      </a:r>
                    </a:p>
                  </a:txBody>
                  <a:tcPr marL="91440" marR="91440" marT="45720" marB="45720" anchor="ctr">
                    <a:solidFill>
                      <a:srgbClr val="EAF2FD"/>
                    </a:solidFill>
                  </a:tcPr>
                </a:tc>
                <a:tc>
                  <a:txBody>
                    <a:bodyPr wrap="square" lIns="95250" tIns="76200" rIns="95250" bIns="76200">
                      <a:noAutofit/>
                    </a:bodyPr>
                    <a:lstStyle/>
                    <a:p>
                      <a:r>
                        <a:rPr sz="1275" b="0">
                          <a:solidFill>
                            <a:srgbClr val="1E293B"/>
                          </a:solidFill>
                          <a:latin typeface="Calibri"/>
                          <a:ea typeface="Calibri"/>
                          <a:cs typeface="Calibri"/>
                        </a:rPr>
                        <a:t>Describir cobertura y evaluar error e incertidumbre por territorio y distancia a estaciones.</a:t>
                      </a:r>
                    </a:p>
                  </a:txBody>
                  <a:tcPr marL="91440" marR="91440" marT="45720" marB="45720" anchor="ctr">
                    <a:solidFill>
                      <a:srgbClr val="EAF2FD"/>
                    </a:solidFill>
                  </a:tcPr>
                </a:tc>
              </a:tr>
              <a:tr h="733425">
                <a:tc>
                  <a:txBody>
                    <a:bodyPr wrap="square" lIns="95250" tIns="76200" rIns="95250" bIns="76200">
                      <a:noAutofit/>
                    </a:bodyPr>
                    <a:lstStyle/>
                    <a:p>
                      <a:r>
                        <a:rPr sz="1275" b="0">
                          <a:solidFill>
                            <a:srgbClr val="1E293B"/>
                          </a:solidFill>
                          <a:latin typeface="Calibri"/>
                          <a:ea typeface="Calibri"/>
                          <a:cs typeface="Calibri"/>
                        </a:rPr>
                        <a:t>Falsa precisión en episodios</a:t>
                      </a:r>
                    </a:p>
                  </a:txBody>
                  <a:tcPr marL="91440" marR="91440" marT="45720" marB="45720" anchor="ctr">
                    <a:solidFill>
                      <a:srgbClr val="FFFFFF"/>
                    </a:solidFill>
                  </a:tcPr>
                </a:tc>
                <a:tc>
                  <a:txBody>
                    <a:bodyPr wrap="square" lIns="95250" tIns="76200" rIns="95250" bIns="76200">
                      <a:noAutofit/>
                    </a:bodyPr>
                    <a:lstStyle/>
                    <a:p>
                      <a:r>
                        <a:rPr sz="1275" b="0">
                          <a:solidFill>
                            <a:srgbClr val="1E293B"/>
                          </a:solidFill>
                          <a:latin typeface="Calibri"/>
                          <a:ea typeface="Calibri"/>
                          <a:cs typeface="Calibri"/>
                        </a:rPr>
                        <a:t>Población y usuarios ambientales</a:t>
                      </a:r>
                    </a:p>
                  </a:txBody>
                  <a:tcPr marL="91440" marR="91440" marT="45720" marB="45720" anchor="ctr">
                    <a:solidFill>
                      <a:srgbClr val="FFFFFF"/>
                    </a:solidFill>
                  </a:tcPr>
                </a:tc>
                <a:tc>
                  <a:txBody>
                    <a:bodyPr wrap="square" lIns="95250" tIns="76200" rIns="95250" bIns="76200">
                      <a:noAutofit/>
                    </a:bodyPr>
                    <a:lstStyle/>
                    <a:p>
                      <a:r>
                        <a:rPr sz="1275" b="0">
                          <a:solidFill>
                            <a:srgbClr val="1E293B"/>
                          </a:solidFill>
                          <a:latin typeface="Calibri"/>
                          <a:ea typeface="Calibri"/>
                          <a:cs typeface="Calibri"/>
                        </a:rPr>
                        <a:t>Distinguir medición de estimación; señalar límites y evaluar extremos antes de uso operativo.</a:t>
                      </a:r>
                    </a:p>
                  </a:txBody>
                  <a:tcPr marL="91440" marR="91440" marT="45720" marB="45720" anchor="ctr">
                    <a:solidFill>
                      <a:srgbClr val="FFFFFF"/>
                    </a:solidFill>
                  </a:tcPr>
                </a:tc>
              </a:tr>
              <a:tr h="733425">
                <a:tc>
                  <a:txBody>
                    <a:bodyPr wrap="square" lIns="95250" tIns="76200" rIns="95250" bIns="76200">
                      <a:noAutofit/>
                    </a:bodyPr>
                    <a:lstStyle/>
                    <a:p>
                      <a:r>
                        <a:rPr sz="1275" b="0">
                          <a:solidFill>
                            <a:srgbClr val="1E293B"/>
                          </a:solidFill>
                          <a:latin typeface="Calibri"/>
                          <a:ea typeface="Calibri"/>
                          <a:cs typeface="Calibri"/>
                        </a:rPr>
                        <a:t>Decisiones poco trazables</a:t>
                      </a:r>
                    </a:p>
                  </a:txBody>
                  <a:tcPr marL="91440" marR="91440" marT="45720" marB="45720" anchor="ctr">
                    <a:solidFill>
                      <a:srgbClr val="EAF2FD"/>
                    </a:solidFill>
                  </a:tcPr>
                </a:tc>
                <a:tc>
                  <a:txBody>
                    <a:bodyPr wrap="square" lIns="95250" tIns="76200" rIns="95250" bIns="76200">
                      <a:noAutofit/>
                    </a:bodyPr>
                    <a:lstStyle/>
                    <a:p>
                      <a:r>
                        <a:rPr sz="1275" b="0">
                          <a:solidFill>
                            <a:srgbClr val="1E293B"/>
                          </a:solidFill>
                          <a:latin typeface="Calibri"/>
                          <a:ea typeface="Calibri"/>
                          <a:cs typeface="Calibri"/>
                        </a:rPr>
                        <a:t>Equipo, revisores y proveedores de datos</a:t>
                      </a:r>
                    </a:p>
                  </a:txBody>
                  <a:tcPr marL="91440" marR="91440" marT="45720" marB="45720" anchor="ctr">
                    <a:solidFill>
                      <a:srgbClr val="EAF2FD"/>
                    </a:solidFill>
                  </a:tcPr>
                </a:tc>
                <a:tc>
                  <a:txBody>
                    <a:bodyPr wrap="square" lIns="95250" tIns="76200" rIns="95250" bIns="76200">
                      <a:noAutofit/>
                    </a:bodyPr>
                    <a:lstStyle/>
                    <a:p>
                      <a:r>
                        <a:rPr sz="1275" b="0">
                          <a:solidFill>
                            <a:srgbClr val="1E293B"/>
                          </a:solidFill>
                          <a:latin typeface="Calibri"/>
                          <a:ea typeface="Calibri"/>
                          <a:cs typeface="Calibri"/>
                        </a:rPr>
                        <a:t>Conservar fuentes, versiones y exclusiones; documentar unidades, reloj y pérdidas de integración.</a:t>
                      </a:r>
                    </a:p>
                  </a:txBody>
                  <a:tcPr marL="91440" marR="91440" marT="45720" marB="45720" anchor="ctr">
                    <a:solidFill>
                      <a:srgbClr val="EAF2FD"/>
                    </a:solidFill>
                  </a:tcPr>
                </a:tc>
              </a:tr>
            </a:tbl>
          </a:graphicData>
        </a:graphic>
      </p:graphicFrame>
      <p:sp>
        <p:nvSpPr>
          <p:cNvPr id="10" name="Privacidad">
            <a:extLst xmlns:a="http://schemas.openxmlformats.org/drawingml/2006/main">
              <a:ext uri="{FF2B5EF4-FFF2-40B4-BE49-F238E27FC236}">
                <a16:creationId xmlns:a16="http://schemas.microsoft.com/office/drawing/2014/main" id="{1B4C0D61-6E76-44F9-BACF-33B85B8E4D9B}"/>
              </a:ext>
            </a:extLst>
          </p:cNvPr>
          <p:cNvSpPr>
            <a:spLocks xmlns:a="http://schemas.openxmlformats.org/drawingml/2006/main" noGrp="1"/>
          </p:cNvSpPr>
          <p:nvPr/>
        </p:nvSpPr>
        <p:spPr>
          <a:xfrm xmlns:a="http://schemas.openxmlformats.org/drawingml/2006/main">
            <a:off x="552450" y="4371975"/>
            <a:ext cx="803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63">
                <a:solidFill>
                  <a:srgbClr val="17375D"/>
                </a:solidFill>
                <a:latin typeface="Calibri"/>
                <a:ea typeface="Calibri"/>
                <a:cs typeface="Calibri"/>
              </a:defRPr>
            </a:pPr>
            <a:r>
              <a:rPr sz="1163">
                <a:solidFill>
                  <a:srgbClr val="17375D"/>
                </a:solidFill>
                <a:latin typeface="Calibri"/>
                <a:ea typeface="Calibri"/>
                <a:cs typeface="Calibri"/>
              </a:rPr>
              <a:t>El alcance revisado utiliza datos ambientales y territoriales; no incluye microdatos individuales de salud.</a:t>
            </a:r>
          </a:p>
        </p:txBody>
      </p:sp>
      <p:sp>
        <p:nvSpPr>
          <p:cNvPr id="11" name="Fuente y alcance">
            <a:extLst xmlns:a="http://schemas.openxmlformats.org/drawingml/2006/main">
              <a:ext uri="{FF2B5EF4-FFF2-40B4-BE49-F238E27FC236}">
                <a16:creationId xmlns:a16="http://schemas.microsoft.com/office/drawing/2014/main" id="{3AA35407-A78B-4C92-ADA3-8E3B9EABB94D}"/>
              </a:ext>
            </a:extLst>
          </p:cNvPr>
          <p:cNvSpPr>
            <a:spLocks xmlns:a="http://schemas.openxmlformats.org/drawingml/2006/main" noGrp="1"/>
          </p:cNvSpPr>
          <p:nvPr/>
        </p:nvSpPr>
        <p:spPr>
          <a:xfrm xmlns:a="http://schemas.openxmlformats.org/drawingml/2006/main">
            <a:off x="548640" y="4600575"/>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878">
                <a:solidFill>
                  <a:srgbClr val="526277"/>
                </a:solidFill>
                <a:latin typeface="Calibri"/>
                <a:ea typeface="Calibri"/>
                <a:cs typeface="Calibri"/>
              </a:defRPr>
            </a:pPr>
            <a:r>
              <a:rPr sz="878">
                <a:solidFill>
                  <a:srgbClr val="526277"/>
                </a:solidFill>
                <a:latin typeface="Calibri"/>
                <a:ea typeface="Calibri"/>
                <a:cs typeface="Calibri"/>
              </a:rPr>
              <a:t>Fuente: contenidos de ética del curso (semanas 6–7) y diseño del proyecto. La equidad del desempeño todavía debe evaluarse.</a:t>
            </a:r>
          </a:p>
        </p:txBody>
      </p:sp>
    </p:spTree>
    <p:extLst>
      <p:ext uri="{BB962C8B-B14F-4D97-AF65-F5344CB8AC3E}">
        <p14:creationId xmlns:p14="http://schemas.microsoft.com/office/powerpoint/2010/main" val="3227572768"/>
      </p:ext>
    </p:extLst>
  </p:cSld>
</p:sld>
</file>

<file path=ppt/slides/slide14.xml><?xml version="1.0" encoding="utf-8"?>
<p:sld xmlns:p="http://schemas.openxmlformats.org/presentationml/2006/main" showMasterSp="0">
  <p:cSld>
    <p:spTree>
      <p:nvGrpSpPr>
        <p:cNvPr id="1" name=""/>
        <p:cNvGrpSpPr/>
        <p:nvPr/>
      </p:nvGrpSpPr>
      <p:grpSpPr>
        <a:xfrm xmlns:a="http://schemas.openxmlformats.org/drawingml/2006/main"/>
      </p:grpSpPr>
      <p:sp>
        <p:nvSpPr>
          <p:cNvPr id="300" name="Fondo azul UC">
            <a:extLst xmlns:a="http://schemas.openxmlformats.org/drawingml/2006/main">
              <a:ext uri="{FF2B5EF4-FFF2-40B4-BE49-F238E27FC236}">
                <a16:creationId xmlns:a16="http://schemas.microsoft.com/office/drawing/2014/main" id="{D0503770-9B26-486E-ACD8-8DDDA2237C2D}"/>
              </a:ext>
            </a:extLst>
          </p:cNvPr>
          <p:cNvSpPr>
            <a:spLocks xmlns:a="http://schemas.openxmlformats.org/drawingml/2006/main" noGrp="1"/>
          </p:cNvSpPr>
          <p:nvPr/>
        </p:nvSpPr>
        <p:spPr>
          <a:xfrm xmlns:a="http://schemas.openxmlformats.org/drawingml/2006/main">
            <a:off x="0" y="0"/>
            <a:ext cx="9144000" cy="4277301"/>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301" name="Rectángulo 9">
            <a:extLst xmlns:a="http://schemas.openxmlformats.org/drawingml/2006/main">
              <a:ext uri="{FF2B5EF4-FFF2-40B4-BE49-F238E27FC236}">
                <a16:creationId xmlns:a16="http://schemas.microsoft.com/office/drawing/2014/main" id="{2A3DD574-74E6-48D5-88B4-C9C436394AB8}"/>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2" name="Continuidad fondo UC">
            <a:extLst xmlns:a="http://schemas.openxmlformats.org/drawingml/2006/main">
              <a:ext uri="{FF2B5EF4-FFF2-40B4-BE49-F238E27FC236}">
                <a16:creationId xmlns:a16="http://schemas.microsoft.com/office/drawing/2014/main" id="{265CFD3F-A75C-4214-A9A8-00C801F40CB8}"/>
              </a:ext>
            </a:extLst>
          </p:cNvPr>
          <p:cNvSpPr>
            <a:spLocks xmlns:a="http://schemas.openxmlformats.org/drawingml/2006/main" noGrp="1"/>
          </p:cNvSpPr>
          <p:nvPr/>
        </p:nvSpPr>
        <p:spPr>
          <a:xfrm xmlns:a="http://schemas.openxmlformats.org/drawingml/2006/main">
            <a:off x="0" y="784483"/>
            <a:ext cx="9144000" cy="3492818"/>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2" name="TextBox 1">
            <a:extLst xmlns:a="http://schemas.openxmlformats.org/drawingml/2006/main">
              <a:ext uri="{FF2B5EF4-FFF2-40B4-BE49-F238E27FC236}">
                <a16:creationId xmlns:a16="http://schemas.microsoft.com/office/drawing/2014/main" id="{F04C3933-2D70-4861-B5B1-DA02FA9A8192}"/>
              </a:ext>
            </a:extLst>
          </p:cNvPr>
          <p:cNvSpPr>
            <a:spLocks xmlns:a="http://schemas.openxmlformats.org/drawingml/2006/main" noGrp="1"/>
          </p:cNvSpPr>
          <p:nvPr/>
        </p:nvSpPr>
        <p:spPr>
          <a:xfrm xmlns:a="http://schemas.openxmlformats.org/drawingml/2006/main">
            <a:off x="502920" y="932688"/>
            <a:ext cx="53949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spcBef>
                <a:spcPts val="0"/>
              </a:spcBef>
              <a:spcAft>
                <a:spcPts val="0"/>
              </a:spcAft>
              <a:defRPr sz="2250" b="1">
                <a:solidFill>
                  <a:srgbClr val="FFFFFF"/>
                </a:solidFill>
                <a:latin typeface="Calibri"/>
                <a:ea typeface="Calibri"/>
                <a:cs typeface="Calibri"/>
              </a:defRPr>
            </a:pPr>
            <a:r>
              <a:rPr sz="2250" b="1">
                <a:solidFill>
                  <a:srgbClr val="FFFFFF"/>
                </a:solidFill>
                <a:latin typeface="Calibri"/>
                <a:ea typeface="Calibri"/>
                <a:cs typeface="Calibri"/>
              </a:rPr>
              <a:t>Un avance verificable y tres</a:t>
            </a:r>
          </a:p>
          <a:p xmlns:a="http://schemas.openxmlformats.org/drawingml/2006/main">
            <a:pPr>
              <a:spcBef>
                <a:spcPts val="0"/>
              </a:spcBef>
              <a:spcAft>
                <a:spcPts val="0"/>
              </a:spcAft>
              <a:defRPr sz="2250" b="1">
                <a:solidFill>
                  <a:srgbClr val="FFFFFF"/>
                </a:solidFill>
                <a:latin typeface="Calibri"/>
                <a:ea typeface="Calibri"/>
                <a:cs typeface="Calibri"/>
              </a:defRPr>
            </a:pPr>
            <a:r>
              <a:rPr sz="2250" b="1">
                <a:solidFill>
                  <a:srgbClr val="FFFFFF"/>
                </a:solidFill>
                <a:latin typeface="Calibri"/>
                <a:ea typeface="Calibri"/>
                <a:cs typeface="Calibri"/>
              </a:rPr>
              <a:t>decisiones para continuar</a:t>
            </a:r>
          </a:p>
        </p:txBody>
      </p:sp>
      <p:sp>
        <p:nvSpPr>
          <p:cNvPr id="3" name="TextBox 2">
            <a:extLst xmlns:a="http://schemas.openxmlformats.org/drawingml/2006/main">
              <a:ext uri="{FF2B5EF4-FFF2-40B4-BE49-F238E27FC236}">
                <a16:creationId xmlns:a16="http://schemas.microsoft.com/office/drawing/2014/main" id="{961B564C-34D2-44FE-8125-4423D0409CA8}"/>
              </a:ext>
            </a:extLst>
          </p:cNvPr>
          <p:cNvSpPr>
            <a:spLocks xmlns:a="http://schemas.openxmlformats.org/drawingml/2006/main" noGrp="1"/>
          </p:cNvSpPr>
          <p:nvPr/>
        </p:nvSpPr>
        <p:spPr>
          <a:xfrm xmlns:a="http://schemas.openxmlformats.org/drawingml/2006/main">
            <a:off x="502920" y="1783080"/>
            <a:ext cx="5394960" cy="192024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spcBef>
                <a:spcPts val="0"/>
              </a:spcBef>
              <a:spcAft>
                <a:spcPts val="0"/>
              </a:spcAft>
              <a:defRPr sz="1575" b="0">
                <a:solidFill>
                  <a:srgbClr val="FFFFFF"/>
                </a:solidFill>
                <a:latin typeface="Calibri"/>
                <a:ea typeface="Calibri"/>
                <a:cs typeface="Calibri"/>
              </a:defRPr>
            </a:pPr>
            <a:r>
              <a:rPr sz="1575" b="0">
                <a:solidFill>
                  <a:srgbClr val="FFFFFF"/>
                </a:solidFill>
                <a:latin typeface="Calibri"/>
                <a:ea typeface="Calibri"/>
                <a:cs typeface="Calibri"/>
              </a:rPr>
              <a:t>Hoy: cobertura, volumen y calidad caracterizados.</a:t>
            </a:r>
          </a:p>
          <a:p xmlns:a="http://schemas.openxmlformats.org/drawingml/2006/main">
            <a:pPr>
              <a:spcBef>
                <a:spcPts val="0"/>
              </a:spcBef>
              <a:spcAft>
                <a:spcPts val="0"/>
              </a:spcAft>
            </a:pPr>
            <a:r>
              <a:rPr b="0"/>
              <a:t/>
            </a:r>
          </a:p>
          <a:p xmlns:a="http://schemas.openxmlformats.org/drawingml/2006/main">
            <a:pPr>
              <a:spcBef>
                <a:spcPts val="0"/>
              </a:spcBef>
              <a:spcAft>
                <a:spcPts val="0"/>
              </a:spcAft>
              <a:defRPr sz="1575" b="0">
                <a:solidFill>
                  <a:srgbClr val="FFFFFF"/>
                </a:solidFill>
                <a:latin typeface="Calibri"/>
                <a:ea typeface="Calibri"/>
                <a:cs typeface="Calibri"/>
              </a:defRPr>
            </a:pPr>
            <a:r>
              <a:rPr sz="1575" b="0">
                <a:solidFill>
                  <a:srgbClr val="FFFFFF"/>
                </a:solidFill>
                <a:latin typeface="Calibri"/>
                <a:ea typeface="Calibri"/>
                <a:cs typeface="Calibri"/>
              </a:rPr>
              <a:t>1. Confirmar unidades y reloj; medir pérdidas de unión.</a:t>
            </a:r>
          </a:p>
          <a:p xmlns:a="http://schemas.openxmlformats.org/drawingml/2006/main">
            <a:pPr>
              <a:spcBef>
                <a:spcPts val="0"/>
              </a:spcBef>
              <a:spcAft>
                <a:spcPts val="0"/>
              </a:spcAft>
              <a:defRPr sz="1575" b="0">
                <a:solidFill>
                  <a:srgbClr val="FFFFFF"/>
                </a:solidFill>
                <a:latin typeface="Calibri"/>
                <a:ea typeface="Calibri"/>
                <a:cs typeface="Calibri"/>
              </a:defRPr>
            </a:pPr>
            <a:r>
              <a:rPr sz="1575" b="0">
                <a:solidFill>
                  <a:srgbClr val="FFFFFF"/>
                </a:solidFill>
                <a:latin typeface="Calibri"/>
                <a:ea typeface="Calibri"/>
                <a:cs typeface="Calibri"/>
              </a:rPr>
              <a:t>2. Acordar agregación comunal y métrica principal.</a:t>
            </a:r>
          </a:p>
          <a:p xmlns:a="http://schemas.openxmlformats.org/drawingml/2006/main">
            <a:pPr>
              <a:spcBef>
                <a:spcPts val="0"/>
              </a:spcBef>
              <a:spcAft>
                <a:spcPts val="0"/>
              </a:spcAft>
              <a:defRPr sz="1575" b="0">
                <a:solidFill>
                  <a:srgbClr val="FFFFFF"/>
                </a:solidFill>
                <a:latin typeface="Calibri"/>
                <a:ea typeface="Calibri"/>
                <a:cs typeface="Calibri"/>
              </a:defRPr>
            </a:pPr>
            <a:r>
              <a:rPr sz="1575" b="0">
                <a:solidFill>
                  <a:srgbClr val="FFFFFF"/>
                </a:solidFill>
                <a:latin typeface="Calibri"/>
                <a:ea typeface="Calibri"/>
                <a:cs typeface="Calibri"/>
              </a:rPr>
              <a:t>3. Completar evaluación independiente e incertidumbre.</a:t>
            </a:r>
          </a:p>
        </p:txBody>
      </p:sp>
      <p:sp>
        <p:nvSpPr>
          <p:cNvPr id="4" name="Rounded Rectangle 3">
            <a:extLst xmlns:a="http://schemas.openxmlformats.org/drawingml/2006/main">
              <a:ext uri="{FF2B5EF4-FFF2-40B4-BE49-F238E27FC236}">
                <a16:creationId xmlns:a16="http://schemas.microsoft.com/office/drawing/2014/main" id="{FF72C57E-7A2A-481D-911D-330A4F98628B}"/>
              </a:ext>
            </a:extLst>
          </p:cNvPr>
          <p:cNvSpPr>
            <a:spLocks xmlns:a="http://schemas.openxmlformats.org/drawingml/2006/main" noGrp="1"/>
          </p:cNvSpPr>
          <p:nvPr/>
        </p:nvSpPr>
        <p:spPr>
          <a:xfrm xmlns:a="http://schemas.openxmlformats.org/drawingml/2006/main">
            <a:off x="502920" y="3456432"/>
            <a:ext cx="5394960" cy="512064"/>
          </a:xfrm>
          <a:prstGeom xmlns:a="http://schemas.openxmlformats.org/drawingml/2006/main" prst="roundRect">
            <a:avLst>
              <a:gd name="adj" fmla="val 10000"/>
            </a:avLst>
          </a:prstGeom>
          <a:solidFill xmlns:a="http://schemas.openxmlformats.org/drawingml/2006/main">
            <a:srgbClr val="113E8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819" name="Picture 4"/>
          <p:cNvPicPr>
            <a:picLocks xmlns:a="http://schemas.openxmlformats.org/drawingml/2006/main" noChangeAspect="1"/>
          </p:cNvPicPr>
          <p:nvPr/>
        </p:nvPicPr>
        <p:blipFill>
          <a:blip xmlns:r="http://schemas.openxmlformats.org/officeDocument/2006/relationships" xmlns:a="http://schemas.openxmlformats.org/drawingml/2006/main" r:embed="R2c067076ed214742"/>
          <a:stretch xmlns:a="http://schemas.openxmlformats.org/drawingml/2006/main">
            <a:fillRect l="0" t="0" r="0" b="0"/>
          </a:stretch>
        </p:blipFill>
        <p:spPr>
          <a:xfrm xmlns:a="http://schemas.openxmlformats.org/drawingml/2006/main">
            <a:off x="658368" y="3584448"/>
            <a:ext cx="256032" cy="256032"/>
          </a:xfrm>
          <a:prstGeom xmlns:a="http://schemas.openxmlformats.org/drawingml/2006/main" prst="rect">
            <a:avLst/>
          </a:prstGeom>
        </p:spPr>
      </p:pic>
      <p:sp>
        <p:nvSpPr>
          <p:cNvPr id="6" name="TextBox 5">
            <a:extLst xmlns:a="http://schemas.openxmlformats.org/drawingml/2006/main">
              <a:ext uri="{FF2B5EF4-FFF2-40B4-BE49-F238E27FC236}">
                <a16:creationId xmlns:a16="http://schemas.microsoft.com/office/drawing/2014/main" id="{B47427B5-A623-420A-ABFD-3CE7EB974746}"/>
              </a:ext>
            </a:extLst>
          </p:cNvPr>
          <p:cNvSpPr>
            <a:spLocks xmlns:a="http://schemas.openxmlformats.org/drawingml/2006/main" noGrp="1"/>
          </p:cNvSpPr>
          <p:nvPr/>
        </p:nvSpPr>
        <p:spPr>
          <a:xfrm xmlns:a="http://schemas.openxmlformats.org/drawingml/2006/main">
            <a:off x="1005840" y="3456432"/>
            <a:ext cx="484632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1150" b="1" i="0">
                <a:solidFill>
                  <a:srgbClr val="FFFFFF"/>
                </a:solidFill>
                <a:latin typeface="Calibri"/>
                <a:ea typeface="Calibri"/>
                <a:cs typeface="Calibri"/>
              </a:rPr>
              <a:t>github.com/AmaruSimonAgueroJimenez/Air-Pollution</a:t>
            </a:r>
          </a:p>
        </p:txBody>
      </p:sp>
      <p:sp>
        <p:nvSpPr>
          <p:cNvPr id="7" name="Rounded Rectangle 6">
            <a:extLst xmlns:a="http://schemas.openxmlformats.org/drawingml/2006/main">
              <a:ext uri="{FF2B5EF4-FFF2-40B4-BE49-F238E27FC236}">
                <a16:creationId xmlns:a16="http://schemas.microsoft.com/office/drawing/2014/main" id="{E874C09F-30FB-415B-B410-CAA4DE99AD87}"/>
              </a:ext>
            </a:extLst>
          </p:cNvPr>
          <p:cNvSpPr>
            <a:spLocks xmlns:a="http://schemas.openxmlformats.org/drawingml/2006/main" noGrp="1"/>
          </p:cNvSpPr>
          <p:nvPr/>
        </p:nvSpPr>
        <p:spPr>
          <a:xfrm xmlns:a="http://schemas.openxmlformats.org/drawingml/2006/main">
            <a:off x="6355080" y="932688"/>
            <a:ext cx="2331720" cy="3035808"/>
          </a:xfrm>
          <a:prstGeom xmlns:a="http://schemas.openxmlformats.org/drawingml/2006/main" prst="roundRect">
            <a:avLst>
              <a:gd name="adj" fmla="val 6000"/>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822" name="Picture 7"/>
          <p:cNvPicPr>
            <a:picLocks xmlns:a="http://schemas.openxmlformats.org/drawingml/2006/main" noChangeAspect="1"/>
          </p:cNvPicPr>
          <p:nvPr/>
        </p:nvPicPr>
        <p:blipFill>
          <a:blip xmlns:r="http://schemas.openxmlformats.org/officeDocument/2006/relationships" xmlns:a="http://schemas.openxmlformats.org/drawingml/2006/main" r:embed="R9170b3e31c4644b3"/>
          <a:stretch xmlns:a="http://schemas.openxmlformats.org/drawingml/2006/main">
            <a:fillRect l="0" t="0" r="0" b="0"/>
          </a:stretch>
        </p:blipFill>
        <p:spPr>
          <a:xfrm xmlns:a="http://schemas.openxmlformats.org/drawingml/2006/main">
            <a:off x="6556248" y="1133856"/>
            <a:ext cx="1929384" cy="1929384"/>
          </a:xfrm>
          <a:prstGeom xmlns:a="http://schemas.openxmlformats.org/drawingml/2006/main" prst="rect">
            <a:avLst/>
          </a:prstGeom>
        </p:spPr>
      </p:pic>
      <p:sp>
        <p:nvSpPr>
          <p:cNvPr id="9" name="TextBox 8">
            <a:extLst xmlns:a="http://schemas.openxmlformats.org/drawingml/2006/main">
              <a:ext uri="{FF2B5EF4-FFF2-40B4-BE49-F238E27FC236}">
                <a16:creationId xmlns:a16="http://schemas.microsoft.com/office/drawing/2014/main" id="{7645EEAC-3E7E-48FC-B4F4-3D35F44895B4}"/>
              </a:ext>
            </a:extLst>
          </p:cNvPr>
          <p:cNvSpPr>
            <a:spLocks xmlns:a="http://schemas.openxmlformats.org/drawingml/2006/main" noGrp="1"/>
          </p:cNvSpPr>
          <p:nvPr/>
        </p:nvSpPr>
        <p:spPr>
          <a:xfrm xmlns:a="http://schemas.openxmlformats.org/drawingml/2006/main">
            <a:off x="6446520" y="3127248"/>
            <a:ext cx="21488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ct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Repositorio del proyecto</a:t>
            </a:r>
          </a:p>
          <a:p xmlns:a="http://schemas.openxmlformats.org/drawingml/2006/main">
            <a:pPr algn="ctr">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Código y documentación</a:t>
            </a:r>
          </a:p>
        </p:txBody>
      </p:sp>
      <p:sp>
        <p:nvSpPr>
          <p:cNvPr id="10" name="TextBox 9">
            <a:extLst xmlns:a="http://schemas.openxmlformats.org/drawingml/2006/main">
              <a:ext uri="{FF2B5EF4-FFF2-40B4-BE49-F238E27FC236}">
                <a16:creationId xmlns:a16="http://schemas.microsoft.com/office/drawing/2014/main" id="{6CB327F6-6D7D-40F2-BBEA-9B1D50B966FE}"/>
              </a:ext>
            </a:extLst>
          </p:cNvPr>
          <p:cNvSpPr>
            <a:spLocks xmlns:a="http://schemas.openxmlformats.org/drawingml/2006/main" noGrp="1"/>
          </p:cNvSpPr>
          <p:nvPr/>
        </p:nvSpPr>
        <p:spPr>
          <a:xfrm xmlns:a="http://schemas.openxmlformats.org/drawingml/2006/main">
            <a:off x="502920" y="4389120"/>
            <a:ext cx="8138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spcBef>
                <a:spcPts val="0"/>
              </a:spcBef>
              <a:spcAft>
                <a:spcPts val="0"/>
              </a:spcAft>
              <a:defRPr sz="1125" b="0">
                <a:solidFill>
                  <a:srgbClr val="17375D"/>
                </a:solidFill>
                <a:latin typeface="Calibri"/>
                <a:ea typeface="Calibri"/>
                <a:cs typeface="Calibri"/>
              </a:defRPr>
            </a:pPr>
            <a:r>
              <a:rPr sz="1125" b="0">
                <a:solidFill>
                  <a:srgbClr val="17375D"/>
                </a:solidFill>
                <a:latin typeface="Calibri"/>
                <a:ea typeface="Calibri"/>
                <a:cs typeface="Calibri"/>
              </a:rPr>
              <a:t>Equipo 2 · José J. Romero · Roberto I. Ávila · Amaru S. Agüero · Esteban A. González</a:t>
            </a:r>
          </a:p>
        </p:txBody>
      </p:sp>
      <p:sp>
        <p:nvSpPr>
          <p:cNvPr id="810" name="Referencias científicas">
            <a:extLst xmlns:a="http://schemas.openxmlformats.org/drawingml/2006/main">
              <a:ext uri="{FF2B5EF4-FFF2-40B4-BE49-F238E27FC236}">
                <a16:creationId xmlns:a16="http://schemas.microsoft.com/office/drawing/2014/main" id="{FFE9D03F-C96C-40DD-828F-DA09A8830180}"/>
              </a:ext>
            </a:extLst>
          </p:cNvPr>
          <p:cNvSpPr>
            <a:spLocks xmlns:a="http://schemas.openxmlformats.org/drawingml/2006/main" noGrp="1"/>
          </p:cNvSpPr>
          <p:nvPr/>
        </p:nvSpPr>
        <p:spPr>
          <a:xfrm xmlns:a="http://schemas.openxmlformats.org/drawingml/2006/main">
            <a:off x="502920" y="4718304"/>
            <a:ext cx="813816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spcBef>
                <a:spcPts val="0"/>
              </a:spcBef>
              <a:spcAft>
                <a:spcPts val="0"/>
              </a:spcAft>
              <a:defRPr sz="975" b="0">
                <a:solidFill>
                  <a:srgbClr val="526277"/>
                </a:solidFill>
                <a:latin typeface="Calibri"/>
                <a:ea typeface="Calibri"/>
                <a:cs typeface="Calibri"/>
              </a:defRPr>
            </a:pPr>
            <a:r>
              <a:rPr sz="975" b="0">
                <a:solidFill>
                  <a:srgbClr val="526277"/>
                </a:solidFill>
                <a:latin typeface="Calibri"/>
                <a:ea typeface="Calibri"/>
                <a:cs typeface="Calibri"/>
              </a:rPr>
              <a:t>Resultados expuestos: descriptivos del inventario auditado. Sin ranking ni mapas de predicción.</a:t>
            </a:r>
          </a:p>
        </p:txBody>
      </p:sp>
    </p:spTree>
    <p:extLst>
      <p:ext uri="{BB962C8B-B14F-4D97-AF65-F5344CB8AC3E}">
        <p14:creationId xmlns:p14="http://schemas.microsoft.com/office/powerpoint/2010/main" val="785384284"/>
      </p:ext>
    </p:extLst>
  </p:cSld>
</p:sld>
</file>

<file path=ppt/slides/slide15.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3486DB9C-93DE-456A-BF48-2757BBD61ACE}"/>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2DE33766-2918-41FC-A1B9-B4BF483C8974}"/>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3BCD4458-45E8-4C73-A3B6-249CEEFBDB7B}"/>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A18DC9E6-BD6D-4FE1-AEC0-9715BEE3912A}"/>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438D0FA2-1899-4EDF-9FA4-D1742768DFC6}"/>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Referencias metodológicas</a:t>
            </a:r>
          </a:p>
        </p:txBody>
      </p:sp>
      <p:sp>
        <p:nvSpPr>
          <p:cNvPr id="8" name="Referencia 1">
            <a:extLst xmlns:a="http://schemas.openxmlformats.org/drawingml/2006/main">
              <a:ext uri="{FF2B5EF4-FFF2-40B4-BE49-F238E27FC236}">
                <a16:creationId xmlns:a16="http://schemas.microsoft.com/office/drawing/2014/main" id="{EBEED375-0C9C-479E-B580-46CB936C370B}"/>
              </a:ext>
            </a:extLst>
          </p:cNvPr>
          <p:cNvSpPr>
            <a:spLocks xmlns:a="http://schemas.openxmlformats.org/drawingml/2006/main" noGrp="1"/>
          </p:cNvSpPr>
          <p:nvPr/>
        </p:nvSpPr>
        <p:spPr>
          <a:xfrm xmlns:a="http://schemas.openxmlformats.org/drawingml/2006/main">
            <a:off x="552450" y="1209675"/>
            <a:ext cx="8039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a:solidFill>
                  <a:srgbClr val="1E293B"/>
                </a:solidFill>
                <a:latin typeface="Calibri"/>
                <a:ea typeface="Calibri"/>
                <a:cs typeface="Calibri"/>
              </a:defRPr>
            </a:pPr>
            <a:r>
              <a:rPr sz="1200" b="1">
                <a:solidFill>
                  <a:srgbClr val="1E293B"/>
                </a:solidFill>
                <a:latin typeface="Calibri"/>
                <a:ea typeface="Calibri"/>
                <a:cs typeface="Calibri"/>
              </a:rPr>
              <a:t>van Donkelaar et al. (2016)</a:t>
            </a:r>
          </a:p>
          <a:p xmlns:a="http://schemas.openxmlformats.org/drawingml/2006/main">
            <a:pPr>
              <a:defRPr sz="1200">
                <a:solidFill>
                  <a:srgbClr val="1E293B"/>
                </a:solidFill>
                <a:latin typeface="Calibri"/>
                <a:ea typeface="Calibri"/>
                <a:cs typeface="Calibri"/>
              </a:defRPr>
            </a:pPr>
            <a:r>
              <a:rPr sz="1200">
                <a:solidFill>
                  <a:srgbClr val="1E293B"/>
                </a:solidFill>
                <a:latin typeface="Calibri"/>
                <a:ea typeface="Calibri"/>
                <a:cs typeface="Calibri"/>
              </a:rPr>
              <a:t>Global Estimates of Fine Particulate Matter using a Combined Geophysical-Statistical Method with Information from Satellites, Models, and Monitors. Environmental Science &amp; Technology, 50(7), 3762–3772.</a:t>
            </a:r>
          </a:p>
          <a:p xmlns:a="http://schemas.openxmlformats.org/drawingml/2006/main">
            <a:pPr>
              <a:defRPr sz="1200">
                <a:solidFill>
                  <a:srgbClr val="1E293B"/>
                </a:solidFill>
                <a:latin typeface="Calibri"/>
                <a:ea typeface="Calibri"/>
                <a:cs typeface="Calibri"/>
              </a:defRPr>
            </a:pPr>
            <a:r>
              <a:rPr sz="1200">
                <a:solidFill>
                  <a:srgbClr val="1E293B"/>
                </a:solidFill>
                <a:latin typeface="Calibri"/>
                <a:ea typeface="Calibri"/>
                <a:cs typeface="Calibri"/>
                <a:hlinkClick xmlns:r="http://schemas.openxmlformats.org/officeDocument/2006/relationships" r:id="R9a30c16c7c614147"/>
              </a:rPr>
              <a:t>https://doi.org/10.1021/acs.est.5b05833</a:t>
            </a:r>
          </a:p>
        </p:txBody>
      </p:sp>
      <p:sp>
        <p:nvSpPr>
          <p:cNvPr id="9" name="Referencia 2">
            <a:extLst xmlns:a="http://schemas.openxmlformats.org/drawingml/2006/main">
              <a:ext uri="{FF2B5EF4-FFF2-40B4-BE49-F238E27FC236}">
                <a16:creationId xmlns:a16="http://schemas.microsoft.com/office/drawing/2014/main" id="{3E1FED69-7EED-4B66-BF8A-C96B49E46B2F}"/>
              </a:ext>
            </a:extLst>
          </p:cNvPr>
          <p:cNvSpPr>
            <a:spLocks xmlns:a="http://schemas.openxmlformats.org/drawingml/2006/main" noGrp="1"/>
          </p:cNvSpPr>
          <p:nvPr/>
        </p:nvSpPr>
        <p:spPr>
          <a:xfrm xmlns:a="http://schemas.openxmlformats.org/drawingml/2006/main">
            <a:off x="552450" y="2009775"/>
            <a:ext cx="8039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a:solidFill>
                  <a:srgbClr val="1E293B"/>
                </a:solidFill>
                <a:latin typeface="Calibri"/>
                <a:ea typeface="Calibri"/>
                <a:cs typeface="Calibri"/>
              </a:defRPr>
            </a:pPr>
            <a:r>
              <a:rPr sz="1200" b="1">
                <a:solidFill>
                  <a:srgbClr val="1E293B"/>
                </a:solidFill>
                <a:latin typeface="Calibri"/>
                <a:ea typeface="Calibri"/>
                <a:cs typeface="Calibri"/>
              </a:rPr>
              <a:t>Di et al. (2019)</a:t>
            </a:r>
          </a:p>
          <a:p xmlns:a="http://schemas.openxmlformats.org/drawingml/2006/main">
            <a:pPr>
              <a:defRPr sz="1200">
                <a:solidFill>
                  <a:srgbClr val="1E293B"/>
                </a:solidFill>
                <a:latin typeface="Calibri"/>
                <a:ea typeface="Calibri"/>
                <a:cs typeface="Calibri"/>
              </a:defRPr>
            </a:pPr>
            <a:r>
              <a:rPr sz="1200">
                <a:solidFill>
                  <a:srgbClr val="1E293B"/>
                </a:solidFill>
                <a:latin typeface="Calibri"/>
                <a:ea typeface="Calibri"/>
                <a:cs typeface="Calibri"/>
              </a:rPr>
              <a:t>An ensemble-based model of PM2.5 concentration across the contiguous United States with high spatiotemporal resolution. Environment International, 130, 104909.</a:t>
            </a:r>
          </a:p>
          <a:p xmlns:a="http://schemas.openxmlformats.org/drawingml/2006/main">
            <a:pPr>
              <a:defRPr sz="1200">
                <a:solidFill>
                  <a:srgbClr val="1E293B"/>
                </a:solidFill>
                <a:latin typeface="Calibri"/>
                <a:ea typeface="Calibri"/>
                <a:cs typeface="Calibri"/>
              </a:defRPr>
            </a:pPr>
            <a:r>
              <a:rPr sz="1200">
                <a:solidFill>
                  <a:srgbClr val="1E293B"/>
                </a:solidFill>
                <a:latin typeface="Calibri"/>
                <a:ea typeface="Calibri"/>
                <a:cs typeface="Calibri"/>
                <a:hlinkClick xmlns:r="http://schemas.openxmlformats.org/officeDocument/2006/relationships" r:id="R0607ca68a823431c"/>
              </a:rPr>
              <a:t>https://doi.org/10.1016/j.envint.2019.104909</a:t>
            </a:r>
          </a:p>
        </p:txBody>
      </p:sp>
      <p:sp>
        <p:nvSpPr>
          <p:cNvPr id="10" name="Referencia 3">
            <a:extLst xmlns:a="http://schemas.openxmlformats.org/drawingml/2006/main">
              <a:ext uri="{FF2B5EF4-FFF2-40B4-BE49-F238E27FC236}">
                <a16:creationId xmlns:a16="http://schemas.microsoft.com/office/drawing/2014/main" id="{598DCFA3-6B21-4EBC-AF9C-448BC1EA2D1E}"/>
              </a:ext>
            </a:extLst>
          </p:cNvPr>
          <p:cNvSpPr>
            <a:spLocks xmlns:a="http://schemas.openxmlformats.org/drawingml/2006/main" noGrp="1"/>
          </p:cNvSpPr>
          <p:nvPr/>
        </p:nvSpPr>
        <p:spPr>
          <a:xfrm xmlns:a="http://schemas.openxmlformats.org/drawingml/2006/main">
            <a:off x="552450" y="2809875"/>
            <a:ext cx="8039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a:solidFill>
                  <a:srgbClr val="1E293B"/>
                </a:solidFill>
                <a:latin typeface="Calibri"/>
                <a:ea typeface="Calibri"/>
                <a:cs typeface="Calibri"/>
              </a:defRPr>
            </a:pPr>
            <a:r>
              <a:rPr sz="1200" b="1">
                <a:solidFill>
                  <a:srgbClr val="1E293B"/>
                </a:solidFill>
                <a:latin typeface="Calibri"/>
                <a:ea typeface="Calibri"/>
                <a:cs typeface="Calibri"/>
              </a:rPr>
              <a:t>Roberts et al. (2017)</a:t>
            </a:r>
          </a:p>
          <a:p xmlns:a="http://schemas.openxmlformats.org/drawingml/2006/main">
            <a:pPr>
              <a:defRPr sz="1200">
                <a:solidFill>
                  <a:srgbClr val="1E293B"/>
                </a:solidFill>
                <a:latin typeface="Calibri"/>
                <a:ea typeface="Calibri"/>
                <a:cs typeface="Calibri"/>
              </a:defRPr>
            </a:pPr>
            <a:r>
              <a:rPr sz="1200">
                <a:solidFill>
                  <a:srgbClr val="1E293B"/>
                </a:solidFill>
                <a:latin typeface="Calibri"/>
                <a:ea typeface="Calibri"/>
                <a:cs typeface="Calibri"/>
              </a:rPr>
              <a:t>Cross-validation strategies for data with temporal, spatial, hierarchical, or phylogenetic structure. Ecography, 40(8), 913–929.</a:t>
            </a:r>
          </a:p>
          <a:p xmlns:a="http://schemas.openxmlformats.org/drawingml/2006/main">
            <a:pPr>
              <a:defRPr sz="1200">
                <a:solidFill>
                  <a:srgbClr val="1E293B"/>
                </a:solidFill>
                <a:latin typeface="Calibri"/>
                <a:ea typeface="Calibri"/>
                <a:cs typeface="Calibri"/>
              </a:defRPr>
            </a:pPr>
            <a:r>
              <a:rPr sz="1200">
                <a:solidFill>
                  <a:srgbClr val="1E293B"/>
                </a:solidFill>
                <a:latin typeface="Calibri"/>
                <a:ea typeface="Calibri"/>
                <a:cs typeface="Calibri"/>
                <a:hlinkClick xmlns:r="http://schemas.openxmlformats.org/officeDocument/2006/relationships" r:id="R3fe8570d46184eaf"/>
              </a:rPr>
              <a:t>https://doi.org/10.1111/ecog.02881</a:t>
            </a:r>
          </a:p>
        </p:txBody>
      </p:sp>
      <p:sp>
        <p:nvSpPr>
          <p:cNvPr id="11" name="Referencia 4">
            <a:extLst xmlns:a="http://schemas.openxmlformats.org/drawingml/2006/main">
              <a:ext uri="{FF2B5EF4-FFF2-40B4-BE49-F238E27FC236}">
                <a16:creationId xmlns:a16="http://schemas.microsoft.com/office/drawing/2014/main" id="{495865A1-C119-46A1-9A1E-47B0C2168648}"/>
              </a:ext>
            </a:extLst>
          </p:cNvPr>
          <p:cNvSpPr>
            <a:spLocks xmlns:a="http://schemas.openxmlformats.org/drawingml/2006/main" noGrp="1"/>
          </p:cNvSpPr>
          <p:nvPr/>
        </p:nvSpPr>
        <p:spPr>
          <a:xfrm xmlns:a="http://schemas.openxmlformats.org/drawingml/2006/main">
            <a:off x="552450" y="3609975"/>
            <a:ext cx="8039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a:solidFill>
                  <a:srgbClr val="1E293B"/>
                </a:solidFill>
                <a:latin typeface="Calibri"/>
                <a:ea typeface="Calibri"/>
                <a:cs typeface="Calibri"/>
              </a:defRPr>
            </a:pPr>
            <a:r>
              <a:rPr sz="1200" b="1">
                <a:solidFill>
                  <a:srgbClr val="1E293B"/>
                </a:solidFill>
                <a:latin typeface="Calibri"/>
                <a:ea typeface="Calibri"/>
                <a:cs typeface="Calibri"/>
              </a:rPr>
              <a:t>Varma y Simon (2006)</a:t>
            </a:r>
          </a:p>
          <a:p xmlns:a="http://schemas.openxmlformats.org/drawingml/2006/main">
            <a:pPr>
              <a:defRPr sz="1200">
                <a:solidFill>
                  <a:srgbClr val="1E293B"/>
                </a:solidFill>
                <a:latin typeface="Calibri"/>
                <a:ea typeface="Calibri"/>
                <a:cs typeface="Calibri"/>
              </a:defRPr>
            </a:pPr>
            <a:r>
              <a:rPr sz="1200">
                <a:solidFill>
                  <a:srgbClr val="1E293B"/>
                </a:solidFill>
                <a:latin typeface="Calibri"/>
                <a:ea typeface="Calibri"/>
                <a:cs typeface="Calibri"/>
              </a:rPr>
              <a:t>Bias in error estimation when using cross-validation for model selection. BMC Bioinformatics, 7, 91.</a:t>
            </a:r>
          </a:p>
          <a:p xmlns:a="http://schemas.openxmlformats.org/drawingml/2006/main">
            <a:pPr>
              <a:defRPr sz="1200">
                <a:solidFill>
                  <a:srgbClr val="1E293B"/>
                </a:solidFill>
                <a:latin typeface="Calibri"/>
                <a:ea typeface="Calibri"/>
                <a:cs typeface="Calibri"/>
              </a:defRPr>
            </a:pPr>
            <a:r>
              <a:rPr sz="1200">
                <a:solidFill>
                  <a:srgbClr val="1E293B"/>
                </a:solidFill>
                <a:latin typeface="Calibri"/>
                <a:ea typeface="Calibri"/>
                <a:cs typeface="Calibri"/>
                <a:hlinkClick xmlns:r="http://schemas.openxmlformats.org/officeDocument/2006/relationships" r:id="Re75c115889e84979"/>
              </a:rPr>
              <a:t>https://doi.org/10.1186/1471-2105-7-91</a:t>
            </a:r>
          </a:p>
        </p:txBody>
      </p:sp>
      <p:sp>
        <p:nvSpPr>
          <p:cNvPr id="12" name="Fuente y alcance">
            <a:extLst xmlns:a="http://schemas.openxmlformats.org/drawingml/2006/main">
              <a:ext uri="{FF2B5EF4-FFF2-40B4-BE49-F238E27FC236}">
                <a16:creationId xmlns:a16="http://schemas.microsoft.com/office/drawing/2014/main" id="{33061D36-9025-411C-9512-6A9D25EEAF5D}"/>
              </a:ext>
            </a:extLst>
          </p:cNvPr>
          <p:cNvSpPr>
            <a:spLocks xmlns:a="http://schemas.openxmlformats.org/drawingml/2006/main" noGrp="1"/>
          </p:cNvSpPr>
          <p:nvPr/>
        </p:nvSpPr>
        <p:spPr>
          <a:xfrm xmlns:a="http://schemas.openxmlformats.org/drawingml/2006/main">
            <a:off x="548640" y="4600575"/>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878">
                <a:solidFill>
                  <a:srgbClr val="526277"/>
                </a:solidFill>
                <a:latin typeface="Calibri"/>
                <a:ea typeface="Calibri"/>
                <a:cs typeface="Calibri"/>
              </a:defRPr>
            </a:pPr>
            <a:r>
              <a:rPr sz="878">
                <a:solidFill>
                  <a:srgbClr val="526277"/>
                </a:solidFill>
                <a:latin typeface="Calibri"/>
                <a:ea typeface="Calibri"/>
                <a:cs typeface="Calibri"/>
              </a:rPr>
              <a:t>Fuentes locales y precisiones de cada diapositiva disponibles en las notas del presentador.</a:t>
            </a:r>
          </a:p>
        </p:txBody>
      </p:sp>
    </p:spTree>
    <p:extLst>
      <p:ext uri="{BB962C8B-B14F-4D97-AF65-F5344CB8AC3E}">
        <p14:creationId xmlns:p14="http://schemas.microsoft.com/office/powerpoint/2010/main" val="3227572768"/>
      </p:ext>
    </p:extLst>
  </p:cSld>
</p:sld>
</file>

<file path=ppt/theme/theme1.xml><?xml version="1.0" encoding="utf-8"?>
<a:theme xmlns:a="http://schemas.openxmlformats.org/drawingml/2006/main" name="Plantilla UC">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2026-09-26T15:45:05.2810000Z</dcterms:created>
  <dcterms:modified xsi:type="dcterms:W3CDTF">2026-09-26T15:45:05.2810000Z</dcterms:modified>
</coreProperties>
</file>